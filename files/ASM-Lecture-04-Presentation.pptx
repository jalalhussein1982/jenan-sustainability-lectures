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cff24f264e4cbf" /><Relationship Type="http://schemas.openxmlformats.org/officeDocument/2006/relationships/extended-properties" Target="/docProps/app.xml" Id="R834f7fe30f3944c8" /><Relationship Type="http://schemas.openxmlformats.org/officeDocument/2006/relationships/officeDocument" Target="/ppt/presentation.xml" Id="Rf7d2234765e54017" /></Relationships>
</file>

<file path=ppt/presentation.xml><?xml version="1.0" encoding="utf-8"?>
<p:presentation xmlns:p="http://schemas.openxmlformats.org/presentationml/2006/main">
  <p:sldMasterIdLst>
    <p:sldMasterId xmlns:r="http://schemas.openxmlformats.org/officeDocument/2006/relationships" id="2147483648" r:id="R025d198b9cc64eb2"/>
  </p:sldMasterIdLst>
  <p:notesMasterIdLst>
    <p:notesMasterId xmlns:r="http://schemas.openxmlformats.org/officeDocument/2006/relationships" r:id="R52d908b4f6a5437d"/>
  </p:notesMasterIdLst>
  <p:sldIdLst>
    <p:sldId xmlns:r="http://schemas.openxmlformats.org/officeDocument/2006/relationships" id="256" r:id="Re44609058e584dd1"/>
    <p:sldId xmlns:r="http://schemas.openxmlformats.org/officeDocument/2006/relationships" id="257" r:id="R94502382f5684b31"/>
    <p:sldId xmlns:r="http://schemas.openxmlformats.org/officeDocument/2006/relationships" id="258" r:id="R17727498391e4e09"/>
    <p:sldId xmlns:r="http://schemas.openxmlformats.org/officeDocument/2006/relationships" id="259" r:id="Rda7659e9f6fc4c5f"/>
    <p:sldId xmlns:r="http://schemas.openxmlformats.org/officeDocument/2006/relationships" id="260" r:id="R92066ccc43374566"/>
    <p:sldId xmlns:r="http://schemas.openxmlformats.org/officeDocument/2006/relationships" id="261" r:id="R632d9f56145e48dd"/>
    <p:sldId xmlns:r="http://schemas.openxmlformats.org/officeDocument/2006/relationships" id="262" r:id="R286ce152f37849a9"/>
    <p:sldId xmlns:r="http://schemas.openxmlformats.org/officeDocument/2006/relationships" id="263" r:id="R0592a3f3ea9b413c"/>
    <p:sldId xmlns:r="http://schemas.openxmlformats.org/officeDocument/2006/relationships" id="264" r:id="R4461b0a26d6a41a2"/>
    <p:sldId xmlns:r="http://schemas.openxmlformats.org/officeDocument/2006/relationships" id="265" r:id="R6239096339fc4d67"/>
    <p:sldId xmlns:r="http://schemas.openxmlformats.org/officeDocument/2006/relationships" id="266" r:id="Ra382936f4fe847c3"/>
    <p:sldId xmlns:r="http://schemas.openxmlformats.org/officeDocument/2006/relationships" id="267" r:id="Rf4a83d7be4434f62"/>
    <p:sldId xmlns:r="http://schemas.openxmlformats.org/officeDocument/2006/relationships" id="268" r:id="R48ad234484e74712"/>
    <p:sldId xmlns:r="http://schemas.openxmlformats.org/officeDocument/2006/relationships" id="269" r:id="R032a2bccf32844e3"/>
    <p:sldId xmlns:r="http://schemas.openxmlformats.org/officeDocument/2006/relationships" id="270" r:id="R08b3cc6733e04285"/>
    <p:sldId xmlns:r="http://schemas.openxmlformats.org/officeDocument/2006/relationships" id="271" r:id="R337394dc766b4b7e"/>
    <p:sldId xmlns:r="http://schemas.openxmlformats.org/officeDocument/2006/relationships" id="272" r:id="R57fd89a1d0674c74"/>
    <p:sldId xmlns:r="http://schemas.openxmlformats.org/officeDocument/2006/relationships" id="273" r:id="R4f78ede6c86049ef"/>
    <p:sldId xmlns:r="http://schemas.openxmlformats.org/officeDocument/2006/relationships" id="274" r:id="R7e801f4705094d10"/>
    <p:sldId xmlns:r="http://schemas.openxmlformats.org/officeDocument/2006/relationships" id="275" r:id="Rac8b6f1eaff440ff"/>
    <p:sldId xmlns:r="http://schemas.openxmlformats.org/officeDocument/2006/relationships" id="276" r:id="R29de0d2ab9ca45ec"/>
    <p:sldId xmlns:r="http://schemas.openxmlformats.org/officeDocument/2006/relationships" id="277" r:id="Rf41413f559fa4d36"/>
    <p:sldId xmlns:r="http://schemas.openxmlformats.org/officeDocument/2006/relationships" id="278" r:id="R75afb09ec0a64df7"/>
    <p:sldId xmlns:r="http://schemas.openxmlformats.org/officeDocument/2006/relationships" id="279" r:id="R918a16ec0ac94aa1"/>
    <p:sldId xmlns:r="http://schemas.openxmlformats.org/officeDocument/2006/relationships" id="280" r:id="Raa0ad90adc594e5e"/>
    <p:sldId xmlns:r="http://schemas.openxmlformats.org/officeDocument/2006/relationships" id="281" r:id="R84adb25bab5c48da"/>
    <p:sldId xmlns:r="http://schemas.openxmlformats.org/officeDocument/2006/relationships" id="282" r:id="R174db96f844e426d"/>
    <p:sldId xmlns:r="http://schemas.openxmlformats.org/officeDocument/2006/relationships" id="283" r:id="R2a179b333ea64cb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5584a90dc148de" /><Relationship Type="http://schemas.openxmlformats.org/officeDocument/2006/relationships/slideMaster" Target="/ppt/slideMasters/slideMaster1.xml" Id="R025d198b9cc64eb2" /><Relationship Type="http://schemas.openxmlformats.org/officeDocument/2006/relationships/notesMaster" Target="/ppt/notesMasters/notesMaster1.xml" Id="R52d908b4f6a5437d" /><Relationship Type="http://schemas.openxmlformats.org/officeDocument/2006/relationships/presProps" Target="/ppt/presProps.xml" Id="Rd2d3c2720d0141ca" /><Relationship Type="http://schemas.openxmlformats.org/officeDocument/2006/relationships/tableStyles" Target="/ppt/tableStyles.xml" Id="R17d9008513544984" /><Relationship Type="http://schemas.openxmlformats.org/officeDocument/2006/relationships/slide" Target="/ppt/slides/slide1.xml" Id="Re44609058e584dd1" /><Relationship Type="http://schemas.openxmlformats.org/officeDocument/2006/relationships/slide" Target="/ppt/slides/slide2.xml" Id="R94502382f5684b31" /><Relationship Type="http://schemas.openxmlformats.org/officeDocument/2006/relationships/slide" Target="/ppt/slides/slide3.xml" Id="R17727498391e4e09" /><Relationship Type="http://schemas.openxmlformats.org/officeDocument/2006/relationships/slide" Target="/ppt/slides/slide4.xml" Id="Rda7659e9f6fc4c5f" /><Relationship Type="http://schemas.openxmlformats.org/officeDocument/2006/relationships/slide" Target="/ppt/slides/slide5.xml" Id="R92066ccc43374566" /><Relationship Type="http://schemas.openxmlformats.org/officeDocument/2006/relationships/slide" Target="/ppt/slides/slide6.xml" Id="R632d9f56145e48dd" /><Relationship Type="http://schemas.openxmlformats.org/officeDocument/2006/relationships/slide" Target="/ppt/slides/slide7.xml" Id="R286ce152f37849a9" /><Relationship Type="http://schemas.openxmlformats.org/officeDocument/2006/relationships/slide" Target="/ppt/slides/slide8.xml" Id="R0592a3f3ea9b413c" /><Relationship Type="http://schemas.openxmlformats.org/officeDocument/2006/relationships/slide" Target="/ppt/slides/slide9.xml" Id="R4461b0a26d6a41a2" /><Relationship Type="http://schemas.openxmlformats.org/officeDocument/2006/relationships/slide" Target="/ppt/slides/slide10.xml" Id="R6239096339fc4d67" /><Relationship Type="http://schemas.openxmlformats.org/officeDocument/2006/relationships/slide" Target="/ppt/slides/slide11.xml" Id="Ra382936f4fe847c3" /><Relationship Type="http://schemas.openxmlformats.org/officeDocument/2006/relationships/slide" Target="/ppt/slides/slide12.xml" Id="Rf4a83d7be4434f62" /><Relationship Type="http://schemas.openxmlformats.org/officeDocument/2006/relationships/slide" Target="/ppt/slides/slide13.xml" Id="R48ad234484e74712" /><Relationship Type="http://schemas.openxmlformats.org/officeDocument/2006/relationships/slide" Target="/ppt/slides/slide14.xml" Id="R032a2bccf32844e3" /><Relationship Type="http://schemas.openxmlformats.org/officeDocument/2006/relationships/slide" Target="/ppt/slides/slide15.xml" Id="R08b3cc6733e04285" /><Relationship Type="http://schemas.openxmlformats.org/officeDocument/2006/relationships/slide" Target="/ppt/slides/slide16.xml" Id="R337394dc766b4b7e" /><Relationship Type="http://schemas.openxmlformats.org/officeDocument/2006/relationships/slide" Target="/ppt/slides/slide17.xml" Id="R57fd89a1d0674c74" /><Relationship Type="http://schemas.openxmlformats.org/officeDocument/2006/relationships/slide" Target="/ppt/slides/slide18.xml" Id="R4f78ede6c86049ef" /><Relationship Type="http://schemas.openxmlformats.org/officeDocument/2006/relationships/slide" Target="/ppt/slides/slide19.xml" Id="R7e801f4705094d10" /><Relationship Type="http://schemas.openxmlformats.org/officeDocument/2006/relationships/slide" Target="/ppt/slides/slide20.xml" Id="Rac8b6f1eaff440ff" /><Relationship Type="http://schemas.openxmlformats.org/officeDocument/2006/relationships/slide" Target="/ppt/slides/slide21.xml" Id="R29de0d2ab9ca45ec" /><Relationship Type="http://schemas.openxmlformats.org/officeDocument/2006/relationships/slide" Target="/ppt/slides/slide22.xml" Id="Rf41413f559fa4d36" /><Relationship Type="http://schemas.openxmlformats.org/officeDocument/2006/relationships/slide" Target="/ppt/slides/slide23.xml" Id="R75afb09ec0a64df7" /><Relationship Type="http://schemas.openxmlformats.org/officeDocument/2006/relationships/slide" Target="/ppt/slides/slide24.xml" Id="R918a16ec0ac94aa1" /><Relationship Type="http://schemas.openxmlformats.org/officeDocument/2006/relationships/slide" Target="/ppt/slides/slide25.xml" Id="Raa0ad90adc594e5e" /><Relationship Type="http://schemas.openxmlformats.org/officeDocument/2006/relationships/slide" Target="/ppt/slides/slide26.xml" Id="R84adb25bab5c48da" /><Relationship Type="http://schemas.openxmlformats.org/officeDocument/2006/relationships/slide" Target="/ppt/slides/slide27.xml" Id="R174db96f844e426d" /><Relationship Type="http://schemas.openxmlformats.org/officeDocument/2006/relationships/slide" Target="/ppt/slides/slide28.xml" Id="R2a179b333ea64c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7d0af1113848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c1bfca87ab476f" /><Relationship Type="http://schemas.openxmlformats.org/officeDocument/2006/relationships/notesMaster" Target="/ppt/notesMasters/notesMaster1.xml" Id="Rcd91292b163945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6a0dc4b2834fac" /><Relationship Type="http://schemas.openxmlformats.org/officeDocument/2006/relationships/notesMaster" Target="/ppt/notesMasters/notesMaster1.xml" Id="Raebccb4693f34d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70b25e251546ca" /><Relationship Type="http://schemas.openxmlformats.org/officeDocument/2006/relationships/notesMaster" Target="/ppt/notesMasters/notesMaster1.xml" Id="Rb4bf42eee05340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5a0c82a50f4218" /><Relationship Type="http://schemas.openxmlformats.org/officeDocument/2006/relationships/notesMaster" Target="/ppt/notesMasters/notesMaster1.xml" Id="R1f293993267c42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0d26702f424e91" /><Relationship Type="http://schemas.openxmlformats.org/officeDocument/2006/relationships/notesMaster" Target="/ppt/notesMasters/notesMaster1.xml" Id="R77a6efb7732147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910e79d09e4dae" /><Relationship Type="http://schemas.openxmlformats.org/officeDocument/2006/relationships/notesMaster" Target="/ppt/notesMasters/notesMaster1.xml" Id="Rc6c22604953f48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b66c5012f84d5e" /><Relationship Type="http://schemas.openxmlformats.org/officeDocument/2006/relationships/notesMaster" Target="/ppt/notesMasters/notesMaster1.xml" Id="R6b2a5de93eef45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846848bb39418c" /><Relationship Type="http://schemas.openxmlformats.org/officeDocument/2006/relationships/notesMaster" Target="/ppt/notesMasters/notesMaster1.xml" Id="Rc065dca3c4a049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0d53f0aaa14a30" /><Relationship Type="http://schemas.openxmlformats.org/officeDocument/2006/relationships/notesMaster" Target="/ppt/notesMasters/notesMaster1.xml" Id="R2d5dd08959f54b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26dcd7275c4fd2" /><Relationship Type="http://schemas.openxmlformats.org/officeDocument/2006/relationships/notesMaster" Target="/ppt/notesMasters/notesMaster1.xml" Id="R9f91c0e330e048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f0e7383ee04dfe" /><Relationship Type="http://schemas.openxmlformats.org/officeDocument/2006/relationships/notesMaster" Target="/ppt/notesMasters/notesMaster1.xml" Id="Rd35b5a3d20484a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9bd8721fd64ef7" /><Relationship Type="http://schemas.openxmlformats.org/officeDocument/2006/relationships/notesMaster" Target="/ppt/notesMasters/notesMaster1.xml" Id="R915442b1f4aa40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c65ab7a8c640ce" /><Relationship Type="http://schemas.openxmlformats.org/officeDocument/2006/relationships/notesMaster" Target="/ppt/notesMasters/notesMaster1.xml" Id="R680dc88d515e48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066c4abc6c4666" /><Relationship Type="http://schemas.openxmlformats.org/officeDocument/2006/relationships/notesMaster" Target="/ppt/notesMasters/notesMaster1.xml" Id="Rce50a3664aa04c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7b3925a29e4991" /><Relationship Type="http://schemas.openxmlformats.org/officeDocument/2006/relationships/notesMaster" Target="/ppt/notesMasters/notesMaster1.xml" Id="R465f1f9fe5b844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6a1fce59184385" /><Relationship Type="http://schemas.openxmlformats.org/officeDocument/2006/relationships/notesMaster" Target="/ppt/notesMasters/notesMaster1.xml" Id="R86ae8e2076b448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d1c67ca9c246eb" /><Relationship Type="http://schemas.openxmlformats.org/officeDocument/2006/relationships/notesMaster" Target="/ppt/notesMasters/notesMaster1.xml" Id="R06a56dd9955847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16e56b757149c5" /><Relationship Type="http://schemas.openxmlformats.org/officeDocument/2006/relationships/notesMaster" Target="/ppt/notesMasters/notesMaster1.xml" Id="R77d2971e525548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0673b50f964ca6" /><Relationship Type="http://schemas.openxmlformats.org/officeDocument/2006/relationships/notesMaster" Target="/ppt/notesMasters/notesMaster1.xml" Id="R3cb7ea409f7848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47221327924f04" /><Relationship Type="http://schemas.openxmlformats.org/officeDocument/2006/relationships/notesMaster" Target="/ppt/notesMasters/notesMaster1.xml" Id="R28a902f67cf5468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35c75cd2fc4158" /><Relationship Type="http://schemas.openxmlformats.org/officeDocument/2006/relationships/notesMaster" Target="/ppt/notesMasters/notesMaster1.xml" Id="R201d74f47bbb47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8b079e15a54005" /><Relationship Type="http://schemas.openxmlformats.org/officeDocument/2006/relationships/notesMaster" Target="/ppt/notesMasters/notesMaster1.xml" Id="Rfac4fe88368448f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c41d5932b52417d" /><Relationship Type="http://schemas.openxmlformats.org/officeDocument/2006/relationships/notesMaster" Target="/ppt/notesMasters/notesMaster1.xml" Id="R9806bd6e0c7c43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7c9962d50344a9" /><Relationship Type="http://schemas.openxmlformats.org/officeDocument/2006/relationships/notesMaster" Target="/ppt/notesMasters/notesMaster1.xml" Id="R52af6d926e1546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c6427d39e64a5d" /><Relationship Type="http://schemas.openxmlformats.org/officeDocument/2006/relationships/notesMaster" Target="/ppt/notesMasters/notesMaster1.xml" Id="R62af046ffee64d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4f20aad27c421d" /><Relationship Type="http://schemas.openxmlformats.org/officeDocument/2006/relationships/notesMaster" Target="/ppt/notesMasters/notesMaster1.xml" Id="R2f9141253b3f44a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67a2ad5b3748f1" /><Relationship Type="http://schemas.openxmlformats.org/officeDocument/2006/relationships/notesMaster" Target="/ppt/notesMasters/notesMaster1.xml" Id="Rbe5a989c33064f7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98b31dbe7334ccc" /><Relationship Type="http://schemas.openxmlformats.org/officeDocument/2006/relationships/notesMaster" Target="/ppt/notesMasters/notesMaster1.xml" Id="R9f8c44a29ea44c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 Applied Sustainability in Business and Management</a:t>
            </a:r>
          </a:p>
          <a:p xmlns:a="http://schemas.openxmlformats.org/drawingml/2006/main">
            <a:r>
              <a:t>Suggested time: 1 min</a:t>
            </a:r>
          </a:p>
          <a:p xmlns:a="http://schemas.openxmlformats.org/drawingml/2006/main">
            <a:r>
              <a:t/>
            </a:r>
          </a:p>
          <a:p xmlns:a="http://schemas.openxmlformats.org/drawingml/2006/main">
            <a:r>
              <a:t>Say: Welcome. Say that last time we talked about strategy and targets. A target without  a number is a wish — today is about the numbers.</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 Learning Objectives</a:t>
            </a:r>
          </a:p>
          <a:p xmlns:a="http://schemas.openxmlformats.org/drawingml/2006/main">
            <a:r>
              <a:t>Suggested time: 3 min</a:t>
            </a:r>
          </a:p>
          <a:p xmlns:a="http://schemas.openxmlformats.org/drawingml/2006/main">
            <a:r>
              <a:t/>
            </a:r>
          </a:p>
          <a:p xmlns:a="http://schemas.openxmlformats.org/drawingml/2006/main">
            <a:r>
              <a:t>Say: Read the seven objectives. Connect each to a decision a manager needs to make. The first half introduces the tools and business problem; the second half applies them to the cases and activities. Students will use the same tools for their Prague semester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3: Today's Lecture Agenda</a:t>
            </a:r>
          </a:p>
          <a:p xmlns:a="http://schemas.openxmlformats.org/drawingml/2006/main">
            <a:r>
              <a:t>Suggested time: 2 min</a:t>
            </a:r>
          </a:p>
          <a:p xmlns:a="http://schemas.openxmlformats.org/drawingml/2006/main">
            <a:r>
              <a:t/>
            </a:r>
          </a:p>
          <a:p xmlns:a="http://schemas.openxmlformats.org/drawingml/2006/main">
            <a:r>
              <a:t>Say: Six parts; a longer workshop before the break and a short activity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4: Part 1 — Why and How We Measure</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5: You Manage What You Measure</a:t>
            </a:r>
          </a:p>
          <a:p xmlns:a="http://schemas.openxmlformats.org/drawingml/2006/main">
            <a:r>
              <a:t>Suggested time: 10 min</a:t>
            </a:r>
          </a:p>
          <a:p xmlns:a="http://schemas.openxmlformats.org/drawingml/2006/main">
            <a:r>
              <a:t/>
            </a:r>
          </a:p>
          <a:p xmlns:a="http://schemas.openxmlformats.org/drawingml/2006/main">
            <a:r>
              <a:t>Say: Three blocks. Why indicators matter: targets without indicators are wishes, and  investors, regulators and citizens want evidence. The measurement cycle: baseline,  target, monitor, report, improve — draw it as a circle on the board. Good KPIs are  relevant, measurable, comparable over time, and hard to game. Give an example of a  bad KPI: 'number of trees planted' is easy to game (plant cheap saplings that die); 'tree  canopy cover in five years' is better.</a:t>
            </a:r>
          </a:p>
          <a:p xmlns:a="http://schemas.openxmlformats.org/drawingml/2006/main">
            <a:r>
              <a:t/>
            </a:r>
          </a:p>
          <a:p xmlns:a="http://schemas.openxmlformats.org/drawingml/2006/main">
            <a:r>
              <a:t> Ask: Give me one KPI that is easy to game. How would you fix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6: Part 2 — KPIs for Green Infrastructure</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7: Three Families of GI Indicators</a:t>
            </a:r>
          </a:p>
          <a:p xmlns:a="http://schemas.openxmlformats.org/drawingml/2006/main">
            <a:r>
              <a:t>Suggested time: 10 min</a:t>
            </a:r>
          </a:p>
          <a:p xmlns:a="http://schemas.openxmlformats.org/drawingml/2006/main">
            <a:r>
              <a:t/>
            </a:r>
          </a:p>
          <a:p xmlns:a="http://schemas.openxmlformats.org/drawingml/2006/main">
            <a:r>
              <a:t>Say: Compare environmental, economic and social indicators. Every quantitative KPI needs a unit, boundary, baseline and collection method. Carbon sequestration is a flow per year; carbon stock is the amount stored at a point in time. For green-space access, define the distance and route method explicitly. For a business project, distinguish savings the company captures from public benefits.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8: Measuring a Park: Prague Example</a:t>
            </a:r>
          </a:p>
          <a:p xmlns:a="http://schemas.openxmlformats.org/drawingml/2006/main">
            <a:r>
              <a:t>Suggested time: 10 min</a:t>
            </a:r>
          </a:p>
          <a:p xmlns:a="http://schemas.openxmlformats.org/drawingml/2006/main">
            <a:r>
              <a:t/>
            </a:r>
          </a:p>
          <a:p xmlns:a="http://schemas.openxmlformats.org/drawingml/2006/main">
            <a:r>
              <a:t>Say: Use Letná as the public case, then ask how a nearby café, hotel or employer could use the same evidence. Name one environmental, one economic and one social indicator, its data source, and the decision it supports. Treat an investment amount as a hypothetical classroom example, not a confirmed city budget.</a:t>
            </a:r>
          </a:p>
          <a:p xmlns:a="http://schemas.openxmlformats.org/drawingml/2006/main">
            <a:r>
              <a:t/>
            </a:r>
          </a:p>
          <a:p xmlns:a="http://schemas.openxmlformats.org/drawingml/2006/main">
            <a:r>
              <a:t>Image credit: Praha - Letná Park - View South.jpg — CC BY-SA 4.0, Wikimedia Commons</a:t>
            </a:r>
          </a:p>
          <a:p xmlns:a="http://schemas.openxmlformats.org/drawingml/2006/main">
            <a:r>
              <a:t>https://commons.wikimedia.org/wiki/File:Praha_-_Letn%C3%A1_Park_-_View_South.jpg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9: Part 3 — Data and Tools</a:t>
            </a:r>
          </a:p>
          <a:p xmlns:a="http://schemas.openxmlformats.org/drawingml/2006/main">
            <a:r>
              <a:t>Suggested time: 1 min</a:t>
            </a:r>
          </a:p>
          <a:p xmlns:a="http://schemas.openxmlformats.org/drawingml/2006/main">
            <a:r>
              <a:t/>
            </a:r>
          </a:p>
          <a:p xmlns:a="http://schemas.openxmlformats.org/drawingml/2006/main">
            <a:r>
              <a:t>Say: Announce the part.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10: The GI Measurement Toolkit</a:t>
            </a:r>
          </a:p>
          <a:p xmlns:a="http://schemas.openxmlformats.org/drawingml/2006/main">
            <a:r>
              <a:t>Suggested time: 10 min</a:t>
            </a:r>
          </a:p>
          <a:p xmlns:a="http://schemas.openxmlformats.org/drawingml/2006/main">
            <a:r>
              <a:t/>
            </a:r>
          </a:p>
          <a:p xmlns:a="http://schemas.openxmlformats.org/drawingml/2006/main">
            <a:r>
              <a:t>Say: GIS can map green cover, heat and access, while sensors collect field measurements. i-Tree estimates tree benefits using data and models. Dashboards communicate results; digital twins test scenarios. The screenshot in this slide is only an example of a GIS interface: its map is Houston income, not a sustainability analysis of Prague.</a:t>
            </a:r>
          </a:p>
          <a:p xmlns:a="http://schemas.openxmlformats.org/drawingml/2006/main">
            <a:r>
              <a:t/>
            </a:r>
          </a:p>
          <a:p xmlns:a="http://schemas.openxmlformats.org/drawingml/2006/main">
            <a:r>
              <a:t>Image credit: QGIS Interface Screenshot with Map of Median Income in Houston (2010).png — CC0, Wikimedia Commons</a:t>
            </a:r>
          </a:p>
          <a:p xmlns:a="http://schemas.openxmlformats.org/drawingml/2006/main">
            <a:r>
              <a:t>https://commons.wikimedia.org/wiki/File:QGIS_Interface_Screenshot_with_Map_of_Median_Income_in_Houston_(2010).png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11: Workshop: Build a Green Infrastructure Dashboard</a:t>
            </a:r>
          </a:p>
          <a:p xmlns:a="http://schemas.openxmlformats.org/drawingml/2006/main">
            <a:r>
              <a:t>Suggested time: 30 min</a:t>
            </a:r>
          </a:p>
          <a:p xmlns:a="http://schemas.openxmlformats.org/drawingml/2006/main">
            <a:r>
              <a:t/>
            </a:r>
          </a:p>
          <a:p xmlns:a="http://schemas.openxmlformats.org/drawingml/2006/main">
            <a:r>
              <a:t>Say: Keep the 30-minute group workshop and the nine KPIs. For each, add a baseline and accountable owner to the original unit, source and frequency. The dashboard should help a site manager, mayor or investor decide what to do. Ask groups to separate measured values from estimates or missing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12: Break</a:t>
            </a:r>
          </a:p>
          <a:p xmlns:a="http://schemas.openxmlformats.org/drawingml/2006/main">
            <a:r>
              <a:t>Suggested time: 20 min</a:t>
            </a:r>
          </a:p>
          <a:p xmlns:a="http://schemas.openxmlformats.org/drawingml/2006/main">
            <a:r>
              <a:t/>
            </a:r>
          </a:p>
          <a:p xmlns:a="http://schemas.openxmlformats.org/drawingml/2006/main">
            <a:r>
              <a:t>Say: After the break: from measuring a place to measuring a product — Life Cycle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13: Part 4 — Life Cycle Assessment</a:t>
            </a:r>
          </a:p>
          <a:p xmlns:a="http://schemas.openxmlformats.org/drawingml/2006/main">
            <a:r>
              <a:t>Suggested time: 1 min</a:t>
            </a:r>
          </a:p>
          <a:p xmlns:a="http://schemas.openxmlformats.org/drawingml/2006/main">
            <a:r>
              <a:t/>
            </a:r>
          </a:p>
          <a:p xmlns:a="http://schemas.openxmlformats.org/drawingml/2006/main">
            <a:r>
              <a:t>Say: Announce the part. Say the short form: LCA.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14: What is LCA?</a:t>
            </a:r>
          </a:p>
          <a:p xmlns:a="http://schemas.openxmlformats.org/drawingml/2006/main">
            <a:r>
              <a:t>Suggested time: 8 min</a:t>
            </a:r>
          </a:p>
          <a:p xmlns:a="http://schemas.openxmlformats.org/drawingml/2006/main">
            <a:r>
              <a:t/>
            </a:r>
          </a:p>
          <a:p xmlns:a="http://schemas.openxmlformats.org/drawingml/2006/main">
            <a:r>
              <a:t>Say: Explain goal and scope, inventory, impact assessment and interpretation. LCA includes a defined function and boundary across life stages. Do not teach a fixed dominant stage for every car, shirt or building: the result depends on the technology, use, lifetime and impact category.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15: The Four Phases of LCA</a:t>
            </a:r>
          </a:p>
          <a:p xmlns:a="http://schemas.openxmlformats.org/drawingml/2006/main">
            <a:r>
              <a:t>Suggested time: 8 min</a:t>
            </a:r>
          </a:p>
          <a:p xmlns:a="http://schemas.openxmlformats.org/drawingml/2006/main">
            <a:r>
              <a:t/>
            </a:r>
          </a:p>
          <a:p xmlns:a="http://schemas.openxmlformats.org/drawingml/2006/main">
            <a:r>
              <a:t>Say: Four phases, in order. Goal and scope: what are we assessing, for which decision, and where are the boundaries. Inventory: collect all inputs and outputs — energy, materials, emissions, waste. Impact assessment: translate the inventory into impacts such as climate, water, toxicity, land use. Interpretation: draw conclusions, test how sensitive the result is, recommend. Students should be able to name the four phases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16: The Functional Unit</a:t>
            </a:r>
          </a:p>
          <a:p xmlns:a="http://schemas.openxmlformats.org/drawingml/2006/main">
            <a:r>
              <a:t>Suggested time: 8 min</a:t>
            </a:r>
          </a:p>
          <a:p xmlns:a="http://schemas.openxmlformats.org/drawingml/2006/main">
            <a:r>
              <a:t/>
            </a:r>
          </a:p>
          <a:p xmlns:a="http://schemas.openxmlformats.org/drawingml/2006/main">
            <a:r>
              <a:t>Say: Compare equal service, such as keeping one square metre of roof waterproof for 50 years. For cups, specify a number and volume of drinks plus washing and reuse conditions. There is no universal break-even number for a ceramic mug; it depends on manufacturing, energy, washing and reuse.</a:t>
            </a:r>
          </a:p>
          <a:p xmlns:a="http://schemas.openxmlformats.org/drawingml/2006/main">
            <a:r>
              <a:t/>
            </a:r>
          </a:p>
          <a:p xmlns:a="http://schemas.openxmlformats.org/drawingml/2006/main">
            <a:r>
              <a:t>Ask: What would you need to measure to make the comparison fair?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17: Part 5 — Ecodesign</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18: Ecodesign Principles</a:t>
            </a:r>
          </a:p>
          <a:p xmlns:a="http://schemas.openxmlformats.org/drawingml/2006/main">
            <a:r>
              <a:t>Suggested time: 10 min</a:t>
            </a:r>
          </a:p>
          <a:p xmlns:a="http://schemas.openxmlformats.org/drawingml/2006/main">
            <a:r>
              <a:t/>
            </a:r>
          </a:p>
          <a:p xmlns:a="http://schemas.openxmlformats.org/drawingml/2006/main">
            <a:r>
              <a:t>Say: Design affects materials, repair, energy use and recovery. Avoid treating a single percentage as universal. Connect ecodesign to the R-ladder: repair and reuse require durable components, spare parts and a workable service model. Ask which changes a procurement or product manager can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19: Part 6 — Lifecycle Thinking for Buildings and Sites</a:t>
            </a:r>
          </a:p>
          <a:p xmlns:a="http://schemas.openxmlformats.org/drawingml/2006/main">
            <a:r>
              <a:t>Suggested time: 1 min</a:t>
            </a:r>
          </a:p>
          <a:p xmlns:a="http://schemas.openxmlformats.org/drawingml/2006/main">
            <a:r>
              <a:t/>
            </a:r>
          </a:p>
          <a:p xmlns:a="http://schemas.openxmlformats.org/drawingml/2006/main">
            <a:r>
              <a:t>Say: Announce the part: LCA is not only for products.</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20: Life-Cycle Thinking for Business Facilities</a:t>
            </a:r>
          </a:p>
          <a:p xmlns:a="http://schemas.openxmlformats.org/drawingml/2006/main">
            <a:r>
              <a:t>Suggested time: 5 min</a:t>
            </a:r>
          </a:p>
          <a:p xmlns:a="http://schemas.openxmlformats.org/drawingml/2006/main">
            <a:r>
              <a:t/>
            </a:r>
          </a:p>
          <a:p xmlns:a="http://schemas.openxmlformats.org/drawingml/2006/main">
            <a:r>
              <a:t>Say: A company can use the same life-cycle approach for a roof, car park or production site. Include materials, transport, irrigation, maintenance, replacement and disposal as relevant. Vegetation may store carbon or reduce cooling needs, but the net result must be calculated. Conventional infrastructure also provides essential services.</a:t>
            </a:r>
          </a:p>
          <a:p xmlns:a="http://schemas.openxmlformats.org/drawingml/2006/main">
            <a:r>
              <a:t/>
            </a:r>
          </a:p>
          <a:p xmlns:a="http://schemas.openxmlformats.org/drawingml/2006/main">
            <a:r>
              <a:t>Sources checked 5 October 2026:</a:t>
            </a:r>
          </a:p>
          <a:p xmlns:a="http://schemas.openxmlformats.org/drawingml/2006/main">
            <a:r>
              <a:t>https://www.epa.gov/heatislands/using-green-roofs-reduce-heat-islands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21: Case Study: the Roof Above Your Head</a:t>
            </a:r>
          </a:p>
          <a:p xmlns:a="http://schemas.openxmlformats.org/drawingml/2006/main">
            <a:r>
              <a:t>Suggested time: 2 min</a:t>
            </a:r>
          </a:p>
          <a:p xmlns:a="http://schemas.openxmlformats.org/drawingml/2006/main">
            <a:r>
              <a:t/>
            </a:r>
          </a:p>
          <a:p xmlns:a="http://schemas.openxmlformats.org/drawingml/2006/main">
            <a:r>
              <a:t>Say: Chicago City Hall again — a working green roof on a hundred-year-old building. Now we look at it with LCA eyes.</a:t>
            </a:r>
          </a:p>
          <a:p xmlns:a="http://schemas.openxmlformats.org/drawingml/2006/main">
            <a:r>
              <a:t/>
            </a:r>
          </a:p>
          <a:p xmlns:a="http://schemas.openxmlformats.org/drawingml/2006/main">
            <a:r>
              <a:t>Image credit: 20080708 Chicago City Hall Green Roof.JPG — CC BY-SA 3.0, Wikimedia Commons</a:t>
            </a:r>
          </a:p>
          <a:p xmlns:a="http://schemas.openxmlformats.org/drawingml/2006/main">
            <a:r>
              <a:t>https://commons.wikimedia.org/wiki/File:20080708_Chicago_City_Hall_Green_Roof.JPG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22: Green Roof and Conventional Roof</a:t>
            </a:r>
          </a:p>
          <a:p xmlns:a="http://schemas.openxmlformats.org/drawingml/2006/main">
            <a:r>
              <a:t>Suggested time: 6 min</a:t>
            </a:r>
          </a:p>
          <a:p xmlns:a="http://schemas.openxmlformats.org/drawingml/2006/main">
            <a:r>
              <a:t/>
            </a:r>
          </a:p>
          <a:p xmlns:a="http://schemas.openxmlformats.org/drawingml/2006/main">
            <a:r>
              <a:t>Say: Compare the same waterproofing service and study period. Avoid fixed lifetimes as universal facts: actual life depends on the system and maintenance. Green roofs can add benefits but also weight, materials and upkeep. Check the building’s structural suitability before comparing costs.</a:t>
            </a:r>
          </a:p>
          <a:p xmlns:a="http://schemas.openxmlformats.org/drawingml/2006/main">
            <a:r>
              <a:t/>
            </a:r>
          </a:p>
          <a:p xmlns:a="http://schemas.openxmlformats.org/drawingml/2006/main">
            <a:r>
              <a:t>Sources checked 5 October 2026:</a:t>
            </a:r>
          </a:p>
          <a:p xmlns:a="http://schemas.openxmlformats.org/drawingml/2006/main">
            <a:r>
              <a:t>https://www.epa.gov/heatislands/using-green-roofs-reduce-heat-islands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23: Assessing the Green Roof Business Case</a:t>
            </a:r>
          </a:p>
          <a:p xmlns:a="http://schemas.openxmlformats.org/drawingml/2006/main">
            <a:r>
              <a:t>Suggested time: 6 min</a:t>
            </a:r>
          </a:p>
          <a:p xmlns:a="http://schemas.openxmlformats.org/drawingml/2006/main">
            <a:r>
              <a:t/>
            </a:r>
          </a:p>
          <a:p xmlns:a="http://schemas.openxmlformats.org/drawingml/2006/main">
            <a:r>
              <a:t>Say: Energy savings or a longer membrane life may compensate for added burdens, but the conclusion depends on the site and study. Keep financial appraisal, environmental LCA and wider social or ecological benefits distinct. Use sensitivity checks for uncertain lifetimes and energy savings.</a:t>
            </a:r>
          </a:p>
          <a:p xmlns:a="http://schemas.openxmlformats.org/drawingml/2006/main">
            <a:r>
              <a:t/>
            </a:r>
          </a:p>
          <a:p xmlns:a="http://schemas.openxmlformats.org/drawingml/2006/main">
            <a:r>
              <a:t>Ask: Would the preferred option change if maintenance costs doubled or the energy mix changed?</a:t>
            </a:r>
          </a:p>
          <a:p xmlns:a="http://schemas.openxmlformats.org/drawingml/2006/main">
            <a:r>
              <a:t/>
            </a:r>
          </a:p>
          <a:p xmlns:a="http://schemas.openxmlformats.org/drawingml/2006/main">
            <a:r>
              <a:t>Sources checked 5 October 2026:</a:t>
            </a:r>
          </a:p>
          <a:p xmlns:a="http://schemas.openxmlformats.org/drawingml/2006/main">
            <a:r>
              <a:t>https://www.epa.gov/heatislands/using-green-roofs-reduce-heat-islands</a:t>
            </a:r>
          </a:p>
          <a:p xmlns:a="http://schemas.openxmlformats.org/drawingml/2006/main">
            <a:r>
              <a:t>https://www.epa.gov/green-infrastructure/economic-benefits-green-infrastructure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24: Classroom Activity: Map a Life Cycle</a:t>
            </a:r>
          </a:p>
          <a:p xmlns:a="http://schemas.openxmlformats.org/drawingml/2006/main">
            <a:r>
              <a:t>Suggested time: 15 min</a:t>
            </a:r>
          </a:p>
          <a:p xmlns:a="http://schemas.openxmlformats.org/drawingml/2006/main">
            <a:r>
              <a:t/>
            </a:r>
          </a:p>
          <a:p xmlns:a="http://schemas.openxmlformats.org/drawingml/2006/main">
            <a:r>
              <a:t>Say: Pairs choose a product they used today, sketch its life cycle, mark the stage with the biggest impact, and propose one ecodesign change. Details in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25: Key Messages</a:t>
            </a:r>
          </a:p>
          <a:p xmlns:a="http://schemas.openxmlformats.org/drawingml/2006/main">
            <a:r>
              <a:t>Suggested time: 4 min</a:t>
            </a:r>
          </a:p>
          <a:p xmlns:a="http://schemas.openxmlformats.org/drawingml/2006/main">
            <a:r>
              <a:t/>
            </a:r>
          </a:p>
          <a:p xmlns:a="http://schemas.openxmlformats.org/drawingml/2006/main">
            <a:r>
              <a:t>Say: Work through the eight messages. Ask students to connect each to a decision, example or tool from this lecture. Distinguish potential benefits from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26: Recommended Reading</a:t>
            </a:r>
          </a:p>
          <a:p xmlns:a="http://schemas.openxmlformats.org/drawingml/2006/main">
            <a:r>
              <a:t>Suggested time: 2 min</a:t>
            </a:r>
          </a:p>
          <a:p xmlns:a="http://schemas.openxmlformats.org/drawingml/2006/main">
            <a:r>
              <a:t/>
            </a:r>
          </a:p>
          <a:p xmlns:a="http://schemas.openxmlformats.org/drawingml/2006/main">
            <a:r>
              <a:t>Say: Point to the Seminar 3 preview: students will apply life cycle mapping and ecodesign to their Prague site. Next lecture: stakeholders, communication and smart cities.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27: Any questions?</a:t>
            </a:r>
          </a:p>
          <a:p xmlns:a="http://schemas.openxmlformats.org/drawingml/2006/main">
            <a:r>
              <a:t>Suggested time: 5 min</a:t>
            </a:r>
          </a:p>
          <a:p xmlns:a="http://schemas.openxmlformats.org/drawingml/2006/main">
            <a:r>
              <a:t/>
            </a:r>
          </a:p>
          <a:p xmlns:a="http://schemas.openxmlformats.org/drawingml/2006/main">
            <a:r>
              <a:t>Say: Take questions.</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4, slide 28: Image credits</a:t>
            </a:r>
          </a:p>
          <a:p xmlns:a="http://schemas.openxmlformats.org/drawingml/2006/main">
            <a:r>
              <a:t/>
            </a:r>
          </a:p>
          <a:p xmlns:a="http://schemas.openxmlformats.org/drawingml/2006/main">
            <a:r>
              <a:t>Say: No need to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a18ede8be84a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503b26c5724f08" /><Relationship Type="http://schemas.openxmlformats.org/officeDocument/2006/relationships/slideLayout" Target="/ppt/slideLayouts/slideLayout1.xml" Id="Ra9e274c2540446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e274c2540446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a26b45b9a94a56" /><Relationship Type="http://schemas.openxmlformats.org/officeDocument/2006/relationships/image" Target="/ppt/media/image.png" Id="R4c065866931a4fa9" /><Relationship Type="http://schemas.openxmlformats.org/officeDocument/2006/relationships/image" Target="/ppt/media/image2.png" Id="R1ff0c04c436148db" /><Relationship Type="http://schemas.openxmlformats.org/officeDocument/2006/relationships/notesSlide" Target="/ppt/notesSlides/notesSlide1.xml" Id="Rc4f93a74c4714f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78b8b52a1d43f8" /><Relationship Type="http://schemas.openxmlformats.org/officeDocument/2006/relationships/image" Target="/ppt/media/image3.png" Id="R7193966a2dcf4a49" /><Relationship Type="http://schemas.openxmlformats.org/officeDocument/2006/relationships/notesSlide" Target="/ppt/notesSlides/notesSlide2.xml" Id="R1922b7dd574744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c81af9f60f4d46" /><Relationship Type="http://schemas.openxmlformats.org/officeDocument/2006/relationships/image" Target="/ppt/media/image4.png" Id="Rc905dd2e7b814907" /><Relationship Type="http://schemas.openxmlformats.org/officeDocument/2006/relationships/notesSlide" Target="/ppt/notesSlides/notesSlide3.xml" Id="R566d134d88c948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db99d387344e6e" /><Relationship Type="http://schemas.openxmlformats.org/officeDocument/2006/relationships/image" Target="/ppt/media/image5.png" Id="R3667f6c16b814293" /><Relationship Type="http://schemas.openxmlformats.org/officeDocument/2006/relationships/notesSlide" Target="/ppt/notesSlides/notesSlide4.xml" Id="Rbc5664027e8e4f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41bd0b8ad341c5" /><Relationship Type="http://schemas.openxmlformats.org/officeDocument/2006/relationships/image" Target="/ppt/media/image6.png" Id="R2dabed6991c24d9a" /><Relationship Type="http://schemas.openxmlformats.org/officeDocument/2006/relationships/notesSlide" Target="/ppt/notesSlides/notesSlide5.xml" Id="R0607fd4fab6a4a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38394660dc45fe" /><Relationship Type="http://schemas.openxmlformats.org/officeDocument/2006/relationships/image" Target="/ppt/media/image7.png" Id="Rede29b54518f466f" /><Relationship Type="http://schemas.openxmlformats.org/officeDocument/2006/relationships/notesSlide" Target="/ppt/notesSlides/notesSlide6.xml" Id="R5799a2341e7f48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c160512ed94fac" /><Relationship Type="http://schemas.openxmlformats.org/officeDocument/2006/relationships/image" Target="/ppt/media/image8.png" Id="Rc89e81fef1764a61" /><Relationship Type="http://schemas.openxmlformats.org/officeDocument/2006/relationships/notesSlide" Target="/ppt/notesSlides/notesSlide7.xml" Id="R27ee60142c2741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3dc9283a7a4510" /><Relationship Type="http://schemas.openxmlformats.org/officeDocument/2006/relationships/image" Target="/ppt/media/image.jpeg" Id="Rbc9fb3ce31f746a4" /><Relationship Type="http://schemas.openxmlformats.org/officeDocument/2006/relationships/image" Target="/ppt/media/image9.png" Id="Raded0e3a19964ae6" /><Relationship Type="http://schemas.openxmlformats.org/officeDocument/2006/relationships/notesSlide" Target="/ppt/notesSlides/notesSlide8.xml" Id="R4c99c270252640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37db2ca6044179" /><Relationship Type="http://schemas.openxmlformats.org/officeDocument/2006/relationships/image" Target="/ppt/media/image10.png" Id="Ra4ffc159801a48cd" /><Relationship Type="http://schemas.openxmlformats.org/officeDocument/2006/relationships/image" Target="/ppt/media/image11.png" Id="R9fa198de1c39418c" /><Relationship Type="http://schemas.openxmlformats.org/officeDocument/2006/relationships/notesSlide" Target="/ppt/notesSlides/notesSlide9.xml" Id="R0c460d6165464b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808dabcd7a04956" /><Relationship Type="http://schemas.openxmlformats.org/officeDocument/2006/relationships/image" Target="/ppt/media/image12.png" Id="R44ef5ea9b6344bc5" /><Relationship Type="http://schemas.openxmlformats.org/officeDocument/2006/relationships/image" Target="/ppt/media/image13.png" Id="R57a3635190074ab9" /><Relationship Type="http://schemas.openxmlformats.org/officeDocument/2006/relationships/notesSlide" Target="/ppt/notesSlides/notesSlide10.xml" Id="Rfdea904a198145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e27f86288a4e9e" /><Relationship Type="http://schemas.openxmlformats.org/officeDocument/2006/relationships/image" Target="/ppt/media/image14.png" Id="R43cc0815827641e5" /><Relationship Type="http://schemas.openxmlformats.org/officeDocument/2006/relationships/notesSlide" Target="/ppt/notesSlides/notesSlide11.xml" Id="R71929a0f85d44b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d6d73a1f5f4f78" /><Relationship Type="http://schemas.openxmlformats.org/officeDocument/2006/relationships/image" Target="/ppt/media/image15.png" Id="R21850f3ca3e24b3b" /><Relationship Type="http://schemas.openxmlformats.org/officeDocument/2006/relationships/notesSlide" Target="/ppt/notesSlides/notesSlide12.xml" Id="Rc856c3dea0974f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976987b6390481c" /><Relationship Type="http://schemas.openxmlformats.org/officeDocument/2006/relationships/image" Target="/ppt/media/image16.png" Id="Reaa313624e324048" /><Relationship Type="http://schemas.openxmlformats.org/officeDocument/2006/relationships/notesSlide" Target="/ppt/notesSlides/notesSlide13.xml" Id="R04a8e30fdca140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1ea92fcbbb46b5" /><Relationship Type="http://schemas.openxmlformats.org/officeDocument/2006/relationships/image" Target="/ppt/media/image17.png" Id="Rd9319d3cbf28471e" /><Relationship Type="http://schemas.openxmlformats.org/officeDocument/2006/relationships/notesSlide" Target="/ppt/notesSlides/notesSlide14.xml" Id="Rc36d9eceb631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8c9de3b7c84934" /><Relationship Type="http://schemas.openxmlformats.org/officeDocument/2006/relationships/image" Target="/ppt/media/image18.png" Id="R8e861c4692124c7b" /><Relationship Type="http://schemas.openxmlformats.org/officeDocument/2006/relationships/notesSlide" Target="/ppt/notesSlides/notesSlide15.xml" Id="R3bb9e81e349f4f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53556ecd86476d" /><Relationship Type="http://schemas.openxmlformats.org/officeDocument/2006/relationships/image" Target="/ppt/media/image19.png" Id="Rb6ab9327225f4689" /><Relationship Type="http://schemas.openxmlformats.org/officeDocument/2006/relationships/notesSlide" Target="/ppt/notesSlides/notesSlide16.xml" Id="R6a492472c6f44b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38a0614e08d43a2" /><Relationship Type="http://schemas.openxmlformats.org/officeDocument/2006/relationships/image" Target="/ppt/media/image20.png" Id="R6bef7a0913464541" /><Relationship Type="http://schemas.openxmlformats.org/officeDocument/2006/relationships/notesSlide" Target="/ppt/notesSlides/notesSlide17.xml" Id="Ra2b3f646c02b4f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e90c5433754649" /><Relationship Type="http://schemas.openxmlformats.org/officeDocument/2006/relationships/image" Target="/ppt/media/image21.png" Id="Rc595ad1e7287402d" /><Relationship Type="http://schemas.openxmlformats.org/officeDocument/2006/relationships/notesSlide" Target="/ppt/notesSlides/notesSlide18.xml" Id="R88125544980447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f743479f1b4ab1" /><Relationship Type="http://schemas.openxmlformats.org/officeDocument/2006/relationships/image" Target="/ppt/media/image22.png" Id="Rdaef83b8af374f15" /><Relationship Type="http://schemas.openxmlformats.org/officeDocument/2006/relationships/image" Target="/ppt/media/image23.png" Id="R280f7759b22c4bd8" /><Relationship Type="http://schemas.openxmlformats.org/officeDocument/2006/relationships/notesSlide" Target="/ppt/notesSlides/notesSlide19.xml" Id="Rbd33d8935f1745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57f7a575e114fa4" /><Relationship Type="http://schemas.openxmlformats.org/officeDocument/2006/relationships/image" Target="/ppt/media/image24.png" Id="R634b7646a8784200" /><Relationship Type="http://schemas.openxmlformats.org/officeDocument/2006/relationships/notesSlide" Target="/ppt/notesSlides/notesSlide20.xml" Id="R5d6045c6d6fb4f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40683171d4948a8" /><Relationship Type="http://schemas.openxmlformats.org/officeDocument/2006/relationships/image" Target="/ppt/media/image2.jpeg" Id="Rc91fc2f8b38e4eb8" /><Relationship Type="http://schemas.openxmlformats.org/officeDocument/2006/relationships/image" Target="/ppt/media/image25.png" Id="R125ca6fba10a475e" /><Relationship Type="http://schemas.openxmlformats.org/officeDocument/2006/relationships/notesSlide" Target="/ppt/notesSlides/notesSlide21.xml" Id="R2339a365f91d45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8c249c07c2b461c" /><Relationship Type="http://schemas.openxmlformats.org/officeDocument/2006/relationships/image" Target="/ppt/media/image26.png" Id="R64a9362f67504205" /><Relationship Type="http://schemas.openxmlformats.org/officeDocument/2006/relationships/notesSlide" Target="/ppt/notesSlides/notesSlide22.xml" Id="R39f90c99ffba482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c3f91c46b6444f" /><Relationship Type="http://schemas.openxmlformats.org/officeDocument/2006/relationships/image" Target="/ppt/media/image27.png" Id="R6a31d31fe15a4932" /><Relationship Type="http://schemas.openxmlformats.org/officeDocument/2006/relationships/notesSlide" Target="/ppt/notesSlides/notesSlide23.xml" Id="R7acd049936bc49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af951fc2c5b477d" /><Relationship Type="http://schemas.openxmlformats.org/officeDocument/2006/relationships/image" Target="/ppt/media/image28.png" Id="R7ae6caa5a05446a0" /><Relationship Type="http://schemas.openxmlformats.org/officeDocument/2006/relationships/notesSlide" Target="/ppt/notesSlides/notesSlide24.xml" Id="Rb7dda680aee04b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e538ecfa57144c9" /><Relationship Type="http://schemas.openxmlformats.org/officeDocument/2006/relationships/image" Target="/ppt/media/image29.png" Id="Racc23c405fd14441" /><Relationship Type="http://schemas.openxmlformats.org/officeDocument/2006/relationships/notesSlide" Target="/ppt/notesSlides/notesSlide25.xml" Id="R1bb2e0f85dbc46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c1b1ec6eaed46bc" /><Relationship Type="http://schemas.openxmlformats.org/officeDocument/2006/relationships/image" Target="/ppt/media/image30.png" Id="R3559d94daf22490b" /><Relationship Type="http://schemas.openxmlformats.org/officeDocument/2006/relationships/notesSlide" Target="/ppt/notesSlides/notesSlide26.xml" Id="R1958e80bdf854e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437008e2cae4b81" /><Relationship Type="http://schemas.openxmlformats.org/officeDocument/2006/relationships/image" Target="/ppt/media/image31.png" Id="Rb7639e7d4e3c4018" /><Relationship Type="http://schemas.openxmlformats.org/officeDocument/2006/relationships/image" Target="/ppt/media/image32.png" Id="R6c81dbdf430141e6" /><Relationship Type="http://schemas.openxmlformats.org/officeDocument/2006/relationships/notesSlide" Target="/ppt/notesSlides/notesSlide27.xml" Id="Rb6bf3c068720402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13efd592a424ed7" /><Relationship Type="http://schemas.openxmlformats.org/officeDocument/2006/relationships/image" Target="/ppt/media/image33.png" Id="R42393c061da4470f" /><Relationship Type="http://schemas.openxmlformats.org/officeDocument/2006/relationships/notesSlide" Target="/ppt/notesSlides/notesSlide28.xml" Id="R9a1a86f2170d476a" /></Relationships>
</file>

<file path=ppt/slides/slide1.xml><?xml version="1.0" encoding="utf-8"?>
<p:sld xmlns:p="http://schemas.openxmlformats.org/presentationml/2006/main">
  <p:cSld>
    <p:bg>
      <p:bgPr>
        <a:solidFill xmlns:a="http://schemas.openxmlformats.org/drawingml/2006/main">
          <a:srgbClr val="041F3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065866931a4fa9"/>
          <a:srcRect xmlns:a="http://schemas.openxmlformats.org/drawingml/2006/main" l="28634" t="0" r="28634" b="0"/>
          <a:stretch xmlns:a="http://schemas.openxmlformats.org/drawingml/2006/main">
            <a:fillRect l="0" t="0" r="0" b="0"/>
          </a:stretch>
        </p:blipFill>
        <p:spPr>
          <a:xfrm xmlns:a="http://schemas.openxmlformats.org/drawingml/2006/main">
            <a:off x="5238750" y="0"/>
            <a:ext cx="3905250" cy="51435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ff0c04c436148db"/>
          <a:stretch xmlns:a="http://schemas.openxmlformats.org/drawingml/2006/main"/>
        </p:blipFill>
        <p:spPr>
          <a:xfrm xmlns:a="http://schemas.openxmlformats.org/drawingml/2006/main">
            <a:off x="495300" y="328666"/>
            <a:ext cx="1790700" cy="323742"/>
          </a:xfrm>
          <a:prstGeom xmlns:a="http://schemas.openxmlformats.org/drawingml/2006/main" prst="rect">
            <a:avLst/>
          </a:prstGeom>
        </p:spPr>
      </p:pic>
      <p:sp>
        <p:nvSpPr>
          <p:cNvPr id="3" name="Applied Sustainability in Business and Management">
            <a:extLst xmlns:a="http://schemas.openxmlformats.org/drawingml/2006/main">
              <a:ext uri="{FF2B5EF4-FFF2-40B4-BE49-F238E27FC236}">
                <a16:creationId xmlns:a16="http://schemas.microsoft.com/office/drawing/2014/main" id="{97FACFAC-9BCF-4D5F-8141-96B430FC365A}"/>
              </a:ext>
            </a:extLst>
          </p:cNvPr>
          <p:cNvSpPr>
            <a:spLocks xmlns:a="http://schemas.openxmlformats.org/drawingml/2006/main" noGrp="1"/>
          </p:cNvSpPr>
          <p:nvPr/>
        </p:nvSpPr>
        <p:spPr>
          <a:xfrm xmlns:a="http://schemas.openxmlformats.org/drawingml/2006/main">
            <a:off x="495300" y="1066800"/>
            <a:ext cx="4419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Applied Sustainability</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in Business and</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Management</a:t>
            </a:r>
          </a:p>
        </p:txBody>
      </p:sp>
      <p:sp>
        <p:nvSpPr>
          <p:cNvPr id="4" name="Lecture 4 — Measuring Sustainability — Assessment,">
            <a:extLst xmlns:a="http://schemas.openxmlformats.org/drawingml/2006/main">
              <a:ext uri="{FF2B5EF4-FFF2-40B4-BE49-F238E27FC236}">
                <a16:creationId xmlns:a16="http://schemas.microsoft.com/office/drawing/2014/main" id="{4BBE48C4-CDEB-4568-9851-DAB9E370CBDD}"/>
              </a:ext>
            </a:extLst>
          </p:cNvPr>
          <p:cNvSpPr>
            <a:spLocks xmlns:a="http://schemas.openxmlformats.org/drawingml/2006/main" noGrp="1"/>
          </p:cNvSpPr>
          <p:nvPr/>
        </p:nvSpPr>
        <p:spPr>
          <a:xfrm xmlns:a="http://schemas.openxmlformats.org/drawingml/2006/main">
            <a:off x="495300" y="295275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Lecture 4 — Measuring Sustainability</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 Assessment, KPIs and Life Cycle</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Thinking</a:t>
            </a:r>
          </a:p>
        </p:txBody>
      </p:sp>
      <p:sp>
        <p:nvSpPr>
          <p:cNvPr id="5" name="Ing. Arch. Jenan Hussein, MSc, PhD">
            <a:extLst xmlns:a="http://schemas.openxmlformats.org/drawingml/2006/main">
              <a:ext uri="{FF2B5EF4-FFF2-40B4-BE49-F238E27FC236}">
                <a16:creationId xmlns:a16="http://schemas.microsoft.com/office/drawing/2014/main" id="{965FADC2-0992-4215-8A77-8E0B88DB4530}"/>
              </a:ext>
            </a:extLst>
          </p:cNvPr>
          <p:cNvSpPr>
            <a:spLocks xmlns:a="http://schemas.openxmlformats.org/drawingml/2006/main" noGrp="1"/>
          </p:cNvSpPr>
          <p:nvPr/>
        </p:nvSpPr>
        <p:spPr>
          <a:xfrm xmlns:a="http://schemas.openxmlformats.org/drawingml/2006/main">
            <a:off x="495300" y="441007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C7D0C6"/>
                </a:solidFill>
                <a:latin typeface="Arial"/>
                <a:ea typeface="Arial"/>
                <a:cs typeface="Arial"/>
              </a:defRPr>
            </a:pPr>
            <a:r>
              <a:rPr sz="1425" b="0">
                <a:solidFill>
                  <a:srgbClr val="C7D0C6"/>
                </a:solidFill>
                <a:latin typeface="Arial"/>
                <a:ea typeface="Arial"/>
                <a:cs typeface="Arial"/>
              </a:rPr>
              <a:t>Ing. Arch. Jenan Hussein, MSc, PhD</a:t>
            </a:r>
          </a:p>
        </p:txBody>
      </p:sp>
      <p:sp>
        <p:nvSpPr>
          <p:cNvPr id="6" name="jenanhussein83@gmail.com">
            <a:extLst xmlns:a="http://schemas.openxmlformats.org/drawingml/2006/main">
              <a:ext uri="{FF2B5EF4-FFF2-40B4-BE49-F238E27FC236}">
                <a16:creationId xmlns:a16="http://schemas.microsoft.com/office/drawing/2014/main" id="{53D14356-4229-4B89-883D-795724D68E91}"/>
              </a:ext>
            </a:extLst>
          </p:cNvPr>
          <p:cNvSpPr>
            <a:spLocks xmlns:a="http://schemas.openxmlformats.org/drawingml/2006/main" noGrp="1"/>
          </p:cNvSpPr>
          <p:nvPr/>
        </p:nvSpPr>
        <p:spPr>
          <a:xfrm xmlns:a="http://schemas.openxmlformats.org/drawingml/2006/main">
            <a:off x="495300" y="469582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C7D0C6"/>
                </a:solidFill>
                <a:latin typeface="Arial"/>
                <a:ea typeface="Arial"/>
                <a:cs typeface="Arial"/>
              </a:defRPr>
            </a:pPr>
            <a:r>
              <a:rPr sz="1350" b="0">
                <a:solidFill>
                  <a:srgbClr val="C7D0C6"/>
                </a:solidFill>
                <a:latin typeface="Arial"/>
                <a:ea typeface="Arial"/>
                <a:cs typeface="Arial"/>
              </a:rPr>
              <a:t>jenanhussein83@gmail.com</a:t>
            </a:r>
          </a:p>
        </p:txBody>
      </p:sp>
    </p:spTree>
    <p:extLst>
      <p:ext uri="{BB962C8B-B14F-4D97-AF65-F5344CB8AC3E}">
        <p14:creationId xmlns:p14="http://schemas.microsoft.com/office/powerpoint/2010/main" val="1005033287"/>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Learning Objectives">
            <a:extLst xmlns:a="http://schemas.openxmlformats.org/drawingml/2006/main">
              <a:ext uri="{FF2B5EF4-FFF2-40B4-BE49-F238E27FC236}">
                <a16:creationId xmlns:a16="http://schemas.microsoft.com/office/drawing/2014/main" id="{4515577E-92A8-4A3D-AAC8-F37BE35FA7D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Learning Objectives</a:t>
            </a:r>
          </a:p>
        </p:txBody>
      </p:sp>
      <p:sp>
        <p:nvSpPr>
          <p:cNvPr id="2" name="Editorial frame">
            <a:extLst xmlns:a="http://schemas.openxmlformats.org/drawingml/2006/main">
              <a:ext uri="{FF2B5EF4-FFF2-40B4-BE49-F238E27FC236}">
                <a16:creationId xmlns:a16="http://schemas.microsoft.com/office/drawing/2014/main" id="{5431B708-E282-4BC5-9DDA-8F06E72EFB1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B23316E-D325-4F32-B595-AD4F49CF511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By the end of this lecture you will be able to:">
            <a:extLst xmlns:a="http://schemas.openxmlformats.org/drawingml/2006/main">
              <a:ext uri="{FF2B5EF4-FFF2-40B4-BE49-F238E27FC236}">
                <a16:creationId xmlns:a16="http://schemas.microsoft.com/office/drawing/2014/main" id="{C029B7CE-E34A-4696-8F07-23ED60D181A5}"/>
              </a:ext>
            </a:extLst>
          </p:cNvPr>
          <p:cNvSpPr>
            <a:spLocks xmlns:a="http://schemas.openxmlformats.org/drawingml/2006/main" noGrp="1"/>
          </p:cNvSpPr>
          <p:nvPr/>
        </p:nvSpPr>
        <p:spPr>
          <a:xfrm xmlns:a="http://schemas.openxmlformats.org/drawingml/2006/main">
            <a:off x="495300" y="14287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By the end of this lecture you will be able to:</a:t>
            </a:r>
          </a:p>
        </p:txBody>
      </p:sp>
      <p:sp>
        <p:nvSpPr>
          <p:cNvPr id="5" name="Editorial frame">
            <a:extLst xmlns:a="http://schemas.openxmlformats.org/drawingml/2006/main">
              <a:ext uri="{FF2B5EF4-FFF2-40B4-BE49-F238E27FC236}">
                <a16:creationId xmlns:a16="http://schemas.microsoft.com/office/drawing/2014/main" id="{6410A662-26AB-4122-BA48-3F18F2ADFB8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DEBBC338-3FE9-4FBC-93C7-A704EEC332F6}"/>
              </a:ext>
            </a:extLst>
          </p:cNvPr>
          <p:cNvSpPr>
            <a:spLocks xmlns:a="http://schemas.openxmlformats.org/drawingml/2006/main" noGrp="1"/>
          </p:cNvSpPr>
          <p:nvPr/>
        </p:nvSpPr>
        <p:spPr>
          <a:xfrm xmlns:a="http://schemas.openxmlformats.org/drawingml/2006/main">
            <a:off x="4562475" y="1857375"/>
            <a:ext cx="9525"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85012988-13C7-4517-9B72-043181A85BD9}"/>
              </a:ext>
            </a:extLst>
          </p:cNvPr>
          <p:cNvSpPr>
            <a:spLocks xmlns:a="http://schemas.openxmlformats.org/drawingml/2006/main" noGrp="1"/>
          </p:cNvSpPr>
          <p:nvPr/>
        </p:nvSpPr>
        <p:spPr>
          <a:xfrm xmlns:a="http://schemas.openxmlformats.org/drawingml/2006/main">
            <a:off x="49530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8" name="Explain how measurement supports management decisi">
            <a:extLst xmlns:a="http://schemas.openxmlformats.org/drawingml/2006/main">
              <a:ext uri="{FF2B5EF4-FFF2-40B4-BE49-F238E27FC236}">
                <a16:creationId xmlns:a16="http://schemas.microsoft.com/office/drawing/2014/main" id="{1CD2EB74-9C13-4B37-8C9B-AF8C3F27CD7D}"/>
              </a:ext>
            </a:extLst>
          </p:cNvPr>
          <p:cNvSpPr>
            <a:spLocks xmlns:a="http://schemas.openxmlformats.org/drawingml/2006/main" noGrp="1"/>
          </p:cNvSpPr>
          <p:nvPr/>
        </p:nvSpPr>
        <p:spPr>
          <a:xfrm xmlns:a="http://schemas.openxmlformats.org/drawingml/2006/main">
            <a:off x="952500" y="20288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Explain how measurement supports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management decisions.</a:t>
            </a:r>
          </a:p>
        </p:txBody>
      </p:sp>
      <p:sp>
        <p:nvSpPr>
          <p:cNvPr id="9" name="Editorial frame">
            <a:extLst xmlns:a="http://schemas.openxmlformats.org/drawingml/2006/main">
              <a:ext uri="{FF2B5EF4-FFF2-40B4-BE49-F238E27FC236}">
                <a16:creationId xmlns:a16="http://schemas.microsoft.com/office/drawing/2014/main" id="{B24E39D5-7EE2-4843-B861-193D67848DB5}"/>
              </a:ext>
            </a:extLst>
          </p:cNvPr>
          <p:cNvSpPr>
            <a:spLocks xmlns:a="http://schemas.openxmlformats.org/drawingml/2006/main" noGrp="1"/>
          </p:cNvSpPr>
          <p:nvPr/>
        </p:nvSpPr>
        <p:spPr>
          <a:xfrm xmlns:a="http://schemas.openxmlformats.org/drawingml/2006/main">
            <a:off x="952500" y="25812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9D9CF83C-FE36-42DD-AC22-E69EBD7D5E42}"/>
              </a:ext>
            </a:extLst>
          </p:cNvPr>
          <p:cNvSpPr>
            <a:spLocks xmlns:a="http://schemas.openxmlformats.org/drawingml/2006/main" noGrp="1"/>
          </p:cNvSpPr>
          <p:nvPr/>
        </p:nvSpPr>
        <p:spPr>
          <a:xfrm xmlns:a="http://schemas.openxmlformats.org/drawingml/2006/main">
            <a:off x="495300" y="26955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11" name="Select environmental, economic and social KPIs for">
            <a:extLst xmlns:a="http://schemas.openxmlformats.org/drawingml/2006/main">
              <a:ext uri="{FF2B5EF4-FFF2-40B4-BE49-F238E27FC236}">
                <a16:creationId xmlns:a16="http://schemas.microsoft.com/office/drawing/2014/main" id="{63E2205A-48C2-41B2-B4D5-64968D9695E9}"/>
              </a:ext>
            </a:extLst>
          </p:cNvPr>
          <p:cNvSpPr>
            <a:spLocks xmlns:a="http://schemas.openxmlformats.org/drawingml/2006/main" noGrp="1"/>
          </p:cNvSpPr>
          <p:nvPr/>
        </p:nvSpPr>
        <p:spPr>
          <a:xfrm xmlns:a="http://schemas.openxmlformats.org/drawingml/2006/main">
            <a:off x="952500" y="26955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Select environmental, economic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social KPIs for GI.</a:t>
            </a:r>
          </a:p>
        </p:txBody>
      </p:sp>
      <p:sp>
        <p:nvSpPr>
          <p:cNvPr id="12" name="Editorial frame">
            <a:extLst xmlns:a="http://schemas.openxmlformats.org/drawingml/2006/main">
              <a:ext uri="{FF2B5EF4-FFF2-40B4-BE49-F238E27FC236}">
                <a16:creationId xmlns:a16="http://schemas.microsoft.com/office/drawing/2014/main" id="{117DEB5F-B417-4154-B394-6CDB51B8EFDB}"/>
              </a:ext>
            </a:extLst>
          </p:cNvPr>
          <p:cNvSpPr>
            <a:spLocks xmlns:a="http://schemas.openxmlformats.org/drawingml/2006/main" noGrp="1"/>
          </p:cNvSpPr>
          <p:nvPr/>
        </p:nvSpPr>
        <p:spPr>
          <a:xfrm xmlns:a="http://schemas.openxmlformats.org/drawingml/2006/main">
            <a:off x="952500" y="324802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3" name="03">
            <a:extLst xmlns:a="http://schemas.openxmlformats.org/drawingml/2006/main">
              <a:ext uri="{FF2B5EF4-FFF2-40B4-BE49-F238E27FC236}">
                <a16:creationId xmlns:a16="http://schemas.microsoft.com/office/drawing/2014/main" id="{01E2C3E9-B848-4019-BAE6-4505E1624361}"/>
              </a:ext>
            </a:extLst>
          </p:cNvPr>
          <p:cNvSpPr>
            <a:spLocks xmlns:a="http://schemas.openxmlformats.org/drawingml/2006/main" noGrp="1"/>
          </p:cNvSpPr>
          <p:nvPr/>
        </p:nvSpPr>
        <p:spPr>
          <a:xfrm xmlns:a="http://schemas.openxmlformats.org/drawingml/2006/main">
            <a:off x="495300" y="33623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4" name="Design a dashboard with units, data sources and ow">
            <a:extLst xmlns:a="http://schemas.openxmlformats.org/drawingml/2006/main">
              <a:ext uri="{FF2B5EF4-FFF2-40B4-BE49-F238E27FC236}">
                <a16:creationId xmlns:a16="http://schemas.microsoft.com/office/drawing/2014/main" id="{9C53B8C9-076D-4311-B870-9E3E70F63DC6}"/>
              </a:ext>
            </a:extLst>
          </p:cNvPr>
          <p:cNvSpPr>
            <a:spLocks xmlns:a="http://schemas.openxmlformats.org/drawingml/2006/main" noGrp="1"/>
          </p:cNvSpPr>
          <p:nvPr/>
        </p:nvSpPr>
        <p:spPr>
          <a:xfrm xmlns:a="http://schemas.openxmlformats.org/drawingml/2006/main">
            <a:off x="952500" y="33623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Design a dashboard with units, data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sources and owners.</a:t>
            </a:r>
          </a:p>
        </p:txBody>
      </p:sp>
      <p:sp>
        <p:nvSpPr>
          <p:cNvPr id="15" name="Editorial frame">
            <a:extLst xmlns:a="http://schemas.openxmlformats.org/drawingml/2006/main">
              <a:ext uri="{FF2B5EF4-FFF2-40B4-BE49-F238E27FC236}">
                <a16:creationId xmlns:a16="http://schemas.microsoft.com/office/drawing/2014/main" id="{C966D328-5A39-4B58-A730-7FC423FD4628}"/>
              </a:ext>
            </a:extLst>
          </p:cNvPr>
          <p:cNvSpPr>
            <a:spLocks xmlns:a="http://schemas.openxmlformats.org/drawingml/2006/main" noGrp="1"/>
          </p:cNvSpPr>
          <p:nvPr/>
        </p:nvSpPr>
        <p:spPr>
          <a:xfrm xmlns:a="http://schemas.openxmlformats.org/drawingml/2006/main">
            <a:off x="952500" y="3914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6" name="04">
            <a:extLst xmlns:a="http://schemas.openxmlformats.org/drawingml/2006/main">
              <a:ext uri="{FF2B5EF4-FFF2-40B4-BE49-F238E27FC236}">
                <a16:creationId xmlns:a16="http://schemas.microsoft.com/office/drawing/2014/main" id="{9DB788CA-F8FF-499E-9236-FCD5F8C1993E}"/>
              </a:ext>
            </a:extLst>
          </p:cNvPr>
          <p:cNvSpPr>
            <a:spLocks xmlns:a="http://schemas.openxmlformats.org/drawingml/2006/main" noGrp="1"/>
          </p:cNvSpPr>
          <p:nvPr/>
        </p:nvSpPr>
        <p:spPr>
          <a:xfrm xmlns:a="http://schemas.openxmlformats.org/drawingml/2006/main">
            <a:off x="495300" y="4029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7" name="Explain the four phases of Life Cycle Assessment.">
            <a:extLst xmlns:a="http://schemas.openxmlformats.org/drawingml/2006/main">
              <a:ext uri="{FF2B5EF4-FFF2-40B4-BE49-F238E27FC236}">
                <a16:creationId xmlns:a16="http://schemas.microsoft.com/office/drawing/2014/main" id="{0FF7F9A5-849E-4B26-B8AD-95A48016FB06}"/>
              </a:ext>
            </a:extLst>
          </p:cNvPr>
          <p:cNvSpPr>
            <a:spLocks xmlns:a="http://schemas.openxmlformats.org/drawingml/2006/main" noGrp="1"/>
          </p:cNvSpPr>
          <p:nvPr/>
        </p:nvSpPr>
        <p:spPr>
          <a:xfrm xmlns:a="http://schemas.openxmlformats.org/drawingml/2006/main">
            <a:off x="952500" y="40290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Explain the four phases of Life Cycle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Assessment.</a:t>
            </a:r>
          </a:p>
        </p:txBody>
      </p:sp>
      <p:sp>
        <p:nvSpPr>
          <p:cNvPr id="18" name="05">
            <a:extLst xmlns:a="http://schemas.openxmlformats.org/drawingml/2006/main">
              <a:ext uri="{FF2B5EF4-FFF2-40B4-BE49-F238E27FC236}">
                <a16:creationId xmlns:a16="http://schemas.microsoft.com/office/drawing/2014/main" id="{CFFCB0FD-5A11-4B85-9C5A-5B9882A5A551}"/>
              </a:ext>
            </a:extLst>
          </p:cNvPr>
          <p:cNvSpPr>
            <a:spLocks xmlns:a="http://schemas.openxmlformats.org/drawingml/2006/main" noGrp="1"/>
          </p:cNvSpPr>
          <p:nvPr/>
        </p:nvSpPr>
        <p:spPr>
          <a:xfrm xmlns:a="http://schemas.openxmlformats.org/drawingml/2006/main">
            <a:off x="481965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9" name="Use a functional unit to compare alternatives fair">
            <a:extLst xmlns:a="http://schemas.openxmlformats.org/drawingml/2006/main">
              <a:ext uri="{FF2B5EF4-FFF2-40B4-BE49-F238E27FC236}">
                <a16:creationId xmlns:a16="http://schemas.microsoft.com/office/drawing/2014/main" id="{B4D2EC39-6790-421A-AF9A-287F8408BD42}"/>
              </a:ext>
            </a:extLst>
          </p:cNvPr>
          <p:cNvSpPr>
            <a:spLocks xmlns:a="http://schemas.openxmlformats.org/drawingml/2006/main" noGrp="1"/>
          </p:cNvSpPr>
          <p:nvPr/>
        </p:nvSpPr>
        <p:spPr>
          <a:xfrm xmlns:a="http://schemas.openxmlformats.org/drawingml/2006/main">
            <a:off x="5276850" y="202882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Use a functional unit to compare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alternatives fairly.</a:t>
            </a:r>
          </a:p>
        </p:txBody>
      </p:sp>
      <p:sp>
        <p:nvSpPr>
          <p:cNvPr id="20" name="Editorial frame">
            <a:extLst xmlns:a="http://schemas.openxmlformats.org/drawingml/2006/main">
              <a:ext uri="{FF2B5EF4-FFF2-40B4-BE49-F238E27FC236}">
                <a16:creationId xmlns:a16="http://schemas.microsoft.com/office/drawing/2014/main" id="{F3DF697F-5B50-468C-AF75-DF379921C3FA}"/>
              </a:ext>
            </a:extLst>
          </p:cNvPr>
          <p:cNvSpPr>
            <a:spLocks xmlns:a="http://schemas.openxmlformats.org/drawingml/2006/main" noGrp="1"/>
          </p:cNvSpPr>
          <p:nvPr/>
        </p:nvSpPr>
        <p:spPr>
          <a:xfrm xmlns:a="http://schemas.openxmlformats.org/drawingml/2006/main">
            <a:off x="5276850" y="2724150"/>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1" name="06">
            <a:extLst xmlns:a="http://schemas.openxmlformats.org/drawingml/2006/main">
              <a:ext uri="{FF2B5EF4-FFF2-40B4-BE49-F238E27FC236}">
                <a16:creationId xmlns:a16="http://schemas.microsoft.com/office/drawing/2014/main" id="{3EB3B9ED-E874-4AEA-9489-D4789420FFCD}"/>
              </a:ext>
            </a:extLst>
          </p:cNvPr>
          <p:cNvSpPr>
            <a:spLocks xmlns:a="http://schemas.openxmlformats.org/drawingml/2006/main" noGrp="1"/>
          </p:cNvSpPr>
          <p:nvPr/>
        </p:nvSpPr>
        <p:spPr>
          <a:xfrm xmlns:a="http://schemas.openxmlformats.org/drawingml/2006/main">
            <a:off x="4819650" y="283845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2" name="Apply ecodesign to products and business facilitie">
            <a:extLst xmlns:a="http://schemas.openxmlformats.org/drawingml/2006/main">
              <a:ext uri="{FF2B5EF4-FFF2-40B4-BE49-F238E27FC236}">
                <a16:creationId xmlns:a16="http://schemas.microsoft.com/office/drawing/2014/main" id="{8DC8242F-A6A6-4F9B-A0CB-6AB97E83F68C}"/>
              </a:ext>
            </a:extLst>
          </p:cNvPr>
          <p:cNvSpPr>
            <a:spLocks xmlns:a="http://schemas.openxmlformats.org/drawingml/2006/main" noGrp="1"/>
          </p:cNvSpPr>
          <p:nvPr/>
        </p:nvSpPr>
        <p:spPr>
          <a:xfrm xmlns:a="http://schemas.openxmlformats.org/drawingml/2006/main">
            <a:off x="5276850" y="28384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Apply ecodesign to products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business facilities.</a:t>
            </a:r>
          </a:p>
        </p:txBody>
      </p:sp>
      <p:sp>
        <p:nvSpPr>
          <p:cNvPr id="23" name="Editorial frame">
            <a:extLst xmlns:a="http://schemas.openxmlformats.org/drawingml/2006/main">
              <a:ext uri="{FF2B5EF4-FFF2-40B4-BE49-F238E27FC236}">
                <a16:creationId xmlns:a16="http://schemas.microsoft.com/office/drawing/2014/main" id="{A85991C9-DB96-46D5-AFE5-FBF9F6D5804A}"/>
              </a:ext>
            </a:extLst>
          </p:cNvPr>
          <p:cNvSpPr>
            <a:spLocks xmlns:a="http://schemas.openxmlformats.org/drawingml/2006/main" noGrp="1"/>
          </p:cNvSpPr>
          <p:nvPr/>
        </p:nvSpPr>
        <p:spPr>
          <a:xfrm xmlns:a="http://schemas.openxmlformats.org/drawingml/2006/main">
            <a:off x="5276850" y="3533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4" name="07">
            <a:extLst xmlns:a="http://schemas.openxmlformats.org/drawingml/2006/main">
              <a:ext uri="{FF2B5EF4-FFF2-40B4-BE49-F238E27FC236}">
                <a16:creationId xmlns:a16="http://schemas.microsoft.com/office/drawing/2014/main" id="{DCFA1E24-DE5F-4E98-90D1-2F49A3825730}"/>
              </a:ext>
            </a:extLst>
          </p:cNvPr>
          <p:cNvSpPr>
            <a:spLocks xmlns:a="http://schemas.openxmlformats.org/drawingml/2006/main" noGrp="1"/>
          </p:cNvSpPr>
          <p:nvPr/>
        </p:nvSpPr>
        <p:spPr>
          <a:xfrm xmlns:a="http://schemas.openxmlformats.org/drawingml/2006/main">
            <a:off x="4819650" y="3648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5" name="Assess roof options using life-cycle impacts and w">
            <a:extLst xmlns:a="http://schemas.openxmlformats.org/drawingml/2006/main">
              <a:ext uri="{FF2B5EF4-FFF2-40B4-BE49-F238E27FC236}">
                <a16:creationId xmlns:a16="http://schemas.microsoft.com/office/drawing/2014/main" id="{4B6488AF-9B16-4D1A-9D90-7E02C7C608B6}"/>
              </a:ext>
            </a:extLst>
          </p:cNvPr>
          <p:cNvSpPr>
            <a:spLocks xmlns:a="http://schemas.openxmlformats.org/drawingml/2006/main" noGrp="1"/>
          </p:cNvSpPr>
          <p:nvPr/>
        </p:nvSpPr>
        <p:spPr>
          <a:xfrm xmlns:a="http://schemas.openxmlformats.org/drawingml/2006/main">
            <a:off x="5276850" y="364807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Assess roof options using life-cycle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impacts and wider benefits.</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7193966a2dcf4a49"/>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7" name="www.newton.university">
            <a:extLst xmlns:a="http://schemas.openxmlformats.org/drawingml/2006/main">
              <a:ext uri="{FF2B5EF4-FFF2-40B4-BE49-F238E27FC236}">
                <a16:creationId xmlns:a16="http://schemas.microsoft.com/office/drawing/2014/main" id="{9FD7D04F-2935-4B0E-B9B7-4401EA6EBA85}"/>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8" name="02">
            <a:extLst xmlns:a="http://schemas.openxmlformats.org/drawingml/2006/main">
              <a:ext uri="{FF2B5EF4-FFF2-40B4-BE49-F238E27FC236}">
                <a16:creationId xmlns:a16="http://schemas.microsoft.com/office/drawing/2014/main" id="{4C4F4F61-2C05-4CC7-BA3A-E3C89B2C45E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02</a:t>
            </a:r>
          </a:p>
        </p:txBody>
      </p:sp>
    </p:spTree>
    <p:extLst>
      <p:ext uri="{BB962C8B-B14F-4D97-AF65-F5344CB8AC3E}">
        <p14:creationId xmlns:p14="http://schemas.microsoft.com/office/powerpoint/2010/main" val="1393548849"/>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2" name="Today's Lecture Agenda">
            <a:extLst xmlns:a="http://schemas.openxmlformats.org/drawingml/2006/main">
              <a:ext uri="{FF2B5EF4-FFF2-40B4-BE49-F238E27FC236}">
                <a16:creationId xmlns:a16="http://schemas.microsoft.com/office/drawing/2014/main" id="{2F189258-3C6F-4D33-881E-8DDB3A21EEF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Today's Lecture Agenda</a:t>
            </a:r>
          </a:p>
        </p:txBody>
      </p:sp>
      <p:sp>
        <p:nvSpPr>
          <p:cNvPr id="2" name="Editorial frame">
            <a:extLst xmlns:a="http://schemas.openxmlformats.org/drawingml/2006/main">
              <a:ext uri="{FF2B5EF4-FFF2-40B4-BE49-F238E27FC236}">
                <a16:creationId xmlns:a16="http://schemas.microsoft.com/office/drawing/2014/main" id="{2D3AD64F-F83A-4340-8802-A12C816254A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2DFB0C6-6E47-4D22-8620-CB2B6EDD8DF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CDD67CFA-C103-4E9D-A9D2-56D35E4B5E4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Before the break">
            <a:extLst xmlns:a="http://schemas.openxmlformats.org/drawingml/2006/main">
              <a:ext uri="{FF2B5EF4-FFF2-40B4-BE49-F238E27FC236}">
                <a16:creationId xmlns:a16="http://schemas.microsoft.com/office/drawing/2014/main" id="{5CB1F110-771B-45DC-A934-132E284C3876}"/>
              </a:ext>
            </a:extLst>
          </p:cNvPr>
          <p:cNvSpPr>
            <a:spLocks xmlns:a="http://schemas.openxmlformats.org/drawingml/2006/main" noGrp="1"/>
          </p:cNvSpPr>
          <p:nvPr/>
        </p:nvSpPr>
        <p:spPr>
          <a:xfrm xmlns:a="http://schemas.openxmlformats.org/drawingml/2006/main">
            <a:off x="495300"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Before the break</a:t>
            </a:r>
          </a:p>
        </p:txBody>
      </p:sp>
      <p:sp>
        <p:nvSpPr>
          <p:cNvPr id="6" name="Editorial frame">
            <a:extLst xmlns:a="http://schemas.openxmlformats.org/drawingml/2006/main">
              <a:ext uri="{FF2B5EF4-FFF2-40B4-BE49-F238E27FC236}">
                <a16:creationId xmlns:a16="http://schemas.microsoft.com/office/drawing/2014/main" id="{ED5B3D42-8209-4A05-932D-2D53EAEFEF92}"/>
              </a:ext>
            </a:extLst>
          </p:cNvPr>
          <p:cNvSpPr>
            <a:spLocks xmlns:a="http://schemas.openxmlformats.org/drawingml/2006/main" noGrp="1"/>
          </p:cNvSpPr>
          <p:nvPr/>
        </p:nvSpPr>
        <p:spPr>
          <a:xfrm xmlns:a="http://schemas.openxmlformats.org/drawingml/2006/main">
            <a:off x="495300"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7" name="Part 1 — Why and How We Measure">
            <a:extLst xmlns:a="http://schemas.openxmlformats.org/drawingml/2006/main">
              <a:ext uri="{FF2B5EF4-FFF2-40B4-BE49-F238E27FC236}">
                <a16:creationId xmlns:a16="http://schemas.microsoft.com/office/drawing/2014/main" id="{70951612-20A2-4BA4-83E8-1B86E2AB17E5}"/>
              </a:ext>
            </a:extLst>
          </p:cNvPr>
          <p:cNvSpPr>
            <a:spLocks xmlns:a="http://schemas.openxmlformats.org/drawingml/2006/main" noGrp="1"/>
          </p:cNvSpPr>
          <p:nvPr/>
        </p:nvSpPr>
        <p:spPr>
          <a:xfrm xmlns:a="http://schemas.openxmlformats.org/drawingml/2006/main">
            <a:off x="495300" y="2076450"/>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1 — Why and How We Measure</a:t>
            </a:r>
          </a:p>
        </p:txBody>
      </p:sp>
      <p:sp>
        <p:nvSpPr>
          <p:cNvPr id="8" name="Part 2 — KPIs for Green Infrastructure">
            <a:extLst xmlns:a="http://schemas.openxmlformats.org/drawingml/2006/main">
              <a:ext uri="{FF2B5EF4-FFF2-40B4-BE49-F238E27FC236}">
                <a16:creationId xmlns:a16="http://schemas.microsoft.com/office/drawing/2014/main" id="{20F2FD99-80A2-4E20-85A7-A49330D88E2E}"/>
              </a:ext>
            </a:extLst>
          </p:cNvPr>
          <p:cNvSpPr>
            <a:spLocks xmlns:a="http://schemas.openxmlformats.org/drawingml/2006/main" noGrp="1"/>
          </p:cNvSpPr>
          <p:nvPr/>
        </p:nvSpPr>
        <p:spPr>
          <a:xfrm xmlns:a="http://schemas.openxmlformats.org/drawingml/2006/main">
            <a:off x="495300" y="2478405"/>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2 — KPIs for Green Infrastructure</a:t>
            </a:r>
          </a:p>
        </p:txBody>
      </p:sp>
      <p:sp>
        <p:nvSpPr>
          <p:cNvPr id="9" name="Part 3 — Data and Tools">
            <a:extLst xmlns:a="http://schemas.openxmlformats.org/drawingml/2006/main">
              <a:ext uri="{FF2B5EF4-FFF2-40B4-BE49-F238E27FC236}">
                <a16:creationId xmlns:a16="http://schemas.microsoft.com/office/drawing/2014/main" id="{0FAE092E-B811-4927-A624-259F50CEAC12}"/>
              </a:ext>
            </a:extLst>
          </p:cNvPr>
          <p:cNvSpPr>
            <a:spLocks xmlns:a="http://schemas.openxmlformats.org/drawingml/2006/main" noGrp="1"/>
          </p:cNvSpPr>
          <p:nvPr/>
        </p:nvSpPr>
        <p:spPr>
          <a:xfrm xmlns:a="http://schemas.openxmlformats.org/drawingml/2006/main">
            <a:off x="495300" y="2880360"/>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3 — Data and Tools</a:t>
            </a:r>
          </a:p>
        </p:txBody>
      </p:sp>
      <p:sp>
        <p:nvSpPr>
          <p:cNvPr id="10" name="Workshop — Build a GI Dashboard">
            <a:extLst xmlns:a="http://schemas.openxmlformats.org/drawingml/2006/main">
              <a:ext uri="{FF2B5EF4-FFF2-40B4-BE49-F238E27FC236}">
                <a16:creationId xmlns:a16="http://schemas.microsoft.com/office/drawing/2014/main" id="{898E0266-0742-41F0-A519-C591F96CFF01}"/>
              </a:ext>
            </a:extLst>
          </p:cNvPr>
          <p:cNvSpPr>
            <a:spLocks xmlns:a="http://schemas.openxmlformats.org/drawingml/2006/main" noGrp="1"/>
          </p:cNvSpPr>
          <p:nvPr/>
        </p:nvSpPr>
        <p:spPr>
          <a:xfrm xmlns:a="http://schemas.openxmlformats.org/drawingml/2006/main">
            <a:off x="495300" y="3282315"/>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Workshop — Build a GI Dashboard</a:t>
            </a:r>
          </a:p>
        </p:txBody>
      </p:sp>
      <p:sp>
        <p:nvSpPr>
          <p:cNvPr id="11" name="After the break">
            <a:extLst xmlns:a="http://schemas.openxmlformats.org/drawingml/2006/main">
              <a:ext uri="{FF2B5EF4-FFF2-40B4-BE49-F238E27FC236}">
                <a16:creationId xmlns:a16="http://schemas.microsoft.com/office/drawing/2014/main" id="{96D22B2A-C3A9-4B0F-9217-A385EF70BCD4}"/>
              </a:ext>
            </a:extLst>
          </p:cNvPr>
          <p:cNvSpPr>
            <a:spLocks xmlns:a="http://schemas.openxmlformats.org/drawingml/2006/main" noGrp="1"/>
          </p:cNvSpPr>
          <p:nvPr/>
        </p:nvSpPr>
        <p:spPr>
          <a:xfrm xmlns:a="http://schemas.openxmlformats.org/drawingml/2006/main">
            <a:off x="4829175"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After the break</a:t>
            </a:r>
          </a:p>
        </p:txBody>
      </p:sp>
      <p:sp>
        <p:nvSpPr>
          <p:cNvPr id="12" name="Editorial frame">
            <a:extLst xmlns:a="http://schemas.openxmlformats.org/drawingml/2006/main">
              <a:ext uri="{FF2B5EF4-FFF2-40B4-BE49-F238E27FC236}">
                <a16:creationId xmlns:a16="http://schemas.microsoft.com/office/drawing/2014/main" id="{9E37E75A-A0B6-4A5F-A337-FE02ADE72A5E}"/>
              </a:ext>
            </a:extLst>
          </p:cNvPr>
          <p:cNvSpPr>
            <a:spLocks xmlns:a="http://schemas.openxmlformats.org/drawingml/2006/main" noGrp="1"/>
          </p:cNvSpPr>
          <p:nvPr/>
        </p:nvSpPr>
        <p:spPr>
          <a:xfrm xmlns:a="http://schemas.openxmlformats.org/drawingml/2006/main">
            <a:off x="4829175"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Part 4 — Life Cycle Assessment">
            <a:extLst xmlns:a="http://schemas.openxmlformats.org/drawingml/2006/main">
              <a:ext uri="{FF2B5EF4-FFF2-40B4-BE49-F238E27FC236}">
                <a16:creationId xmlns:a16="http://schemas.microsoft.com/office/drawing/2014/main" id="{F7FF60FB-64B8-4B4E-AA5C-4092B0F46DC5}"/>
              </a:ext>
            </a:extLst>
          </p:cNvPr>
          <p:cNvSpPr>
            <a:spLocks xmlns:a="http://schemas.openxmlformats.org/drawingml/2006/main" noGrp="1"/>
          </p:cNvSpPr>
          <p:nvPr/>
        </p:nvSpPr>
        <p:spPr>
          <a:xfrm xmlns:a="http://schemas.openxmlformats.org/drawingml/2006/main">
            <a:off x="4829175" y="207645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4 — Life Cycle Assessment</a:t>
            </a:r>
          </a:p>
        </p:txBody>
      </p:sp>
      <p:sp>
        <p:nvSpPr>
          <p:cNvPr id="14" name="Part 5 — Ecodesign">
            <a:extLst xmlns:a="http://schemas.openxmlformats.org/drawingml/2006/main">
              <a:ext uri="{FF2B5EF4-FFF2-40B4-BE49-F238E27FC236}">
                <a16:creationId xmlns:a16="http://schemas.microsoft.com/office/drawing/2014/main" id="{4BFD1A81-3BFC-40C9-B539-EC7BC41CD529}"/>
              </a:ext>
            </a:extLst>
          </p:cNvPr>
          <p:cNvSpPr>
            <a:spLocks xmlns:a="http://schemas.openxmlformats.org/drawingml/2006/main" noGrp="1"/>
          </p:cNvSpPr>
          <p:nvPr/>
        </p:nvSpPr>
        <p:spPr>
          <a:xfrm xmlns:a="http://schemas.openxmlformats.org/drawingml/2006/main">
            <a:off x="4829175" y="244411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5 — Ecodesign</a:t>
            </a:r>
          </a:p>
        </p:txBody>
      </p:sp>
      <p:sp>
        <p:nvSpPr>
          <p:cNvPr id="15" name="Part 6 — Lifecycle Thinking for Buildings and Site">
            <a:extLst xmlns:a="http://schemas.openxmlformats.org/drawingml/2006/main">
              <a:ext uri="{FF2B5EF4-FFF2-40B4-BE49-F238E27FC236}">
                <a16:creationId xmlns:a16="http://schemas.microsoft.com/office/drawing/2014/main" id="{B0238621-72D4-4315-8758-8FDA51CF1E4B}"/>
              </a:ext>
            </a:extLst>
          </p:cNvPr>
          <p:cNvSpPr>
            <a:spLocks xmlns:a="http://schemas.openxmlformats.org/drawingml/2006/main" noGrp="1"/>
          </p:cNvSpPr>
          <p:nvPr/>
        </p:nvSpPr>
        <p:spPr>
          <a:xfrm xmlns:a="http://schemas.openxmlformats.org/drawingml/2006/main">
            <a:off x="4829175" y="2811780"/>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6 — Lifecycle Thinking for Buildings and</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Sites</a:t>
            </a:r>
          </a:p>
        </p:txBody>
      </p:sp>
      <p:sp>
        <p:nvSpPr>
          <p:cNvPr id="16" name="Case Study — Green Roof vs Conventional Roof">
            <a:extLst xmlns:a="http://schemas.openxmlformats.org/drawingml/2006/main">
              <a:ext uri="{FF2B5EF4-FFF2-40B4-BE49-F238E27FC236}">
                <a16:creationId xmlns:a16="http://schemas.microsoft.com/office/drawing/2014/main" id="{E86277B7-BA25-434A-953D-A9BFAEBDA509}"/>
              </a:ext>
            </a:extLst>
          </p:cNvPr>
          <p:cNvSpPr>
            <a:spLocks xmlns:a="http://schemas.openxmlformats.org/drawingml/2006/main" noGrp="1"/>
          </p:cNvSpPr>
          <p:nvPr/>
        </p:nvSpPr>
        <p:spPr>
          <a:xfrm xmlns:a="http://schemas.openxmlformats.org/drawingml/2006/main">
            <a:off x="4829175" y="3385185"/>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Case Study — Green Roof vs Conventional</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Roof</a:t>
            </a:r>
          </a:p>
        </p:txBody>
      </p:sp>
      <p:sp>
        <p:nvSpPr>
          <p:cNvPr id="17" name="Activity">
            <a:extLst xmlns:a="http://schemas.openxmlformats.org/drawingml/2006/main">
              <a:ext uri="{FF2B5EF4-FFF2-40B4-BE49-F238E27FC236}">
                <a16:creationId xmlns:a16="http://schemas.microsoft.com/office/drawing/2014/main" id="{F2AA4FB4-C3EF-490E-8A37-315DB4C95EEE}"/>
              </a:ext>
            </a:extLst>
          </p:cNvPr>
          <p:cNvSpPr>
            <a:spLocks xmlns:a="http://schemas.openxmlformats.org/drawingml/2006/main" noGrp="1"/>
          </p:cNvSpPr>
          <p:nvPr/>
        </p:nvSpPr>
        <p:spPr>
          <a:xfrm xmlns:a="http://schemas.openxmlformats.org/drawingml/2006/main">
            <a:off x="4829175" y="395859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Activity</a:t>
            </a:r>
          </a:p>
        </p:txBody>
      </p:sp>
      <p:sp>
        <p:nvSpPr>
          <p:cNvPr id="18" name="Key Messages and Reading">
            <a:extLst xmlns:a="http://schemas.openxmlformats.org/drawingml/2006/main">
              <a:ext uri="{FF2B5EF4-FFF2-40B4-BE49-F238E27FC236}">
                <a16:creationId xmlns:a16="http://schemas.microsoft.com/office/drawing/2014/main" id="{369DA94A-9E0B-455D-9A77-947471931335}"/>
              </a:ext>
            </a:extLst>
          </p:cNvPr>
          <p:cNvSpPr>
            <a:spLocks xmlns:a="http://schemas.openxmlformats.org/drawingml/2006/main" noGrp="1"/>
          </p:cNvSpPr>
          <p:nvPr/>
        </p:nvSpPr>
        <p:spPr>
          <a:xfrm xmlns:a="http://schemas.openxmlformats.org/drawingml/2006/main">
            <a:off x="4829175" y="432625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Key Messages and Reading</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905dd2e7b81490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0" name="www.newton.university">
            <a:extLst xmlns:a="http://schemas.openxmlformats.org/drawingml/2006/main">
              <a:ext uri="{FF2B5EF4-FFF2-40B4-BE49-F238E27FC236}">
                <a16:creationId xmlns:a16="http://schemas.microsoft.com/office/drawing/2014/main" id="{0708EF7E-ED58-44C3-9B24-1A3B002AF4B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1" name="03">
            <a:extLst xmlns:a="http://schemas.openxmlformats.org/drawingml/2006/main">
              <a:ext uri="{FF2B5EF4-FFF2-40B4-BE49-F238E27FC236}">
                <a16:creationId xmlns:a16="http://schemas.microsoft.com/office/drawing/2014/main" id="{585B619B-9B93-4365-A2A7-F5193E0DFB6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03</a:t>
            </a:r>
          </a:p>
        </p:txBody>
      </p:sp>
    </p:spTree>
    <p:extLst>
      <p:ext uri="{BB962C8B-B14F-4D97-AF65-F5344CB8AC3E}">
        <p14:creationId xmlns:p14="http://schemas.microsoft.com/office/powerpoint/2010/main" val="947962272"/>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E1412E3D-C1E5-4E2F-A088-32E64AC553FE}"/>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1">
            <a:extLst xmlns:a="http://schemas.openxmlformats.org/drawingml/2006/main">
              <a:ext uri="{FF2B5EF4-FFF2-40B4-BE49-F238E27FC236}">
                <a16:creationId xmlns:a16="http://schemas.microsoft.com/office/drawing/2014/main" id="{9B4DAD8D-26DB-4705-80A1-0E3B33B94B71}"/>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1</a:t>
            </a:r>
          </a:p>
        </p:txBody>
      </p:sp>
      <p:sp>
        <p:nvSpPr>
          <p:cNvPr id="3" name="01">
            <a:extLst xmlns:a="http://schemas.openxmlformats.org/drawingml/2006/main">
              <a:ext uri="{FF2B5EF4-FFF2-40B4-BE49-F238E27FC236}">
                <a16:creationId xmlns:a16="http://schemas.microsoft.com/office/drawing/2014/main" id="{A212A8AE-1158-45CC-98FE-8DDE44A12C78}"/>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01</a:t>
            </a:r>
          </a:p>
        </p:txBody>
      </p:sp>
      <p:sp>
        <p:nvSpPr>
          <p:cNvPr id="4" name="Why and How We Measure">
            <a:extLst xmlns:a="http://schemas.openxmlformats.org/drawingml/2006/main">
              <a:ext uri="{FF2B5EF4-FFF2-40B4-BE49-F238E27FC236}">
                <a16:creationId xmlns:a16="http://schemas.microsoft.com/office/drawing/2014/main" id="{5A532905-C784-4DDE-9833-C42822D173CE}"/>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Why and How We Measure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67f6c16b814293"/>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618250EE-619A-43BE-B329-56A6DE09DED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04">
            <a:extLst xmlns:a="http://schemas.openxmlformats.org/drawingml/2006/main">
              <a:ext uri="{FF2B5EF4-FFF2-40B4-BE49-F238E27FC236}">
                <a16:creationId xmlns:a16="http://schemas.microsoft.com/office/drawing/2014/main" id="{78DCD752-E141-4133-8DBC-565EFF96B00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04</a:t>
            </a:r>
          </a:p>
        </p:txBody>
      </p:sp>
    </p:spTree>
    <p:extLst>
      <p:ext uri="{BB962C8B-B14F-4D97-AF65-F5344CB8AC3E}">
        <p14:creationId xmlns:p14="http://schemas.microsoft.com/office/powerpoint/2010/main" val="165589582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You Manage What You Measure">
            <a:extLst xmlns:a="http://schemas.openxmlformats.org/drawingml/2006/main">
              <a:ext uri="{FF2B5EF4-FFF2-40B4-BE49-F238E27FC236}">
                <a16:creationId xmlns:a16="http://schemas.microsoft.com/office/drawing/2014/main" id="{2B827B6F-5F44-421A-8510-070F0B46728C}"/>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You Manage What You Measure</a:t>
            </a:r>
          </a:p>
        </p:txBody>
      </p:sp>
      <p:sp>
        <p:nvSpPr>
          <p:cNvPr id="2" name="Editorial frame">
            <a:extLst xmlns:a="http://schemas.openxmlformats.org/drawingml/2006/main">
              <a:ext uri="{FF2B5EF4-FFF2-40B4-BE49-F238E27FC236}">
                <a16:creationId xmlns:a16="http://schemas.microsoft.com/office/drawing/2014/main" id="{A50443E5-1EDA-4DA9-ABD4-659CD3D9238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5D97C1CC-7026-4A92-AD32-2BD50B1DAE5A}"/>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7FA11E09-B745-4808-A6F0-4CE4673EF4B3}"/>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7B23FA93-7EB4-422C-B0A6-AB86693F73FE}"/>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Why indicators matter">
            <a:extLst xmlns:a="http://schemas.openxmlformats.org/drawingml/2006/main">
              <a:ext uri="{FF2B5EF4-FFF2-40B4-BE49-F238E27FC236}">
                <a16:creationId xmlns:a16="http://schemas.microsoft.com/office/drawing/2014/main" id="{20146155-F4A7-416B-946E-C3176D9D62F1}"/>
              </a:ext>
            </a:extLst>
          </p:cNvPr>
          <p:cNvSpPr>
            <a:spLocks xmlns:a="http://schemas.openxmlformats.org/drawingml/2006/main" noGrp="1"/>
          </p:cNvSpPr>
          <p:nvPr/>
        </p:nvSpPr>
        <p:spPr>
          <a:xfrm xmlns:a="http://schemas.openxmlformats.org/drawingml/2006/main">
            <a:off x="495300" y="1619250"/>
            <a:ext cx="2578100"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Why indicators</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matter</a:t>
            </a:r>
          </a:p>
        </p:txBody>
      </p:sp>
      <p:sp>
        <p:nvSpPr>
          <p:cNvPr id="7" name="Targets without indicators are wishes.">
            <a:extLst xmlns:a="http://schemas.openxmlformats.org/drawingml/2006/main">
              <a:ext uri="{FF2B5EF4-FFF2-40B4-BE49-F238E27FC236}">
                <a16:creationId xmlns:a16="http://schemas.microsoft.com/office/drawing/2014/main" id="{BD624328-FB88-4C1F-9602-831CD3D36997}"/>
              </a:ext>
            </a:extLst>
          </p:cNvPr>
          <p:cNvSpPr>
            <a:spLocks xmlns:a="http://schemas.openxmlformats.org/drawingml/2006/main" noGrp="1"/>
          </p:cNvSpPr>
          <p:nvPr/>
        </p:nvSpPr>
        <p:spPr>
          <a:xfrm xmlns:a="http://schemas.openxmlformats.org/drawingml/2006/main">
            <a:off x="495300" y="23793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Targets without indicators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are wishes.</a:t>
            </a:r>
          </a:p>
        </p:txBody>
      </p:sp>
      <p:sp>
        <p:nvSpPr>
          <p:cNvPr id="8" name="Investors, regulators and citizens increasingly de">
            <a:extLst xmlns:a="http://schemas.openxmlformats.org/drawingml/2006/main">
              <a:ext uri="{FF2B5EF4-FFF2-40B4-BE49-F238E27FC236}">
                <a16:creationId xmlns:a16="http://schemas.microsoft.com/office/drawing/2014/main" id="{489382DC-3633-4A68-B79D-0F9E4F5F5B03}"/>
              </a:ext>
            </a:extLst>
          </p:cNvPr>
          <p:cNvSpPr>
            <a:spLocks xmlns:a="http://schemas.openxmlformats.org/drawingml/2006/main" noGrp="1"/>
          </p:cNvSpPr>
          <p:nvPr/>
        </p:nvSpPr>
        <p:spPr>
          <a:xfrm xmlns:a="http://schemas.openxmlformats.org/drawingml/2006/main">
            <a:off x="495300" y="3028950"/>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Investors, regulators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citizens increasingly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demand evidence.</a:t>
            </a:r>
          </a:p>
        </p:txBody>
      </p:sp>
      <p:sp>
        <p:nvSpPr>
          <p:cNvPr id="9" name="Editorial frame">
            <a:extLst xmlns:a="http://schemas.openxmlformats.org/drawingml/2006/main">
              <a:ext uri="{FF2B5EF4-FFF2-40B4-BE49-F238E27FC236}">
                <a16:creationId xmlns:a16="http://schemas.microsoft.com/office/drawing/2014/main" id="{3CE8C567-BEC2-47F9-BE93-C87D476546D9}"/>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0" name="Editorial frame">
            <a:extLst xmlns:a="http://schemas.openxmlformats.org/drawingml/2006/main">
              <a:ext uri="{FF2B5EF4-FFF2-40B4-BE49-F238E27FC236}">
                <a16:creationId xmlns:a16="http://schemas.microsoft.com/office/drawing/2014/main" id="{5985437F-EFB5-4C9C-95CA-3E704D5E9969}"/>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1" name="The measurement cycle">
            <a:extLst xmlns:a="http://schemas.openxmlformats.org/drawingml/2006/main">
              <a:ext uri="{FF2B5EF4-FFF2-40B4-BE49-F238E27FC236}">
                <a16:creationId xmlns:a16="http://schemas.microsoft.com/office/drawing/2014/main" id="{26428BF6-7F34-4988-8F01-99738D75EA6F}"/>
              </a:ext>
            </a:extLst>
          </p:cNvPr>
          <p:cNvSpPr>
            <a:spLocks xmlns:a="http://schemas.openxmlformats.org/drawingml/2006/main" noGrp="1"/>
          </p:cNvSpPr>
          <p:nvPr/>
        </p:nvSpPr>
        <p:spPr>
          <a:xfrm xmlns:a="http://schemas.openxmlformats.org/drawingml/2006/main">
            <a:off x="3282950" y="1619250"/>
            <a:ext cx="2578100"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The measurement</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cycle</a:t>
            </a:r>
          </a:p>
        </p:txBody>
      </p:sp>
      <p:sp>
        <p:nvSpPr>
          <p:cNvPr id="12" name="Baseline → Target → Monitor → Report → Improve">
            <a:extLst xmlns:a="http://schemas.openxmlformats.org/drawingml/2006/main">
              <a:ext uri="{FF2B5EF4-FFF2-40B4-BE49-F238E27FC236}">
                <a16:creationId xmlns:a16="http://schemas.microsoft.com/office/drawing/2014/main" id="{2548242A-E448-4DFC-8790-949CBA94CDED}"/>
              </a:ext>
            </a:extLst>
          </p:cNvPr>
          <p:cNvSpPr>
            <a:spLocks xmlns:a="http://schemas.openxmlformats.org/drawingml/2006/main" noGrp="1"/>
          </p:cNvSpPr>
          <p:nvPr/>
        </p:nvSpPr>
        <p:spPr>
          <a:xfrm xmlns:a="http://schemas.openxmlformats.org/drawingml/2006/main">
            <a:off x="3282950" y="237934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Baseline → Target →</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Monitor → Report →</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Improve</a:t>
            </a:r>
          </a:p>
        </p:txBody>
      </p:sp>
      <p:sp>
        <p:nvSpPr>
          <p:cNvPr id="13" name="Editorial frame">
            <a:extLst xmlns:a="http://schemas.openxmlformats.org/drawingml/2006/main">
              <a:ext uri="{FF2B5EF4-FFF2-40B4-BE49-F238E27FC236}">
                <a16:creationId xmlns:a16="http://schemas.microsoft.com/office/drawing/2014/main" id="{00590822-C8E7-4E83-9E9E-33A4E1BB50B6}"/>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4" name="Editorial frame">
            <a:extLst xmlns:a="http://schemas.openxmlformats.org/drawingml/2006/main">
              <a:ext uri="{FF2B5EF4-FFF2-40B4-BE49-F238E27FC236}">
                <a16:creationId xmlns:a16="http://schemas.microsoft.com/office/drawing/2014/main" id="{DB18A3CB-6DB3-4137-86B3-A0922068CC82}"/>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5" name="Good KPIs are">
            <a:extLst xmlns:a="http://schemas.openxmlformats.org/drawingml/2006/main">
              <a:ext uri="{FF2B5EF4-FFF2-40B4-BE49-F238E27FC236}">
                <a16:creationId xmlns:a16="http://schemas.microsoft.com/office/drawing/2014/main" id="{CD443BFB-F8DF-4A51-9525-144B558D27D4}"/>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Good KPIs are</a:t>
            </a:r>
          </a:p>
        </p:txBody>
      </p:sp>
      <p:sp>
        <p:nvSpPr>
          <p:cNvPr id="16" name="Relevant, measurable, comparable over time, and ha">
            <a:extLst xmlns:a="http://schemas.openxmlformats.org/drawingml/2006/main">
              <a:ext uri="{FF2B5EF4-FFF2-40B4-BE49-F238E27FC236}">
                <a16:creationId xmlns:a16="http://schemas.microsoft.com/office/drawing/2014/main" id="{0DDB1FBB-6969-402B-9F8C-4AAF4C14D20F}"/>
              </a:ext>
            </a:extLst>
          </p:cNvPr>
          <p:cNvSpPr>
            <a:spLocks xmlns:a="http://schemas.openxmlformats.org/drawingml/2006/main" noGrp="1"/>
          </p:cNvSpPr>
          <p:nvPr/>
        </p:nvSpPr>
        <p:spPr>
          <a:xfrm xmlns:a="http://schemas.openxmlformats.org/drawingml/2006/main">
            <a:off x="6070600" y="207073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Relevant, measurable,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comparable over time,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and hard to game.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dabed6991c24d9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8" name="www.newton.university">
            <a:extLst xmlns:a="http://schemas.openxmlformats.org/drawingml/2006/main">
              <a:ext uri="{FF2B5EF4-FFF2-40B4-BE49-F238E27FC236}">
                <a16:creationId xmlns:a16="http://schemas.microsoft.com/office/drawing/2014/main" id="{F22411D5-99FD-483B-A29F-754D03C5CC1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9" name="05">
            <a:extLst xmlns:a="http://schemas.openxmlformats.org/drawingml/2006/main">
              <a:ext uri="{FF2B5EF4-FFF2-40B4-BE49-F238E27FC236}">
                <a16:creationId xmlns:a16="http://schemas.microsoft.com/office/drawing/2014/main" id="{D6B45B1E-A547-4254-87F1-96392BB2C747}"/>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05</a:t>
            </a:r>
          </a:p>
        </p:txBody>
      </p:sp>
    </p:spTree>
    <p:extLst>
      <p:ext uri="{BB962C8B-B14F-4D97-AF65-F5344CB8AC3E}">
        <p14:creationId xmlns:p14="http://schemas.microsoft.com/office/powerpoint/2010/main" val="1837803630"/>
      </p:ext>
    </p:extLst>
  </p:cSld>
</p:sld>
</file>

<file path=ppt/slides/slide6.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2EA06356-026A-4F83-8C83-E04ACCDC13A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2">
            <a:extLst xmlns:a="http://schemas.openxmlformats.org/drawingml/2006/main">
              <a:ext uri="{FF2B5EF4-FFF2-40B4-BE49-F238E27FC236}">
                <a16:creationId xmlns:a16="http://schemas.microsoft.com/office/drawing/2014/main" id="{9045EABF-3B72-44C9-8C7A-17BF08496272}"/>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2</a:t>
            </a:r>
          </a:p>
        </p:txBody>
      </p:sp>
      <p:sp>
        <p:nvSpPr>
          <p:cNvPr id="3" name="02">
            <a:extLst xmlns:a="http://schemas.openxmlformats.org/drawingml/2006/main">
              <a:ext uri="{FF2B5EF4-FFF2-40B4-BE49-F238E27FC236}">
                <a16:creationId xmlns:a16="http://schemas.microsoft.com/office/drawing/2014/main" id="{F298193C-56BA-4463-8519-F73531744BAD}"/>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02</a:t>
            </a:r>
          </a:p>
        </p:txBody>
      </p:sp>
      <p:sp>
        <p:nvSpPr>
          <p:cNvPr id="4" name="KPIs for Green Infrastructure">
            <a:extLst xmlns:a="http://schemas.openxmlformats.org/drawingml/2006/main">
              <a:ext uri="{FF2B5EF4-FFF2-40B4-BE49-F238E27FC236}">
                <a16:creationId xmlns:a16="http://schemas.microsoft.com/office/drawing/2014/main" id="{43819E02-E3DC-4D6C-B6B1-9C8BBB644344}"/>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KPIs for Green Infrastructure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de29b54518f466f"/>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4E190F98-E29F-49E4-A80D-069D7443BD2F}"/>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06">
            <a:extLst xmlns:a="http://schemas.openxmlformats.org/drawingml/2006/main">
              <a:ext uri="{FF2B5EF4-FFF2-40B4-BE49-F238E27FC236}">
                <a16:creationId xmlns:a16="http://schemas.microsoft.com/office/drawing/2014/main" id="{4A316B93-CD34-4D4D-9AB4-145B332F78F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06</a:t>
            </a:r>
          </a:p>
        </p:txBody>
      </p:sp>
    </p:spTree>
    <p:extLst>
      <p:ext uri="{BB962C8B-B14F-4D97-AF65-F5344CB8AC3E}">
        <p14:creationId xmlns:p14="http://schemas.microsoft.com/office/powerpoint/2010/main" val="1998790127"/>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8" name="Three Families of GI Indicators">
            <a:extLst xmlns:a="http://schemas.openxmlformats.org/drawingml/2006/main">
              <a:ext uri="{FF2B5EF4-FFF2-40B4-BE49-F238E27FC236}">
                <a16:creationId xmlns:a16="http://schemas.microsoft.com/office/drawing/2014/main" id="{4B8E4F78-30AC-454B-A581-BC576C70F43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Three Families of GI Indicators</a:t>
            </a:r>
          </a:p>
        </p:txBody>
      </p:sp>
      <p:sp>
        <p:nvSpPr>
          <p:cNvPr id="2" name="Editorial frame">
            <a:extLst xmlns:a="http://schemas.openxmlformats.org/drawingml/2006/main">
              <a:ext uri="{FF2B5EF4-FFF2-40B4-BE49-F238E27FC236}">
                <a16:creationId xmlns:a16="http://schemas.microsoft.com/office/drawing/2014/main" id="{9F80CF24-CE16-40A7-8562-0FC0ECCA5D86}"/>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9677E5C2-FE70-4A33-993D-6CB597F33C9D}"/>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1D66CD2F-6D1C-424C-A2A2-556CFEA4AD8D}"/>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4E0700B6-E78E-4683-9E91-786025E676B5}"/>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Environmental">
            <a:extLst xmlns:a="http://schemas.openxmlformats.org/drawingml/2006/main">
              <a:ext uri="{FF2B5EF4-FFF2-40B4-BE49-F238E27FC236}">
                <a16:creationId xmlns:a16="http://schemas.microsoft.com/office/drawing/2014/main" id="{CA59430E-3F5E-43A9-8EC1-9CC075DEDAA3}"/>
              </a:ext>
            </a:extLst>
          </p:cNvPr>
          <p:cNvSpPr>
            <a:spLocks xmlns:a="http://schemas.openxmlformats.org/drawingml/2006/main" noGrp="1"/>
          </p:cNvSpPr>
          <p:nvPr/>
        </p:nvSpPr>
        <p:spPr>
          <a:xfrm xmlns:a="http://schemas.openxmlformats.org/drawingml/2006/main">
            <a:off x="495300" y="1619250"/>
            <a:ext cx="257810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Environmental</a:t>
            </a:r>
          </a:p>
        </p:txBody>
      </p:sp>
      <p:sp>
        <p:nvSpPr>
          <p:cNvPr id="7" name="Carbon sequestration (t CO2/yr)">
            <a:extLst xmlns:a="http://schemas.openxmlformats.org/drawingml/2006/main">
              <a:ext uri="{FF2B5EF4-FFF2-40B4-BE49-F238E27FC236}">
                <a16:creationId xmlns:a16="http://schemas.microsoft.com/office/drawing/2014/main" id="{59D89979-92BA-439A-8078-465F725DF0A4}"/>
              </a:ext>
            </a:extLst>
          </p:cNvPr>
          <p:cNvSpPr>
            <a:spLocks xmlns:a="http://schemas.openxmlformats.org/drawingml/2006/main" noGrp="1"/>
          </p:cNvSpPr>
          <p:nvPr/>
        </p:nvSpPr>
        <p:spPr>
          <a:xfrm xmlns:a="http://schemas.openxmlformats.org/drawingml/2006/main">
            <a:off x="495300" y="2065020"/>
            <a:ext cx="2578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Carbon sequestration (t</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CO2/yr)</a:t>
            </a:r>
          </a:p>
        </p:txBody>
      </p:sp>
      <p:sp>
        <p:nvSpPr>
          <p:cNvPr id="8" name="Biodiversity indicators (species counts)">
            <a:extLst xmlns:a="http://schemas.openxmlformats.org/drawingml/2006/main">
              <a:ext uri="{FF2B5EF4-FFF2-40B4-BE49-F238E27FC236}">
                <a16:creationId xmlns:a16="http://schemas.microsoft.com/office/drawing/2014/main" id="{60ED8158-76AC-409B-960C-439198F0CF9B}"/>
              </a:ext>
            </a:extLst>
          </p:cNvPr>
          <p:cNvSpPr>
            <a:spLocks xmlns:a="http://schemas.openxmlformats.org/drawingml/2006/main" noGrp="1"/>
          </p:cNvSpPr>
          <p:nvPr/>
        </p:nvSpPr>
        <p:spPr>
          <a:xfrm xmlns:a="http://schemas.openxmlformats.org/drawingml/2006/main">
            <a:off x="495300" y="2703195"/>
            <a:ext cx="2578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Biodiversity indicators</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(species counts)</a:t>
            </a:r>
          </a:p>
        </p:txBody>
      </p:sp>
      <p:sp>
        <p:nvSpPr>
          <p:cNvPr id="9" name="Water retention (m3 stored)">
            <a:extLst xmlns:a="http://schemas.openxmlformats.org/drawingml/2006/main">
              <a:ext uri="{FF2B5EF4-FFF2-40B4-BE49-F238E27FC236}">
                <a16:creationId xmlns:a16="http://schemas.microsoft.com/office/drawing/2014/main" id="{D7F7B86C-C09D-4E98-BB1E-7A66FE7EDD43}"/>
              </a:ext>
            </a:extLst>
          </p:cNvPr>
          <p:cNvSpPr>
            <a:spLocks xmlns:a="http://schemas.openxmlformats.org/drawingml/2006/main" noGrp="1"/>
          </p:cNvSpPr>
          <p:nvPr/>
        </p:nvSpPr>
        <p:spPr>
          <a:xfrm xmlns:a="http://schemas.openxmlformats.org/drawingml/2006/main">
            <a:off x="495300" y="3341370"/>
            <a:ext cx="2578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Water retention (m3</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stored)</a:t>
            </a:r>
          </a:p>
        </p:txBody>
      </p:sp>
      <p:sp>
        <p:nvSpPr>
          <p:cNvPr id="10" name="Temperature reduction (°C)">
            <a:extLst xmlns:a="http://schemas.openxmlformats.org/drawingml/2006/main">
              <a:ext uri="{FF2B5EF4-FFF2-40B4-BE49-F238E27FC236}">
                <a16:creationId xmlns:a16="http://schemas.microsoft.com/office/drawing/2014/main" id="{C9D22741-2C8B-4160-B577-F6F1BB091CBB}"/>
              </a:ext>
            </a:extLst>
          </p:cNvPr>
          <p:cNvSpPr>
            <a:spLocks xmlns:a="http://schemas.openxmlformats.org/drawingml/2006/main" noGrp="1"/>
          </p:cNvSpPr>
          <p:nvPr/>
        </p:nvSpPr>
        <p:spPr>
          <a:xfrm xmlns:a="http://schemas.openxmlformats.org/drawingml/2006/main">
            <a:off x="495300" y="3979545"/>
            <a:ext cx="2578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Temperature reduction</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(°C)</a:t>
            </a:r>
          </a:p>
        </p:txBody>
      </p:sp>
      <p:sp>
        <p:nvSpPr>
          <p:cNvPr id="11" name="Editorial frame">
            <a:extLst xmlns:a="http://schemas.openxmlformats.org/drawingml/2006/main">
              <a:ext uri="{FF2B5EF4-FFF2-40B4-BE49-F238E27FC236}">
                <a16:creationId xmlns:a16="http://schemas.microsoft.com/office/drawing/2014/main" id="{6D73547D-E49B-496F-9603-35D2730DB32D}"/>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338B8D4B-6BAF-48B9-9898-79EA44C01095}"/>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Economic">
            <a:extLst xmlns:a="http://schemas.openxmlformats.org/drawingml/2006/main">
              <a:ext uri="{FF2B5EF4-FFF2-40B4-BE49-F238E27FC236}">
                <a16:creationId xmlns:a16="http://schemas.microsoft.com/office/drawing/2014/main" id="{AB3F4F5C-DDC3-4088-A846-3B84B053E495}"/>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Economic</a:t>
            </a:r>
          </a:p>
        </p:txBody>
      </p:sp>
      <p:sp>
        <p:nvSpPr>
          <p:cNvPr id="14" name="Property value uplift (%)">
            <a:extLst xmlns:a="http://schemas.openxmlformats.org/drawingml/2006/main">
              <a:ext uri="{FF2B5EF4-FFF2-40B4-BE49-F238E27FC236}">
                <a16:creationId xmlns:a16="http://schemas.microsoft.com/office/drawing/2014/main" id="{F3BA39AB-8C1C-4812-945E-163343ACA0E6}"/>
              </a:ext>
            </a:extLst>
          </p:cNvPr>
          <p:cNvSpPr>
            <a:spLocks xmlns:a="http://schemas.openxmlformats.org/drawingml/2006/main" noGrp="1"/>
          </p:cNvSpPr>
          <p:nvPr/>
        </p:nvSpPr>
        <p:spPr>
          <a:xfrm xmlns:a="http://schemas.openxmlformats.org/drawingml/2006/main">
            <a:off x="328295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Property value uplift (%)</a:t>
            </a:r>
          </a:p>
        </p:txBody>
      </p:sp>
      <p:sp>
        <p:nvSpPr>
          <p:cNvPr id="15" name="Energy savings (kWh, CZK)">
            <a:extLst xmlns:a="http://schemas.openxmlformats.org/drawingml/2006/main">
              <a:ext uri="{FF2B5EF4-FFF2-40B4-BE49-F238E27FC236}">
                <a16:creationId xmlns:a16="http://schemas.microsoft.com/office/drawing/2014/main" id="{374D5C32-A05B-45BC-8483-2DC60F65C2BD}"/>
              </a:ext>
            </a:extLst>
          </p:cNvPr>
          <p:cNvSpPr>
            <a:spLocks xmlns:a="http://schemas.openxmlformats.org/drawingml/2006/main" noGrp="1"/>
          </p:cNvSpPr>
          <p:nvPr/>
        </p:nvSpPr>
        <p:spPr>
          <a:xfrm xmlns:a="http://schemas.openxmlformats.org/drawingml/2006/main">
            <a:off x="3282950" y="245745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Energy savings (kWh,</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CZK)</a:t>
            </a:r>
          </a:p>
        </p:txBody>
      </p:sp>
      <p:sp>
        <p:nvSpPr>
          <p:cNvPr id="16" name="Avoided flood damage">
            <a:extLst xmlns:a="http://schemas.openxmlformats.org/drawingml/2006/main">
              <a:ext uri="{FF2B5EF4-FFF2-40B4-BE49-F238E27FC236}">
                <a16:creationId xmlns:a16="http://schemas.microsoft.com/office/drawing/2014/main" id="{207C6F35-0617-4E2C-9881-1108C8DB76DE}"/>
              </a:ext>
            </a:extLst>
          </p:cNvPr>
          <p:cNvSpPr>
            <a:spLocks xmlns:a="http://schemas.openxmlformats.org/drawingml/2006/main" noGrp="1"/>
          </p:cNvSpPr>
          <p:nvPr/>
        </p:nvSpPr>
        <p:spPr>
          <a:xfrm xmlns:a="http://schemas.openxmlformats.org/drawingml/2006/main">
            <a:off x="3282950" y="310705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Avoided flood damage</a:t>
            </a:r>
          </a:p>
        </p:txBody>
      </p:sp>
      <p:sp>
        <p:nvSpPr>
          <p:cNvPr id="17" name="Return on investment">
            <a:extLst xmlns:a="http://schemas.openxmlformats.org/drawingml/2006/main">
              <a:ext uri="{FF2B5EF4-FFF2-40B4-BE49-F238E27FC236}">
                <a16:creationId xmlns:a16="http://schemas.microsoft.com/office/drawing/2014/main" id="{4DFFAB7A-48E3-412A-8D45-DD74A1E050D1}"/>
              </a:ext>
            </a:extLst>
          </p:cNvPr>
          <p:cNvSpPr>
            <a:spLocks xmlns:a="http://schemas.openxmlformats.org/drawingml/2006/main" noGrp="1"/>
          </p:cNvSpPr>
          <p:nvPr/>
        </p:nvSpPr>
        <p:spPr>
          <a:xfrm xmlns:a="http://schemas.openxmlformats.org/drawingml/2006/main">
            <a:off x="3282950" y="34937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Return on investment</a:t>
            </a:r>
          </a:p>
        </p:txBody>
      </p:sp>
      <p:sp>
        <p:nvSpPr>
          <p:cNvPr id="18" name="Editorial frame">
            <a:extLst xmlns:a="http://schemas.openxmlformats.org/drawingml/2006/main">
              <a:ext uri="{FF2B5EF4-FFF2-40B4-BE49-F238E27FC236}">
                <a16:creationId xmlns:a16="http://schemas.microsoft.com/office/drawing/2014/main" id="{2F23D040-1D20-45A3-B6B2-2C00779A2646}"/>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9" name="Editorial frame">
            <a:extLst xmlns:a="http://schemas.openxmlformats.org/drawingml/2006/main">
              <a:ext uri="{FF2B5EF4-FFF2-40B4-BE49-F238E27FC236}">
                <a16:creationId xmlns:a16="http://schemas.microsoft.com/office/drawing/2014/main" id="{CE60A32B-8983-4A41-BB7F-C9790999EB6E}"/>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20" name="Social">
            <a:extLst xmlns:a="http://schemas.openxmlformats.org/drawingml/2006/main">
              <a:ext uri="{FF2B5EF4-FFF2-40B4-BE49-F238E27FC236}">
                <a16:creationId xmlns:a16="http://schemas.microsoft.com/office/drawing/2014/main" id="{AE5C463A-35DE-4602-B0B8-9585189E2E0D}"/>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Social</a:t>
            </a:r>
          </a:p>
        </p:txBody>
      </p:sp>
      <p:sp>
        <p:nvSpPr>
          <p:cNvPr id="21" name="Health and wellbeing scores">
            <a:extLst xmlns:a="http://schemas.openxmlformats.org/drawingml/2006/main">
              <a:ext uri="{FF2B5EF4-FFF2-40B4-BE49-F238E27FC236}">
                <a16:creationId xmlns:a16="http://schemas.microsoft.com/office/drawing/2014/main" id="{1EE0222A-281D-42DF-B0FF-90BC7191D1A5}"/>
              </a:ext>
            </a:extLst>
          </p:cNvPr>
          <p:cNvSpPr>
            <a:spLocks xmlns:a="http://schemas.openxmlformats.org/drawingml/2006/main" noGrp="1"/>
          </p:cNvSpPr>
          <p:nvPr/>
        </p:nvSpPr>
        <p:spPr>
          <a:xfrm xmlns:a="http://schemas.openxmlformats.org/drawingml/2006/main">
            <a:off x="607060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Health and wellbeing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scores</a:t>
            </a:r>
          </a:p>
        </p:txBody>
      </p:sp>
      <p:sp>
        <p:nvSpPr>
          <p:cNvPr id="22" name="Visitor numbers">
            <a:extLst xmlns:a="http://schemas.openxmlformats.org/drawingml/2006/main">
              <a:ext uri="{FF2B5EF4-FFF2-40B4-BE49-F238E27FC236}">
                <a16:creationId xmlns:a16="http://schemas.microsoft.com/office/drawing/2014/main" id="{AF9EB2EB-186E-4C6D-B706-DEAE2E133FA4}"/>
              </a:ext>
            </a:extLst>
          </p:cNvPr>
          <p:cNvSpPr>
            <a:spLocks xmlns:a="http://schemas.openxmlformats.org/drawingml/2006/main" noGrp="1"/>
          </p:cNvSpPr>
          <p:nvPr/>
        </p:nvSpPr>
        <p:spPr>
          <a:xfrm xmlns:a="http://schemas.openxmlformats.org/drawingml/2006/main">
            <a:off x="6070600" y="272034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Visitor numbers</a:t>
            </a:r>
          </a:p>
        </p:txBody>
      </p:sp>
      <p:sp>
        <p:nvSpPr>
          <p:cNvPr id="23" name="Community engagement events">
            <a:extLst xmlns:a="http://schemas.openxmlformats.org/drawingml/2006/main">
              <a:ext uri="{FF2B5EF4-FFF2-40B4-BE49-F238E27FC236}">
                <a16:creationId xmlns:a16="http://schemas.microsoft.com/office/drawing/2014/main" id="{5E2F6E3C-7265-4D8B-A778-34445055EEBE}"/>
              </a:ext>
            </a:extLst>
          </p:cNvPr>
          <p:cNvSpPr>
            <a:spLocks xmlns:a="http://schemas.openxmlformats.org/drawingml/2006/main" noGrp="1"/>
          </p:cNvSpPr>
          <p:nvPr/>
        </p:nvSpPr>
        <p:spPr>
          <a:xfrm xmlns:a="http://schemas.openxmlformats.org/drawingml/2006/main">
            <a:off x="6070600" y="310705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Community engagement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events</a:t>
            </a:r>
          </a:p>
        </p:txBody>
      </p:sp>
      <p:sp>
        <p:nvSpPr>
          <p:cNvPr id="24" name="Access within 300 m of green space">
            <a:extLst xmlns:a="http://schemas.openxmlformats.org/drawingml/2006/main">
              <a:ext uri="{FF2B5EF4-FFF2-40B4-BE49-F238E27FC236}">
                <a16:creationId xmlns:a16="http://schemas.microsoft.com/office/drawing/2014/main" id="{9580372A-12A2-4F44-9308-96D534AA7462}"/>
              </a:ext>
            </a:extLst>
          </p:cNvPr>
          <p:cNvSpPr>
            <a:spLocks xmlns:a="http://schemas.openxmlformats.org/drawingml/2006/main" noGrp="1"/>
          </p:cNvSpPr>
          <p:nvPr/>
        </p:nvSpPr>
        <p:spPr>
          <a:xfrm xmlns:a="http://schemas.openxmlformats.org/drawingml/2006/main">
            <a:off x="6070600" y="375666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Access within 300 m of</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green space</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89e81fef1764a6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6" name="www.newton.university">
            <a:extLst xmlns:a="http://schemas.openxmlformats.org/drawingml/2006/main">
              <a:ext uri="{FF2B5EF4-FFF2-40B4-BE49-F238E27FC236}">
                <a16:creationId xmlns:a16="http://schemas.microsoft.com/office/drawing/2014/main" id="{2584FBF9-4CB8-4979-9FF1-6B0B135F47A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7" name="07">
            <a:extLst xmlns:a="http://schemas.openxmlformats.org/drawingml/2006/main">
              <a:ext uri="{FF2B5EF4-FFF2-40B4-BE49-F238E27FC236}">
                <a16:creationId xmlns:a16="http://schemas.microsoft.com/office/drawing/2014/main" id="{CD635582-A926-46BA-B5B9-0CE1F84E130F}"/>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07</a:t>
            </a:r>
          </a:p>
        </p:txBody>
      </p:sp>
    </p:spTree>
    <p:extLst>
      <p:ext uri="{BB962C8B-B14F-4D97-AF65-F5344CB8AC3E}">
        <p14:creationId xmlns:p14="http://schemas.microsoft.com/office/powerpoint/2010/main" val="267352106"/>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Measuring a Park: Prague Example">
            <a:extLst xmlns:a="http://schemas.openxmlformats.org/drawingml/2006/main">
              <a:ext uri="{FF2B5EF4-FFF2-40B4-BE49-F238E27FC236}">
                <a16:creationId xmlns:a16="http://schemas.microsoft.com/office/drawing/2014/main" id="{9E48A4F5-23A8-4B72-8A9D-6EAE1D1CBBB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Measuring a Park: Prague Example</a:t>
            </a:r>
          </a:p>
        </p:txBody>
      </p:sp>
      <p:sp>
        <p:nvSpPr>
          <p:cNvPr id="2" name="Editorial frame">
            <a:extLst xmlns:a="http://schemas.openxmlformats.org/drawingml/2006/main">
              <a:ext uri="{FF2B5EF4-FFF2-40B4-BE49-F238E27FC236}">
                <a16:creationId xmlns:a16="http://schemas.microsoft.com/office/drawing/2014/main" id="{AC2C13A1-F16F-4040-849C-D8EB58A612E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872DDC2-B99F-4BF3-8E4C-35A607CA8A0B}"/>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c9fb3ce31f746a4"/>
          <a:stretch xmlns:a="http://schemas.openxmlformats.org/drawingml/2006/main"/>
        </p:blipFill>
        <p:spPr>
          <a:xfrm xmlns:a="http://schemas.openxmlformats.org/drawingml/2006/main">
            <a:off x="5286375" y="1622105"/>
            <a:ext cx="3362325" cy="2299340"/>
          </a:xfrm>
          <a:prstGeom xmlns:a="http://schemas.openxmlformats.org/drawingml/2006/main" prst="rect">
            <a:avLst/>
          </a:prstGeom>
        </p:spPr>
      </p:pic>
      <p:sp>
        <p:nvSpPr>
          <p:cNvPr id="5" name="Letná Park — how would you measure its value?">
            <a:extLst xmlns:a="http://schemas.openxmlformats.org/drawingml/2006/main">
              <a:ext uri="{FF2B5EF4-FFF2-40B4-BE49-F238E27FC236}">
                <a16:creationId xmlns:a16="http://schemas.microsoft.com/office/drawing/2014/main" id="{672BC571-F79B-42E3-ACFF-1A81662B2FD9}"/>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Letná Park — how would you measure its</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value?</a:t>
            </a:r>
          </a:p>
        </p:txBody>
      </p:sp>
      <p:sp>
        <p:nvSpPr>
          <p:cNvPr id="6" name="Try it now">
            <a:extLst xmlns:a="http://schemas.openxmlformats.org/drawingml/2006/main">
              <a:ext uri="{FF2B5EF4-FFF2-40B4-BE49-F238E27FC236}">
                <a16:creationId xmlns:a16="http://schemas.microsoft.com/office/drawing/2014/main" id="{6B62AC13-6B04-49E1-85D3-0AA3E314C6CF}"/>
              </a:ext>
            </a:extLst>
          </p:cNvPr>
          <p:cNvSpPr>
            <a:spLocks xmlns:a="http://schemas.openxmlformats.org/drawingml/2006/main" noGrp="1"/>
          </p:cNvSpPr>
          <p:nvPr/>
        </p:nvSpPr>
        <p:spPr>
          <a:xfrm xmlns:a="http://schemas.openxmlformats.org/drawingml/2006/main">
            <a:off x="495300" y="1524000"/>
            <a:ext cx="4333875"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Try it now</a:t>
            </a:r>
          </a:p>
        </p:txBody>
      </p:sp>
      <p:sp>
        <p:nvSpPr>
          <p:cNvPr id="7" name="Name one environmental, one economic and one socia">
            <a:extLst xmlns:a="http://schemas.openxmlformats.org/drawingml/2006/main">
              <a:ext uri="{FF2B5EF4-FFF2-40B4-BE49-F238E27FC236}">
                <a16:creationId xmlns:a16="http://schemas.microsoft.com/office/drawing/2014/main" id="{DD93242E-80AD-4010-994B-5B622DCFB584}"/>
              </a:ext>
            </a:extLst>
          </p:cNvPr>
          <p:cNvSpPr>
            <a:spLocks xmlns:a="http://schemas.openxmlformats.org/drawingml/2006/main" noGrp="1"/>
          </p:cNvSpPr>
          <p:nvPr/>
        </p:nvSpPr>
        <p:spPr>
          <a:xfrm xmlns:a="http://schemas.openxmlformats.org/drawingml/2006/main">
            <a:off x="495300" y="196405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Name one environmental, one economic and</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one social KPI for this park.</a:t>
            </a:r>
          </a:p>
        </p:txBody>
      </p:sp>
      <p:sp>
        <p:nvSpPr>
          <p:cNvPr id="8" name="Where would the data come from?">
            <a:extLst xmlns:a="http://schemas.openxmlformats.org/drawingml/2006/main">
              <a:ext uri="{FF2B5EF4-FFF2-40B4-BE49-F238E27FC236}">
                <a16:creationId xmlns:a16="http://schemas.microsoft.com/office/drawing/2014/main" id="{60F015C9-5C3B-4F2D-8EF6-552000647E79}"/>
              </a:ext>
            </a:extLst>
          </p:cNvPr>
          <p:cNvSpPr>
            <a:spLocks xmlns:a="http://schemas.openxmlformats.org/drawingml/2006/main" noGrp="1"/>
          </p:cNvSpPr>
          <p:nvPr/>
        </p:nvSpPr>
        <p:spPr>
          <a:xfrm xmlns:a="http://schemas.openxmlformats.org/drawingml/2006/main">
            <a:off x="495300" y="2590800"/>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Where would the data come from?</a:t>
            </a:r>
          </a:p>
        </p:txBody>
      </p:sp>
      <p:sp>
        <p:nvSpPr>
          <p:cNvPr id="9" name="Who would use the numbers — and for what decision?">
            <a:extLst xmlns:a="http://schemas.openxmlformats.org/drawingml/2006/main">
              <a:ext uri="{FF2B5EF4-FFF2-40B4-BE49-F238E27FC236}">
                <a16:creationId xmlns:a16="http://schemas.microsoft.com/office/drawing/2014/main" id="{44D6946B-5324-44DC-9141-DAE4909AFB23}"/>
              </a:ext>
            </a:extLst>
          </p:cNvPr>
          <p:cNvSpPr>
            <a:spLocks xmlns:a="http://schemas.openxmlformats.org/drawingml/2006/main" noGrp="1"/>
          </p:cNvSpPr>
          <p:nvPr/>
        </p:nvSpPr>
        <p:spPr>
          <a:xfrm xmlns:a="http://schemas.openxmlformats.org/drawingml/2006/main">
            <a:off x="495300" y="296608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Who would use the numbers — and for what</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decision?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ed0e3a19964ae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1" name="www.newton.university">
            <a:extLst xmlns:a="http://schemas.openxmlformats.org/drawingml/2006/main">
              <a:ext uri="{FF2B5EF4-FFF2-40B4-BE49-F238E27FC236}">
                <a16:creationId xmlns:a16="http://schemas.microsoft.com/office/drawing/2014/main" id="{5A115603-A949-4714-BC24-B51C616D04F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2" name="08">
            <a:extLst xmlns:a="http://schemas.openxmlformats.org/drawingml/2006/main">
              <a:ext uri="{FF2B5EF4-FFF2-40B4-BE49-F238E27FC236}">
                <a16:creationId xmlns:a16="http://schemas.microsoft.com/office/drawing/2014/main" id="{312E42E5-4EA4-4C85-B447-E265ED7ED9E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08</a:t>
            </a:r>
          </a:p>
        </p:txBody>
      </p:sp>
    </p:spTree>
    <p:extLst>
      <p:ext uri="{BB962C8B-B14F-4D97-AF65-F5344CB8AC3E}">
        <p14:creationId xmlns:p14="http://schemas.microsoft.com/office/powerpoint/2010/main" val="856030359"/>
      </p:ext>
    </p:extLst>
  </p:cSld>
</p:sld>
</file>

<file path=ppt/slides/slide9.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BB526FB3-55B8-4EFF-9FD3-FEA9A0D4C97D}"/>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4ffc159801a48cd"/>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3">
            <a:extLst xmlns:a="http://schemas.openxmlformats.org/drawingml/2006/main">
              <a:ext uri="{FF2B5EF4-FFF2-40B4-BE49-F238E27FC236}">
                <a16:creationId xmlns:a16="http://schemas.microsoft.com/office/drawing/2014/main" id="{CF2041CF-A915-4018-AAFE-7070B3CD954C}"/>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3</a:t>
            </a:r>
          </a:p>
        </p:txBody>
      </p:sp>
      <p:sp>
        <p:nvSpPr>
          <p:cNvPr id="4" name="Data and Tools">
            <a:extLst xmlns:a="http://schemas.openxmlformats.org/drawingml/2006/main">
              <a:ext uri="{FF2B5EF4-FFF2-40B4-BE49-F238E27FC236}">
                <a16:creationId xmlns:a16="http://schemas.microsoft.com/office/drawing/2014/main" id="{8527B6D6-B9AC-45DD-AA8A-E159F062DD2E}"/>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Data and Tools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fa198de1c39418c"/>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62BD02E8-E2B0-4E3B-B26D-27BAF4AB761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09">
            <a:extLst xmlns:a="http://schemas.openxmlformats.org/drawingml/2006/main">
              <a:ext uri="{FF2B5EF4-FFF2-40B4-BE49-F238E27FC236}">
                <a16:creationId xmlns:a16="http://schemas.microsoft.com/office/drawing/2014/main" id="{E0C7A68C-1C21-4C70-A898-61BEE63E006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09</a:t>
            </a:r>
          </a:p>
        </p:txBody>
      </p:sp>
    </p:spTree>
    <p:extLst>
      <p:ext uri="{BB962C8B-B14F-4D97-AF65-F5344CB8AC3E}">
        <p14:creationId xmlns:p14="http://schemas.microsoft.com/office/powerpoint/2010/main" val="1871761830"/>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The GI Measurement Toolkit">
            <a:extLst xmlns:a="http://schemas.openxmlformats.org/drawingml/2006/main">
              <a:ext uri="{FF2B5EF4-FFF2-40B4-BE49-F238E27FC236}">
                <a16:creationId xmlns:a16="http://schemas.microsoft.com/office/drawing/2014/main" id="{A2A020D2-32B6-45F2-893C-7A7DE6C37A4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GI Measurement Toolkit</a:t>
            </a:r>
          </a:p>
        </p:txBody>
      </p:sp>
      <p:sp>
        <p:nvSpPr>
          <p:cNvPr id="2" name="Editorial frame">
            <a:extLst xmlns:a="http://schemas.openxmlformats.org/drawingml/2006/main">
              <a:ext uri="{FF2B5EF4-FFF2-40B4-BE49-F238E27FC236}">
                <a16:creationId xmlns:a16="http://schemas.microsoft.com/office/drawing/2014/main" id="{702C0D6E-82B6-4237-BD68-128665D50A1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F7CD23F-14EF-4894-82A0-2FFFE4CE11D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4ef5ea9b6344bc5"/>
          <a:stretch xmlns:a="http://schemas.openxmlformats.org/drawingml/2006/main"/>
        </p:blipFill>
        <p:spPr>
          <a:xfrm xmlns:a="http://schemas.openxmlformats.org/drawingml/2006/main">
            <a:off x="5286375" y="1828748"/>
            <a:ext cx="3362325" cy="1886054"/>
          </a:xfrm>
          <a:prstGeom xmlns:a="http://schemas.openxmlformats.org/drawingml/2006/main" prst="rect">
            <a:avLst/>
          </a:prstGeom>
        </p:spPr>
      </p:pic>
      <p:sp>
        <p:nvSpPr>
          <p:cNvPr id="5" name="Illustrative GIS interface: the source map shows H">
            <a:extLst xmlns:a="http://schemas.openxmlformats.org/drawingml/2006/main">
              <a:ext uri="{FF2B5EF4-FFF2-40B4-BE49-F238E27FC236}">
                <a16:creationId xmlns:a16="http://schemas.microsoft.com/office/drawing/2014/main" id="{38FD4259-02CA-420F-9171-3F9522761F08}"/>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Illustrative GIS interface: the source map shows</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Houston income, not Prague green cover</a:t>
            </a:r>
          </a:p>
        </p:txBody>
      </p:sp>
      <p:sp>
        <p:nvSpPr>
          <p:cNvPr id="6" name="Spatial analysis">
            <a:extLst xmlns:a="http://schemas.openxmlformats.org/drawingml/2006/main">
              <a:ext uri="{FF2B5EF4-FFF2-40B4-BE49-F238E27FC236}">
                <a16:creationId xmlns:a16="http://schemas.microsoft.com/office/drawing/2014/main" id="{51C9B659-3303-4612-BFB0-891811ABE950}"/>
              </a:ext>
            </a:extLst>
          </p:cNvPr>
          <p:cNvSpPr>
            <a:spLocks xmlns:a="http://schemas.openxmlformats.org/drawingml/2006/main" noGrp="1"/>
          </p:cNvSpPr>
          <p:nvPr/>
        </p:nvSpPr>
        <p:spPr>
          <a:xfrm xmlns:a="http://schemas.openxmlformats.org/drawingml/2006/main">
            <a:off x="495300" y="152400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Spatial analysis</a:t>
            </a:r>
          </a:p>
        </p:txBody>
      </p:sp>
      <p:sp>
        <p:nvSpPr>
          <p:cNvPr id="7" name="GIS platforms: QGIS (open source), ArcGIS">
            <a:extLst xmlns:a="http://schemas.openxmlformats.org/drawingml/2006/main">
              <a:ext uri="{FF2B5EF4-FFF2-40B4-BE49-F238E27FC236}">
                <a16:creationId xmlns:a16="http://schemas.microsoft.com/office/drawing/2014/main" id="{4F032540-9234-40A8-B0BE-357D2CB06052}"/>
              </a:ext>
            </a:extLst>
          </p:cNvPr>
          <p:cNvSpPr>
            <a:spLocks xmlns:a="http://schemas.openxmlformats.org/drawingml/2006/main" noGrp="1"/>
          </p:cNvSpPr>
          <p:nvPr/>
        </p:nvSpPr>
        <p:spPr>
          <a:xfrm xmlns:a="http://schemas.openxmlformats.org/drawingml/2006/main">
            <a:off x="495300" y="194691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GIS platforms: QGIS (open source), ArcGIS</a:t>
            </a:r>
          </a:p>
        </p:txBody>
      </p:sp>
      <p:sp>
        <p:nvSpPr>
          <p:cNvPr id="8" name="Field data">
            <a:extLst xmlns:a="http://schemas.openxmlformats.org/drawingml/2006/main">
              <a:ext uri="{FF2B5EF4-FFF2-40B4-BE49-F238E27FC236}">
                <a16:creationId xmlns:a16="http://schemas.microsoft.com/office/drawing/2014/main" id="{CD88AA5F-EB21-486E-8A37-A179F2D22A4D}"/>
              </a:ext>
            </a:extLst>
          </p:cNvPr>
          <p:cNvSpPr>
            <a:spLocks xmlns:a="http://schemas.openxmlformats.org/drawingml/2006/main" noGrp="1"/>
          </p:cNvSpPr>
          <p:nvPr/>
        </p:nvSpPr>
        <p:spPr>
          <a:xfrm xmlns:a="http://schemas.openxmlformats.org/drawingml/2006/main">
            <a:off x="495300" y="238125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Field data</a:t>
            </a:r>
          </a:p>
        </p:txBody>
      </p:sp>
      <p:sp>
        <p:nvSpPr>
          <p:cNvPr id="9" name="IoT sensors: temperature, humidity, water flow">
            <a:extLst xmlns:a="http://schemas.openxmlformats.org/drawingml/2006/main">
              <a:ext uri="{FF2B5EF4-FFF2-40B4-BE49-F238E27FC236}">
                <a16:creationId xmlns:a16="http://schemas.microsoft.com/office/drawing/2014/main" id="{269ACAF8-90A9-4823-A412-CD080A8F5E29}"/>
              </a:ext>
            </a:extLst>
          </p:cNvPr>
          <p:cNvSpPr>
            <a:spLocks xmlns:a="http://schemas.openxmlformats.org/drawingml/2006/main" noGrp="1"/>
          </p:cNvSpPr>
          <p:nvPr/>
        </p:nvSpPr>
        <p:spPr>
          <a:xfrm xmlns:a="http://schemas.openxmlformats.org/drawingml/2006/main">
            <a:off x="495300" y="280416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IoT sensors: temperature, humidity, water flow</a:t>
            </a:r>
          </a:p>
        </p:txBody>
      </p:sp>
      <p:sp>
        <p:nvSpPr>
          <p:cNvPr id="10" name="i-Tree: valuing ecosystem services of trees">
            <a:extLst xmlns:a="http://schemas.openxmlformats.org/drawingml/2006/main">
              <a:ext uri="{FF2B5EF4-FFF2-40B4-BE49-F238E27FC236}">
                <a16:creationId xmlns:a16="http://schemas.microsoft.com/office/drawing/2014/main" id="{9FEB8251-0461-43DE-A05E-DBFD05655E7D}"/>
              </a:ext>
            </a:extLst>
          </p:cNvPr>
          <p:cNvSpPr>
            <a:spLocks xmlns:a="http://schemas.openxmlformats.org/drawingml/2006/main" noGrp="1"/>
          </p:cNvSpPr>
          <p:nvPr/>
        </p:nvSpPr>
        <p:spPr>
          <a:xfrm xmlns:a="http://schemas.openxmlformats.org/drawingml/2006/main">
            <a:off x="495300" y="316230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i-Tree: valuing ecosystem services of trees</a:t>
            </a:r>
          </a:p>
        </p:txBody>
      </p:sp>
      <p:sp>
        <p:nvSpPr>
          <p:cNvPr id="11" name="Reporting">
            <a:extLst xmlns:a="http://schemas.openxmlformats.org/drawingml/2006/main">
              <a:ext uri="{FF2B5EF4-FFF2-40B4-BE49-F238E27FC236}">
                <a16:creationId xmlns:a16="http://schemas.microsoft.com/office/drawing/2014/main" id="{CE924601-2E2D-494B-B495-877989F0E568}"/>
              </a:ext>
            </a:extLst>
          </p:cNvPr>
          <p:cNvSpPr>
            <a:spLocks xmlns:a="http://schemas.openxmlformats.org/drawingml/2006/main" noGrp="1"/>
          </p:cNvSpPr>
          <p:nvPr/>
        </p:nvSpPr>
        <p:spPr>
          <a:xfrm xmlns:a="http://schemas.openxmlformats.org/drawingml/2006/main">
            <a:off x="495300" y="359664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Reporting</a:t>
            </a:r>
          </a:p>
        </p:txBody>
      </p:sp>
      <p:sp>
        <p:nvSpPr>
          <p:cNvPr id="12" name="Dashboards: Power BI, digital twins for scenario t">
            <a:extLst xmlns:a="http://schemas.openxmlformats.org/drawingml/2006/main">
              <a:ext uri="{FF2B5EF4-FFF2-40B4-BE49-F238E27FC236}">
                <a16:creationId xmlns:a16="http://schemas.microsoft.com/office/drawing/2014/main" id="{8A4B3DAE-9985-4432-B229-E0587909695E}"/>
              </a:ext>
            </a:extLst>
          </p:cNvPr>
          <p:cNvSpPr>
            <a:spLocks xmlns:a="http://schemas.openxmlformats.org/drawingml/2006/main" noGrp="1"/>
          </p:cNvSpPr>
          <p:nvPr/>
        </p:nvSpPr>
        <p:spPr>
          <a:xfrm xmlns:a="http://schemas.openxmlformats.org/drawingml/2006/main">
            <a:off x="495300" y="4019550"/>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Dashboards: Power BI, digital twins for scenario</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testing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7a3635190074ab9"/>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C5DEDB54-E0B2-4DBA-BB59-C7F49FED25C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10">
            <a:extLst xmlns:a="http://schemas.openxmlformats.org/drawingml/2006/main">
              <a:ext uri="{FF2B5EF4-FFF2-40B4-BE49-F238E27FC236}">
                <a16:creationId xmlns:a16="http://schemas.microsoft.com/office/drawing/2014/main" id="{0C89B95B-29B8-4AC6-B403-3904DF90770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10</a:t>
            </a:r>
          </a:p>
        </p:txBody>
      </p:sp>
    </p:spTree>
    <p:extLst>
      <p:ext uri="{BB962C8B-B14F-4D97-AF65-F5344CB8AC3E}">
        <p14:creationId xmlns:p14="http://schemas.microsoft.com/office/powerpoint/2010/main" val="1409085214"/>
      </p:ext>
    </p:extLst>
  </p:cSld>
</p:sld>
</file>

<file path=ppt/slides/slide11.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6" name="Workshop: Build a Green Infrastructure Dashboard">
            <a:extLst xmlns:a="http://schemas.openxmlformats.org/drawingml/2006/main">
              <a:ext uri="{FF2B5EF4-FFF2-40B4-BE49-F238E27FC236}">
                <a16:creationId xmlns:a16="http://schemas.microsoft.com/office/drawing/2014/main" id="{797025E8-5DEA-4752-AA90-90B5555602B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Workshop: Build a Green Infrastructure Dashboard</a:t>
            </a:r>
          </a:p>
        </p:txBody>
      </p:sp>
      <p:sp>
        <p:nvSpPr>
          <p:cNvPr id="2" name="Editorial frame">
            <a:extLst xmlns:a="http://schemas.openxmlformats.org/drawingml/2006/main">
              <a:ext uri="{FF2B5EF4-FFF2-40B4-BE49-F238E27FC236}">
                <a16:creationId xmlns:a16="http://schemas.microsoft.com/office/drawing/2014/main" id="{4D36E4AF-1019-4160-8477-85F54B091278}"/>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630F8FAF-3155-4A1A-8FAC-FF99925075AB}"/>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753AED15-0D6A-4AF5-8547-8B6983B2E44C}"/>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30">
            <a:extLst xmlns:a="http://schemas.openxmlformats.org/drawingml/2006/main">
              <a:ext uri="{FF2B5EF4-FFF2-40B4-BE49-F238E27FC236}">
                <a16:creationId xmlns:a16="http://schemas.microsoft.com/office/drawing/2014/main" id="{F1F6505F-E5DE-4621-898C-8095BEFA86BC}"/>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30</a:t>
            </a:r>
          </a:p>
        </p:txBody>
      </p:sp>
      <p:sp>
        <p:nvSpPr>
          <p:cNvPr id="6" name="minutes">
            <a:extLst xmlns:a="http://schemas.openxmlformats.org/drawingml/2006/main">
              <a:ext uri="{FF2B5EF4-FFF2-40B4-BE49-F238E27FC236}">
                <a16:creationId xmlns:a16="http://schemas.microsoft.com/office/drawing/2014/main" id="{81C0CEEF-D2BA-4239-98D1-6FFE605F072D}"/>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In groups">
            <a:extLst xmlns:a="http://schemas.openxmlformats.org/drawingml/2006/main">
              <a:ext uri="{FF2B5EF4-FFF2-40B4-BE49-F238E27FC236}">
                <a16:creationId xmlns:a16="http://schemas.microsoft.com/office/drawing/2014/main" id="{AFD80832-FA89-49D8-9D8B-D2CBBD756AC2}"/>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In groups</a:t>
            </a:r>
          </a:p>
        </p:txBody>
      </p:sp>
      <p:sp>
        <p:nvSpPr>
          <p:cNvPr id="8" name="Design a one-screen dashboard for your semester ca">
            <a:extLst xmlns:a="http://schemas.openxmlformats.org/drawingml/2006/main">
              <a:ext uri="{FF2B5EF4-FFF2-40B4-BE49-F238E27FC236}">
                <a16:creationId xmlns:a16="http://schemas.microsoft.com/office/drawing/2014/main" id="{9C14FABC-62B8-4942-AF0F-6344B0371C90}"/>
              </a:ext>
            </a:extLst>
          </p:cNvPr>
          <p:cNvSpPr>
            <a:spLocks xmlns:a="http://schemas.openxmlformats.org/drawingml/2006/main" noGrp="1"/>
          </p:cNvSpPr>
          <p:nvPr/>
        </p:nvSpPr>
        <p:spPr>
          <a:xfrm xmlns:a="http://schemas.openxmlformats.org/drawingml/2006/main">
            <a:off x="3076575" y="1628775"/>
            <a:ext cx="5543550" cy="634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Design a one-screen dashboard for your</a:t>
            </a:r>
          </a:p>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semester case-study site:</a:t>
            </a:r>
          </a:p>
        </p:txBody>
      </p:sp>
      <p:sp>
        <p:nvSpPr>
          <p:cNvPr id="9" name="Choose 3 environmental, 3 economic and 3 social KP">
            <a:extLst xmlns:a="http://schemas.openxmlformats.org/drawingml/2006/main">
              <a:ext uri="{FF2B5EF4-FFF2-40B4-BE49-F238E27FC236}">
                <a16:creationId xmlns:a16="http://schemas.microsoft.com/office/drawing/2014/main" id="{8E74BBF7-0C94-470F-B0B1-5BCE2B6B56F2}"/>
              </a:ext>
            </a:extLst>
          </p:cNvPr>
          <p:cNvSpPr>
            <a:spLocks xmlns:a="http://schemas.openxmlformats.org/drawingml/2006/main" noGrp="1"/>
          </p:cNvSpPr>
          <p:nvPr/>
        </p:nvSpPr>
        <p:spPr>
          <a:xfrm xmlns:a="http://schemas.openxmlformats.org/drawingml/2006/main">
            <a:off x="3076575" y="237744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Choose 3 environmental, 3 economic and 3 social KPIs.</a:t>
            </a:r>
          </a:p>
        </p:txBody>
      </p:sp>
      <p:sp>
        <p:nvSpPr>
          <p:cNvPr id="10" name="For each: unit, baseline, data source, update freq">
            <a:extLst xmlns:a="http://schemas.openxmlformats.org/drawingml/2006/main">
              <a:ext uri="{FF2B5EF4-FFF2-40B4-BE49-F238E27FC236}">
                <a16:creationId xmlns:a16="http://schemas.microsoft.com/office/drawing/2014/main" id="{EF684CD7-C194-4D19-9102-5D118534D9E6}"/>
              </a:ext>
            </a:extLst>
          </p:cNvPr>
          <p:cNvSpPr>
            <a:spLocks xmlns:a="http://schemas.openxmlformats.org/drawingml/2006/main" noGrp="1"/>
          </p:cNvSpPr>
          <p:nvPr/>
        </p:nvSpPr>
        <p:spPr>
          <a:xfrm xmlns:a="http://schemas.openxmlformats.org/drawingml/2006/main">
            <a:off x="3076575" y="2758440"/>
            <a:ext cx="5543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For each: unit, baseline, data source, update frequency</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and owner.</a:t>
            </a:r>
          </a:p>
        </p:txBody>
      </p:sp>
      <p:sp>
        <p:nvSpPr>
          <p:cNvPr id="11" name="Sketch the layout: what decision does a site manag">
            <a:extLst xmlns:a="http://schemas.openxmlformats.org/drawingml/2006/main">
              <a:ext uri="{FF2B5EF4-FFF2-40B4-BE49-F238E27FC236}">
                <a16:creationId xmlns:a16="http://schemas.microsoft.com/office/drawing/2014/main" id="{68BCEE84-1C68-4739-8D5E-C35C738E656D}"/>
              </a:ext>
            </a:extLst>
          </p:cNvPr>
          <p:cNvSpPr>
            <a:spLocks xmlns:a="http://schemas.openxmlformats.org/drawingml/2006/main" noGrp="1"/>
          </p:cNvSpPr>
          <p:nvPr/>
        </p:nvSpPr>
        <p:spPr>
          <a:xfrm xmlns:a="http://schemas.openxmlformats.org/drawingml/2006/main">
            <a:off x="3076575" y="3396615"/>
            <a:ext cx="5543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Sketch the layout: what decision does a site manager,</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mayor or investor make?</a:t>
            </a:r>
          </a:p>
        </p:txBody>
      </p:sp>
      <p:sp>
        <p:nvSpPr>
          <p:cNvPr id="12" name="Present in 2 minutes per group.">
            <a:extLst xmlns:a="http://schemas.openxmlformats.org/drawingml/2006/main">
              <a:ext uri="{FF2B5EF4-FFF2-40B4-BE49-F238E27FC236}">
                <a16:creationId xmlns:a16="http://schemas.microsoft.com/office/drawing/2014/main" id="{261067A5-C17C-4BE4-AB34-B5A1051A0D9D}"/>
              </a:ext>
            </a:extLst>
          </p:cNvPr>
          <p:cNvSpPr>
            <a:spLocks xmlns:a="http://schemas.openxmlformats.org/drawingml/2006/main" noGrp="1"/>
          </p:cNvSpPr>
          <p:nvPr/>
        </p:nvSpPr>
        <p:spPr>
          <a:xfrm xmlns:a="http://schemas.openxmlformats.org/drawingml/2006/main">
            <a:off x="3076575" y="403479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Present in 2 minutes per group.</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3cc0815827641e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C7323521-0693-471D-B430-9AA5DF41451B}"/>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11">
            <a:extLst xmlns:a="http://schemas.openxmlformats.org/drawingml/2006/main">
              <a:ext uri="{FF2B5EF4-FFF2-40B4-BE49-F238E27FC236}">
                <a16:creationId xmlns:a16="http://schemas.microsoft.com/office/drawing/2014/main" id="{5F72E53C-B2EB-4B5A-A94C-2C05D2CDE79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11</a:t>
            </a:r>
          </a:p>
        </p:txBody>
      </p:sp>
    </p:spTree>
    <p:extLst>
      <p:ext uri="{BB962C8B-B14F-4D97-AF65-F5344CB8AC3E}">
        <p14:creationId xmlns:p14="http://schemas.microsoft.com/office/powerpoint/2010/main" val="1471806678"/>
      </p:ext>
    </p:extLst>
  </p:cSld>
</p:sld>
</file>

<file path=ppt/slides/slide12.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D56848C8-8FA9-41B6-A0D3-416969CBC12D}"/>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Break">
            <a:extLst xmlns:a="http://schemas.openxmlformats.org/drawingml/2006/main">
              <a:ext uri="{FF2B5EF4-FFF2-40B4-BE49-F238E27FC236}">
                <a16:creationId xmlns:a16="http://schemas.microsoft.com/office/drawing/2014/main" id="{2C7DB848-75B3-4897-934B-95B03E9C2B51}"/>
              </a:ext>
            </a:extLst>
          </p:cNvPr>
          <p:cNvSpPr>
            <a:spLocks xmlns:a="http://schemas.openxmlformats.org/drawingml/2006/main" noGrp="1"/>
          </p:cNvSpPr>
          <p:nvPr/>
        </p:nvSpPr>
        <p:spPr>
          <a:xfrm xmlns:a="http://schemas.openxmlformats.org/drawingml/2006/main">
            <a:off x="495300" y="962025"/>
            <a:ext cx="714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950" b="0">
                <a:solidFill>
                  <a:srgbClr val="173E35"/>
                </a:solidFill>
                <a:latin typeface="Georgia"/>
                <a:ea typeface="Georgia"/>
                <a:cs typeface="Georgia"/>
              </a:defRPr>
            </a:pPr>
            <a:r>
              <a:rPr sz="7950" b="0">
                <a:solidFill>
                  <a:srgbClr val="173E35"/>
                </a:solidFill>
                <a:latin typeface="Georgia"/>
                <a:ea typeface="Georgia"/>
                <a:cs typeface="Georgia"/>
              </a:rPr>
              <a:t>Break</a:t>
            </a:r>
          </a:p>
        </p:txBody>
      </p:sp>
      <p:sp>
        <p:nvSpPr>
          <p:cNvPr id="3" name="Editorial frame">
            <a:extLst xmlns:a="http://schemas.openxmlformats.org/drawingml/2006/main">
              <a:ext uri="{FF2B5EF4-FFF2-40B4-BE49-F238E27FC236}">
                <a16:creationId xmlns:a16="http://schemas.microsoft.com/office/drawing/2014/main" id="{F99994C8-69F6-435B-9454-6E741B12D54A}"/>
              </a:ext>
            </a:extLst>
          </p:cNvPr>
          <p:cNvSpPr>
            <a:spLocks xmlns:a="http://schemas.openxmlformats.org/drawingml/2006/main" noGrp="1"/>
          </p:cNvSpPr>
          <p:nvPr/>
        </p:nvSpPr>
        <p:spPr>
          <a:xfrm xmlns:a="http://schemas.openxmlformats.org/drawingml/2006/main">
            <a:off x="495300" y="2819400"/>
            <a:ext cx="1714500" cy="952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4" name="Second half — Life Cycle Assessment and Ecodesign">
            <a:extLst xmlns:a="http://schemas.openxmlformats.org/drawingml/2006/main">
              <a:ext uri="{FF2B5EF4-FFF2-40B4-BE49-F238E27FC236}">
                <a16:creationId xmlns:a16="http://schemas.microsoft.com/office/drawing/2014/main" id="{C35FEFAD-B4E7-4D05-A5AE-F4F333158417}"/>
              </a:ext>
            </a:extLst>
          </p:cNvPr>
          <p:cNvSpPr>
            <a:spLocks xmlns:a="http://schemas.openxmlformats.org/drawingml/2006/main" noGrp="1"/>
          </p:cNvSpPr>
          <p:nvPr/>
        </p:nvSpPr>
        <p:spPr>
          <a:xfrm xmlns:a="http://schemas.openxmlformats.org/drawingml/2006/main">
            <a:off x="523875" y="3228975"/>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Second half — Life Cycle Assessment and Ecodesign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1850f3ca3e24b3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A015EF7C-5DF5-4BD7-8E54-3D6729504E7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2">
            <a:extLst xmlns:a="http://schemas.openxmlformats.org/drawingml/2006/main">
              <a:ext uri="{FF2B5EF4-FFF2-40B4-BE49-F238E27FC236}">
                <a16:creationId xmlns:a16="http://schemas.microsoft.com/office/drawing/2014/main" id="{B073E065-9535-4C6D-BA1E-34A654BF6ED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12</a:t>
            </a:r>
          </a:p>
        </p:txBody>
      </p:sp>
    </p:spTree>
    <p:extLst>
      <p:ext uri="{BB962C8B-B14F-4D97-AF65-F5344CB8AC3E}">
        <p14:creationId xmlns:p14="http://schemas.microsoft.com/office/powerpoint/2010/main" val="1815462352"/>
      </p:ext>
    </p:extLst>
  </p:cSld>
</p:sld>
</file>

<file path=ppt/slides/slide13.xml><?xml version="1.0" encoding="utf-8"?>
<p:sld xmlns:p="http://schemas.openxmlformats.org/presentationml/2006/main">
  <p:cSld>
    <p:bg>
      <p:bgPr>
        <a:solidFill xmlns:a="http://schemas.openxmlformats.org/drawingml/2006/main">
          <a:srgbClr val="203C4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C90FDA94-7763-4F3F-A7FE-B60021A7DFBA}"/>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4">
            <a:extLst xmlns:a="http://schemas.openxmlformats.org/drawingml/2006/main">
              <a:ext uri="{FF2B5EF4-FFF2-40B4-BE49-F238E27FC236}">
                <a16:creationId xmlns:a16="http://schemas.microsoft.com/office/drawing/2014/main" id="{735CE1EB-F249-4D02-A5F3-89B780651A8B}"/>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4</a:t>
            </a:r>
          </a:p>
        </p:txBody>
      </p:sp>
      <p:sp>
        <p:nvSpPr>
          <p:cNvPr id="3" name="04">
            <a:extLst xmlns:a="http://schemas.openxmlformats.org/drawingml/2006/main">
              <a:ext uri="{FF2B5EF4-FFF2-40B4-BE49-F238E27FC236}">
                <a16:creationId xmlns:a16="http://schemas.microsoft.com/office/drawing/2014/main" id="{12752619-21D2-4C26-BA8D-D994FD38C7F0}"/>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04</a:t>
            </a:r>
          </a:p>
        </p:txBody>
      </p:sp>
      <p:sp>
        <p:nvSpPr>
          <p:cNvPr id="4" name="Life Cycle Assessment">
            <a:extLst xmlns:a="http://schemas.openxmlformats.org/drawingml/2006/main">
              <a:ext uri="{FF2B5EF4-FFF2-40B4-BE49-F238E27FC236}">
                <a16:creationId xmlns:a16="http://schemas.microsoft.com/office/drawing/2014/main" id="{F40E5DC1-1AD6-484A-9F4D-65ECA9899DC6}"/>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Life Cycle Assessment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a313624e32404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A5125867-CE05-4EF7-8C66-66ACC2A7B67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3">
            <a:extLst xmlns:a="http://schemas.openxmlformats.org/drawingml/2006/main">
              <a:ext uri="{FF2B5EF4-FFF2-40B4-BE49-F238E27FC236}">
                <a16:creationId xmlns:a16="http://schemas.microsoft.com/office/drawing/2014/main" id="{AB8066C0-DCBB-441C-8104-AFBFCD9610F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13</a:t>
            </a:r>
          </a:p>
        </p:txBody>
      </p:sp>
    </p:spTree>
    <p:extLst>
      <p:ext uri="{BB962C8B-B14F-4D97-AF65-F5344CB8AC3E}">
        <p14:creationId xmlns:p14="http://schemas.microsoft.com/office/powerpoint/2010/main" val="814178837"/>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What is LCA?">
            <a:extLst xmlns:a="http://schemas.openxmlformats.org/drawingml/2006/main">
              <a:ext uri="{FF2B5EF4-FFF2-40B4-BE49-F238E27FC236}">
                <a16:creationId xmlns:a16="http://schemas.microsoft.com/office/drawing/2014/main" id="{E4C67B76-FDFB-49AC-8883-8D52BE13089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What is LCA?</a:t>
            </a:r>
          </a:p>
        </p:txBody>
      </p:sp>
      <p:sp>
        <p:nvSpPr>
          <p:cNvPr id="2" name="Editorial frame">
            <a:extLst xmlns:a="http://schemas.openxmlformats.org/drawingml/2006/main">
              <a:ext uri="{FF2B5EF4-FFF2-40B4-BE49-F238E27FC236}">
                <a16:creationId xmlns:a16="http://schemas.microsoft.com/office/drawing/2014/main" id="{CE1FB7E8-346A-4BF7-A671-5EDA9864152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41D151D-95D3-4BFB-8CAC-83DEA1122DB7}"/>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64216EB7-ECE0-4E62-BC29-F3A6F8F27E69}"/>
              </a:ext>
            </a:extLst>
          </p:cNvPr>
          <p:cNvSpPr>
            <a:spLocks xmlns:a="http://schemas.openxmlformats.org/drawingml/2006/main" noGrp="1"/>
          </p:cNvSpPr>
          <p:nvPr/>
        </p:nvSpPr>
        <p:spPr>
          <a:xfrm xmlns:a="http://schemas.openxmlformats.org/drawingml/2006/main">
            <a:off x="361950" y="1419225"/>
            <a:ext cx="8420100" cy="3267075"/>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Definition">
            <a:extLst xmlns:a="http://schemas.openxmlformats.org/drawingml/2006/main">
              <a:ext uri="{FF2B5EF4-FFF2-40B4-BE49-F238E27FC236}">
                <a16:creationId xmlns:a16="http://schemas.microsoft.com/office/drawing/2014/main" id="{B95510A4-5F48-4C2C-9F49-6A11882490E4}"/>
              </a:ext>
            </a:extLst>
          </p:cNvPr>
          <p:cNvSpPr>
            <a:spLocks xmlns:a="http://schemas.openxmlformats.org/drawingml/2006/main" noGrp="1"/>
          </p:cNvSpPr>
          <p:nvPr/>
        </p:nvSpPr>
        <p:spPr>
          <a:xfrm xmlns:a="http://schemas.openxmlformats.org/drawingml/2006/main">
            <a:off x="552450" y="1619250"/>
            <a:ext cx="793432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Definition</a:t>
            </a:r>
          </a:p>
        </p:txBody>
      </p:sp>
      <p:sp>
        <p:nvSpPr>
          <p:cNvPr id="6" name="A standardized method (ISO 14040/14044) for quanti">
            <a:extLst xmlns:a="http://schemas.openxmlformats.org/drawingml/2006/main">
              <a:ext uri="{FF2B5EF4-FFF2-40B4-BE49-F238E27FC236}">
                <a16:creationId xmlns:a16="http://schemas.microsoft.com/office/drawing/2014/main" id="{1C8645F0-7D22-4ACF-B99D-58183A245221}"/>
              </a:ext>
            </a:extLst>
          </p:cNvPr>
          <p:cNvSpPr>
            <a:spLocks xmlns:a="http://schemas.openxmlformats.org/drawingml/2006/main" noGrp="1"/>
          </p:cNvSpPr>
          <p:nvPr/>
        </p:nvSpPr>
        <p:spPr>
          <a:xfrm xmlns:a="http://schemas.openxmlformats.org/drawingml/2006/main">
            <a:off x="552450" y="2082165"/>
            <a:ext cx="79343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A standardized method (ISO 14040/14044) for quantifying the</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environmental impacts of a product or service across its whole life: raw</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materials, production, transport, use and end of life.</a:t>
            </a:r>
          </a:p>
        </p:txBody>
      </p:sp>
      <p:sp>
        <p:nvSpPr>
          <p:cNvPr id="7" name="Why 'cradle to grave' matters">
            <a:extLst xmlns:a="http://schemas.openxmlformats.org/drawingml/2006/main">
              <a:ext uri="{FF2B5EF4-FFF2-40B4-BE49-F238E27FC236}">
                <a16:creationId xmlns:a16="http://schemas.microsoft.com/office/drawing/2014/main" id="{66D7DCAD-FB38-4618-96D0-27BE190F4F3E}"/>
              </a:ext>
            </a:extLst>
          </p:cNvPr>
          <p:cNvSpPr>
            <a:spLocks xmlns:a="http://schemas.openxmlformats.org/drawingml/2006/main" noGrp="1"/>
          </p:cNvSpPr>
          <p:nvPr/>
        </p:nvSpPr>
        <p:spPr>
          <a:xfrm xmlns:a="http://schemas.openxmlformats.org/drawingml/2006/main">
            <a:off x="552450" y="3063240"/>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Why 'cradle to grave' matters</a:t>
            </a:r>
          </a:p>
        </p:txBody>
      </p:sp>
      <p:sp>
        <p:nvSpPr>
          <p:cNvPr id="8" name="The dominant stage depends on the product, energy ">
            <a:extLst xmlns:a="http://schemas.openxmlformats.org/drawingml/2006/main">
              <a:ext uri="{FF2B5EF4-FFF2-40B4-BE49-F238E27FC236}">
                <a16:creationId xmlns:a16="http://schemas.microsoft.com/office/drawing/2014/main" id="{69A2C0FA-6A93-43B1-B8D4-B61A40466B1D}"/>
              </a:ext>
            </a:extLst>
          </p:cNvPr>
          <p:cNvSpPr>
            <a:spLocks xmlns:a="http://schemas.openxmlformats.org/drawingml/2006/main" noGrp="1"/>
          </p:cNvSpPr>
          <p:nvPr/>
        </p:nvSpPr>
        <p:spPr>
          <a:xfrm xmlns:a="http://schemas.openxmlformats.org/drawingml/2006/main">
            <a:off x="552450" y="3472815"/>
            <a:ext cx="79343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The dominant stage depends on the product, energy mix, lifetime and</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use. LCA helps managers check whether an improvement in one stage</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shifts impacts to another.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9319d3cbf28471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0" name="www.newton.university">
            <a:extLst xmlns:a="http://schemas.openxmlformats.org/drawingml/2006/main">
              <a:ext uri="{FF2B5EF4-FFF2-40B4-BE49-F238E27FC236}">
                <a16:creationId xmlns:a16="http://schemas.microsoft.com/office/drawing/2014/main" id="{AA24AF6C-8DBC-4D98-91E8-9CA9E10160F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1" name="14">
            <a:extLst xmlns:a="http://schemas.openxmlformats.org/drawingml/2006/main">
              <a:ext uri="{FF2B5EF4-FFF2-40B4-BE49-F238E27FC236}">
                <a16:creationId xmlns:a16="http://schemas.microsoft.com/office/drawing/2014/main" id="{090F5994-47EF-4037-AE46-870FB97A3EE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14</a:t>
            </a:r>
          </a:p>
        </p:txBody>
      </p:sp>
    </p:spTree>
    <p:extLst>
      <p:ext uri="{BB962C8B-B14F-4D97-AF65-F5344CB8AC3E}">
        <p14:creationId xmlns:p14="http://schemas.microsoft.com/office/powerpoint/2010/main" val="927078359"/>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The Four Phases of LCA">
            <a:extLst xmlns:a="http://schemas.openxmlformats.org/drawingml/2006/main">
              <a:ext uri="{FF2B5EF4-FFF2-40B4-BE49-F238E27FC236}">
                <a16:creationId xmlns:a16="http://schemas.microsoft.com/office/drawing/2014/main" id="{B14D1E48-A560-4B88-A719-3204C3B8E2C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Four Phases of LCA</a:t>
            </a:r>
          </a:p>
        </p:txBody>
      </p:sp>
      <p:sp>
        <p:nvSpPr>
          <p:cNvPr id="2" name="Editorial frame">
            <a:extLst xmlns:a="http://schemas.openxmlformats.org/drawingml/2006/main">
              <a:ext uri="{FF2B5EF4-FFF2-40B4-BE49-F238E27FC236}">
                <a16:creationId xmlns:a16="http://schemas.microsoft.com/office/drawing/2014/main" id="{4FA07A81-BC55-465E-AE33-C90C3FF5A2F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E8675EE8-25D5-4916-8312-A07D273709C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6B029D02-3C42-46FC-A63B-481027F8E019}"/>
              </a:ext>
            </a:extLst>
          </p:cNvPr>
          <p:cNvSpPr>
            <a:spLocks xmlns:a="http://schemas.openxmlformats.org/drawingml/2006/main" noGrp="1"/>
          </p:cNvSpPr>
          <p:nvPr/>
        </p:nvSpPr>
        <p:spPr>
          <a:xfrm xmlns:a="http://schemas.openxmlformats.org/drawingml/2006/main">
            <a:off x="361950" y="1438275"/>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089E2B18-468A-4E37-9185-E6F48CE53C8D}"/>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1. Goal and scope">
            <a:extLst xmlns:a="http://schemas.openxmlformats.org/drawingml/2006/main">
              <a:ext uri="{FF2B5EF4-FFF2-40B4-BE49-F238E27FC236}">
                <a16:creationId xmlns:a16="http://schemas.microsoft.com/office/drawing/2014/main" id="{4B60601C-344A-426C-B405-CABC93E198B3}"/>
              </a:ext>
            </a:extLst>
          </p:cNvPr>
          <p:cNvSpPr>
            <a:spLocks xmlns:a="http://schemas.openxmlformats.org/drawingml/2006/main" noGrp="1"/>
          </p:cNvSpPr>
          <p:nvPr/>
        </p:nvSpPr>
        <p:spPr>
          <a:xfrm xmlns:a="http://schemas.openxmlformats.org/drawingml/2006/main">
            <a:off x="495300"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1. Goal and scope</a:t>
            </a:r>
          </a:p>
        </p:txBody>
      </p:sp>
      <p:sp>
        <p:nvSpPr>
          <p:cNvPr id="7" name="What is assessed, for what decision, with which sy">
            <a:extLst xmlns:a="http://schemas.openxmlformats.org/drawingml/2006/main">
              <a:ext uri="{FF2B5EF4-FFF2-40B4-BE49-F238E27FC236}">
                <a16:creationId xmlns:a16="http://schemas.microsoft.com/office/drawing/2014/main" id="{BA76E6DD-00DB-4CD3-9D72-E572A0DC8E14}"/>
              </a:ext>
            </a:extLst>
          </p:cNvPr>
          <p:cNvSpPr>
            <a:spLocks xmlns:a="http://schemas.openxmlformats.org/drawingml/2006/main" noGrp="1"/>
          </p:cNvSpPr>
          <p:nvPr/>
        </p:nvSpPr>
        <p:spPr>
          <a:xfrm xmlns:a="http://schemas.openxmlformats.org/drawingml/2006/main">
            <a:off x="495300" y="2047875"/>
            <a:ext cx="39719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What is assessed, for what decision, with</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which system boundaries?</a:t>
            </a:r>
          </a:p>
        </p:txBody>
      </p:sp>
      <p:sp>
        <p:nvSpPr>
          <p:cNvPr id="8" name="Editorial frame">
            <a:extLst xmlns:a="http://schemas.openxmlformats.org/drawingml/2006/main">
              <a:ext uri="{FF2B5EF4-FFF2-40B4-BE49-F238E27FC236}">
                <a16:creationId xmlns:a16="http://schemas.microsoft.com/office/drawing/2014/main" id="{33D9F0F0-A510-48AD-A93B-5920A01057B0}"/>
              </a:ext>
            </a:extLst>
          </p:cNvPr>
          <p:cNvSpPr>
            <a:spLocks xmlns:a="http://schemas.openxmlformats.org/drawingml/2006/main" noGrp="1"/>
          </p:cNvSpPr>
          <p:nvPr/>
        </p:nvSpPr>
        <p:spPr>
          <a:xfrm xmlns:a="http://schemas.openxmlformats.org/drawingml/2006/main">
            <a:off x="4543425" y="1438275"/>
            <a:ext cx="4238625" cy="1662113"/>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F8D567F6-4003-4FD7-A2FB-37962087103B}"/>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2. Inventory analysis (LCI)">
            <a:extLst xmlns:a="http://schemas.openxmlformats.org/drawingml/2006/main">
              <a:ext uri="{FF2B5EF4-FFF2-40B4-BE49-F238E27FC236}">
                <a16:creationId xmlns:a16="http://schemas.microsoft.com/office/drawing/2014/main" id="{68212A86-C827-4DD9-B945-709C99DFEF39}"/>
              </a:ext>
            </a:extLst>
          </p:cNvPr>
          <p:cNvSpPr>
            <a:spLocks xmlns:a="http://schemas.openxmlformats.org/drawingml/2006/main" noGrp="1"/>
          </p:cNvSpPr>
          <p:nvPr/>
        </p:nvSpPr>
        <p:spPr>
          <a:xfrm xmlns:a="http://schemas.openxmlformats.org/drawingml/2006/main">
            <a:off x="4676775"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2. Inventory analysis (LCI)</a:t>
            </a:r>
          </a:p>
        </p:txBody>
      </p:sp>
      <p:sp>
        <p:nvSpPr>
          <p:cNvPr id="11" name="Collect inputs and outputs: energy, materials, emi">
            <a:extLst xmlns:a="http://schemas.openxmlformats.org/drawingml/2006/main">
              <a:ext uri="{FF2B5EF4-FFF2-40B4-BE49-F238E27FC236}">
                <a16:creationId xmlns:a16="http://schemas.microsoft.com/office/drawing/2014/main" id="{CF5D57A7-1905-4087-84B3-FDFA951C70CA}"/>
              </a:ext>
            </a:extLst>
          </p:cNvPr>
          <p:cNvSpPr>
            <a:spLocks xmlns:a="http://schemas.openxmlformats.org/drawingml/2006/main" noGrp="1"/>
          </p:cNvSpPr>
          <p:nvPr/>
        </p:nvSpPr>
        <p:spPr>
          <a:xfrm xmlns:a="http://schemas.openxmlformats.org/drawingml/2006/main">
            <a:off x="4676775" y="2047875"/>
            <a:ext cx="39719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Collect inputs and outputs: energy,</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materials, emissions, waste.</a:t>
            </a:r>
          </a:p>
        </p:txBody>
      </p:sp>
      <p:sp>
        <p:nvSpPr>
          <p:cNvPr id="12" name="Editorial frame">
            <a:extLst xmlns:a="http://schemas.openxmlformats.org/drawingml/2006/main">
              <a:ext uri="{FF2B5EF4-FFF2-40B4-BE49-F238E27FC236}">
                <a16:creationId xmlns:a16="http://schemas.microsoft.com/office/drawing/2014/main" id="{62721D1E-8D6A-4379-B04E-E4934DD6190A}"/>
              </a:ext>
            </a:extLst>
          </p:cNvPr>
          <p:cNvSpPr>
            <a:spLocks xmlns:a="http://schemas.openxmlformats.org/drawingml/2006/main" noGrp="1"/>
          </p:cNvSpPr>
          <p:nvPr/>
        </p:nvSpPr>
        <p:spPr>
          <a:xfrm xmlns:a="http://schemas.openxmlformats.org/drawingml/2006/main">
            <a:off x="361950" y="3081338"/>
            <a:ext cx="4238625" cy="1662113"/>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3" name="Editorial frame">
            <a:extLst xmlns:a="http://schemas.openxmlformats.org/drawingml/2006/main">
              <a:ext uri="{FF2B5EF4-FFF2-40B4-BE49-F238E27FC236}">
                <a16:creationId xmlns:a16="http://schemas.microsoft.com/office/drawing/2014/main" id="{4F61B0E9-4B55-4159-BAAE-CF2674058221}"/>
              </a:ext>
            </a:extLst>
          </p:cNvPr>
          <p:cNvSpPr>
            <a:spLocks xmlns:a="http://schemas.openxmlformats.org/drawingml/2006/main" noGrp="1"/>
          </p:cNvSpPr>
          <p:nvPr/>
        </p:nvSpPr>
        <p:spPr>
          <a:xfrm xmlns:a="http://schemas.openxmlformats.org/drawingml/2006/main">
            <a:off x="361950" y="3081338"/>
            <a:ext cx="4238625"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4" name="3. Impact assessment (LCIA)">
            <a:extLst xmlns:a="http://schemas.openxmlformats.org/drawingml/2006/main">
              <a:ext uri="{FF2B5EF4-FFF2-40B4-BE49-F238E27FC236}">
                <a16:creationId xmlns:a16="http://schemas.microsoft.com/office/drawing/2014/main" id="{95793FA3-3254-41D2-AE23-002B99ECFCDA}"/>
              </a:ext>
            </a:extLst>
          </p:cNvPr>
          <p:cNvSpPr>
            <a:spLocks xmlns:a="http://schemas.openxmlformats.org/drawingml/2006/main" noGrp="1"/>
          </p:cNvSpPr>
          <p:nvPr/>
        </p:nvSpPr>
        <p:spPr>
          <a:xfrm xmlns:a="http://schemas.openxmlformats.org/drawingml/2006/main">
            <a:off x="495300" y="3262313"/>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3. Impact assessment (LCIA)</a:t>
            </a:r>
          </a:p>
        </p:txBody>
      </p:sp>
      <p:sp>
        <p:nvSpPr>
          <p:cNvPr id="15" name="Translate the inventory into impacts: climate, wat">
            <a:extLst xmlns:a="http://schemas.openxmlformats.org/drawingml/2006/main">
              <a:ext uri="{FF2B5EF4-FFF2-40B4-BE49-F238E27FC236}">
                <a16:creationId xmlns:a16="http://schemas.microsoft.com/office/drawing/2014/main" id="{4C2E5FF8-C566-4E30-A290-E00D409BF00D}"/>
              </a:ext>
            </a:extLst>
          </p:cNvPr>
          <p:cNvSpPr>
            <a:spLocks xmlns:a="http://schemas.openxmlformats.org/drawingml/2006/main" noGrp="1"/>
          </p:cNvSpPr>
          <p:nvPr/>
        </p:nvSpPr>
        <p:spPr>
          <a:xfrm xmlns:a="http://schemas.openxmlformats.org/drawingml/2006/main">
            <a:off x="495300" y="3690938"/>
            <a:ext cx="39719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Translate the inventory into impacts: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climate, water, toxicity, land use.</a:t>
            </a:r>
          </a:p>
        </p:txBody>
      </p:sp>
      <p:sp>
        <p:nvSpPr>
          <p:cNvPr id="16" name="Editorial frame">
            <a:extLst xmlns:a="http://schemas.openxmlformats.org/drawingml/2006/main">
              <a:ext uri="{FF2B5EF4-FFF2-40B4-BE49-F238E27FC236}">
                <a16:creationId xmlns:a16="http://schemas.microsoft.com/office/drawing/2014/main" id="{3D1F3CA6-00E9-4B60-A932-5668AAD3358C}"/>
              </a:ext>
            </a:extLst>
          </p:cNvPr>
          <p:cNvSpPr>
            <a:spLocks xmlns:a="http://schemas.openxmlformats.org/drawingml/2006/main" noGrp="1"/>
          </p:cNvSpPr>
          <p:nvPr/>
        </p:nvSpPr>
        <p:spPr>
          <a:xfrm xmlns:a="http://schemas.openxmlformats.org/drawingml/2006/main">
            <a:off x="4543425" y="3081338"/>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17" name="Editorial frame">
            <a:extLst xmlns:a="http://schemas.openxmlformats.org/drawingml/2006/main">
              <a:ext uri="{FF2B5EF4-FFF2-40B4-BE49-F238E27FC236}">
                <a16:creationId xmlns:a16="http://schemas.microsoft.com/office/drawing/2014/main" id="{E925DAD8-423C-4473-9913-15CCDF75E467}"/>
              </a:ext>
            </a:extLst>
          </p:cNvPr>
          <p:cNvSpPr>
            <a:spLocks xmlns:a="http://schemas.openxmlformats.org/drawingml/2006/main" noGrp="1"/>
          </p:cNvSpPr>
          <p:nvPr/>
        </p:nvSpPr>
        <p:spPr>
          <a:xfrm xmlns:a="http://schemas.openxmlformats.org/drawingml/2006/main">
            <a:off x="4543425" y="3081338"/>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18" name="4. Interpretation">
            <a:extLst xmlns:a="http://schemas.openxmlformats.org/drawingml/2006/main">
              <a:ext uri="{FF2B5EF4-FFF2-40B4-BE49-F238E27FC236}">
                <a16:creationId xmlns:a16="http://schemas.microsoft.com/office/drawing/2014/main" id="{CCDD08A4-57A1-400F-AEF0-3BCDA8D601F5}"/>
              </a:ext>
            </a:extLst>
          </p:cNvPr>
          <p:cNvSpPr>
            <a:spLocks xmlns:a="http://schemas.openxmlformats.org/drawingml/2006/main" noGrp="1"/>
          </p:cNvSpPr>
          <p:nvPr/>
        </p:nvSpPr>
        <p:spPr>
          <a:xfrm xmlns:a="http://schemas.openxmlformats.org/drawingml/2006/main">
            <a:off x="4676775" y="3262313"/>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4. Interpretation</a:t>
            </a:r>
          </a:p>
        </p:txBody>
      </p:sp>
      <p:sp>
        <p:nvSpPr>
          <p:cNvPr id="19" name="Draw conclusions, test sensitivity, make recommend">
            <a:extLst xmlns:a="http://schemas.openxmlformats.org/drawingml/2006/main">
              <a:ext uri="{FF2B5EF4-FFF2-40B4-BE49-F238E27FC236}">
                <a16:creationId xmlns:a16="http://schemas.microsoft.com/office/drawing/2014/main" id="{2CE15211-FFF6-4FFC-87DB-121D1E276516}"/>
              </a:ext>
            </a:extLst>
          </p:cNvPr>
          <p:cNvSpPr>
            <a:spLocks xmlns:a="http://schemas.openxmlformats.org/drawingml/2006/main" noGrp="1"/>
          </p:cNvSpPr>
          <p:nvPr/>
        </p:nvSpPr>
        <p:spPr>
          <a:xfrm xmlns:a="http://schemas.openxmlformats.org/drawingml/2006/main">
            <a:off x="4676775" y="3690938"/>
            <a:ext cx="39719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Draw conclusions, test sensitivity, make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recommendations.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e861c4692124c7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1" name="www.newton.university">
            <a:extLst xmlns:a="http://schemas.openxmlformats.org/drawingml/2006/main">
              <a:ext uri="{FF2B5EF4-FFF2-40B4-BE49-F238E27FC236}">
                <a16:creationId xmlns:a16="http://schemas.microsoft.com/office/drawing/2014/main" id="{0E617FBE-7ED8-4B2F-9708-612B1F120F2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2" name="15">
            <a:extLst xmlns:a="http://schemas.openxmlformats.org/drawingml/2006/main">
              <a:ext uri="{FF2B5EF4-FFF2-40B4-BE49-F238E27FC236}">
                <a16:creationId xmlns:a16="http://schemas.microsoft.com/office/drawing/2014/main" id="{97121E00-A8FA-4BF7-BB6E-3446D28F45B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15</a:t>
            </a:r>
          </a:p>
        </p:txBody>
      </p:sp>
    </p:spTree>
    <p:extLst>
      <p:ext uri="{BB962C8B-B14F-4D97-AF65-F5344CB8AC3E}">
        <p14:creationId xmlns:p14="http://schemas.microsoft.com/office/powerpoint/2010/main" val="1260373771"/>
      </p:ext>
    </p:extLst>
  </p:cSld>
</p:sld>
</file>

<file path=ppt/slides/slide1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The Functional Unit">
            <a:extLst xmlns:a="http://schemas.openxmlformats.org/drawingml/2006/main">
              <a:ext uri="{FF2B5EF4-FFF2-40B4-BE49-F238E27FC236}">
                <a16:creationId xmlns:a16="http://schemas.microsoft.com/office/drawing/2014/main" id="{CE7C4F7E-29E2-411C-A767-667FE48F857E}"/>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Functional Unit</a:t>
            </a:r>
          </a:p>
        </p:txBody>
      </p:sp>
      <p:sp>
        <p:nvSpPr>
          <p:cNvPr id="2" name="Editorial frame">
            <a:extLst xmlns:a="http://schemas.openxmlformats.org/drawingml/2006/main">
              <a:ext uri="{FF2B5EF4-FFF2-40B4-BE49-F238E27FC236}">
                <a16:creationId xmlns:a16="http://schemas.microsoft.com/office/drawing/2014/main" id="{618E9931-6C3B-453C-9DED-E5D71C329A77}"/>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5D7D4129-F4E2-469E-A371-EF91A4AFDC8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E6E282A7-BAC7-4B7E-B0A0-F999A7C01DFE}"/>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A1BAE50E-AF60-4002-ABF2-A7B6FD0317E1}"/>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The trick that makes comparisons fair">
            <a:extLst xmlns:a="http://schemas.openxmlformats.org/drawingml/2006/main">
              <a:ext uri="{FF2B5EF4-FFF2-40B4-BE49-F238E27FC236}">
                <a16:creationId xmlns:a16="http://schemas.microsoft.com/office/drawing/2014/main" id="{1313272D-8102-44DF-AA6A-FEE22DF98CC2}"/>
              </a:ext>
            </a:extLst>
          </p:cNvPr>
          <p:cNvSpPr>
            <a:spLocks xmlns:a="http://schemas.openxmlformats.org/drawingml/2006/main" noGrp="1"/>
          </p:cNvSpPr>
          <p:nvPr/>
        </p:nvSpPr>
        <p:spPr>
          <a:xfrm xmlns:a="http://schemas.openxmlformats.org/drawingml/2006/main">
            <a:off x="495300" y="1619250"/>
            <a:ext cx="3971925"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The trick that makes comparisons</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fair</a:t>
            </a:r>
          </a:p>
        </p:txBody>
      </p:sp>
      <p:sp>
        <p:nvSpPr>
          <p:cNvPr id="7" name="LCA compares function, not objects: '1 m² of roof ">
            <a:extLst xmlns:a="http://schemas.openxmlformats.org/drawingml/2006/main">
              <a:ext uri="{FF2B5EF4-FFF2-40B4-BE49-F238E27FC236}">
                <a16:creationId xmlns:a16="http://schemas.microsoft.com/office/drawing/2014/main" id="{29F4FEBB-C300-4602-9793-9A2FA9C3456F}"/>
              </a:ext>
            </a:extLst>
          </p:cNvPr>
          <p:cNvSpPr>
            <a:spLocks xmlns:a="http://schemas.openxmlformats.org/drawingml/2006/main" noGrp="1"/>
          </p:cNvSpPr>
          <p:nvPr/>
        </p:nvSpPr>
        <p:spPr>
          <a:xfrm xmlns:a="http://schemas.openxmlformats.org/drawingml/2006/main">
            <a:off x="495300" y="2379345"/>
            <a:ext cx="3971925"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LCA compares function, not objects: '1</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m² of roof kept waterproof for 50 years',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not 'one roof'.</a:t>
            </a:r>
          </a:p>
        </p:txBody>
      </p:sp>
      <p:sp>
        <p:nvSpPr>
          <p:cNvPr id="8" name="Editorial frame">
            <a:extLst xmlns:a="http://schemas.openxmlformats.org/drawingml/2006/main">
              <a:ext uri="{FF2B5EF4-FFF2-40B4-BE49-F238E27FC236}">
                <a16:creationId xmlns:a16="http://schemas.microsoft.com/office/drawing/2014/main" id="{D0C2E3AC-4533-4A72-A5EC-54C6ABD879C6}"/>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1375A26A-6731-4413-B040-82C6CC4571DC}"/>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Discussion">
            <a:extLst xmlns:a="http://schemas.openxmlformats.org/drawingml/2006/main">
              <a:ext uri="{FF2B5EF4-FFF2-40B4-BE49-F238E27FC236}">
                <a16:creationId xmlns:a16="http://schemas.microsoft.com/office/drawing/2014/main" id="{4D5FDEEC-D71D-435A-98DC-D85505B2A420}"/>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Discussion</a:t>
            </a:r>
          </a:p>
        </p:txBody>
      </p:sp>
      <p:sp>
        <p:nvSpPr>
          <p:cNvPr id="11" name="A ceramic mug vs a paper cup: what functional unit">
            <a:extLst xmlns:a="http://schemas.openxmlformats.org/drawingml/2006/main">
              <a:ext uri="{FF2B5EF4-FFF2-40B4-BE49-F238E27FC236}">
                <a16:creationId xmlns:a16="http://schemas.microsoft.com/office/drawing/2014/main" id="{1AEAD4DC-FE76-45E1-AAB6-EA588E00C8DB}"/>
              </a:ext>
            </a:extLst>
          </p:cNvPr>
          <p:cNvSpPr>
            <a:spLocks xmlns:a="http://schemas.openxmlformats.org/drawingml/2006/main" noGrp="1"/>
          </p:cNvSpPr>
          <p:nvPr/>
        </p:nvSpPr>
        <p:spPr>
          <a:xfrm xmlns:a="http://schemas.openxmlformats.org/drawingml/2006/main">
            <a:off x="4676775" y="2070735"/>
            <a:ext cx="3971925" cy="1080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 ceramic mug vs a paper cup: what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functional unit makes this comparison</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fair, and how many uses does the mug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need to win?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6ab9327225f4689"/>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9ABFFCAD-7FEC-4D26-BF34-C2DC021BF53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16">
            <a:extLst xmlns:a="http://schemas.openxmlformats.org/drawingml/2006/main">
              <a:ext uri="{FF2B5EF4-FFF2-40B4-BE49-F238E27FC236}">
                <a16:creationId xmlns:a16="http://schemas.microsoft.com/office/drawing/2014/main" id="{C4A2E8D6-D399-4647-A74A-6092DC1CA24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16</a:t>
            </a:r>
          </a:p>
        </p:txBody>
      </p:sp>
    </p:spTree>
    <p:extLst>
      <p:ext uri="{BB962C8B-B14F-4D97-AF65-F5344CB8AC3E}">
        <p14:creationId xmlns:p14="http://schemas.microsoft.com/office/powerpoint/2010/main" val="1190779891"/>
      </p:ext>
    </p:extLst>
  </p:cSld>
</p:sld>
</file>

<file path=ppt/slides/slide17.xml><?xml version="1.0" encoding="utf-8"?>
<p:sld xmlns:p="http://schemas.openxmlformats.org/presentationml/2006/main">
  <p:cSld>
    <p:bg>
      <p:bgPr>
        <a:solidFill xmlns:a="http://schemas.openxmlformats.org/drawingml/2006/main">
          <a:srgbClr val="F0E9D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DB6152B4-42DF-4F51-8557-7A1B34A9FA39}"/>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5">
            <a:extLst xmlns:a="http://schemas.openxmlformats.org/drawingml/2006/main">
              <a:ext uri="{FF2B5EF4-FFF2-40B4-BE49-F238E27FC236}">
                <a16:creationId xmlns:a16="http://schemas.microsoft.com/office/drawing/2014/main" id="{210C2C3E-6AFE-4627-A971-5AA861404308}"/>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5</a:t>
            </a:r>
          </a:p>
        </p:txBody>
      </p:sp>
      <p:sp>
        <p:nvSpPr>
          <p:cNvPr id="3" name="05">
            <a:extLst xmlns:a="http://schemas.openxmlformats.org/drawingml/2006/main">
              <a:ext uri="{FF2B5EF4-FFF2-40B4-BE49-F238E27FC236}">
                <a16:creationId xmlns:a16="http://schemas.microsoft.com/office/drawing/2014/main" id="{C75DC38B-57E5-4E08-82BD-FF3C7F9B4262}"/>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05</a:t>
            </a:r>
          </a:p>
        </p:txBody>
      </p:sp>
      <p:sp>
        <p:nvSpPr>
          <p:cNvPr id="4" name="Ecodesign">
            <a:extLst xmlns:a="http://schemas.openxmlformats.org/drawingml/2006/main">
              <a:ext uri="{FF2B5EF4-FFF2-40B4-BE49-F238E27FC236}">
                <a16:creationId xmlns:a16="http://schemas.microsoft.com/office/drawing/2014/main" id="{1F28F69E-E9B8-4D31-9E7C-E945BCB2DAB8}"/>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Ecodesign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bef7a091346454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1C39F8CA-C8C1-40DD-BE59-ADB0DB27F68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7">
            <a:extLst xmlns:a="http://schemas.openxmlformats.org/drawingml/2006/main">
              <a:ext uri="{FF2B5EF4-FFF2-40B4-BE49-F238E27FC236}">
                <a16:creationId xmlns:a16="http://schemas.microsoft.com/office/drawing/2014/main" id="{973FF360-C793-4C6B-B659-072BDF71CC4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17</a:t>
            </a:r>
          </a:p>
        </p:txBody>
      </p:sp>
    </p:spTree>
    <p:extLst>
      <p:ext uri="{BB962C8B-B14F-4D97-AF65-F5344CB8AC3E}">
        <p14:creationId xmlns:p14="http://schemas.microsoft.com/office/powerpoint/2010/main" val="926195573"/>
      </p:ext>
    </p:extLst>
  </p:cSld>
</p:sld>
</file>

<file path=ppt/slides/slide1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6" name="Ecodesign Principles">
            <a:extLst xmlns:a="http://schemas.openxmlformats.org/drawingml/2006/main">
              <a:ext uri="{FF2B5EF4-FFF2-40B4-BE49-F238E27FC236}">
                <a16:creationId xmlns:a16="http://schemas.microsoft.com/office/drawing/2014/main" id="{58933440-869F-4BCA-99B1-EFB2CD75E4C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Ecodesign Principles</a:t>
            </a:r>
          </a:p>
        </p:txBody>
      </p:sp>
      <p:sp>
        <p:nvSpPr>
          <p:cNvPr id="2" name="Editorial frame">
            <a:extLst xmlns:a="http://schemas.openxmlformats.org/drawingml/2006/main">
              <a:ext uri="{FF2B5EF4-FFF2-40B4-BE49-F238E27FC236}">
                <a16:creationId xmlns:a16="http://schemas.microsoft.com/office/drawing/2014/main" id="{608BD07D-56C2-4547-A303-D73A8987797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F0E972C-CC3B-40A8-AFF1-F619602C66E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Design choices shape impacts across the life cycle">
            <a:extLst xmlns:a="http://schemas.openxmlformats.org/drawingml/2006/main">
              <a:ext uri="{FF2B5EF4-FFF2-40B4-BE49-F238E27FC236}">
                <a16:creationId xmlns:a16="http://schemas.microsoft.com/office/drawing/2014/main" id="{BB5B35F0-A323-4F88-81EF-2B83C6917EF1}"/>
              </a:ext>
            </a:extLst>
          </p:cNvPr>
          <p:cNvSpPr>
            <a:spLocks xmlns:a="http://schemas.openxmlformats.org/drawingml/2006/main" noGrp="1"/>
          </p:cNvSpPr>
          <p:nvPr/>
        </p:nvSpPr>
        <p:spPr>
          <a:xfrm xmlns:a="http://schemas.openxmlformats.org/drawingml/2006/main">
            <a:off x="495300" y="1476375"/>
            <a:ext cx="80486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Design choices shape impacts across the life cycle:</a:t>
            </a:r>
          </a:p>
        </p:txBody>
      </p:sp>
      <p:sp>
        <p:nvSpPr>
          <p:cNvPr id="5" name="Editorial frame">
            <a:extLst xmlns:a="http://schemas.openxmlformats.org/drawingml/2006/main">
              <a:ext uri="{FF2B5EF4-FFF2-40B4-BE49-F238E27FC236}">
                <a16:creationId xmlns:a16="http://schemas.microsoft.com/office/drawing/2014/main" id="{20503FAF-647C-4D23-993D-06A1336660F2}"/>
              </a:ext>
            </a:extLst>
          </p:cNvPr>
          <p:cNvSpPr>
            <a:spLocks xmlns:a="http://schemas.openxmlformats.org/drawingml/2006/main" noGrp="1"/>
          </p:cNvSpPr>
          <p:nvPr/>
        </p:nvSpPr>
        <p:spPr>
          <a:xfrm xmlns:a="http://schemas.openxmlformats.org/drawingml/2006/main">
            <a:off x="361950" y="1946910"/>
            <a:ext cx="2844800" cy="2796540"/>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07CF55FE-6D3D-48C7-9BF5-0899794658DA}"/>
              </a:ext>
            </a:extLst>
          </p:cNvPr>
          <p:cNvSpPr>
            <a:spLocks xmlns:a="http://schemas.openxmlformats.org/drawingml/2006/main" noGrp="1"/>
          </p:cNvSpPr>
          <p:nvPr/>
        </p:nvSpPr>
        <p:spPr>
          <a:xfrm xmlns:a="http://schemas.openxmlformats.org/drawingml/2006/main">
            <a:off x="361950" y="1946910"/>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7" name="Materials">
            <a:extLst xmlns:a="http://schemas.openxmlformats.org/drawingml/2006/main">
              <a:ext uri="{FF2B5EF4-FFF2-40B4-BE49-F238E27FC236}">
                <a16:creationId xmlns:a16="http://schemas.microsoft.com/office/drawing/2014/main" id="{6F4E95A4-9365-4146-9EC0-4031A46F387B}"/>
              </a:ext>
            </a:extLst>
          </p:cNvPr>
          <p:cNvSpPr>
            <a:spLocks xmlns:a="http://schemas.openxmlformats.org/drawingml/2006/main" noGrp="1"/>
          </p:cNvSpPr>
          <p:nvPr/>
        </p:nvSpPr>
        <p:spPr>
          <a:xfrm xmlns:a="http://schemas.openxmlformats.org/drawingml/2006/main">
            <a:off x="49530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Materials</a:t>
            </a:r>
          </a:p>
        </p:txBody>
      </p:sp>
      <p:sp>
        <p:nvSpPr>
          <p:cNvPr id="8" name="Fewer, safer materials">
            <a:extLst xmlns:a="http://schemas.openxmlformats.org/drawingml/2006/main">
              <a:ext uri="{FF2B5EF4-FFF2-40B4-BE49-F238E27FC236}">
                <a16:creationId xmlns:a16="http://schemas.microsoft.com/office/drawing/2014/main" id="{4FA0BE13-C20A-4D38-9B2E-BCFE564EDBA3}"/>
              </a:ext>
            </a:extLst>
          </p:cNvPr>
          <p:cNvSpPr>
            <a:spLocks xmlns:a="http://schemas.openxmlformats.org/drawingml/2006/main" noGrp="1"/>
          </p:cNvSpPr>
          <p:nvPr/>
        </p:nvSpPr>
        <p:spPr>
          <a:xfrm xmlns:a="http://schemas.openxmlformats.org/drawingml/2006/main">
            <a:off x="495300" y="25793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Fewer, safer materials</a:t>
            </a:r>
          </a:p>
        </p:txBody>
      </p:sp>
      <p:sp>
        <p:nvSpPr>
          <p:cNvPr id="9" name="Recycled and renewable inputs">
            <a:extLst xmlns:a="http://schemas.openxmlformats.org/drawingml/2006/main">
              <a:ext uri="{FF2B5EF4-FFF2-40B4-BE49-F238E27FC236}">
                <a16:creationId xmlns:a16="http://schemas.microsoft.com/office/drawing/2014/main" id="{D9D42538-2F3A-40F5-85F5-252DA6A5E863}"/>
              </a:ext>
            </a:extLst>
          </p:cNvPr>
          <p:cNvSpPr>
            <a:spLocks xmlns:a="http://schemas.openxmlformats.org/drawingml/2006/main" noGrp="1"/>
          </p:cNvSpPr>
          <p:nvPr/>
        </p:nvSpPr>
        <p:spPr>
          <a:xfrm xmlns:a="http://schemas.openxmlformats.org/drawingml/2006/main">
            <a:off x="495300" y="296608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Recycled and renewable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inputs</a:t>
            </a:r>
          </a:p>
        </p:txBody>
      </p:sp>
      <p:sp>
        <p:nvSpPr>
          <p:cNvPr id="10" name="Design for disassembly">
            <a:extLst xmlns:a="http://schemas.openxmlformats.org/drawingml/2006/main">
              <a:ext uri="{FF2B5EF4-FFF2-40B4-BE49-F238E27FC236}">
                <a16:creationId xmlns:a16="http://schemas.microsoft.com/office/drawing/2014/main" id="{0B5941A0-6D13-4DCD-81B6-654FC73F030E}"/>
              </a:ext>
            </a:extLst>
          </p:cNvPr>
          <p:cNvSpPr>
            <a:spLocks xmlns:a="http://schemas.openxmlformats.org/drawingml/2006/main" noGrp="1"/>
          </p:cNvSpPr>
          <p:nvPr/>
        </p:nvSpPr>
        <p:spPr>
          <a:xfrm xmlns:a="http://schemas.openxmlformats.org/drawingml/2006/main">
            <a:off x="495300" y="361569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Design for disassembly</a:t>
            </a:r>
          </a:p>
        </p:txBody>
      </p:sp>
      <p:sp>
        <p:nvSpPr>
          <p:cNvPr id="11" name="Editorial frame">
            <a:extLst xmlns:a="http://schemas.openxmlformats.org/drawingml/2006/main">
              <a:ext uri="{FF2B5EF4-FFF2-40B4-BE49-F238E27FC236}">
                <a16:creationId xmlns:a16="http://schemas.microsoft.com/office/drawing/2014/main" id="{B837EF12-1655-4FFD-A2D8-4A37EE22A3E8}"/>
              </a:ext>
            </a:extLst>
          </p:cNvPr>
          <p:cNvSpPr>
            <a:spLocks xmlns:a="http://schemas.openxmlformats.org/drawingml/2006/main" noGrp="1"/>
          </p:cNvSpPr>
          <p:nvPr/>
        </p:nvSpPr>
        <p:spPr>
          <a:xfrm xmlns:a="http://schemas.openxmlformats.org/drawingml/2006/main">
            <a:off x="3149600" y="1946910"/>
            <a:ext cx="2844800" cy="2796540"/>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6E0CCE98-3AFB-4E35-B483-248B6D7E8989}"/>
              </a:ext>
            </a:extLst>
          </p:cNvPr>
          <p:cNvSpPr>
            <a:spLocks xmlns:a="http://schemas.openxmlformats.org/drawingml/2006/main" noGrp="1"/>
          </p:cNvSpPr>
          <p:nvPr/>
        </p:nvSpPr>
        <p:spPr>
          <a:xfrm xmlns:a="http://schemas.openxmlformats.org/drawingml/2006/main">
            <a:off x="3149600" y="1946910"/>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Use phase">
            <a:extLst xmlns:a="http://schemas.openxmlformats.org/drawingml/2006/main">
              <a:ext uri="{FF2B5EF4-FFF2-40B4-BE49-F238E27FC236}">
                <a16:creationId xmlns:a16="http://schemas.microsoft.com/office/drawing/2014/main" id="{CC33E1EF-AA57-4A35-A33A-83D05170B7D4}"/>
              </a:ext>
            </a:extLst>
          </p:cNvPr>
          <p:cNvSpPr>
            <a:spLocks xmlns:a="http://schemas.openxmlformats.org/drawingml/2006/main" noGrp="1"/>
          </p:cNvSpPr>
          <p:nvPr/>
        </p:nvSpPr>
        <p:spPr>
          <a:xfrm xmlns:a="http://schemas.openxmlformats.org/drawingml/2006/main">
            <a:off x="328295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Use phase</a:t>
            </a:r>
          </a:p>
        </p:txBody>
      </p:sp>
      <p:sp>
        <p:nvSpPr>
          <p:cNvPr id="14" name="Energy and water efficiency">
            <a:extLst xmlns:a="http://schemas.openxmlformats.org/drawingml/2006/main">
              <a:ext uri="{FF2B5EF4-FFF2-40B4-BE49-F238E27FC236}">
                <a16:creationId xmlns:a16="http://schemas.microsoft.com/office/drawing/2014/main" id="{E2F859EF-E85A-45AB-B778-06F92F73E3B2}"/>
              </a:ext>
            </a:extLst>
          </p:cNvPr>
          <p:cNvSpPr>
            <a:spLocks xmlns:a="http://schemas.openxmlformats.org/drawingml/2006/main" noGrp="1"/>
          </p:cNvSpPr>
          <p:nvPr/>
        </p:nvSpPr>
        <p:spPr>
          <a:xfrm xmlns:a="http://schemas.openxmlformats.org/drawingml/2006/main">
            <a:off x="3282950" y="257937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Energy and water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efficiency</a:t>
            </a:r>
          </a:p>
        </p:txBody>
      </p:sp>
      <p:sp>
        <p:nvSpPr>
          <p:cNvPr id="15" name="Durability and repairability">
            <a:extLst xmlns:a="http://schemas.openxmlformats.org/drawingml/2006/main">
              <a:ext uri="{FF2B5EF4-FFF2-40B4-BE49-F238E27FC236}">
                <a16:creationId xmlns:a16="http://schemas.microsoft.com/office/drawing/2014/main" id="{5AD437E9-C1AE-4D6D-832C-C6973C63211B}"/>
              </a:ext>
            </a:extLst>
          </p:cNvPr>
          <p:cNvSpPr>
            <a:spLocks xmlns:a="http://schemas.openxmlformats.org/drawingml/2006/main" noGrp="1"/>
          </p:cNvSpPr>
          <p:nvPr/>
        </p:nvSpPr>
        <p:spPr>
          <a:xfrm xmlns:a="http://schemas.openxmlformats.org/drawingml/2006/main">
            <a:off x="3282950" y="322897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Durability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repairability</a:t>
            </a:r>
          </a:p>
        </p:txBody>
      </p:sp>
      <p:sp>
        <p:nvSpPr>
          <p:cNvPr id="16" name="Upgradeable components">
            <a:extLst xmlns:a="http://schemas.openxmlformats.org/drawingml/2006/main">
              <a:ext uri="{FF2B5EF4-FFF2-40B4-BE49-F238E27FC236}">
                <a16:creationId xmlns:a16="http://schemas.microsoft.com/office/drawing/2014/main" id="{FD305E0D-18EB-4167-B337-37E2F10D4351}"/>
              </a:ext>
            </a:extLst>
          </p:cNvPr>
          <p:cNvSpPr>
            <a:spLocks xmlns:a="http://schemas.openxmlformats.org/drawingml/2006/main" noGrp="1"/>
          </p:cNvSpPr>
          <p:nvPr/>
        </p:nvSpPr>
        <p:spPr>
          <a:xfrm xmlns:a="http://schemas.openxmlformats.org/drawingml/2006/main">
            <a:off x="3282950" y="387858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Upgradeable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components</a:t>
            </a:r>
          </a:p>
        </p:txBody>
      </p:sp>
      <p:sp>
        <p:nvSpPr>
          <p:cNvPr id="17" name="Editorial frame">
            <a:extLst xmlns:a="http://schemas.openxmlformats.org/drawingml/2006/main">
              <a:ext uri="{FF2B5EF4-FFF2-40B4-BE49-F238E27FC236}">
                <a16:creationId xmlns:a16="http://schemas.microsoft.com/office/drawing/2014/main" id="{AC08ECEE-3857-4532-B0A4-63F2244C4A69}"/>
              </a:ext>
            </a:extLst>
          </p:cNvPr>
          <p:cNvSpPr>
            <a:spLocks xmlns:a="http://schemas.openxmlformats.org/drawingml/2006/main" noGrp="1"/>
          </p:cNvSpPr>
          <p:nvPr/>
        </p:nvSpPr>
        <p:spPr>
          <a:xfrm xmlns:a="http://schemas.openxmlformats.org/drawingml/2006/main">
            <a:off x="5937250" y="1946910"/>
            <a:ext cx="2844800" cy="2796540"/>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8" name="Editorial frame">
            <a:extLst xmlns:a="http://schemas.openxmlformats.org/drawingml/2006/main">
              <a:ext uri="{FF2B5EF4-FFF2-40B4-BE49-F238E27FC236}">
                <a16:creationId xmlns:a16="http://schemas.microsoft.com/office/drawing/2014/main" id="{5D5BBBC1-E49F-4052-8F77-79C9A01073C0}"/>
              </a:ext>
            </a:extLst>
          </p:cNvPr>
          <p:cNvSpPr>
            <a:spLocks xmlns:a="http://schemas.openxmlformats.org/drawingml/2006/main" noGrp="1"/>
          </p:cNvSpPr>
          <p:nvPr/>
        </p:nvSpPr>
        <p:spPr>
          <a:xfrm xmlns:a="http://schemas.openxmlformats.org/drawingml/2006/main">
            <a:off x="5937250" y="1946910"/>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9" name="End of life">
            <a:extLst xmlns:a="http://schemas.openxmlformats.org/drawingml/2006/main">
              <a:ext uri="{FF2B5EF4-FFF2-40B4-BE49-F238E27FC236}">
                <a16:creationId xmlns:a16="http://schemas.microsoft.com/office/drawing/2014/main" id="{8CC2F9C7-82A4-4EA5-AADB-791D4D84B834}"/>
              </a:ext>
            </a:extLst>
          </p:cNvPr>
          <p:cNvSpPr>
            <a:spLocks xmlns:a="http://schemas.openxmlformats.org/drawingml/2006/main" noGrp="1"/>
          </p:cNvSpPr>
          <p:nvPr/>
        </p:nvSpPr>
        <p:spPr>
          <a:xfrm xmlns:a="http://schemas.openxmlformats.org/drawingml/2006/main">
            <a:off x="607060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End of life</a:t>
            </a:r>
          </a:p>
        </p:txBody>
      </p:sp>
      <p:sp>
        <p:nvSpPr>
          <p:cNvPr id="20" name="Easy separation of parts">
            <a:extLst xmlns:a="http://schemas.openxmlformats.org/drawingml/2006/main">
              <a:ext uri="{FF2B5EF4-FFF2-40B4-BE49-F238E27FC236}">
                <a16:creationId xmlns:a16="http://schemas.microsoft.com/office/drawing/2014/main" id="{F0368298-15B5-4079-A030-7280D78FB3EE}"/>
              </a:ext>
            </a:extLst>
          </p:cNvPr>
          <p:cNvSpPr>
            <a:spLocks xmlns:a="http://schemas.openxmlformats.org/drawingml/2006/main" noGrp="1"/>
          </p:cNvSpPr>
          <p:nvPr/>
        </p:nvSpPr>
        <p:spPr>
          <a:xfrm xmlns:a="http://schemas.openxmlformats.org/drawingml/2006/main">
            <a:off x="6070600" y="25793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Easy separation of parts</a:t>
            </a:r>
          </a:p>
        </p:txBody>
      </p:sp>
      <p:sp>
        <p:nvSpPr>
          <p:cNvPr id="21" name="Standardized materials">
            <a:extLst xmlns:a="http://schemas.openxmlformats.org/drawingml/2006/main">
              <a:ext uri="{FF2B5EF4-FFF2-40B4-BE49-F238E27FC236}">
                <a16:creationId xmlns:a16="http://schemas.microsoft.com/office/drawing/2014/main" id="{18035471-2BA0-42C3-8E05-B999738D92D1}"/>
              </a:ext>
            </a:extLst>
          </p:cNvPr>
          <p:cNvSpPr>
            <a:spLocks xmlns:a="http://schemas.openxmlformats.org/drawingml/2006/main" noGrp="1"/>
          </p:cNvSpPr>
          <p:nvPr/>
        </p:nvSpPr>
        <p:spPr>
          <a:xfrm xmlns:a="http://schemas.openxmlformats.org/drawingml/2006/main">
            <a:off x="6070600" y="296608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Standardized materials</a:t>
            </a:r>
          </a:p>
        </p:txBody>
      </p:sp>
      <p:sp>
        <p:nvSpPr>
          <p:cNvPr id="22" name="Take-back systems">
            <a:extLst xmlns:a="http://schemas.openxmlformats.org/drawingml/2006/main">
              <a:ext uri="{FF2B5EF4-FFF2-40B4-BE49-F238E27FC236}">
                <a16:creationId xmlns:a16="http://schemas.microsoft.com/office/drawing/2014/main" id="{56F777DA-AB05-423A-B091-24473C41E26C}"/>
              </a:ext>
            </a:extLst>
          </p:cNvPr>
          <p:cNvSpPr>
            <a:spLocks xmlns:a="http://schemas.openxmlformats.org/drawingml/2006/main" noGrp="1"/>
          </p:cNvSpPr>
          <p:nvPr/>
        </p:nvSpPr>
        <p:spPr>
          <a:xfrm xmlns:a="http://schemas.openxmlformats.org/drawingml/2006/main">
            <a:off x="6070600" y="335280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Take-back systems</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595ad1e7287402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4" name="www.newton.university">
            <a:extLst xmlns:a="http://schemas.openxmlformats.org/drawingml/2006/main">
              <a:ext uri="{FF2B5EF4-FFF2-40B4-BE49-F238E27FC236}">
                <a16:creationId xmlns:a16="http://schemas.microsoft.com/office/drawing/2014/main" id="{83743044-8FCF-4DAE-99BC-EB583CADC5F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5" name="18">
            <a:extLst xmlns:a="http://schemas.openxmlformats.org/drawingml/2006/main">
              <a:ext uri="{FF2B5EF4-FFF2-40B4-BE49-F238E27FC236}">
                <a16:creationId xmlns:a16="http://schemas.microsoft.com/office/drawing/2014/main" id="{0BD69E33-5BB3-46DE-9266-3C89C0E198DE}"/>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18</a:t>
            </a:r>
          </a:p>
        </p:txBody>
      </p:sp>
    </p:spTree>
    <p:extLst>
      <p:ext uri="{BB962C8B-B14F-4D97-AF65-F5344CB8AC3E}">
        <p14:creationId xmlns:p14="http://schemas.microsoft.com/office/powerpoint/2010/main" val="339445195"/>
      </p:ext>
    </p:extLst>
  </p:cSld>
</p:sld>
</file>

<file path=ppt/slides/slide19.xml><?xml version="1.0" encoding="utf-8"?>
<p:sld xmlns:p="http://schemas.openxmlformats.org/presentationml/2006/main">
  <p:cSld>
    <p:bg>
      <p:bgPr>
        <a:solidFill xmlns:a="http://schemas.openxmlformats.org/drawingml/2006/main">
          <a:srgbClr val="173E3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4328A492-4E67-4954-AE3E-18F0F3DB0FEE}"/>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aef83b8af374f15"/>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6">
            <a:extLst xmlns:a="http://schemas.openxmlformats.org/drawingml/2006/main">
              <a:ext uri="{FF2B5EF4-FFF2-40B4-BE49-F238E27FC236}">
                <a16:creationId xmlns:a16="http://schemas.microsoft.com/office/drawing/2014/main" id="{035533F2-4335-443A-B225-216DBCE494E7}"/>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6</a:t>
            </a:r>
          </a:p>
        </p:txBody>
      </p:sp>
      <p:sp>
        <p:nvSpPr>
          <p:cNvPr id="4" name="Lifecycle Thinking for Buildings and Sites">
            <a:extLst xmlns:a="http://schemas.openxmlformats.org/drawingml/2006/main">
              <a:ext uri="{FF2B5EF4-FFF2-40B4-BE49-F238E27FC236}">
                <a16:creationId xmlns:a16="http://schemas.microsoft.com/office/drawing/2014/main" id="{FE5F44B0-6B89-40F5-8D35-4BC666963EB0}"/>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Lifecycle Thinking for</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Buildings and Sites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0f7759b22c4bd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00AAA14C-F37B-4321-8E50-78DBC3B3DB9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9">
            <a:extLst xmlns:a="http://schemas.openxmlformats.org/drawingml/2006/main">
              <a:ext uri="{FF2B5EF4-FFF2-40B4-BE49-F238E27FC236}">
                <a16:creationId xmlns:a16="http://schemas.microsoft.com/office/drawing/2014/main" id="{A86534F7-37AE-4787-9E28-1D4CA6191EEF}"/>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19</a:t>
            </a:r>
          </a:p>
        </p:txBody>
      </p:sp>
    </p:spTree>
    <p:extLst>
      <p:ext uri="{BB962C8B-B14F-4D97-AF65-F5344CB8AC3E}">
        <p14:creationId xmlns:p14="http://schemas.microsoft.com/office/powerpoint/2010/main" val="492365948"/>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Life-Cycle Thinking for Business Facilities">
            <a:extLst xmlns:a="http://schemas.openxmlformats.org/drawingml/2006/main">
              <a:ext uri="{FF2B5EF4-FFF2-40B4-BE49-F238E27FC236}">
                <a16:creationId xmlns:a16="http://schemas.microsoft.com/office/drawing/2014/main" id="{4A8286B6-5898-4286-8E4E-4CD2858DD4D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Life-Cycle Thinking for Business Facilities</a:t>
            </a:r>
          </a:p>
        </p:txBody>
      </p:sp>
      <p:sp>
        <p:nvSpPr>
          <p:cNvPr id="2" name="Editorial frame">
            <a:extLst xmlns:a="http://schemas.openxmlformats.org/drawingml/2006/main">
              <a:ext uri="{FF2B5EF4-FFF2-40B4-BE49-F238E27FC236}">
                <a16:creationId xmlns:a16="http://schemas.microsoft.com/office/drawing/2014/main" id="{D53ED816-AE10-48D7-BE33-AA7775F7A72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3F6A604-ACD0-4042-9EED-1232D08F546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4283BB86-A53A-4AAF-AE32-261540AA558A}"/>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Applications">
            <a:extLst xmlns:a="http://schemas.openxmlformats.org/drawingml/2006/main">
              <a:ext uri="{FF2B5EF4-FFF2-40B4-BE49-F238E27FC236}">
                <a16:creationId xmlns:a16="http://schemas.microsoft.com/office/drawing/2014/main" id="{2A8059ED-8249-45AF-937E-E1C02B893E1A}"/>
              </a:ext>
            </a:extLst>
          </p:cNvPr>
          <p:cNvSpPr>
            <a:spLocks xmlns:a="http://schemas.openxmlformats.org/drawingml/2006/main" noGrp="1"/>
          </p:cNvSpPr>
          <p:nvPr/>
        </p:nvSpPr>
        <p:spPr>
          <a:xfrm xmlns:a="http://schemas.openxmlformats.org/drawingml/2006/main">
            <a:off x="495300" y="1552575"/>
            <a:ext cx="501967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Applications</a:t>
            </a:r>
          </a:p>
        </p:txBody>
      </p:sp>
      <p:sp>
        <p:nvSpPr>
          <p:cNvPr id="6" name="Buildings: construction, energy, maintenance and r">
            <a:extLst xmlns:a="http://schemas.openxmlformats.org/drawingml/2006/main">
              <a:ext uri="{FF2B5EF4-FFF2-40B4-BE49-F238E27FC236}">
                <a16:creationId xmlns:a16="http://schemas.microsoft.com/office/drawing/2014/main" id="{EED33864-C5A2-4AC1-A3D0-75661A496570}"/>
              </a:ext>
            </a:extLst>
          </p:cNvPr>
          <p:cNvSpPr>
            <a:spLocks xmlns:a="http://schemas.openxmlformats.org/drawingml/2006/main" noGrp="1"/>
          </p:cNvSpPr>
          <p:nvPr/>
        </p:nvSpPr>
        <p:spPr>
          <a:xfrm xmlns:a="http://schemas.openxmlformats.org/drawingml/2006/main">
            <a:off x="495300" y="201549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Buildings: construction, energy, maintenance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and replacement</a:t>
            </a:r>
          </a:p>
        </p:txBody>
      </p:sp>
      <p:sp>
        <p:nvSpPr>
          <p:cNvPr id="7" name="Infrastructure: materials, operation and end of li">
            <a:extLst xmlns:a="http://schemas.openxmlformats.org/drawingml/2006/main">
              <a:ext uri="{FF2B5EF4-FFF2-40B4-BE49-F238E27FC236}">
                <a16:creationId xmlns:a16="http://schemas.microsoft.com/office/drawing/2014/main" id="{0FFC0122-435B-4EBD-9C3F-6E0FCD04417C}"/>
              </a:ext>
            </a:extLst>
          </p:cNvPr>
          <p:cNvSpPr>
            <a:spLocks xmlns:a="http://schemas.openxmlformats.org/drawingml/2006/main" noGrp="1"/>
          </p:cNvSpPr>
          <p:nvPr/>
        </p:nvSpPr>
        <p:spPr>
          <a:xfrm xmlns:a="http://schemas.openxmlformats.org/drawingml/2006/main">
            <a:off x="495300" y="268795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Infrastructure: materials, operation and end of</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life</a:t>
            </a:r>
          </a:p>
        </p:txBody>
      </p:sp>
      <p:sp>
        <p:nvSpPr>
          <p:cNvPr id="8" name="GI: planting, irrigation, upkeep and ecosystem ben">
            <a:extLst xmlns:a="http://schemas.openxmlformats.org/drawingml/2006/main">
              <a:ext uri="{FF2B5EF4-FFF2-40B4-BE49-F238E27FC236}">
                <a16:creationId xmlns:a16="http://schemas.microsoft.com/office/drawing/2014/main" id="{6CFEB24D-4513-4CCA-8F21-7C4616689B3C}"/>
              </a:ext>
            </a:extLst>
          </p:cNvPr>
          <p:cNvSpPr>
            <a:spLocks xmlns:a="http://schemas.openxmlformats.org/drawingml/2006/main" noGrp="1"/>
          </p:cNvSpPr>
          <p:nvPr/>
        </p:nvSpPr>
        <p:spPr>
          <a:xfrm xmlns:a="http://schemas.openxmlformats.org/drawingml/2006/main">
            <a:off x="495300" y="336042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GI: planting, irrigation, upkeep and ecosystem</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benefits</a:t>
            </a:r>
          </a:p>
        </p:txBody>
      </p:sp>
      <p:sp>
        <p:nvSpPr>
          <p:cNvPr id="9" name="The management test">
            <a:extLst xmlns:a="http://schemas.openxmlformats.org/drawingml/2006/main">
              <a:ext uri="{FF2B5EF4-FFF2-40B4-BE49-F238E27FC236}">
                <a16:creationId xmlns:a16="http://schemas.microsoft.com/office/drawing/2014/main" id="{182B1CCE-547E-4021-AC16-AF1D99E063EE}"/>
              </a:ext>
            </a:extLst>
          </p:cNvPr>
          <p:cNvSpPr>
            <a:spLocks xmlns:a="http://schemas.openxmlformats.org/drawingml/2006/main" noGrp="1"/>
          </p:cNvSpPr>
          <p:nvPr/>
        </p:nvSpPr>
        <p:spPr>
          <a:xfrm xmlns:a="http://schemas.openxmlformats.org/drawingml/2006/main">
            <a:off x="6067425" y="1657350"/>
            <a:ext cx="2514600" cy="668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The management</a:t>
            </a:r>
          </a:p>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test</a:t>
            </a:r>
          </a:p>
        </p:txBody>
      </p:sp>
      <p:sp>
        <p:nvSpPr>
          <p:cNvPr id="10" name="Account for both burdens and benefits. Compare equ">
            <a:extLst xmlns:a="http://schemas.openxmlformats.org/drawingml/2006/main">
              <a:ext uri="{FF2B5EF4-FFF2-40B4-BE49-F238E27FC236}">
                <a16:creationId xmlns:a16="http://schemas.microsoft.com/office/drawing/2014/main" id="{8DA8D259-32AC-485B-A1B7-E547E7F46127}"/>
              </a:ext>
            </a:extLst>
          </p:cNvPr>
          <p:cNvSpPr>
            <a:spLocks xmlns:a="http://schemas.openxmlformats.org/drawingml/2006/main" noGrp="1"/>
          </p:cNvSpPr>
          <p:nvPr/>
        </p:nvSpPr>
        <p:spPr>
          <a:xfrm xmlns:a="http://schemas.openxmlformats.org/drawingml/2006/main">
            <a:off x="6067425" y="2440305"/>
            <a:ext cx="2514600" cy="2068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Account for both</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burdens and benefits.</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Compare equivalent</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service and avoid</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assuming vegetation</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makes a project</a:t>
            </a:r>
          </a:p>
          <a:p xmlns:a="http://schemas.openxmlformats.org/drawingml/2006/main">
            <a:pPr>
              <a:defRPr sz="1913" b="0">
                <a:solidFill>
                  <a:srgbClr val="173E35"/>
                </a:solidFill>
                <a:latin typeface="Arial"/>
                <a:ea typeface="Arial"/>
                <a:cs typeface="Arial"/>
              </a:defRPr>
            </a:pPr>
            <a:r>
              <a:rPr sz="1913" b="0">
                <a:solidFill>
                  <a:srgbClr val="173E35"/>
                </a:solidFill>
                <a:latin typeface="Arial"/>
                <a:ea typeface="Arial"/>
                <a:cs typeface="Arial"/>
              </a:rPr>
              <a:t>carbon-negative.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34b7646a878420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8393DDDC-183C-4118-936F-9719E1F19D3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20">
            <a:extLst xmlns:a="http://schemas.openxmlformats.org/drawingml/2006/main">
              <a:ext uri="{FF2B5EF4-FFF2-40B4-BE49-F238E27FC236}">
                <a16:creationId xmlns:a16="http://schemas.microsoft.com/office/drawing/2014/main" id="{C6EF576A-87D8-4495-B2BC-41B12095802E}"/>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20</a:t>
            </a:r>
          </a:p>
        </p:txBody>
      </p:sp>
    </p:spTree>
    <p:extLst>
      <p:ext uri="{BB962C8B-B14F-4D97-AF65-F5344CB8AC3E}">
        <p14:creationId xmlns:p14="http://schemas.microsoft.com/office/powerpoint/2010/main" val="1256640134"/>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Case Study: the Roof Above Your Head">
            <a:extLst xmlns:a="http://schemas.openxmlformats.org/drawingml/2006/main">
              <a:ext uri="{FF2B5EF4-FFF2-40B4-BE49-F238E27FC236}">
                <a16:creationId xmlns:a16="http://schemas.microsoft.com/office/drawing/2014/main" id="{712E2E4A-F3EF-42C1-A91C-16F7295A1BC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the Roof Above Your Head</a:t>
            </a:r>
          </a:p>
        </p:txBody>
      </p:sp>
      <p:sp>
        <p:nvSpPr>
          <p:cNvPr id="2" name="Editorial frame">
            <a:extLst xmlns:a="http://schemas.openxmlformats.org/drawingml/2006/main">
              <a:ext uri="{FF2B5EF4-FFF2-40B4-BE49-F238E27FC236}">
                <a16:creationId xmlns:a16="http://schemas.microsoft.com/office/drawing/2014/main" id="{1209EAAF-C174-4777-88B5-07BDC4BF6ED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5BC9952-CEFB-481E-B309-9418B4FFF8AC}"/>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91fc2f8b38e4eb8"/>
          <a:stretch xmlns:a="http://schemas.openxmlformats.org/drawingml/2006/main"/>
        </p:blipFill>
        <p:spPr>
          <a:xfrm xmlns:a="http://schemas.openxmlformats.org/drawingml/2006/main">
            <a:off x="2692400" y="1495425"/>
            <a:ext cx="3759200" cy="2819400"/>
          </a:xfrm>
          <a:prstGeom xmlns:a="http://schemas.openxmlformats.org/drawingml/2006/main" prst="rect">
            <a:avLst/>
          </a:prstGeom>
        </p:spPr>
      </p:pic>
      <p:sp>
        <p:nvSpPr>
          <p:cNvPr id="5" name="Chicago City Hall — a working green roof over a hu">
            <a:extLst xmlns:a="http://schemas.openxmlformats.org/drawingml/2006/main">
              <a:ext uri="{FF2B5EF4-FFF2-40B4-BE49-F238E27FC236}">
                <a16:creationId xmlns:a16="http://schemas.microsoft.com/office/drawing/2014/main" id="{2F7D6F06-CD98-4999-B976-CA2C4B8CBD72}"/>
              </a:ext>
            </a:extLst>
          </p:cNvPr>
          <p:cNvSpPr>
            <a:spLocks xmlns:a="http://schemas.openxmlformats.org/drawingml/2006/main" noGrp="1"/>
          </p:cNvSpPr>
          <p:nvPr/>
        </p:nvSpPr>
        <p:spPr>
          <a:xfrm xmlns:a="http://schemas.openxmlformats.org/drawingml/2006/main">
            <a:off x="495300" y="4448175"/>
            <a:ext cx="815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Chicago City Hall — a working green roof over a hundred-year-old building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5ca6fba10a475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7" name="www.newton.university">
            <a:extLst xmlns:a="http://schemas.openxmlformats.org/drawingml/2006/main">
              <a:ext uri="{FF2B5EF4-FFF2-40B4-BE49-F238E27FC236}">
                <a16:creationId xmlns:a16="http://schemas.microsoft.com/office/drawing/2014/main" id="{B8B5BCF2-6F2C-4E74-9801-87FE61B77B2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8" name="21">
            <a:extLst xmlns:a="http://schemas.openxmlformats.org/drawingml/2006/main">
              <a:ext uri="{FF2B5EF4-FFF2-40B4-BE49-F238E27FC236}">
                <a16:creationId xmlns:a16="http://schemas.microsoft.com/office/drawing/2014/main" id="{278F2B2E-70D0-4F10-918C-DF2FBFBF5B6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21</a:t>
            </a:r>
          </a:p>
        </p:txBody>
      </p:sp>
    </p:spTree>
    <p:extLst>
      <p:ext uri="{BB962C8B-B14F-4D97-AF65-F5344CB8AC3E}">
        <p14:creationId xmlns:p14="http://schemas.microsoft.com/office/powerpoint/2010/main" val="81042854"/>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Green Roof and Conventional Roof">
            <a:extLst xmlns:a="http://schemas.openxmlformats.org/drawingml/2006/main">
              <a:ext uri="{FF2B5EF4-FFF2-40B4-BE49-F238E27FC236}">
                <a16:creationId xmlns:a16="http://schemas.microsoft.com/office/drawing/2014/main" id="{40667DE1-6CB7-4CC7-9075-B8ADBE323D49}"/>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Green Roof and Conventional Roof</a:t>
            </a:r>
          </a:p>
        </p:txBody>
      </p:sp>
      <p:sp>
        <p:nvSpPr>
          <p:cNvPr id="2" name="Editorial frame">
            <a:extLst xmlns:a="http://schemas.openxmlformats.org/drawingml/2006/main">
              <a:ext uri="{FF2B5EF4-FFF2-40B4-BE49-F238E27FC236}">
                <a16:creationId xmlns:a16="http://schemas.microsoft.com/office/drawing/2014/main" id="{BB8FEF6F-4C25-470B-980D-7870CC15AA32}"/>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1CD7235-64BF-4234-8049-6C5A1BFADC47}"/>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A2BFFDE1-7874-4CEF-BC79-20CD7F12D17C}"/>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859015F6-BAC5-42EB-B841-9DD0A5B78D27}"/>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Conventional roof">
            <a:extLst xmlns:a="http://schemas.openxmlformats.org/drawingml/2006/main">
              <a:ext uri="{FF2B5EF4-FFF2-40B4-BE49-F238E27FC236}">
                <a16:creationId xmlns:a16="http://schemas.microsoft.com/office/drawing/2014/main" id="{61744661-021B-475F-83D3-2690718EBA17}"/>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Conventional roof</a:t>
            </a:r>
          </a:p>
        </p:txBody>
      </p:sp>
      <p:sp>
        <p:nvSpPr>
          <p:cNvPr id="7" name="Often a lower initial cost">
            <a:extLst xmlns:a="http://schemas.openxmlformats.org/drawingml/2006/main">
              <a:ext uri="{FF2B5EF4-FFF2-40B4-BE49-F238E27FC236}">
                <a16:creationId xmlns:a16="http://schemas.microsoft.com/office/drawing/2014/main" id="{8B3D66F8-DAF8-49E3-A318-DE1D035BAC17}"/>
              </a:ext>
            </a:extLst>
          </p:cNvPr>
          <p:cNvSpPr>
            <a:spLocks xmlns:a="http://schemas.openxmlformats.org/drawingml/2006/main" noGrp="1"/>
          </p:cNvSpPr>
          <p:nvPr/>
        </p:nvSpPr>
        <p:spPr>
          <a:xfrm xmlns:a="http://schemas.openxmlformats.org/drawingml/2006/main">
            <a:off x="495300" y="207073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Often a lower initial cost</a:t>
            </a:r>
          </a:p>
        </p:txBody>
      </p:sp>
      <p:sp>
        <p:nvSpPr>
          <p:cNvPr id="8" name="Useful weather protection with less added weight">
            <a:extLst xmlns:a="http://schemas.openxmlformats.org/drawingml/2006/main">
              <a:ext uri="{FF2B5EF4-FFF2-40B4-BE49-F238E27FC236}">
                <a16:creationId xmlns:a16="http://schemas.microsoft.com/office/drawing/2014/main" id="{7D6C5B7B-67B9-48F9-BAD8-7107E182D1DB}"/>
              </a:ext>
            </a:extLst>
          </p:cNvPr>
          <p:cNvSpPr>
            <a:spLocks xmlns:a="http://schemas.openxmlformats.org/drawingml/2006/main" noGrp="1"/>
          </p:cNvSpPr>
          <p:nvPr/>
        </p:nvSpPr>
        <p:spPr>
          <a:xfrm xmlns:a="http://schemas.openxmlformats.org/drawingml/2006/main">
            <a:off x="495300" y="245745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Useful weather protection with less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added weight</a:t>
            </a:r>
          </a:p>
        </p:txBody>
      </p:sp>
      <p:sp>
        <p:nvSpPr>
          <p:cNvPr id="9" name="Performance varies by insulation and surface desig">
            <a:extLst xmlns:a="http://schemas.openxmlformats.org/drawingml/2006/main">
              <a:ext uri="{FF2B5EF4-FFF2-40B4-BE49-F238E27FC236}">
                <a16:creationId xmlns:a16="http://schemas.microsoft.com/office/drawing/2014/main" id="{C17358AC-5440-4D84-B780-A8700E415871}"/>
              </a:ext>
            </a:extLst>
          </p:cNvPr>
          <p:cNvSpPr>
            <a:spLocks xmlns:a="http://schemas.openxmlformats.org/drawingml/2006/main" noGrp="1"/>
          </p:cNvSpPr>
          <p:nvPr/>
        </p:nvSpPr>
        <p:spPr>
          <a:xfrm xmlns:a="http://schemas.openxmlformats.org/drawingml/2006/main">
            <a:off x="495300" y="310705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Performance varies by insulation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surface design</a:t>
            </a:r>
          </a:p>
        </p:txBody>
      </p:sp>
      <p:sp>
        <p:nvSpPr>
          <p:cNvPr id="10" name="Include maintenance and replacement">
            <a:extLst xmlns:a="http://schemas.openxmlformats.org/drawingml/2006/main">
              <a:ext uri="{FF2B5EF4-FFF2-40B4-BE49-F238E27FC236}">
                <a16:creationId xmlns:a16="http://schemas.microsoft.com/office/drawing/2014/main" id="{EFBA8E4F-A63A-4F2F-88BE-961314FDE061}"/>
              </a:ext>
            </a:extLst>
          </p:cNvPr>
          <p:cNvSpPr>
            <a:spLocks xmlns:a="http://schemas.openxmlformats.org/drawingml/2006/main" noGrp="1"/>
          </p:cNvSpPr>
          <p:nvPr/>
        </p:nvSpPr>
        <p:spPr>
          <a:xfrm xmlns:a="http://schemas.openxmlformats.org/drawingml/2006/main">
            <a:off x="495300" y="375666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Include maintenance and replacement</a:t>
            </a:r>
          </a:p>
        </p:txBody>
      </p:sp>
      <p:sp>
        <p:nvSpPr>
          <p:cNvPr id="11" name="Editorial frame">
            <a:extLst xmlns:a="http://schemas.openxmlformats.org/drawingml/2006/main">
              <a:ext uri="{FF2B5EF4-FFF2-40B4-BE49-F238E27FC236}">
                <a16:creationId xmlns:a16="http://schemas.microsoft.com/office/drawing/2014/main" id="{002349D7-8A3A-403E-B4F5-C97F6D14A06B}"/>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DAD2DFF9-CD17-4610-A16D-649C1B3F989D}"/>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Green roof">
            <a:extLst xmlns:a="http://schemas.openxmlformats.org/drawingml/2006/main">
              <a:ext uri="{FF2B5EF4-FFF2-40B4-BE49-F238E27FC236}">
                <a16:creationId xmlns:a16="http://schemas.microsoft.com/office/drawing/2014/main" id="{29E6A857-ED14-4732-9AA6-882C8398CC30}"/>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Green roof</a:t>
            </a:r>
          </a:p>
        </p:txBody>
      </p:sp>
      <p:sp>
        <p:nvSpPr>
          <p:cNvPr id="14" name="Additional loading and installation requirements">
            <a:extLst xmlns:a="http://schemas.openxmlformats.org/drawingml/2006/main">
              <a:ext uri="{FF2B5EF4-FFF2-40B4-BE49-F238E27FC236}">
                <a16:creationId xmlns:a16="http://schemas.microsoft.com/office/drawing/2014/main" id="{45EF418B-9BF0-4773-B9CA-BEB734719AC6}"/>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Additional loading and installation</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requirements</a:t>
            </a:r>
          </a:p>
        </p:txBody>
      </p:sp>
      <p:sp>
        <p:nvSpPr>
          <p:cNvPr id="15" name="Potential membrane protection and energy benefits">
            <a:extLst xmlns:a="http://schemas.openxmlformats.org/drawingml/2006/main">
              <a:ext uri="{FF2B5EF4-FFF2-40B4-BE49-F238E27FC236}">
                <a16:creationId xmlns:a16="http://schemas.microsoft.com/office/drawing/2014/main" id="{7C92FAD8-AA34-44F2-9EA9-4553E3E32030}"/>
              </a:ext>
            </a:extLst>
          </p:cNvPr>
          <p:cNvSpPr>
            <a:spLocks xmlns:a="http://schemas.openxmlformats.org/drawingml/2006/main" noGrp="1"/>
          </p:cNvSpPr>
          <p:nvPr/>
        </p:nvSpPr>
        <p:spPr>
          <a:xfrm xmlns:a="http://schemas.openxmlformats.org/drawingml/2006/main">
            <a:off x="4676775"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Potential membrane protection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energy benefits</a:t>
            </a:r>
          </a:p>
        </p:txBody>
      </p:sp>
      <p:sp>
        <p:nvSpPr>
          <p:cNvPr id="16" name="Rainwater retention, cooling and habitat">
            <a:extLst xmlns:a="http://schemas.openxmlformats.org/drawingml/2006/main">
              <a:ext uri="{FF2B5EF4-FFF2-40B4-BE49-F238E27FC236}">
                <a16:creationId xmlns:a16="http://schemas.microsoft.com/office/drawing/2014/main" id="{D9985875-B2E6-4EB6-9C21-749BE5CAC244}"/>
              </a:ext>
            </a:extLst>
          </p:cNvPr>
          <p:cNvSpPr>
            <a:spLocks xmlns:a="http://schemas.openxmlformats.org/drawingml/2006/main" noGrp="1"/>
          </p:cNvSpPr>
          <p:nvPr/>
        </p:nvSpPr>
        <p:spPr>
          <a:xfrm xmlns:a="http://schemas.openxmlformats.org/drawingml/2006/main">
            <a:off x="4676775" y="336994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Rainwater retention, cooling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habitat</a:t>
            </a:r>
          </a:p>
        </p:txBody>
      </p:sp>
      <p:sp>
        <p:nvSpPr>
          <p:cNvPr id="17" name="Include planting, irrigation and upkeep">
            <a:extLst xmlns:a="http://schemas.openxmlformats.org/drawingml/2006/main">
              <a:ext uri="{FF2B5EF4-FFF2-40B4-BE49-F238E27FC236}">
                <a16:creationId xmlns:a16="http://schemas.microsoft.com/office/drawing/2014/main" id="{993276E7-D052-4DC4-9503-18D4637E2CED}"/>
              </a:ext>
            </a:extLst>
          </p:cNvPr>
          <p:cNvSpPr>
            <a:spLocks xmlns:a="http://schemas.openxmlformats.org/drawingml/2006/main" noGrp="1"/>
          </p:cNvSpPr>
          <p:nvPr/>
        </p:nvSpPr>
        <p:spPr>
          <a:xfrm xmlns:a="http://schemas.openxmlformats.org/drawingml/2006/main">
            <a:off x="4676775" y="401955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Include planting, irrigation and upkeep</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4a9362f6750420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9" name="www.newton.university">
            <a:extLst xmlns:a="http://schemas.openxmlformats.org/drawingml/2006/main">
              <a:ext uri="{FF2B5EF4-FFF2-40B4-BE49-F238E27FC236}">
                <a16:creationId xmlns:a16="http://schemas.microsoft.com/office/drawing/2014/main" id="{008F6B79-DFCC-4342-ADA9-EF2A8BA388C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0" name="22">
            <a:extLst xmlns:a="http://schemas.openxmlformats.org/drawingml/2006/main">
              <a:ext uri="{FF2B5EF4-FFF2-40B4-BE49-F238E27FC236}">
                <a16:creationId xmlns:a16="http://schemas.microsoft.com/office/drawing/2014/main" id="{B6801D05-B8C1-49D7-902E-DB94DFD9C72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22</a:t>
            </a:r>
          </a:p>
        </p:txBody>
      </p:sp>
    </p:spTree>
    <p:extLst>
      <p:ext uri="{BB962C8B-B14F-4D97-AF65-F5344CB8AC3E}">
        <p14:creationId xmlns:p14="http://schemas.microsoft.com/office/powerpoint/2010/main" val="967810798"/>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Assessing the Green Roof Business Case">
            <a:extLst xmlns:a="http://schemas.openxmlformats.org/drawingml/2006/main">
              <a:ext uri="{FF2B5EF4-FFF2-40B4-BE49-F238E27FC236}">
                <a16:creationId xmlns:a16="http://schemas.microsoft.com/office/drawing/2014/main" id="{1F1DFD87-231F-49F4-9A64-CF507F21CB9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Assessing the Green Roof Business Case</a:t>
            </a:r>
          </a:p>
        </p:txBody>
      </p:sp>
      <p:sp>
        <p:nvSpPr>
          <p:cNvPr id="2" name="Editorial frame">
            <a:extLst xmlns:a="http://schemas.openxmlformats.org/drawingml/2006/main">
              <a:ext uri="{FF2B5EF4-FFF2-40B4-BE49-F238E27FC236}">
                <a16:creationId xmlns:a16="http://schemas.microsoft.com/office/drawing/2014/main" id="{8BD82DD6-51B1-455B-8677-74C0B40DBFDA}"/>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D580A8A-AB69-4A6F-80F4-59CEB6384620}"/>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BAB7406-52A6-4719-AC47-CFDC1C3358BC}"/>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Compare installation, replacement, maintenance and">
            <a:extLst xmlns:a="http://schemas.openxmlformats.org/drawingml/2006/main">
              <a:ext uri="{FF2B5EF4-FFF2-40B4-BE49-F238E27FC236}">
                <a16:creationId xmlns:a16="http://schemas.microsoft.com/office/drawing/2014/main" id="{DC2FA9EB-5982-43D6-B4A4-012DA9396CF0}"/>
              </a:ext>
            </a:extLst>
          </p:cNvPr>
          <p:cNvSpPr>
            <a:spLocks xmlns:a="http://schemas.openxmlformats.org/drawingml/2006/main" noGrp="1"/>
          </p:cNvSpPr>
          <p:nvPr/>
        </p:nvSpPr>
        <p:spPr>
          <a:xfrm xmlns:a="http://schemas.openxmlformats.org/drawingml/2006/main">
            <a:off x="495300" y="155257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Compare installation, replacement,</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maintenance and operating costs.</a:t>
            </a:r>
          </a:p>
        </p:txBody>
      </p:sp>
      <p:sp>
        <p:nvSpPr>
          <p:cNvPr id="6" name="Test climate, irrigation, energy mix and service-l">
            <a:extLst xmlns:a="http://schemas.openxmlformats.org/drawingml/2006/main">
              <a:ext uri="{FF2B5EF4-FFF2-40B4-BE49-F238E27FC236}">
                <a16:creationId xmlns:a16="http://schemas.microsoft.com/office/drawing/2014/main" id="{447628E5-3AD0-4521-9144-8CFDB94FF594}"/>
              </a:ext>
            </a:extLst>
          </p:cNvPr>
          <p:cNvSpPr>
            <a:spLocks xmlns:a="http://schemas.openxmlformats.org/drawingml/2006/main" noGrp="1"/>
          </p:cNvSpPr>
          <p:nvPr/>
        </p:nvSpPr>
        <p:spPr>
          <a:xfrm xmlns:a="http://schemas.openxmlformats.org/drawingml/2006/main">
            <a:off x="495300" y="222504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Test climate, irrigation, energy mix and</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service-life assumptions.</a:t>
            </a:r>
          </a:p>
        </p:txBody>
      </p:sp>
      <p:sp>
        <p:nvSpPr>
          <p:cNvPr id="7" name="Report cooling, runoff and habitat outcomes alongs">
            <a:extLst xmlns:a="http://schemas.openxmlformats.org/drawingml/2006/main">
              <a:ext uri="{FF2B5EF4-FFF2-40B4-BE49-F238E27FC236}">
                <a16:creationId xmlns:a16="http://schemas.microsoft.com/office/drawing/2014/main" id="{0DB05FB8-AA9A-4F3D-9A76-C6744B73CD55}"/>
              </a:ext>
            </a:extLst>
          </p:cNvPr>
          <p:cNvSpPr>
            <a:spLocks xmlns:a="http://schemas.openxmlformats.org/drawingml/2006/main" noGrp="1"/>
          </p:cNvSpPr>
          <p:nvPr/>
        </p:nvSpPr>
        <p:spPr>
          <a:xfrm xmlns:a="http://schemas.openxmlformats.org/drawingml/2006/main">
            <a:off x="495300" y="289750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Report cooling, runoff and habitat outcomes</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alongside the LCA.</a:t>
            </a:r>
          </a:p>
        </p:txBody>
      </p:sp>
      <p:sp>
        <p:nvSpPr>
          <p:cNvPr id="8" name="Discussion">
            <a:extLst xmlns:a="http://schemas.openxmlformats.org/drawingml/2006/main">
              <a:ext uri="{FF2B5EF4-FFF2-40B4-BE49-F238E27FC236}">
                <a16:creationId xmlns:a16="http://schemas.microsoft.com/office/drawing/2014/main" id="{AF1CECA5-8686-4900-B6A5-AE6EF077728C}"/>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Discussion</a:t>
            </a:r>
          </a:p>
        </p:txBody>
      </p:sp>
      <p:sp>
        <p:nvSpPr>
          <p:cNvPr id="9" name="Which benefits enter the company budget, and which">
            <a:extLst xmlns:a="http://schemas.openxmlformats.org/drawingml/2006/main">
              <a:ext uri="{FF2B5EF4-FFF2-40B4-BE49-F238E27FC236}">
                <a16:creationId xmlns:a16="http://schemas.microsoft.com/office/drawing/2014/main" id="{2614A75F-2C7E-466A-8E74-3A82E5960A02}"/>
              </a:ext>
            </a:extLst>
          </p:cNvPr>
          <p:cNvSpPr>
            <a:spLocks xmlns:a="http://schemas.openxmlformats.org/drawingml/2006/main" noGrp="1"/>
          </p:cNvSpPr>
          <p:nvPr/>
        </p:nvSpPr>
        <p:spPr>
          <a:xfrm xmlns:a="http://schemas.openxmlformats.org/drawingml/2006/main">
            <a:off x="6067425" y="2120265"/>
            <a:ext cx="25146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Which benefits enter</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the company budget,</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and which need a</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separate public-value</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assessment?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a31d31fe15a493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1" name="www.newton.university">
            <a:extLst xmlns:a="http://schemas.openxmlformats.org/drawingml/2006/main">
              <a:ext uri="{FF2B5EF4-FFF2-40B4-BE49-F238E27FC236}">
                <a16:creationId xmlns:a16="http://schemas.microsoft.com/office/drawing/2014/main" id="{5EF69321-CF8B-485D-AEEE-29AB16C4039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2" name="23">
            <a:extLst xmlns:a="http://schemas.openxmlformats.org/drawingml/2006/main">
              <a:ext uri="{FF2B5EF4-FFF2-40B4-BE49-F238E27FC236}">
                <a16:creationId xmlns:a16="http://schemas.microsoft.com/office/drawing/2014/main" id="{B934BB5D-4267-44F8-BEB7-173FE41A80E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23</a:t>
            </a:r>
          </a:p>
        </p:txBody>
      </p:sp>
    </p:spTree>
    <p:extLst>
      <p:ext uri="{BB962C8B-B14F-4D97-AF65-F5344CB8AC3E}">
        <p14:creationId xmlns:p14="http://schemas.microsoft.com/office/powerpoint/2010/main" val="1289915106"/>
      </p:ext>
    </p:extLst>
  </p:cSld>
</p:sld>
</file>

<file path=ppt/slides/slide24.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5" name="Classroom Activity: Map a Life Cycle">
            <a:extLst xmlns:a="http://schemas.openxmlformats.org/drawingml/2006/main">
              <a:ext uri="{FF2B5EF4-FFF2-40B4-BE49-F238E27FC236}">
                <a16:creationId xmlns:a16="http://schemas.microsoft.com/office/drawing/2014/main" id="{B9EA8788-97A3-4599-8F38-97D8D27156C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Classroom Activity: Map a Life Cycle</a:t>
            </a:r>
          </a:p>
        </p:txBody>
      </p:sp>
      <p:sp>
        <p:nvSpPr>
          <p:cNvPr id="2" name="Editorial frame">
            <a:extLst xmlns:a="http://schemas.openxmlformats.org/drawingml/2006/main">
              <a:ext uri="{FF2B5EF4-FFF2-40B4-BE49-F238E27FC236}">
                <a16:creationId xmlns:a16="http://schemas.microsoft.com/office/drawing/2014/main" id="{E9429106-8F83-4C0D-B93F-5BDE762CEE9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5854597E-507E-4910-910F-8EC47B486BE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3B3ACD11-672C-4C46-9066-8CD18F73481F}"/>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15">
            <a:extLst xmlns:a="http://schemas.openxmlformats.org/drawingml/2006/main">
              <a:ext uri="{FF2B5EF4-FFF2-40B4-BE49-F238E27FC236}">
                <a16:creationId xmlns:a16="http://schemas.microsoft.com/office/drawing/2014/main" id="{5092DBFB-7BD2-4E81-AD64-74750A6CAC57}"/>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15</a:t>
            </a:r>
          </a:p>
        </p:txBody>
      </p:sp>
      <p:sp>
        <p:nvSpPr>
          <p:cNvPr id="6" name="minutes">
            <a:extLst xmlns:a="http://schemas.openxmlformats.org/drawingml/2006/main">
              <a:ext uri="{FF2B5EF4-FFF2-40B4-BE49-F238E27FC236}">
                <a16:creationId xmlns:a16="http://schemas.microsoft.com/office/drawing/2014/main" id="{142DF63E-1AFC-4D3D-A8BE-083EDAEE1A57}"/>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In pairs">
            <a:extLst xmlns:a="http://schemas.openxmlformats.org/drawingml/2006/main">
              <a:ext uri="{FF2B5EF4-FFF2-40B4-BE49-F238E27FC236}">
                <a16:creationId xmlns:a16="http://schemas.microsoft.com/office/drawing/2014/main" id="{E1EB6542-D03A-4CD2-B39F-9FF71C6B86AD}"/>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In pairs</a:t>
            </a:r>
          </a:p>
        </p:txBody>
      </p:sp>
      <p:sp>
        <p:nvSpPr>
          <p:cNvPr id="8" name="Choose a product you used today. Sketch its life c">
            <a:extLst xmlns:a="http://schemas.openxmlformats.org/drawingml/2006/main">
              <a:ext uri="{FF2B5EF4-FFF2-40B4-BE49-F238E27FC236}">
                <a16:creationId xmlns:a16="http://schemas.microsoft.com/office/drawing/2014/main" id="{1319CFB0-E7F0-48D1-B80A-BCEC94B88A1F}"/>
              </a:ext>
            </a:extLst>
          </p:cNvPr>
          <p:cNvSpPr>
            <a:spLocks xmlns:a="http://schemas.openxmlformats.org/drawingml/2006/main" noGrp="1"/>
          </p:cNvSpPr>
          <p:nvPr/>
        </p:nvSpPr>
        <p:spPr>
          <a:xfrm xmlns:a="http://schemas.openxmlformats.org/drawingml/2006/main">
            <a:off x="3076575" y="1628775"/>
            <a:ext cx="5543550"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Choose a product you used today. Sketch its</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life cycle:</a:t>
            </a:r>
          </a:p>
        </p:txBody>
      </p:sp>
      <p:sp>
        <p:nvSpPr>
          <p:cNvPr id="9" name="List the main inputs and emissions at each stage.">
            <a:extLst xmlns:a="http://schemas.openxmlformats.org/drawingml/2006/main">
              <a:ext uri="{FF2B5EF4-FFF2-40B4-BE49-F238E27FC236}">
                <a16:creationId xmlns:a16="http://schemas.microsoft.com/office/drawing/2014/main" id="{C37D58CB-7F2E-492B-BF9D-ADB413F87330}"/>
              </a:ext>
            </a:extLst>
          </p:cNvPr>
          <p:cNvSpPr>
            <a:spLocks xmlns:a="http://schemas.openxmlformats.org/drawingml/2006/main" noGrp="1"/>
          </p:cNvSpPr>
          <p:nvPr/>
        </p:nvSpPr>
        <p:spPr>
          <a:xfrm xmlns:a="http://schemas.openxmlformats.org/drawingml/2006/main">
            <a:off x="3076575" y="2388870"/>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List the main inputs and emissions at each stage.</a:t>
            </a:r>
          </a:p>
        </p:txBody>
      </p:sp>
      <p:sp>
        <p:nvSpPr>
          <p:cNvPr id="10" name="Mark the stage you think dominates the impact.">
            <a:extLst xmlns:a="http://schemas.openxmlformats.org/drawingml/2006/main">
              <a:ext uri="{FF2B5EF4-FFF2-40B4-BE49-F238E27FC236}">
                <a16:creationId xmlns:a16="http://schemas.microsoft.com/office/drawing/2014/main" id="{F00D571F-7F94-4C4B-B4D0-C6E3C3744812}"/>
              </a:ext>
            </a:extLst>
          </p:cNvPr>
          <p:cNvSpPr>
            <a:spLocks xmlns:a="http://schemas.openxmlformats.org/drawingml/2006/main" noGrp="1"/>
          </p:cNvSpPr>
          <p:nvPr/>
        </p:nvSpPr>
        <p:spPr>
          <a:xfrm xmlns:a="http://schemas.openxmlformats.org/drawingml/2006/main">
            <a:off x="3076575" y="2775585"/>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Mark the stage you think dominates the impact.</a:t>
            </a:r>
          </a:p>
        </p:txBody>
      </p:sp>
      <p:sp>
        <p:nvSpPr>
          <p:cNvPr id="11" name="Propose one ecodesign change and predict its effec">
            <a:extLst xmlns:a="http://schemas.openxmlformats.org/drawingml/2006/main">
              <a:ext uri="{FF2B5EF4-FFF2-40B4-BE49-F238E27FC236}">
                <a16:creationId xmlns:a16="http://schemas.microsoft.com/office/drawing/2014/main" id="{62ACC31A-11CA-4C9C-84DC-2D62718C452A}"/>
              </a:ext>
            </a:extLst>
          </p:cNvPr>
          <p:cNvSpPr>
            <a:spLocks xmlns:a="http://schemas.openxmlformats.org/drawingml/2006/main" noGrp="1"/>
          </p:cNvSpPr>
          <p:nvPr/>
        </p:nvSpPr>
        <p:spPr>
          <a:xfrm xmlns:a="http://schemas.openxmlformats.org/drawingml/2006/main">
            <a:off x="3076575" y="3162300"/>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Propose one ecodesign change and predict its effect.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ae6caa5a05446a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D452E904-AF0F-47B0-97C0-34195F776355}"/>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4">
            <a:extLst xmlns:a="http://schemas.openxmlformats.org/drawingml/2006/main">
              <a:ext uri="{FF2B5EF4-FFF2-40B4-BE49-F238E27FC236}">
                <a16:creationId xmlns:a16="http://schemas.microsoft.com/office/drawing/2014/main" id="{A0680535-B458-4EA5-AE04-22040C18B7F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24</a:t>
            </a:r>
          </a:p>
        </p:txBody>
      </p:sp>
    </p:spTree>
    <p:extLst>
      <p:ext uri="{BB962C8B-B14F-4D97-AF65-F5344CB8AC3E}">
        <p14:creationId xmlns:p14="http://schemas.microsoft.com/office/powerpoint/2010/main" val="1420037187"/>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Key Messages">
            <a:extLst xmlns:a="http://schemas.openxmlformats.org/drawingml/2006/main">
              <a:ext uri="{FF2B5EF4-FFF2-40B4-BE49-F238E27FC236}">
                <a16:creationId xmlns:a16="http://schemas.microsoft.com/office/drawing/2014/main" id="{B0FF9BD4-5049-4E28-9A5A-0841CF1F27A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Key Messages</a:t>
            </a:r>
          </a:p>
        </p:txBody>
      </p:sp>
      <p:sp>
        <p:nvSpPr>
          <p:cNvPr id="2" name="Editorial frame">
            <a:extLst xmlns:a="http://schemas.openxmlformats.org/drawingml/2006/main">
              <a:ext uri="{FF2B5EF4-FFF2-40B4-BE49-F238E27FC236}">
                <a16:creationId xmlns:a16="http://schemas.microsoft.com/office/drawing/2014/main" id="{BACA87ED-72BA-4CFC-A815-8288EE9FFFC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EA595D93-FB26-48B1-9C08-860361B9EA9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84679984-84D3-4E1B-95ED-0DF7C94C7904}"/>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01">
            <a:extLst xmlns:a="http://schemas.openxmlformats.org/drawingml/2006/main">
              <a:ext uri="{FF2B5EF4-FFF2-40B4-BE49-F238E27FC236}">
                <a16:creationId xmlns:a16="http://schemas.microsoft.com/office/drawing/2014/main" id="{C1196407-5F19-43AB-A985-5A610BD0D263}"/>
              </a:ext>
            </a:extLst>
          </p:cNvPr>
          <p:cNvSpPr>
            <a:spLocks xmlns:a="http://schemas.openxmlformats.org/drawingml/2006/main" noGrp="1"/>
          </p:cNvSpPr>
          <p:nvPr/>
        </p:nvSpPr>
        <p:spPr>
          <a:xfrm xmlns:a="http://schemas.openxmlformats.org/drawingml/2006/main">
            <a:off x="49530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6" name="Measurement turns sustainability from ambition int">
            <a:extLst xmlns:a="http://schemas.openxmlformats.org/drawingml/2006/main">
              <a:ext uri="{FF2B5EF4-FFF2-40B4-BE49-F238E27FC236}">
                <a16:creationId xmlns:a16="http://schemas.microsoft.com/office/drawing/2014/main" id="{00973629-C38A-4EC2-B889-AD74D6B8BD88}"/>
              </a:ext>
            </a:extLst>
          </p:cNvPr>
          <p:cNvSpPr>
            <a:spLocks xmlns:a="http://schemas.openxmlformats.org/drawingml/2006/main" noGrp="1"/>
          </p:cNvSpPr>
          <p:nvPr/>
        </p:nvSpPr>
        <p:spPr>
          <a:xfrm xmlns:a="http://schemas.openxmlformats.org/drawingml/2006/main">
            <a:off x="952500" y="1533525"/>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Measurement turns sustainability</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from ambition into management.</a:t>
            </a:r>
          </a:p>
        </p:txBody>
      </p:sp>
      <p:sp>
        <p:nvSpPr>
          <p:cNvPr id="7" name="Editorial frame">
            <a:extLst xmlns:a="http://schemas.openxmlformats.org/drawingml/2006/main">
              <a:ext uri="{FF2B5EF4-FFF2-40B4-BE49-F238E27FC236}">
                <a16:creationId xmlns:a16="http://schemas.microsoft.com/office/drawing/2014/main" id="{AECCF276-EECD-46E3-BB52-076BF44DFBCD}"/>
              </a:ext>
            </a:extLst>
          </p:cNvPr>
          <p:cNvSpPr>
            <a:spLocks xmlns:a="http://schemas.openxmlformats.org/drawingml/2006/main" noGrp="1"/>
          </p:cNvSpPr>
          <p:nvPr/>
        </p:nvSpPr>
        <p:spPr>
          <a:xfrm xmlns:a="http://schemas.openxmlformats.org/drawingml/2006/main">
            <a:off x="952500" y="2216944"/>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8" name="02">
            <a:extLst xmlns:a="http://schemas.openxmlformats.org/drawingml/2006/main">
              <a:ext uri="{FF2B5EF4-FFF2-40B4-BE49-F238E27FC236}">
                <a16:creationId xmlns:a16="http://schemas.microsoft.com/office/drawing/2014/main" id="{8951F6A3-B8ED-456E-844F-2A07044FA77D}"/>
              </a:ext>
            </a:extLst>
          </p:cNvPr>
          <p:cNvSpPr>
            <a:spLocks xmlns:a="http://schemas.openxmlformats.org/drawingml/2006/main" noGrp="1"/>
          </p:cNvSpPr>
          <p:nvPr/>
        </p:nvSpPr>
        <p:spPr>
          <a:xfrm xmlns:a="http://schemas.openxmlformats.org/drawingml/2006/main">
            <a:off x="49530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9" name="GI impacts span environmental, economic and social">
            <a:extLst xmlns:a="http://schemas.openxmlformats.org/drawingml/2006/main">
              <a:ext uri="{FF2B5EF4-FFF2-40B4-BE49-F238E27FC236}">
                <a16:creationId xmlns:a16="http://schemas.microsoft.com/office/drawing/2014/main" id="{E3ED6028-C259-4F25-82A8-3E929626FB42}"/>
              </a:ext>
            </a:extLst>
          </p:cNvPr>
          <p:cNvSpPr>
            <a:spLocks xmlns:a="http://schemas.openxmlformats.org/drawingml/2006/main" noGrp="1"/>
          </p:cNvSpPr>
          <p:nvPr/>
        </p:nvSpPr>
        <p:spPr>
          <a:xfrm xmlns:a="http://schemas.openxmlformats.org/drawingml/2006/main">
            <a:off x="952500" y="2331244"/>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GI impacts span environmental,</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economic and social value — measure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all three.</a:t>
            </a:r>
          </a:p>
        </p:txBody>
      </p:sp>
      <p:sp>
        <p:nvSpPr>
          <p:cNvPr id="10" name="Editorial frame">
            <a:extLst xmlns:a="http://schemas.openxmlformats.org/drawingml/2006/main">
              <a:ext uri="{FF2B5EF4-FFF2-40B4-BE49-F238E27FC236}">
                <a16:creationId xmlns:a16="http://schemas.microsoft.com/office/drawing/2014/main" id="{A2B98F78-142A-4E74-89BE-0B00CD2D99A8}"/>
              </a:ext>
            </a:extLst>
          </p:cNvPr>
          <p:cNvSpPr>
            <a:spLocks xmlns:a="http://schemas.openxmlformats.org/drawingml/2006/main" noGrp="1"/>
          </p:cNvSpPr>
          <p:nvPr/>
        </p:nvSpPr>
        <p:spPr>
          <a:xfrm xmlns:a="http://schemas.openxmlformats.org/drawingml/2006/main">
            <a:off x="952500" y="3014663"/>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3EE7C45E-EE30-4C85-8FDD-1D922DEB899C}"/>
              </a:ext>
            </a:extLst>
          </p:cNvPr>
          <p:cNvSpPr>
            <a:spLocks xmlns:a="http://schemas.openxmlformats.org/drawingml/2006/main" noGrp="1"/>
          </p:cNvSpPr>
          <p:nvPr/>
        </p:nvSpPr>
        <p:spPr>
          <a:xfrm xmlns:a="http://schemas.openxmlformats.org/drawingml/2006/main">
            <a:off x="49530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2" name="Open tools (QGIS, i-Tree) make credible measuremen">
            <a:extLst xmlns:a="http://schemas.openxmlformats.org/drawingml/2006/main">
              <a:ext uri="{FF2B5EF4-FFF2-40B4-BE49-F238E27FC236}">
                <a16:creationId xmlns:a16="http://schemas.microsoft.com/office/drawing/2014/main" id="{096437F6-2E68-4A78-8D86-4E6B483AE093}"/>
              </a:ext>
            </a:extLst>
          </p:cNvPr>
          <p:cNvSpPr>
            <a:spLocks xmlns:a="http://schemas.openxmlformats.org/drawingml/2006/main" noGrp="1"/>
          </p:cNvSpPr>
          <p:nvPr/>
        </p:nvSpPr>
        <p:spPr>
          <a:xfrm xmlns:a="http://schemas.openxmlformats.org/drawingml/2006/main">
            <a:off x="952500" y="3128963"/>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Open tools (QGIS, i-Tree) make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credible measurement affordable.</a:t>
            </a:r>
          </a:p>
        </p:txBody>
      </p:sp>
      <p:sp>
        <p:nvSpPr>
          <p:cNvPr id="13" name="Editorial frame">
            <a:extLst xmlns:a="http://schemas.openxmlformats.org/drawingml/2006/main">
              <a:ext uri="{FF2B5EF4-FFF2-40B4-BE49-F238E27FC236}">
                <a16:creationId xmlns:a16="http://schemas.microsoft.com/office/drawing/2014/main" id="{E4925CE2-6D05-42B1-935C-10F588311BCB}"/>
              </a:ext>
            </a:extLst>
          </p:cNvPr>
          <p:cNvSpPr>
            <a:spLocks xmlns:a="http://schemas.openxmlformats.org/drawingml/2006/main" noGrp="1"/>
          </p:cNvSpPr>
          <p:nvPr/>
        </p:nvSpPr>
        <p:spPr>
          <a:xfrm xmlns:a="http://schemas.openxmlformats.org/drawingml/2006/main">
            <a:off x="952500" y="3812381"/>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4" name="04">
            <a:extLst xmlns:a="http://schemas.openxmlformats.org/drawingml/2006/main">
              <a:ext uri="{FF2B5EF4-FFF2-40B4-BE49-F238E27FC236}">
                <a16:creationId xmlns:a16="http://schemas.microsoft.com/office/drawing/2014/main" id="{DAC237EF-36ED-426C-AB92-3E496915E0FA}"/>
              </a:ext>
            </a:extLst>
          </p:cNvPr>
          <p:cNvSpPr>
            <a:spLocks xmlns:a="http://schemas.openxmlformats.org/drawingml/2006/main" noGrp="1"/>
          </p:cNvSpPr>
          <p:nvPr/>
        </p:nvSpPr>
        <p:spPr>
          <a:xfrm xmlns:a="http://schemas.openxmlformats.org/drawingml/2006/main">
            <a:off x="49530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5" name="A good dashboard answers a decision, not just disp">
            <a:extLst xmlns:a="http://schemas.openxmlformats.org/drawingml/2006/main">
              <a:ext uri="{FF2B5EF4-FFF2-40B4-BE49-F238E27FC236}">
                <a16:creationId xmlns:a16="http://schemas.microsoft.com/office/drawing/2014/main" id="{6E531BCD-CEB3-4F62-B467-32348BE17196}"/>
              </a:ext>
            </a:extLst>
          </p:cNvPr>
          <p:cNvSpPr>
            <a:spLocks xmlns:a="http://schemas.openxmlformats.org/drawingml/2006/main" noGrp="1"/>
          </p:cNvSpPr>
          <p:nvPr/>
        </p:nvSpPr>
        <p:spPr>
          <a:xfrm xmlns:a="http://schemas.openxmlformats.org/drawingml/2006/main">
            <a:off x="952500" y="3926681"/>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 good dashboard answers 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decision, not just displays data.</a:t>
            </a:r>
          </a:p>
        </p:txBody>
      </p:sp>
      <p:sp>
        <p:nvSpPr>
          <p:cNvPr id="16" name="05">
            <a:extLst xmlns:a="http://schemas.openxmlformats.org/drawingml/2006/main">
              <a:ext uri="{FF2B5EF4-FFF2-40B4-BE49-F238E27FC236}">
                <a16:creationId xmlns:a16="http://schemas.microsoft.com/office/drawing/2014/main" id="{91609A7A-6798-4E34-8083-BC9E88738C81}"/>
              </a:ext>
            </a:extLst>
          </p:cNvPr>
          <p:cNvSpPr>
            <a:spLocks xmlns:a="http://schemas.openxmlformats.org/drawingml/2006/main" noGrp="1"/>
          </p:cNvSpPr>
          <p:nvPr/>
        </p:nvSpPr>
        <p:spPr>
          <a:xfrm xmlns:a="http://schemas.openxmlformats.org/drawingml/2006/main">
            <a:off x="481965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7" name="LCA prevents shifting impacts between life stages.">
            <a:extLst xmlns:a="http://schemas.openxmlformats.org/drawingml/2006/main">
              <a:ext uri="{FF2B5EF4-FFF2-40B4-BE49-F238E27FC236}">
                <a16:creationId xmlns:a16="http://schemas.microsoft.com/office/drawing/2014/main" id="{949C36C3-7628-43FC-B04C-391A3DF891AD}"/>
              </a:ext>
            </a:extLst>
          </p:cNvPr>
          <p:cNvSpPr>
            <a:spLocks xmlns:a="http://schemas.openxmlformats.org/drawingml/2006/main" noGrp="1"/>
          </p:cNvSpPr>
          <p:nvPr/>
        </p:nvSpPr>
        <p:spPr>
          <a:xfrm xmlns:a="http://schemas.openxmlformats.org/drawingml/2006/main">
            <a:off x="5276850" y="1533525"/>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LCA prevents shifting impacts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between life stages.</a:t>
            </a:r>
          </a:p>
        </p:txBody>
      </p:sp>
      <p:sp>
        <p:nvSpPr>
          <p:cNvPr id="18" name="Editorial frame">
            <a:extLst xmlns:a="http://schemas.openxmlformats.org/drawingml/2006/main">
              <a:ext uri="{FF2B5EF4-FFF2-40B4-BE49-F238E27FC236}">
                <a16:creationId xmlns:a16="http://schemas.microsoft.com/office/drawing/2014/main" id="{FF1F1490-9AF8-455A-B2A9-F0DD2C2DD76E}"/>
              </a:ext>
            </a:extLst>
          </p:cNvPr>
          <p:cNvSpPr>
            <a:spLocks xmlns:a="http://schemas.openxmlformats.org/drawingml/2006/main" noGrp="1"/>
          </p:cNvSpPr>
          <p:nvPr/>
        </p:nvSpPr>
        <p:spPr>
          <a:xfrm xmlns:a="http://schemas.openxmlformats.org/drawingml/2006/main">
            <a:off x="5276850" y="2216944"/>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9" name="06">
            <a:extLst xmlns:a="http://schemas.openxmlformats.org/drawingml/2006/main">
              <a:ext uri="{FF2B5EF4-FFF2-40B4-BE49-F238E27FC236}">
                <a16:creationId xmlns:a16="http://schemas.microsoft.com/office/drawing/2014/main" id="{E12D2D2F-BD79-4BC9-A740-2CD974DF81D2}"/>
              </a:ext>
            </a:extLst>
          </p:cNvPr>
          <p:cNvSpPr>
            <a:spLocks xmlns:a="http://schemas.openxmlformats.org/drawingml/2006/main" noGrp="1"/>
          </p:cNvSpPr>
          <p:nvPr/>
        </p:nvSpPr>
        <p:spPr>
          <a:xfrm xmlns:a="http://schemas.openxmlformats.org/drawingml/2006/main">
            <a:off x="481965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0" name="The functional unit makes comparisons honest.">
            <a:extLst xmlns:a="http://schemas.openxmlformats.org/drawingml/2006/main">
              <a:ext uri="{FF2B5EF4-FFF2-40B4-BE49-F238E27FC236}">
                <a16:creationId xmlns:a16="http://schemas.microsoft.com/office/drawing/2014/main" id="{BBC1DD3E-E407-475C-9F5C-EE52C3875166}"/>
              </a:ext>
            </a:extLst>
          </p:cNvPr>
          <p:cNvSpPr>
            <a:spLocks xmlns:a="http://schemas.openxmlformats.org/drawingml/2006/main" noGrp="1"/>
          </p:cNvSpPr>
          <p:nvPr/>
        </p:nvSpPr>
        <p:spPr>
          <a:xfrm xmlns:a="http://schemas.openxmlformats.org/drawingml/2006/main">
            <a:off x="5276850" y="2331244"/>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The functional unit makes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comparisons honest.</a:t>
            </a:r>
          </a:p>
        </p:txBody>
      </p:sp>
      <p:sp>
        <p:nvSpPr>
          <p:cNvPr id="21" name="Editorial frame">
            <a:extLst xmlns:a="http://schemas.openxmlformats.org/drawingml/2006/main">
              <a:ext uri="{FF2B5EF4-FFF2-40B4-BE49-F238E27FC236}">
                <a16:creationId xmlns:a16="http://schemas.microsoft.com/office/drawing/2014/main" id="{DF0BE98F-4022-407C-B051-5C83DB0DBD3A}"/>
              </a:ext>
            </a:extLst>
          </p:cNvPr>
          <p:cNvSpPr>
            <a:spLocks xmlns:a="http://schemas.openxmlformats.org/drawingml/2006/main" noGrp="1"/>
          </p:cNvSpPr>
          <p:nvPr/>
        </p:nvSpPr>
        <p:spPr>
          <a:xfrm xmlns:a="http://schemas.openxmlformats.org/drawingml/2006/main">
            <a:off x="5276850" y="3014663"/>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2" name="07">
            <a:extLst xmlns:a="http://schemas.openxmlformats.org/drawingml/2006/main">
              <a:ext uri="{FF2B5EF4-FFF2-40B4-BE49-F238E27FC236}">
                <a16:creationId xmlns:a16="http://schemas.microsoft.com/office/drawing/2014/main" id="{933EC247-C7D4-4896-9F52-273822519AA9}"/>
              </a:ext>
            </a:extLst>
          </p:cNvPr>
          <p:cNvSpPr>
            <a:spLocks xmlns:a="http://schemas.openxmlformats.org/drawingml/2006/main" noGrp="1"/>
          </p:cNvSpPr>
          <p:nvPr/>
        </p:nvSpPr>
        <p:spPr>
          <a:xfrm xmlns:a="http://schemas.openxmlformats.org/drawingml/2006/main">
            <a:off x="481965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3" name="Ecodesign influences materials, use, repair and en">
            <a:extLst xmlns:a="http://schemas.openxmlformats.org/drawingml/2006/main">
              <a:ext uri="{FF2B5EF4-FFF2-40B4-BE49-F238E27FC236}">
                <a16:creationId xmlns:a16="http://schemas.microsoft.com/office/drawing/2014/main" id="{F9B0C285-931F-4094-98D8-CA48C278CBF5}"/>
              </a:ext>
            </a:extLst>
          </p:cNvPr>
          <p:cNvSpPr>
            <a:spLocks xmlns:a="http://schemas.openxmlformats.org/drawingml/2006/main" noGrp="1"/>
          </p:cNvSpPr>
          <p:nvPr/>
        </p:nvSpPr>
        <p:spPr>
          <a:xfrm xmlns:a="http://schemas.openxmlformats.org/drawingml/2006/main">
            <a:off x="5276850" y="3128963"/>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Ecodesign influences materials, use,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repair and end-of-life impacts.</a:t>
            </a:r>
          </a:p>
        </p:txBody>
      </p:sp>
      <p:sp>
        <p:nvSpPr>
          <p:cNvPr id="24" name="Editorial frame">
            <a:extLst xmlns:a="http://schemas.openxmlformats.org/drawingml/2006/main">
              <a:ext uri="{FF2B5EF4-FFF2-40B4-BE49-F238E27FC236}">
                <a16:creationId xmlns:a16="http://schemas.microsoft.com/office/drawing/2014/main" id="{568C40BC-547D-451B-ADD3-6AAAF9A021BB}"/>
              </a:ext>
            </a:extLst>
          </p:cNvPr>
          <p:cNvSpPr>
            <a:spLocks xmlns:a="http://schemas.openxmlformats.org/drawingml/2006/main" noGrp="1"/>
          </p:cNvSpPr>
          <p:nvPr/>
        </p:nvSpPr>
        <p:spPr>
          <a:xfrm xmlns:a="http://schemas.openxmlformats.org/drawingml/2006/main">
            <a:off x="5276850" y="3812381"/>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5" name="08">
            <a:extLst xmlns:a="http://schemas.openxmlformats.org/drawingml/2006/main">
              <a:ext uri="{FF2B5EF4-FFF2-40B4-BE49-F238E27FC236}">
                <a16:creationId xmlns:a16="http://schemas.microsoft.com/office/drawing/2014/main" id="{9A7BD187-54CD-46FA-89C5-B530E4899A05}"/>
              </a:ext>
            </a:extLst>
          </p:cNvPr>
          <p:cNvSpPr>
            <a:spLocks xmlns:a="http://schemas.openxmlformats.org/drawingml/2006/main" noGrp="1"/>
          </p:cNvSpPr>
          <p:nvPr/>
        </p:nvSpPr>
        <p:spPr>
          <a:xfrm xmlns:a="http://schemas.openxmlformats.org/drawingml/2006/main">
            <a:off x="481965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08</a:t>
            </a:r>
          </a:p>
        </p:txBody>
      </p:sp>
      <p:sp>
        <p:nvSpPr>
          <p:cNvPr id="26" name="GI decisions need life-cycle burdens, operating co">
            <a:extLst xmlns:a="http://schemas.openxmlformats.org/drawingml/2006/main">
              <a:ext uri="{FF2B5EF4-FFF2-40B4-BE49-F238E27FC236}">
                <a16:creationId xmlns:a16="http://schemas.microsoft.com/office/drawing/2014/main" id="{CDDBAE9A-2B3C-49E7-8990-C1006F42A8AC}"/>
              </a:ext>
            </a:extLst>
          </p:cNvPr>
          <p:cNvSpPr>
            <a:spLocks xmlns:a="http://schemas.openxmlformats.org/drawingml/2006/main" noGrp="1"/>
          </p:cNvSpPr>
          <p:nvPr/>
        </p:nvSpPr>
        <p:spPr>
          <a:xfrm xmlns:a="http://schemas.openxmlformats.org/drawingml/2006/main">
            <a:off x="5276850" y="3926681"/>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GI decisions need life-cycle burdens,</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operating costs and wider benefits.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cc23c405fd1444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8" name="www.newton.university">
            <a:extLst xmlns:a="http://schemas.openxmlformats.org/drawingml/2006/main">
              <a:ext uri="{FF2B5EF4-FFF2-40B4-BE49-F238E27FC236}">
                <a16:creationId xmlns:a16="http://schemas.microsoft.com/office/drawing/2014/main" id="{E8B4955E-E86E-471C-9BEF-CC1DD1A621A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9" name="25">
            <a:extLst xmlns:a="http://schemas.openxmlformats.org/drawingml/2006/main">
              <a:ext uri="{FF2B5EF4-FFF2-40B4-BE49-F238E27FC236}">
                <a16:creationId xmlns:a16="http://schemas.microsoft.com/office/drawing/2014/main" id="{842257F5-2B35-4A91-BFBD-4C2A4C4BF0D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25</a:t>
            </a:r>
          </a:p>
        </p:txBody>
      </p:sp>
    </p:spTree>
    <p:extLst>
      <p:ext uri="{BB962C8B-B14F-4D97-AF65-F5344CB8AC3E}">
        <p14:creationId xmlns:p14="http://schemas.microsoft.com/office/powerpoint/2010/main" val="926915422"/>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7" name="Recommended Reading">
            <a:extLst xmlns:a="http://schemas.openxmlformats.org/drawingml/2006/main">
              <a:ext uri="{FF2B5EF4-FFF2-40B4-BE49-F238E27FC236}">
                <a16:creationId xmlns:a16="http://schemas.microsoft.com/office/drawing/2014/main" id="{281F824E-0E29-4560-AF45-8426563CD4DF}"/>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Recommended Reading</a:t>
            </a:r>
          </a:p>
        </p:txBody>
      </p:sp>
      <p:sp>
        <p:nvSpPr>
          <p:cNvPr id="2" name="Editorial frame">
            <a:extLst xmlns:a="http://schemas.openxmlformats.org/drawingml/2006/main">
              <a:ext uri="{FF2B5EF4-FFF2-40B4-BE49-F238E27FC236}">
                <a16:creationId xmlns:a16="http://schemas.microsoft.com/office/drawing/2014/main" id="{2DB70FC7-81DF-40BB-B3E3-F0210A094C1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BB1FA3FD-8060-43CF-95DD-7B1FD74AD70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uropean Environment Agency — indicators for urban">
            <a:extLst xmlns:a="http://schemas.openxmlformats.org/drawingml/2006/main">
              <a:ext uri="{FF2B5EF4-FFF2-40B4-BE49-F238E27FC236}">
                <a16:creationId xmlns:a16="http://schemas.microsoft.com/office/drawing/2014/main" id="{041FCCD1-1608-47B8-9CD3-6A56702C513F}"/>
              </a:ext>
            </a:extLst>
          </p:cNvPr>
          <p:cNvSpPr>
            <a:spLocks xmlns:a="http://schemas.openxmlformats.org/drawingml/2006/main" noGrp="1"/>
          </p:cNvSpPr>
          <p:nvPr/>
        </p:nvSpPr>
        <p:spPr>
          <a:xfrm xmlns:a="http://schemas.openxmlformats.org/drawingml/2006/main">
            <a:off x="495300" y="1524000"/>
            <a:ext cx="5305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European Environment Agency — indicators for urban green</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space.</a:t>
            </a:r>
          </a:p>
        </p:txBody>
      </p:sp>
      <p:sp>
        <p:nvSpPr>
          <p:cNvPr id="5" name="i-Tree tools documentation (itreetools.org).">
            <a:extLst xmlns:a="http://schemas.openxmlformats.org/drawingml/2006/main">
              <a:ext uri="{FF2B5EF4-FFF2-40B4-BE49-F238E27FC236}">
                <a16:creationId xmlns:a16="http://schemas.microsoft.com/office/drawing/2014/main" id="{EE92E5B2-0162-4F8D-835E-0303862C7D18}"/>
              </a:ext>
            </a:extLst>
          </p:cNvPr>
          <p:cNvSpPr>
            <a:spLocks xmlns:a="http://schemas.openxmlformats.org/drawingml/2006/main" noGrp="1"/>
          </p:cNvSpPr>
          <p:nvPr/>
        </p:nvSpPr>
        <p:spPr>
          <a:xfrm xmlns:a="http://schemas.openxmlformats.org/drawingml/2006/main">
            <a:off x="495300" y="21717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i-Tree tools documentation (itreetools.org).</a:t>
            </a:r>
          </a:p>
        </p:txBody>
      </p:sp>
      <p:sp>
        <p:nvSpPr>
          <p:cNvPr id="6" name="GRI Standards — introduction to sustainability rep">
            <a:extLst xmlns:a="http://schemas.openxmlformats.org/drawingml/2006/main">
              <a:ext uri="{FF2B5EF4-FFF2-40B4-BE49-F238E27FC236}">
                <a16:creationId xmlns:a16="http://schemas.microsoft.com/office/drawing/2014/main" id="{1EF016E7-923F-4688-ACA4-9213348A614A}"/>
              </a:ext>
            </a:extLst>
          </p:cNvPr>
          <p:cNvSpPr>
            <a:spLocks xmlns:a="http://schemas.openxmlformats.org/drawingml/2006/main" noGrp="1"/>
          </p:cNvSpPr>
          <p:nvPr/>
        </p:nvSpPr>
        <p:spPr>
          <a:xfrm xmlns:a="http://schemas.openxmlformats.org/drawingml/2006/main">
            <a:off x="495300" y="25908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GRI Standards — introduction to sustainability reporting.</a:t>
            </a:r>
          </a:p>
        </p:txBody>
      </p:sp>
      <p:sp>
        <p:nvSpPr>
          <p:cNvPr id="7" name="ISO 14040:2006 — Environmental management, LCA, Pr">
            <a:extLst xmlns:a="http://schemas.openxmlformats.org/drawingml/2006/main">
              <a:ext uri="{FF2B5EF4-FFF2-40B4-BE49-F238E27FC236}">
                <a16:creationId xmlns:a16="http://schemas.microsoft.com/office/drawing/2014/main" id="{3536A9F7-8332-4778-ADE8-FED8E973C08D}"/>
              </a:ext>
            </a:extLst>
          </p:cNvPr>
          <p:cNvSpPr>
            <a:spLocks xmlns:a="http://schemas.openxmlformats.org/drawingml/2006/main" noGrp="1"/>
          </p:cNvSpPr>
          <p:nvPr/>
        </p:nvSpPr>
        <p:spPr>
          <a:xfrm xmlns:a="http://schemas.openxmlformats.org/drawingml/2006/main">
            <a:off x="495300" y="3009900"/>
            <a:ext cx="5305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ISO 14040:2006 — Environmental management, LCA,</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Principles and framework.</a:t>
            </a:r>
          </a:p>
        </p:txBody>
      </p:sp>
      <p:sp>
        <p:nvSpPr>
          <p:cNvPr id="8" name="European Commission — Ecodesign for Sustainable Pr">
            <a:extLst xmlns:a="http://schemas.openxmlformats.org/drawingml/2006/main">
              <a:ext uri="{FF2B5EF4-FFF2-40B4-BE49-F238E27FC236}">
                <a16:creationId xmlns:a16="http://schemas.microsoft.com/office/drawing/2014/main" id="{D7306304-C85E-41FD-8132-AA2127A2CA1A}"/>
              </a:ext>
            </a:extLst>
          </p:cNvPr>
          <p:cNvSpPr>
            <a:spLocks xmlns:a="http://schemas.openxmlformats.org/drawingml/2006/main" noGrp="1"/>
          </p:cNvSpPr>
          <p:nvPr/>
        </p:nvSpPr>
        <p:spPr>
          <a:xfrm xmlns:a="http://schemas.openxmlformats.org/drawingml/2006/main">
            <a:off x="495300" y="3657600"/>
            <a:ext cx="5305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European Commission — Ecodesign for Sustainable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Products Regulation (ESPR).</a:t>
            </a:r>
          </a:p>
        </p:txBody>
      </p:sp>
      <p:sp>
        <p:nvSpPr>
          <p:cNvPr id="9" name="Editorial frame">
            <a:extLst xmlns:a="http://schemas.openxmlformats.org/drawingml/2006/main">
              <a:ext uri="{FF2B5EF4-FFF2-40B4-BE49-F238E27FC236}">
                <a16:creationId xmlns:a16="http://schemas.microsoft.com/office/drawing/2014/main" id="{CF8E2CF5-93BF-42CB-B89E-A26F7E423E95}"/>
              </a:ext>
            </a:extLst>
          </p:cNvPr>
          <p:cNvSpPr>
            <a:spLocks xmlns:a="http://schemas.openxmlformats.org/drawingml/2006/main" noGrp="1"/>
          </p:cNvSpPr>
          <p:nvPr/>
        </p:nvSpPr>
        <p:spPr>
          <a:xfrm xmlns:a="http://schemas.openxmlformats.org/drawingml/2006/main">
            <a:off x="6076950" y="1438275"/>
            <a:ext cx="2714625" cy="3248025"/>
          </a:xfrm>
          <a:prstGeom xmlns:a="http://schemas.openxmlformats.org/drawingml/2006/main" prst="rect">
            <a:avLst/>
          </a:prstGeom>
          <a:solidFill xmlns:a="http://schemas.openxmlformats.org/drawingml/2006/main">
            <a:srgbClr val="E3E9D9"/>
          </a:solidFill>
          <a:ln xmlns:a="http://schemas.openxmlformats.org/drawingml/2006/main" w="7620">
            <a:solidFill>
              <a:srgbClr val="B7C3B1"/>
            </a:solidFill>
          </a:ln>
        </p:spPr>
      </p:sp>
      <p:sp>
        <p:nvSpPr>
          <p:cNvPr id="10" name="Seminar 3 preview">
            <a:extLst xmlns:a="http://schemas.openxmlformats.org/drawingml/2006/main">
              <a:ext uri="{FF2B5EF4-FFF2-40B4-BE49-F238E27FC236}">
                <a16:creationId xmlns:a16="http://schemas.microsoft.com/office/drawing/2014/main" id="{6FD35BCD-79EB-4B08-9358-774B11C4901F}"/>
              </a:ext>
            </a:extLst>
          </p:cNvPr>
          <p:cNvSpPr>
            <a:spLocks xmlns:a="http://schemas.openxmlformats.org/drawingml/2006/main" noGrp="1"/>
          </p:cNvSpPr>
          <p:nvPr/>
        </p:nvSpPr>
        <p:spPr>
          <a:xfrm xmlns:a="http://schemas.openxmlformats.org/drawingml/2006/main">
            <a:off x="6267450" y="1638300"/>
            <a:ext cx="2324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Seminar 3 preview</a:t>
            </a:r>
          </a:p>
        </p:txBody>
      </p:sp>
      <p:sp>
        <p:nvSpPr>
          <p:cNvPr id="11" name="You will apply lifecycle mapping and ecodesign to ">
            <a:extLst xmlns:a="http://schemas.openxmlformats.org/drawingml/2006/main">
              <a:ext uri="{FF2B5EF4-FFF2-40B4-BE49-F238E27FC236}">
                <a16:creationId xmlns:a16="http://schemas.microsoft.com/office/drawing/2014/main" id="{3C84398C-29DF-46A8-B1C7-4FD0AFD3D123}"/>
              </a:ext>
            </a:extLst>
          </p:cNvPr>
          <p:cNvSpPr>
            <a:spLocks xmlns:a="http://schemas.openxmlformats.org/drawingml/2006/main" noGrp="1"/>
          </p:cNvSpPr>
          <p:nvPr/>
        </p:nvSpPr>
        <p:spPr>
          <a:xfrm xmlns:a="http://schemas.openxmlformats.org/drawingml/2006/main">
            <a:off x="6267450" y="2044065"/>
            <a:ext cx="2324100" cy="897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You will apply lifecycle</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mapping and ecodesign to</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your Prague case-study</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site.</a:t>
            </a:r>
          </a:p>
        </p:txBody>
      </p:sp>
      <p:sp>
        <p:nvSpPr>
          <p:cNvPr id="12" name="Next lecture">
            <a:extLst xmlns:a="http://schemas.openxmlformats.org/drawingml/2006/main">
              <a:ext uri="{FF2B5EF4-FFF2-40B4-BE49-F238E27FC236}">
                <a16:creationId xmlns:a16="http://schemas.microsoft.com/office/drawing/2014/main" id="{95A37968-DBED-4A50-9266-4C8D7A505F03}"/>
              </a:ext>
            </a:extLst>
          </p:cNvPr>
          <p:cNvSpPr>
            <a:spLocks xmlns:a="http://schemas.openxmlformats.org/drawingml/2006/main" noGrp="1"/>
          </p:cNvSpPr>
          <p:nvPr/>
        </p:nvSpPr>
        <p:spPr>
          <a:xfrm xmlns:a="http://schemas.openxmlformats.org/drawingml/2006/main">
            <a:off x="6267450" y="3131820"/>
            <a:ext cx="2324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Next lecture</a:t>
            </a:r>
          </a:p>
        </p:txBody>
      </p:sp>
      <p:sp>
        <p:nvSpPr>
          <p:cNvPr id="13" name="Stakeholder Engagement, Communication and Smart Ci">
            <a:extLst xmlns:a="http://schemas.openxmlformats.org/drawingml/2006/main">
              <a:ext uri="{FF2B5EF4-FFF2-40B4-BE49-F238E27FC236}">
                <a16:creationId xmlns:a16="http://schemas.microsoft.com/office/drawing/2014/main" id="{EB631D78-B923-4ACE-B228-289965AEDB4B}"/>
              </a:ext>
            </a:extLst>
          </p:cNvPr>
          <p:cNvSpPr>
            <a:spLocks xmlns:a="http://schemas.openxmlformats.org/drawingml/2006/main" noGrp="1"/>
          </p:cNvSpPr>
          <p:nvPr/>
        </p:nvSpPr>
        <p:spPr>
          <a:xfrm xmlns:a="http://schemas.openxmlformats.org/drawingml/2006/main">
            <a:off x="6267450" y="3537585"/>
            <a:ext cx="2324100" cy="680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Stakeholder Engagement,</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Communication and Smart</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Cities.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559d94daf22490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5" name="www.newton.university">
            <a:extLst xmlns:a="http://schemas.openxmlformats.org/drawingml/2006/main">
              <a:ext uri="{FF2B5EF4-FFF2-40B4-BE49-F238E27FC236}">
                <a16:creationId xmlns:a16="http://schemas.microsoft.com/office/drawing/2014/main" id="{A84DDCCC-37BF-4975-9FD4-FD9BECBFFB5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6" name="26">
            <a:extLst xmlns:a="http://schemas.openxmlformats.org/drawingml/2006/main">
              <a:ext uri="{FF2B5EF4-FFF2-40B4-BE49-F238E27FC236}">
                <a16:creationId xmlns:a16="http://schemas.microsoft.com/office/drawing/2014/main" id="{8383530C-6325-4FD1-BA61-845F39B42F0D}"/>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26</a:t>
            </a:r>
          </a:p>
        </p:txBody>
      </p:sp>
    </p:spTree>
    <p:extLst>
      <p:ext uri="{BB962C8B-B14F-4D97-AF65-F5344CB8AC3E}">
        <p14:creationId xmlns:p14="http://schemas.microsoft.com/office/powerpoint/2010/main" val="108138955"/>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7639e7d4e3c4018"/>
          <a:srcRect xmlns:a="http://schemas.openxmlformats.org/drawingml/2006/main" l="2500" t="0" r="2500" b="0"/>
          <a:stretch xmlns:a="http://schemas.openxmlformats.org/drawingml/2006/main">
            <a:fillRect l="0" t="0" r="0" b="0"/>
          </a:stretch>
        </p:blipFill>
        <p:spPr>
          <a:xfrm xmlns:a="http://schemas.openxmlformats.org/drawingml/2006/main">
            <a:off x="5886450" y="0"/>
            <a:ext cx="3257550" cy="5143500"/>
          </a:xfrm>
          <a:prstGeom xmlns:a="http://schemas.openxmlformats.org/drawingml/2006/main" prst="rect">
            <a:avLst/>
          </a:prstGeom>
        </p:spPr>
      </p:pic>
      <p:sp>
        <p:nvSpPr>
          <p:cNvPr id="2" name="Any&#10;questions?">
            <a:extLst xmlns:a="http://schemas.openxmlformats.org/drawingml/2006/main">
              <a:ext uri="{FF2B5EF4-FFF2-40B4-BE49-F238E27FC236}">
                <a16:creationId xmlns:a16="http://schemas.microsoft.com/office/drawing/2014/main" id="{A237DCA2-5EB2-4A2E-A8E8-9C9F0F3DBA9A}"/>
              </a:ext>
            </a:extLst>
          </p:cNvPr>
          <p:cNvSpPr>
            <a:spLocks xmlns:a="http://schemas.openxmlformats.org/drawingml/2006/main" noGrp="1"/>
          </p:cNvSpPr>
          <p:nvPr/>
        </p:nvSpPr>
        <p:spPr>
          <a:xfrm xmlns:a="http://schemas.openxmlformats.org/drawingml/2006/main">
            <a:off x="495300" y="1381125"/>
            <a:ext cx="5143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Any</a:t>
            </a:r>
          </a:p>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questions?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c81dbdf430141e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4" name="www.newton.university">
            <a:extLst xmlns:a="http://schemas.openxmlformats.org/drawingml/2006/main">
              <a:ext uri="{FF2B5EF4-FFF2-40B4-BE49-F238E27FC236}">
                <a16:creationId xmlns:a16="http://schemas.microsoft.com/office/drawing/2014/main" id="{8B20667D-EBF6-4E8F-920B-D846BCCBE51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5" name="27">
            <a:extLst xmlns:a="http://schemas.openxmlformats.org/drawingml/2006/main">
              <a:ext uri="{FF2B5EF4-FFF2-40B4-BE49-F238E27FC236}">
                <a16:creationId xmlns:a16="http://schemas.microsoft.com/office/drawing/2014/main" id="{8C540563-31EA-4B88-A576-2656AF0B76C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27</a:t>
            </a:r>
          </a:p>
        </p:txBody>
      </p:sp>
    </p:spTree>
    <p:extLst>
      <p:ext uri="{BB962C8B-B14F-4D97-AF65-F5344CB8AC3E}">
        <p14:creationId xmlns:p14="http://schemas.microsoft.com/office/powerpoint/2010/main" val="353933896"/>
      </p:ext>
    </p:extLst>
  </p:cSld>
</p:sld>
</file>

<file path=ppt/slides/slide2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Image credits">
            <a:extLst xmlns:a="http://schemas.openxmlformats.org/drawingml/2006/main">
              <a:ext uri="{FF2B5EF4-FFF2-40B4-BE49-F238E27FC236}">
                <a16:creationId xmlns:a16="http://schemas.microsoft.com/office/drawing/2014/main" id="{33453E88-D6A0-47A6-B7AF-BFF882CEFAE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Image credits</a:t>
            </a:r>
          </a:p>
        </p:txBody>
      </p:sp>
      <p:sp>
        <p:nvSpPr>
          <p:cNvPr id="2" name="Editorial frame">
            <a:extLst xmlns:a="http://schemas.openxmlformats.org/drawingml/2006/main">
              <a:ext uri="{FF2B5EF4-FFF2-40B4-BE49-F238E27FC236}">
                <a16:creationId xmlns:a16="http://schemas.microsoft.com/office/drawing/2014/main" id="{F7CF4949-7C0E-412F-B8CB-F0C06F882A0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4075ADDC-A297-4111-92A0-D5105C0DAAC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Praha - Letná Park - View South.jpg — CC BY-SA 4.0">
            <a:extLst xmlns:a="http://schemas.openxmlformats.org/drawingml/2006/main">
              <a:ext uri="{FF2B5EF4-FFF2-40B4-BE49-F238E27FC236}">
                <a16:creationId xmlns:a16="http://schemas.microsoft.com/office/drawing/2014/main" id="{81E15C87-994E-4F8F-B79B-F648BE1998AD}"/>
              </a:ext>
            </a:extLst>
          </p:cNvPr>
          <p:cNvSpPr>
            <a:spLocks xmlns:a="http://schemas.openxmlformats.org/drawingml/2006/main" noGrp="1"/>
          </p:cNvSpPr>
          <p:nvPr/>
        </p:nvSpPr>
        <p:spPr>
          <a:xfrm xmlns:a="http://schemas.openxmlformats.org/drawingml/2006/main">
            <a:off x="495300" y="156210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Praha - Letná Park - View South.jpg — CC BY-SA 4.0, Wikimedia Commons</a:t>
            </a:r>
          </a:p>
        </p:txBody>
      </p:sp>
      <p:sp>
        <p:nvSpPr>
          <p:cNvPr id="5" name="QGIS Interface Screenshot with Map of Median Incom">
            <a:extLst xmlns:a="http://schemas.openxmlformats.org/drawingml/2006/main">
              <a:ext uri="{FF2B5EF4-FFF2-40B4-BE49-F238E27FC236}">
                <a16:creationId xmlns:a16="http://schemas.microsoft.com/office/drawing/2014/main" id="{846E04B2-84DA-4EA0-87AB-066CC60F6144}"/>
              </a:ext>
            </a:extLst>
          </p:cNvPr>
          <p:cNvSpPr>
            <a:spLocks xmlns:a="http://schemas.openxmlformats.org/drawingml/2006/main" noGrp="1"/>
          </p:cNvSpPr>
          <p:nvPr/>
        </p:nvSpPr>
        <p:spPr>
          <a:xfrm xmlns:a="http://schemas.openxmlformats.org/drawingml/2006/main">
            <a:off x="495300" y="192595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QGIS Interface Screenshot with Map of Median Income in Houston (2010).png — CC0, Wikimedia Commons</a:t>
            </a:r>
          </a:p>
        </p:txBody>
      </p:sp>
      <p:sp>
        <p:nvSpPr>
          <p:cNvPr id="6" name="20080708 Chicago City Hall Green Roof.JPG — CC BY-">
            <a:extLst xmlns:a="http://schemas.openxmlformats.org/drawingml/2006/main">
              <a:ext uri="{FF2B5EF4-FFF2-40B4-BE49-F238E27FC236}">
                <a16:creationId xmlns:a16="http://schemas.microsoft.com/office/drawing/2014/main" id="{BB03C01A-E8DC-4063-AE01-D736F43D8C3F}"/>
              </a:ext>
            </a:extLst>
          </p:cNvPr>
          <p:cNvSpPr>
            <a:spLocks xmlns:a="http://schemas.openxmlformats.org/drawingml/2006/main" noGrp="1"/>
          </p:cNvSpPr>
          <p:nvPr/>
        </p:nvSpPr>
        <p:spPr>
          <a:xfrm xmlns:a="http://schemas.openxmlformats.org/drawingml/2006/main">
            <a:off x="495300" y="228981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20080708 Chicago City Hall Green Roof.JPG — CC BY-SA 3.0, Wikimedia Commons</a:t>
            </a:r>
          </a:p>
        </p:txBody>
      </p:sp>
      <p:sp>
        <p:nvSpPr>
          <p:cNvPr id="7" name="Conceptual cover and leaf artwork: OpenAI image ge">
            <a:extLst xmlns:a="http://schemas.openxmlformats.org/drawingml/2006/main">
              <a:ext uri="{FF2B5EF4-FFF2-40B4-BE49-F238E27FC236}">
                <a16:creationId xmlns:a16="http://schemas.microsoft.com/office/drawing/2014/main" id="{4C63B508-E967-4BCB-814D-66C72642F2D6}"/>
              </a:ext>
            </a:extLst>
          </p:cNvPr>
          <p:cNvSpPr>
            <a:spLocks xmlns:a="http://schemas.openxmlformats.org/drawingml/2006/main" noGrp="1"/>
          </p:cNvSpPr>
          <p:nvPr/>
        </p:nvSpPr>
        <p:spPr>
          <a:xfrm xmlns:a="http://schemas.openxmlformats.org/drawingml/2006/main">
            <a:off x="495300" y="265366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Conceptual cover and leaf artwork: OpenAI image generation, September 2026. Reused from approved Lecture 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2393c061da4470f"/>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9" name="www.newton.university">
            <a:extLst xmlns:a="http://schemas.openxmlformats.org/drawingml/2006/main">
              <a:ext uri="{FF2B5EF4-FFF2-40B4-BE49-F238E27FC236}">
                <a16:creationId xmlns:a16="http://schemas.microsoft.com/office/drawing/2014/main" id="{04698C7D-813C-46E6-90C4-AE8072C4E1D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0" name="28">
            <a:extLst xmlns:a="http://schemas.openxmlformats.org/drawingml/2006/main">
              <a:ext uri="{FF2B5EF4-FFF2-40B4-BE49-F238E27FC236}">
                <a16:creationId xmlns:a16="http://schemas.microsoft.com/office/drawing/2014/main" id="{35A54CD9-4DD0-4176-95CB-9A4A323FF8A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28</a:t>
            </a:r>
          </a:p>
        </p:txBody>
      </p:sp>
    </p:spTree>
    <p:extLst>
      <p:ext uri="{BB962C8B-B14F-4D97-AF65-F5344CB8AC3E}">
        <p14:creationId xmlns:p14="http://schemas.microsoft.com/office/powerpoint/2010/main" val="20058938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2026-10-05T17:22:58.4000000Z</dcterms:created>
  <dcterms:modified xsi:type="dcterms:W3CDTF">2026-10-05T17:22:58.4000000Z</dcterms:modified>
</coreProperties>
</file>