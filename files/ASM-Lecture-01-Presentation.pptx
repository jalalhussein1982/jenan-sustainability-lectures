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2"/>
  </p:normalViewPr>
  <p:slideViewPr>
    <p:cSldViewPr snapToGrid="0">
      <p:cViewPr varScale="1">
        <p:scale>
          <a:sx n="132" d="100"/>
          <a:sy n="132" d="100"/>
        </p:scale>
        <p:origin x="94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AI-generated conceptual artwork created with OpenAI image generation, September 2026. Decorative illustration; not a photograph of a documented location or case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AI-generated conceptual artwork created with OpenAI image generation, September 2026. Decorative illustration; not a photograph of a documented location or case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 Edmund Hall Living Wall.jpg — CC BY-SA 4.0, Wikimedia Commons</a:t>
            </a:r>
          </a:p>
          <a:p>
            <a:r>
              <a:t>https://commons.wikimedia.org/wiki/File:St_Edmund_Hall_Living_Wall.jpg</a:t>
            </a:r>
          </a:p>
          <a:p>
            <a:r>
              <a:t>Source photograph retained from original deck; cropped for layout.</a:t>
            </a:r>
          </a:p>
          <a:p>
            <a:r>
              <a:t>Caption clarified: the source image identifies St Edmund Hall, rather than an office building.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20080708 Chicago City Hall Green Roof.JPG — CC BY-SA 3.0, Wikimedia Commons</a:t>
            </a:r>
          </a:p>
          <a:p>
            <a:r>
              <a:t>https://commons.wikimedia.org/wiki/File:20080708_Chicago_City_Hall_Green_Roof.JPG</a:t>
            </a:r>
          </a:p>
          <a:p>
            <a:r>
              <a:t>Source photograph retained from original deck; cropped for layout.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Prague - view from Charles Bridge (by Pudelek).jpg — CC BY-SA 3.0, Wikimedia Commons</a:t>
            </a:r>
          </a:p>
          <a:p>
            <a:r>
              <a:t>https://commons.wikimedia.org/wiki/File:Prague_-_view_from_Charles_Bridge_(by_Pudelek).jpg</a:t>
            </a:r>
          </a:p>
          <a:p>
            <a:r>
              <a:t>Source photograph retained from original deck; cropped for layout.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Královská obora (Stromovka) park in Prague, Czech Republic. - panoramio.jpg — CC BY-SA 3.0, Wikimedia Commons</a:t>
            </a:r>
          </a:p>
          <a:p>
            <a:r>
              <a:t>https://commons.wikimedia.org/wiki/File:Kr%C3%A1lovsk%C3%A1_obora_(Stromovka)_park_in_Prague%2C_Czech_Republic._-_panoramio.jpg</a:t>
            </a:r>
          </a:p>
          <a:p>
            <a:r>
              <a:t>Source photograph retained from original deck; cropped for layout.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Supertree Grove, Gardens by the Bay, Singapore1.jpg — CC0, Wikimedia Commons</a:t>
            </a:r>
          </a:p>
          <a:p>
            <a:r>
              <a:t>https://commons.wikimedia.org/wiki/File:Supertree_Grove%2C_Gardens_by_the_Bay%2C_Singapore1.jpg</a:t>
            </a:r>
          </a:p>
          <a:p>
            <a:r>
              <a:t>Source photograph retained from original deck; cropped for layout.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Spruce Run Reservoir drought from beach (2), Nov. 2024.jpg — CC BY-SA 4.0, Wikimedia Commons</a:t>
            </a:r>
          </a:p>
          <a:p>
            <a:r>
              <a:t>https://commons.wikimedia.org/wiki/File:Spruce_Run_Reservoir_drought_from_beach_(2)%2C_Nov._2024.jpg</a:t>
            </a:r>
          </a:p>
          <a:p>
            <a:r>
              <a:t>Source photograph retained from original deck; cropped for layout.</a:t>
            </a:r>
          </a:p>
          <a:p>
            <a:r>
              <a:t>Photograph location verified: New Jersey. https://commons.wikimedia.org/wiki/Category:Drought_in_New_Jersey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Amazon rainforest (Satellite picture).jpg — CC BY-SA 2.0, Wikimedia Commons</a:t>
            </a:r>
          </a:p>
          <a:p>
            <a:r>
              <a:t>https://commons.wikimedia.org/wiki/File:Amazon_rainforest_(Satellite_picture).jpg</a:t>
            </a:r>
          </a:p>
          <a:p>
            <a:r>
              <a:t>Source photograph retained from original deck; cropped for layout.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Panoramic view of air pollution in São Paulo city, Brazil.jpg — CC0, Wikimedia Commons</a:t>
            </a:r>
          </a:p>
          <a:p>
            <a:r>
              <a:t>https://commons.wikimedia.org/wiki/File:Panoramic_view_of_air_pollution_in_S%C3%A3o_Paulo_city%2C_Brazil.jpg</a:t>
            </a:r>
          </a:p>
          <a:p>
            <a:r>
              <a:t>Source photograph retained from original deck; cropped for layout.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AI-generated conceptual artwork created with OpenAI image generation, September 2026. Decorative illustration; not a photograph of a documented location or case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Riverview-Fisk Park Jersey City November 2021 001.jpg — CC BY-SA 4.0, Wikimedia Commons</a:t>
            </a:r>
          </a:p>
          <a:p>
            <a:r>
              <a:t>https://commons.wikimedia.org/wiki/File:Riverview-Fisk_Park_Jersey_City_November_2021_001.jpg</a:t>
            </a:r>
          </a:p>
          <a:p>
            <a:r>
              <a:t>Source photograph retained from original deck; cropped for layout.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Harbour Bath, Islands Brygge.jpg — CC BY 2.0, Wikimedia Commons</a:t>
            </a:r>
          </a:p>
          <a:p>
            <a:r>
              <a:t>https://commons.wikimedia.org/wiki/File:Harbour_Bath%2C_Islands_Brygge.jpg</a:t>
            </a:r>
          </a:p>
          <a:p>
            <a:r>
              <a:t>Source photograph retained from original deck; cropped for layout.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Benthemplein terrain skate gestion eau.jpg — CC BY-SA 4.0, Wikimedia Commons</a:t>
            </a:r>
          </a:p>
          <a:p>
            <a:r>
              <a:t>https://commons.wikimedia.org/wiki/File:Benthemplein_terrain_skate_gestion_eau.jpg</a:t>
            </a:r>
          </a:p>
          <a:p>
            <a:r>
              <a:t>Source photograph retained from original deck; cropped for layout.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Husinec (Praha-východ), od Žalova, povodeň 2013-06-05.jpg — CC BY-SA 3.0, Wikimedia Commons</a:t>
            </a:r>
          </a:p>
          <a:p>
            <a:r>
              <a:t>https://commons.wikimedia.org/wiki/File:Husinec_(Praha-v%C3%BDchod)%2C_od_%C5%BDalova%2C_povode%C5%88_2013-06-05.jpg</a:t>
            </a:r>
          </a:p>
          <a:p>
            <a:r>
              <a:t>Source photograph retained from original deck; cropped for layout.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Praha - Letná Park - View South.jpg — CC BY-SA 4.0, Wikimedia Commons</a:t>
            </a:r>
          </a:p>
          <a:p>
            <a:r>
              <a:t>https://commons.wikimedia.org/wiki/File:Praha_-_Letn%C3%A1_Park_-_View_South.jpg</a:t>
            </a:r>
          </a:p>
          <a:p>
            <a:r>
              <a:t>Source photograph retained from original deck; cropped for layout.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AI-generated conceptual artwork created with OpenAI image generation, September 2026. Decorative illustration; not a photograph of a documented location or case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41F3B"/>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srcRect l="28634" r="28634"/>
          <a:stretch>
            <a:fillRect/>
          </a:stretch>
        </p:blipFill>
        <p:spPr>
          <a:xfrm>
            <a:off x="5238750" y="0"/>
            <a:ext cx="3905250" cy="5143500"/>
          </a:xfrm>
          <a:prstGeom prst="rect">
            <a:avLst/>
          </a:prstGeom>
        </p:spPr>
      </p:pic>
      <p:pic>
        <p:nvPicPr>
          <p:cNvPr id="7" name="Picture 6"/>
          <p:cNvPicPr>
            <a:picLocks noChangeAspect="1"/>
          </p:cNvPicPr>
          <p:nvPr/>
        </p:nvPicPr>
        <p:blipFill>
          <a:blip r:embed="rId4"/>
          <a:stretch/>
        </p:blipFill>
        <p:spPr>
          <a:xfrm>
            <a:off x="495300" y="335151"/>
            <a:ext cx="1771650" cy="320298"/>
          </a:xfrm>
          <a:prstGeom prst="rect">
            <a:avLst/>
          </a:prstGeom>
        </p:spPr>
      </p:pic>
      <p:sp>
        <p:nvSpPr>
          <p:cNvPr id="3" name="Applied Sustainability in Business and Manage">
            <a:extLst>
              <a:ext uri="{FF2B5EF4-FFF2-40B4-BE49-F238E27FC236}">
                <a16:creationId xmlns:a16="http://schemas.microsoft.com/office/drawing/2014/main" id="{6FA6431E-1E88-46F5-B50F-8CAB9F014950}"/>
              </a:ext>
            </a:extLst>
          </p:cNvPr>
          <p:cNvSpPr>
            <a:spLocks noGrp="1"/>
          </p:cNvSpPr>
          <p:nvPr/>
        </p:nvSpPr>
        <p:spPr>
          <a:xfrm>
            <a:off x="495300" y="1066800"/>
            <a:ext cx="4381500" cy="1714500"/>
          </a:xfrm>
          <a:prstGeom prst="rect">
            <a:avLst/>
          </a:prstGeom>
          <a:noFill/>
          <a:ln w="0">
            <a:noFill/>
          </a:ln>
        </p:spPr>
        <p:txBody>
          <a:bodyPr wrap="square" lIns="0" tIns="0" rIns="0" bIns="0" anchor="t">
            <a:noAutofit/>
          </a:bodyPr>
          <a:lstStyle/>
          <a:p>
            <a:pPr>
              <a:defRPr sz="3150" b="0" i="0">
                <a:solidFill>
                  <a:srgbClr val="F5F2EA"/>
                </a:solidFill>
                <a:latin typeface="Georgia"/>
                <a:ea typeface="Georgia"/>
                <a:cs typeface="Georgia"/>
              </a:defRPr>
            </a:pPr>
            <a:r>
              <a:rPr sz="3150" b="0" i="0">
                <a:solidFill>
                  <a:srgbClr val="F5F2EA"/>
                </a:solidFill>
                <a:latin typeface="Georgia"/>
                <a:ea typeface="Georgia"/>
                <a:cs typeface="Georgia"/>
              </a:rPr>
              <a:t>Applied Sustainability in Business and Management</a:t>
            </a:r>
          </a:p>
        </p:txBody>
      </p:sp>
      <p:sp>
        <p:nvSpPr>
          <p:cNvPr id="4" name="Lecture 1 — Foundations of Sustainability, En">
            <a:extLst>
              <a:ext uri="{FF2B5EF4-FFF2-40B4-BE49-F238E27FC236}">
                <a16:creationId xmlns:a16="http://schemas.microsoft.com/office/drawing/2014/main" id="{396C81DD-9D81-48E8-87D2-E355BFB39A5A}"/>
              </a:ext>
            </a:extLst>
          </p:cNvPr>
          <p:cNvSpPr>
            <a:spLocks noGrp="1"/>
          </p:cNvSpPr>
          <p:nvPr/>
        </p:nvSpPr>
        <p:spPr>
          <a:xfrm>
            <a:off x="495300" y="2914650"/>
            <a:ext cx="4191000" cy="1190625"/>
          </a:xfrm>
          <a:prstGeom prst="rect">
            <a:avLst/>
          </a:prstGeom>
          <a:noFill/>
          <a:ln w="0">
            <a:noFill/>
          </a:ln>
        </p:spPr>
        <p:txBody>
          <a:bodyPr wrap="square" lIns="0" tIns="0" rIns="0" bIns="0" anchor="t">
            <a:noAutofit/>
          </a:bodyPr>
          <a:lstStyle/>
          <a:p>
            <a:pPr>
              <a:defRPr sz="1800" b="0" i="0">
                <a:solidFill>
                  <a:srgbClr val="F5F2EA"/>
                </a:solidFill>
                <a:latin typeface="Arial"/>
                <a:ea typeface="Arial"/>
                <a:cs typeface="Arial"/>
              </a:defRPr>
            </a:pPr>
            <a:r>
              <a:rPr sz="1800" b="0" i="0">
                <a:solidFill>
                  <a:srgbClr val="F5F2EA"/>
                </a:solidFill>
                <a:latin typeface="Arial"/>
                <a:ea typeface="Arial"/>
                <a:cs typeface="Arial"/>
              </a:rPr>
              <a:t>Lecture 1 — Foundations of Sustainability, Environmental Challenges and Green Infrastructure</a:t>
            </a:r>
          </a:p>
        </p:txBody>
      </p:sp>
      <p:sp>
        <p:nvSpPr>
          <p:cNvPr id="5" name="Dr. Jenan Hussein">
            <a:extLst>
              <a:ext uri="{FF2B5EF4-FFF2-40B4-BE49-F238E27FC236}">
                <a16:creationId xmlns:a16="http://schemas.microsoft.com/office/drawing/2014/main" id="{F1031B3A-9831-457C-B04D-360298C2F865}"/>
              </a:ext>
            </a:extLst>
          </p:cNvPr>
          <p:cNvSpPr>
            <a:spLocks noGrp="1"/>
          </p:cNvSpPr>
          <p:nvPr/>
        </p:nvSpPr>
        <p:spPr>
          <a:xfrm>
            <a:off x="495300" y="4381499"/>
            <a:ext cx="3810000" cy="575511"/>
          </a:xfrm>
          <a:prstGeom prst="rect">
            <a:avLst/>
          </a:prstGeom>
          <a:noFill/>
          <a:ln w="0">
            <a:noFill/>
          </a:ln>
        </p:spPr>
        <p:txBody>
          <a:bodyPr wrap="square" lIns="0" tIns="0" rIns="0" bIns="0" anchor="t">
            <a:noAutofit/>
          </a:bodyPr>
          <a:lstStyle/>
          <a:p>
            <a:pPr>
              <a:defRPr sz="1500" b="0" i="0">
                <a:solidFill>
                  <a:srgbClr val="C7D0C6"/>
                </a:solidFill>
                <a:latin typeface="Arial"/>
                <a:ea typeface="Arial"/>
                <a:cs typeface="Arial"/>
              </a:defRPr>
            </a:pPr>
            <a:r>
              <a:rPr lang="en-US" sz="1500" dirty="0" err="1">
                <a:solidFill>
                  <a:srgbClr val="C7D0C6"/>
                </a:solidFill>
                <a:latin typeface="Arial"/>
                <a:ea typeface="Arial"/>
                <a:cs typeface="Arial"/>
              </a:rPr>
              <a:t>Ing,Arch.Jenan</a:t>
            </a:r>
            <a:r>
              <a:rPr lang="en-US" sz="1500" dirty="0">
                <a:solidFill>
                  <a:srgbClr val="C7D0C6"/>
                </a:solidFill>
                <a:latin typeface="Arial"/>
                <a:ea typeface="Arial"/>
                <a:cs typeface="Arial"/>
              </a:rPr>
              <a:t> </a:t>
            </a:r>
            <a:r>
              <a:rPr lang="en-US" sz="1500" dirty="0" err="1">
                <a:solidFill>
                  <a:srgbClr val="C7D0C6"/>
                </a:solidFill>
                <a:latin typeface="Arial"/>
                <a:ea typeface="Arial"/>
                <a:cs typeface="Arial"/>
              </a:rPr>
              <a:t>Hussein.Msc.PhD</a:t>
            </a:r>
            <a:r>
              <a:rPr lang="en-US" sz="1500" dirty="0">
                <a:solidFill>
                  <a:srgbClr val="C7D0C6"/>
                </a:solidFill>
                <a:latin typeface="Arial"/>
                <a:ea typeface="Arial"/>
                <a:cs typeface="Arial"/>
              </a:rPr>
              <a:t>.</a:t>
            </a:r>
          </a:p>
          <a:p>
            <a:pPr>
              <a:defRPr sz="1500" b="0" i="0">
                <a:solidFill>
                  <a:srgbClr val="C7D0C6"/>
                </a:solidFill>
                <a:latin typeface="Arial"/>
                <a:ea typeface="Arial"/>
                <a:cs typeface="Arial"/>
              </a:defRPr>
            </a:pPr>
            <a:r>
              <a:rPr lang="en-US" sz="1500" dirty="0">
                <a:solidFill>
                  <a:srgbClr val="C7D0C6"/>
                </a:solidFill>
                <a:latin typeface="Arial"/>
                <a:ea typeface="Arial"/>
                <a:cs typeface="Arial"/>
              </a:rPr>
              <a:t>jenanhussein83@gmail.com</a:t>
            </a:r>
            <a:endParaRPr sz="1500" b="0" i="0" dirty="0">
              <a:solidFill>
                <a:srgbClr val="C7D0C6"/>
              </a:solidFill>
              <a:latin typeface="Arial"/>
              <a:ea typeface="Arial"/>
              <a:cs typeface="Arial"/>
            </a:endParaRPr>
          </a:p>
        </p:txBody>
      </p:sp>
    </p:spTree>
    <p:extLst>
      <p:ext uri="{BB962C8B-B14F-4D97-AF65-F5344CB8AC3E}">
        <p14:creationId xmlns:p14="http://schemas.microsoft.com/office/powerpoint/2010/main" val="8894697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5" name="Editorial frame">
            <a:extLst>
              <a:ext uri="{FF2B5EF4-FFF2-40B4-BE49-F238E27FC236}">
                <a16:creationId xmlns:a16="http://schemas.microsoft.com/office/drawing/2014/main" id="{C58D0B86-1034-47A2-B642-8C4A98267E6F}"/>
              </a:ext>
            </a:extLst>
          </p:cNvPr>
          <p:cNvSpPr>
            <a:spLocks noGrp="1"/>
          </p:cNvSpPr>
          <p:nvPr/>
        </p:nvSpPr>
        <p:spPr>
          <a:xfrm>
            <a:off x="219075" y="219075"/>
            <a:ext cx="8705850" cy="4514850"/>
          </a:xfrm>
          <a:prstGeom prst="rect">
            <a:avLst/>
          </a:prstGeom>
          <a:noFill/>
          <a:ln w="8573">
            <a:solidFill>
              <a:srgbClr val="B7C3B1"/>
            </a:solidFill>
          </a:ln>
        </p:spPr>
        <p:txBody>
          <a:bodyPr/>
          <a:lstStyle/>
          <a:p>
            <a:endParaRPr lang="en-US"/>
          </a:p>
        </p:txBody>
      </p:sp>
      <p:sp>
        <p:nvSpPr>
          <p:cNvPr id="2" name="Editorial rule">
            <a:extLst>
              <a:ext uri="{FF2B5EF4-FFF2-40B4-BE49-F238E27FC236}">
                <a16:creationId xmlns:a16="http://schemas.microsoft.com/office/drawing/2014/main" id="{99C40EB1-B054-4C96-A5DB-1485E7A5D780}"/>
              </a:ext>
            </a:extLst>
          </p:cNvPr>
          <p:cNvSpPr>
            <a:spLocks noGrp="1"/>
          </p:cNvSpPr>
          <p:nvPr/>
        </p:nvSpPr>
        <p:spPr>
          <a:xfrm>
            <a:off x="495300" y="1066800"/>
            <a:ext cx="8153400" cy="7620"/>
          </a:xfrm>
          <a:prstGeom prst="rect">
            <a:avLst/>
          </a:prstGeom>
          <a:solidFill>
            <a:srgbClr val="B7C3B1"/>
          </a:solidFill>
          <a:ln w="0">
            <a:noFill/>
          </a:ln>
        </p:spPr>
        <p:txBody>
          <a:bodyPr/>
          <a:lstStyle/>
          <a:p>
            <a:endParaRPr lang="en-US"/>
          </a:p>
        </p:txBody>
      </p:sp>
      <p:sp>
        <p:nvSpPr>
          <p:cNvPr id="3" name="Editorial rule">
            <a:extLst>
              <a:ext uri="{FF2B5EF4-FFF2-40B4-BE49-F238E27FC236}">
                <a16:creationId xmlns:a16="http://schemas.microsoft.com/office/drawing/2014/main" id="{F319F362-89C4-4C0F-BD81-40BC441B5AF2}"/>
              </a:ext>
            </a:extLst>
          </p:cNvPr>
          <p:cNvSpPr>
            <a:spLocks noGrp="1"/>
          </p:cNvSpPr>
          <p:nvPr/>
        </p:nvSpPr>
        <p:spPr>
          <a:xfrm>
            <a:off x="495300" y="1052513"/>
            <a:ext cx="552450" cy="28575"/>
          </a:xfrm>
          <a:prstGeom prst="rect">
            <a:avLst/>
          </a:prstGeom>
          <a:solidFill>
            <a:srgbClr val="B56647"/>
          </a:solidFill>
          <a:ln w="0">
            <a:noFill/>
          </a:ln>
        </p:spPr>
        <p:txBody>
          <a:bodyPr/>
          <a:lstStyle/>
          <a:p>
            <a:endParaRPr lang="en-US"/>
          </a:p>
        </p:txBody>
      </p:sp>
      <p:sp>
        <p:nvSpPr>
          <p:cNvPr id="4" name="Editorial rule">
            <a:extLst>
              <a:ext uri="{FF2B5EF4-FFF2-40B4-BE49-F238E27FC236}">
                <a16:creationId xmlns:a16="http://schemas.microsoft.com/office/drawing/2014/main" id="{8CC24F27-AB0D-448D-8ACE-C36FFD0248B9}"/>
              </a:ext>
            </a:extLst>
          </p:cNvPr>
          <p:cNvSpPr>
            <a:spLocks noGrp="1"/>
          </p:cNvSpPr>
          <p:nvPr/>
        </p:nvSpPr>
        <p:spPr>
          <a:xfrm>
            <a:off x="4562475" y="1724025"/>
            <a:ext cx="8573" cy="2752725"/>
          </a:xfrm>
          <a:prstGeom prst="rect">
            <a:avLst/>
          </a:prstGeom>
          <a:solidFill>
            <a:srgbClr val="B7C3B1"/>
          </a:solidFill>
          <a:ln w="0">
            <a:noFill/>
          </a:ln>
        </p:spPr>
        <p:txBody>
          <a:bodyPr/>
          <a:lstStyle/>
          <a:p>
            <a:endParaRPr lang="en-US"/>
          </a:p>
        </p:txBody>
      </p:sp>
      <p:sp>
        <p:nvSpPr>
          <p:cNvPr id="5" name="Editorial rule">
            <a:extLst>
              <a:ext uri="{FF2B5EF4-FFF2-40B4-BE49-F238E27FC236}">
                <a16:creationId xmlns:a16="http://schemas.microsoft.com/office/drawing/2014/main" id="{DEED90FC-1028-4C9F-ABE7-4BAD90C23299}"/>
              </a:ext>
            </a:extLst>
          </p:cNvPr>
          <p:cNvSpPr>
            <a:spLocks noGrp="1"/>
          </p:cNvSpPr>
          <p:nvPr/>
        </p:nvSpPr>
        <p:spPr>
          <a:xfrm>
            <a:off x="219075" y="219075"/>
            <a:ext cx="47625" cy="4514850"/>
          </a:xfrm>
          <a:prstGeom prst="rect">
            <a:avLst/>
          </a:prstGeom>
          <a:solidFill>
            <a:srgbClr val="173E35"/>
          </a:solidFill>
          <a:ln w="0">
            <a:noFill/>
          </a:ln>
        </p:spPr>
        <p:txBody>
          <a:bodyPr/>
          <a:lstStyle/>
          <a:p>
            <a:endParaRPr lang="en-US"/>
          </a:p>
        </p:txBody>
      </p:sp>
      <p:sp>
        <p:nvSpPr>
          <p:cNvPr id="6" name="Learning Objectives">
            <a:extLst>
              <a:ext uri="{FF2B5EF4-FFF2-40B4-BE49-F238E27FC236}">
                <a16:creationId xmlns:a16="http://schemas.microsoft.com/office/drawing/2014/main" id="{75A193A6-20DE-4C39-9635-3A31081EC5C7}"/>
              </a:ext>
            </a:extLst>
          </p:cNvPr>
          <p:cNvSpPr>
            <a:spLocks noGrp="1"/>
          </p:cNvSpPr>
          <p:nvPr/>
        </p:nvSpPr>
        <p:spPr>
          <a:xfrm>
            <a:off x="495300" y="381000"/>
            <a:ext cx="8096250" cy="952500"/>
          </a:xfrm>
          <a:prstGeom prst="rect">
            <a:avLst/>
          </a:prstGeom>
          <a:noFill/>
          <a:ln w="0">
            <a:noFill/>
          </a:ln>
        </p:spPr>
        <p:txBody>
          <a:bodyPr wrap="square" lIns="0" tIns="0" rIns="0" bIns="0" anchor="t">
            <a:noAutofit/>
          </a:bodyPr>
          <a:lstStyle/>
          <a:p>
            <a:pPr>
              <a:defRPr sz="2775" b="0" i="0">
                <a:solidFill>
                  <a:srgbClr val="173E35"/>
                </a:solidFill>
                <a:latin typeface="Georgia"/>
                <a:ea typeface="Georgia"/>
                <a:cs typeface="Georgia"/>
              </a:defRPr>
            </a:pPr>
            <a:r>
              <a:rPr sz="2775" b="0" i="0">
                <a:solidFill>
                  <a:srgbClr val="173E35"/>
                </a:solidFill>
                <a:latin typeface="Georgia"/>
                <a:ea typeface="Georgia"/>
                <a:cs typeface="Georgia"/>
              </a:rPr>
              <a:t>Learning Objectives</a:t>
            </a:r>
          </a:p>
        </p:txBody>
      </p:sp>
      <p:sp>
        <p:nvSpPr>
          <p:cNvPr id="7" name="By the end of this lecture you will be able t">
            <a:extLst>
              <a:ext uri="{FF2B5EF4-FFF2-40B4-BE49-F238E27FC236}">
                <a16:creationId xmlns:a16="http://schemas.microsoft.com/office/drawing/2014/main" id="{5ADC00AD-6C16-4631-9B7C-426BD0219258}"/>
              </a:ext>
            </a:extLst>
          </p:cNvPr>
          <p:cNvSpPr>
            <a:spLocks noGrp="1"/>
          </p:cNvSpPr>
          <p:nvPr/>
        </p:nvSpPr>
        <p:spPr>
          <a:xfrm>
            <a:off x="495300" y="1266825"/>
            <a:ext cx="7810500" cy="304800"/>
          </a:xfrm>
          <a:prstGeom prst="rect">
            <a:avLst/>
          </a:prstGeom>
          <a:noFill/>
          <a:ln w="0">
            <a:noFill/>
          </a:ln>
        </p:spPr>
        <p:txBody>
          <a:bodyPr wrap="square" lIns="0" tIns="0" rIns="0" bIns="0" anchor="t">
            <a:noAutofit/>
          </a:bodyPr>
          <a:lstStyle/>
          <a:p>
            <a:pPr>
              <a:defRPr sz="1650" b="0" i="0">
                <a:solidFill>
                  <a:srgbClr val="58665B"/>
                </a:solidFill>
                <a:latin typeface="Arial"/>
                <a:ea typeface="Arial"/>
                <a:cs typeface="Arial"/>
              </a:defRPr>
            </a:pPr>
            <a:r>
              <a:rPr sz="1650" b="0" i="0">
                <a:solidFill>
                  <a:srgbClr val="58665B"/>
                </a:solidFill>
                <a:latin typeface="Arial"/>
                <a:ea typeface="Arial"/>
                <a:cs typeface="Arial"/>
              </a:rPr>
              <a:t>By the end of this lecture you will be able to:</a:t>
            </a:r>
          </a:p>
        </p:txBody>
      </p:sp>
      <p:sp>
        <p:nvSpPr>
          <p:cNvPr id="8" name="01">
            <a:extLst>
              <a:ext uri="{FF2B5EF4-FFF2-40B4-BE49-F238E27FC236}">
                <a16:creationId xmlns:a16="http://schemas.microsoft.com/office/drawing/2014/main" id="{56087A4B-596D-4F4A-957D-CFB01503FA51}"/>
              </a:ext>
            </a:extLst>
          </p:cNvPr>
          <p:cNvSpPr>
            <a:spLocks noGrp="1"/>
          </p:cNvSpPr>
          <p:nvPr/>
        </p:nvSpPr>
        <p:spPr>
          <a:xfrm>
            <a:off x="495300" y="1809750"/>
            <a:ext cx="381000" cy="361950"/>
          </a:xfrm>
          <a:prstGeom prst="rect">
            <a:avLst/>
          </a:prstGeom>
          <a:noFill/>
          <a:ln w="0">
            <a:noFill/>
          </a:ln>
        </p:spPr>
        <p:txBody>
          <a:bodyPr wrap="square" lIns="0" tIns="0" rIns="0" bIns="0" anchor="t">
            <a:noAutofit/>
          </a:bodyPr>
          <a:lstStyle/>
          <a:p>
            <a:pPr>
              <a:defRPr sz="1275" b="0" i="0">
                <a:solidFill>
                  <a:srgbClr val="B56647"/>
                </a:solidFill>
                <a:latin typeface="Arial"/>
                <a:ea typeface="Arial"/>
                <a:cs typeface="Arial"/>
              </a:defRPr>
            </a:pPr>
            <a:r>
              <a:rPr sz="1275" b="0" i="0">
                <a:solidFill>
                  <a:srgbClr val="B56647"/>
                </a:solidFill>
                <a:latin typeface="Arial"/>
                <a:ea typeface="Arial"/>
                <a:cs typeface="Arial"/>
              </a:rPr>
              <a:t>01</a:t>
            </a:r>
          </a:p>
        </p:txBody>
      </p:sp>
      <p:sp>
        <p:nvSpPr>
          <p:cNvPr id="9" name="Define sustainability and sustainable develop">
            <a:extLst>
              <a:ext uri="{FF2B5EF4-FFF2-40B4-BE49-F238E27FC236}">
                <a16:creationId xmlns:a16="http://schemas.microsoft.com/office/drawing/2014/main" id="{5CCCCDF9-1727-4806-8342-74F879B2ACCD}"/>
              </a:ext>
            </a:extLst>
          </p:cNvPr>
          <p:cNvSpPr>
            <a:spLocks noGrp="1"/>
          </p:cNvSpPr>
          <p:nvPr/>
        </p:nvSpPr>
        <p:spPr>
          <a:xfrm>
            <a:off x="952500" y="1809750"/>
            <a:ext cx="3448050" cy="619125"/>
          </a:xfrm>
          <a:prstGeom prst="rect">
            <a:avLst/>
          </a:prstGeom>
          <a:noFill/>
          <a:ln w="0">
            <a:noFill/>
          </a:ln>
        </p:spPr>
        <p:txBody>
          <a:bodyPr wrap="square" lIns="0" tIns="0" rIns="0" bIns="0" anchor="t">
            <a:noAutofit/>
          </a:bodyPr>
          <a:lstStyle/>
          <a:p>
            <a:pPr>
              <a:defRPr sz="1575" b="0" i="0">
                <a:solidFill>
                  <a:srgbClr val="173E35"/>
                </a:solidFill>
                <a:latin typeface="Arial"/>
                <a:ea typeface="Arial"/>
                <a:cs typeface="Arial"/>
              </a:defRPr>
            </a:pPr>
            <a:r>
              <a:rPr sz="1575" b="0" i="0">
                <a:solidFill>
                  <a:srgbClr val="173E35"/>
                </a:solidFill>
                <a:latin typeface="Arial"/>
                <a:ea typeface="Arial"/>
                <a:cs typeface="Arial"/>
              </a:rPr>
              <a:t>Define sustainability and sustainable development.</a:t>
            </a:r>
          </a:p>
        </p:txBody>
      </p:sp>
      <p:sp>
        <p:nvSpPr>
          <p:cNvPr id="10" name="02">
            <a:extLst>
              <a:ext uri="{FF2B5EF4-FFF2-40B4-BE49-F238E27FC236}">
                <a16:creationId xmlns:a16="http://schemas.microsoft.com/office/drawing/2014/main" id="{B982CE52-601A-4747-ACAB-C599BB00F3F5}"/>
              </a:ext>
            </a:extLst>
          </p:cNvPr>
          <p:cNvSpPr>
            <a:spLocks noGrp="1"/>
          </p:cNvSpPr>
          <p:nvPr/>
        </p:nvSpPr>
        <p:spPr>
          <a:xfrm>
            <a:off x="495300" y="2514600"/>
            <a:ext cx="381000" cy="361950"/>
          </a:xfrm>
          <a:prstGeom prst="rect">
            <a:avLst/>
          </a:prstGeom>
          <a:noFill/>
          <a:ln w="0">
            <a:noFill/>
          </a:ln>
        </p:spPr>
        <p:txBody>
          <a:bodyPr wrap="square" lIns="0" tIns="0" rIns="0" bIns="0" anchor="t">
            <a:noAutofit/>
          </a:bodyPr>
          <a:lstStyle/>
          <a:p>
            <a:pPr>
              <a:defRPr sz="1275" b="0" i="0">
                <a:solidFill>
                  <a:srgbClr val="B56647"/>
                </a:solidFill>
                <a:latin typeface="Arial"/>
                <a:ea typeface="Arial"/>
                <a:cs typeface="Arial"/>
              </a:defRPr>
            </a:pPr>
            <a:r>
              <a:rPr sz="1275" b="0" i="0">
                <a:solidFill>
                  <a:srgbClr val="B56647"/>
                </a:solidFill>
                <a:latin typeface="Arial"/>
                <a:ea typeface="Arial"/>
                <a:cs typeface="Arial"/>
              </a:rPr>
              <a:t>02</a:t>
            </a:r>
          </a:p>
        </p:txBody>
      </p:sp>
      <p:sp>
        <p:nvSpPr>
          <p:cNvPr id="11" name="Explain the three pillars of sustainability (">
            <a:extLst>
              <a:ext uri="{FF2B5EF4-FFF2-40B4-BE49-F238E27FC236}">
                <a16:creationId xmlns:a16="http://schemas.microsoft.com/office/drawing/2014/main" id="{095867BB-6B6C-42F8-852B-8F86F5021FA2}"/>
              </a:ext>
            </a:extLst>
          </p:cNvPr>
          <p:cNvSpPr>
            <a:spLocks noGrp="1"/>
          </p:cNvSpPr>
          <p:nvPr/>
        </p:nvSpPr>
        <p:spPr>
          <a:xfrm>
            <a:off x="952500" y="2514600"/>
            <a:ext cx="3448050" cy="619125"/>
          </a:xfrm>
          <a:prstGeom prst="rect">
            <a:avLst/>
          </a:prstGeom>
          <a:noFill/>
          <a:ln w="0">
            <a:noFill/>
          </a:ln>
        </p:spPr>
        <p:txBody>
          <a:bodyPr wrap="square" lIns="0" tIns="0" rIns="0" bIns="0" anchor="t">
            <a:noAutofit/>
          </a:bodyPr>
          <a:lstStyle/>
          <a:p>
            <a:pPr>
              <a:defRPr sz="1575" b="0" i="0">
                <a:solidFill>
                  <a:srgbClr val="173E35"/>
                </a:solidFill>
                <a:latin typeface="Arial"/>
                <a:ea typeface="Arial"/>
                <a:cs typeface="Arial"/>
              </a:defRPr>
            </a:pPr>
            <a:r>
              <a:rPr sz="1575" b="0" i="0">
                <a:solidFill>
                  <a:srgbClr val="173E35"/>
                </a:solidFill>
                <a:latin typeface="Arial"/>
                <a:ea typeface="Arial"/>
                <a:cs typeface="Arial"/>
              </a:rPr>
              <a:t>Explain the three pillars of sustainability (Triple Bottom Line).</a:t>
            </a:r>
          </a:p>
        </p:txBody>
      </p:sp>
      <p:sp>
        <p:nvSpPr>
          <p:cNvPr id="12" name="03">
            <a:extLst>
              <a:ext uri="{FF2B5EF4-FFF2-40B4-BE49-F238E27FC236}">
                <a16:creationId xmlns:a16="http://schemas.microsoft.com/office/drawing/2014/main" id="{F835AFDF-BB5E-4295-97FD-813A7B1FCF1A}"/>
              </a:ext>
            </a:extLst>
          </p:cNvPr>
          <p:cNvSpPr>
            <a:spLocks noGrp="1"/>
          </p:cNvSpPr>
          <p:nvPr/>
        </p:nvSpPr>
        <p:spPr>
          <a:xfrm>
            <a:off x="495300" y="3219450"/>
            <a:ext cx="381000" cy="361950"/>
          </a:xfrm>
          <a:prstGeom prst="rect">
            <a:avLst/>
          </a:prstGeom>
          <a:noFill/>
          <a:ln w="0">
            <a:noFill/>
          </a:ln>
        </p:spPr>
        <p:txBody>
          <a:bodyPr wrap="square" lIns="0" tIns="0" rIns="0" bIns="0" anchor="t">
            <a:noAutofit/>
          </a:bodyPr>
          <a:lstStyle/>
          <a:p>
            <a:pPr>
              <a:defRPr sz="1275" b="0" i="0">
                <a:solidFill>
                  <a:srgbClr val="B56647"/>
                </a:solidFill>
                <a:latin typeface="Arial"/>
                <a:ea typeface="Arial"/>
                <a:cs typeface="Arial"/>
              </a:defRPr>
            </a:pPr>
            <a:r>
              <a:rPr sz="1275" b="0" i="0">
                <a:solidFill>
                  <a:srgbClr val="B56647"/>
                </a:solidFill>
                <a:latin typeface="Arial"/>
                <a:ea typeface="Arial"/>
                <a:cs typeface="Arial"/>
              </a:rPr>
              <a:t>03</a:t>
            </a:r>
          </a:p>
        </p:txBody>
      </p:sp>
      <p:sp>
        <p:nvSpPr>
          <p:cNvPr id="13" name="Understand the relationship between business ">
            <a:extLst>
              <a:ext uri="{FF2B5EF4-FFF2-40B4-BE49-F238E27FC236}">
                <a16:creationId xmlns:a16="http://schemas.microsoft.com/office/drawing/2014/main" id="{B13EB2A8-2091-4353-927A-70864E948021}"/>
              </a:ext>
            </a:extLst>
          </p:cNvPr>
          <p:cNvSpPr>
            <a:spLocks noGrp="1"/>
          </p:cNvSpPr>
          <p:nvPr/>
        </p:nvSpPr>
        <p:spPr>
          <a:xfrm>
            <a:off x="952500" y="3219450"/>
            <a:ext cx="3448050" cy="619125"/>
          </a:xfrm>
          <a:prstGeom prst="rect">
            <a:avLst/>
          </a:prstGeom>
          <a:noFill/>
          <a:ln w="0">
            <a:noFill/>
          </a:ln>
        </p:spPr>
        <p:txBody>
          <a:bodyPr wrap="square" lIns="0" tIns="0" rIns="0" bIns="0" anchor="t">
            <a:noAutofit/>
          </a:bodyPr>
          <a:lstStyle/>
          <a:p>
            <a:pPr>
              <a:defRPr sz="1575" b="0" i="0">
                <a:solidFill>
                  <a:srgbClr val="173E35"/>
                </a:solidFill>
                <a:latin typeface="Arial"/>
                <a:ea typeface="Arial"/>
                <a:cs typeface="Arial"/>
              </a:defRPr>
            </a:pPr>
            <a:r>
              <a:rPr sz="1575" b="0" i="0">
                <a:solidFill>
                  <a:srgbClr val="173E35"/>
                </a:solidFill>
                <a:latin typeface="Arial"/>
                <a:ea typeface="Arial"/>
                <a:cs typeface="Arial"/>
              </a:rPr>
              <a:t>Understand the relationship between business and ecosystems.</a:t>
            </a:r>
          </a:p>
        </p:txBody>
      </p:sp>
      <p:sp>
        <p:nvSpPr>
          <p:cNvPr id="14" name="04">
            <a:extLst>
              <a:ext uri="{FF2B5EF4-FFF2-40B4-BE49-F238E27FC236}">
                <a16:creationId xmlns:a16="http://schemas.microsoft.com/office/drawing/2014/main" id="{72BB8392-0DB5-4F32-94D7-19160C41B40E}"/>
              </a:ext>
            </a:extLst>
          </p:cNvPr>
          <p:cNvSpPr>
            <a:spLocks noGrp="1"/>
          </p:cNvSpPr>
          <p:nvPr/>
        </p:nvSpPr>
        <p:spPr>
          <a:xfrm>
            <a:off x="495300" y="3924300"/>
            <a:ext cx="381000" cy="361950"/>
          </a:xfrm>
          <a:prstGeom prst="rect">
            <a:avLst/>
          </a:prstGeom>
          <a:noFill/>
          <a:ln w="0">
            <a:noFill/>
          </a:ln>
        </p:spPr>
        <p:txBody>
          <a:bodyPr wrap="square" lIns="0" tIns="0" rIns="0" bIns="0" anchor="t">
            <a:noAutofit/>
          </a:bodyPr>
          <a:lstStyle/>
          <a:p>
            <a:pPr>
              <a:defRPr sz="1275" b="0" i="0">
                <a:solidFill>
                  <a:srgbClr val="B56647"/>
                </a:solidFill>
                <a:latin typeface="Arial"/>
                <a:ea typeface="Arial"/>
                <a:cs typeface="Arial"/>
              </a:defRPr>
            </a:pPr>
            <a:r>
              <a:rPr sz="1275" b="0" i="0">
                <a:solidFill>
                  <a:srgbClr val="B56647"/>
                </a:solidFill>
                <a:latin typeface="Arial"/>
                <a:ea typeface="Arial"/>
                <a:cs typeface="Arial"/>
              </a:rPr>
              <a:t>04</a:t>
            </a:r>
          </a:p>
        </p:txBody>
      </p:sp>
      <p:sp>
        <p:nvSpPr>
          <p:cNvPr id="15" name="Identify sustainability challenges facing mod">
            <a:extLst>
              <a:ext uri="{FF2B5EF4-FFF2-40B4-BE49-F238E27FC236}">
                <a16:creationId xmlns:a16="http://schemas.microsoft.com/office/drawing/2014/main" id="{8A921F5F-D59E-48C0-ABB3-E62F429378B8}"/>
              </a:ext>
            </a:extLst>
          </p:cNvPr>
          <p:cNvSpPr>
            <a:spLocks noGrp="1"/>
          </p:cNvSpPr>
          <p:nvPr/>
        </p:nvSpPr>
        <p:spPr>
          <a:xfrm>
            <a:off x="952500" y="3924300"/>
            <a:ext cx="3448050" cy="619125"/>
          </a:xfrm>
          <a:prstGeom prst="rect">
            <a:avLst/>
          </a:prstGeom>
          <a:noFill/>
          <a:ln w="0">
            <a:noFill/>
          </a:ln>
        </p:spPr>
        <p:txBody>
          <a:bodyPr wrap="square" lIns="0" tIns="0" rIns="0" bIns="0" anchor="t">
            <a:noAutofit/>
          </a:bodyPr>
          <a:lstStyle/>
          <a:p>
            <a:pPr>
              <a:defRPr sz="1575" b="0" i="0">
                <a:solidFill>
                  <a:srgbClr val="173E35"/>
                </a:solidFill>
                <a:latin typeface="Arial"/>
                <a:ea typeface="Arial"/>
                <a:cs typeface="Arial"/>
              </a:defRPr>
            </a:pPr>
            <a:r>
              <a:rPr sz="1575" b="0" i="0">
                <a:solidFill>
                  <a:srgbClr val="173E35"/>
                </a:solidFill>
                <a:latin typeface="Arial"/>
                <a:ea typeface="Arial"/>
                <a:cs typeface="Arial"/>
              </a:rPr>
              <a:t>Identify sustainability challenges facing modern organizations.</a:t>
            </a:r>
          </a:p>
        </p:txBody>
      </p:sp>
      <p:sp>
        <p:nvSpPr>
          <p:cNvPr id="16" name="05">
            <a:extLst>
              <a:ext uri="{FF2B5EF4-FFF2-40B4-BE49-F238E27FC236}">
                <a16:creationId xmlns:a16="http://schemas.microsoft.com/office/drawing/2014/main" id="{90A08DC7-36D6-4785-8132-B26CB9EF157D}"/>
              </a:ext>
            </a:extLst>
          </p:cNvPr>
          <p:cNvSpPr>
            <a:spLocks noGrp="1"/>
          </p:cNvSpPr>
          <p:nvPr/>
        </p:nvSpPr>
        <p:spPr>
          <a:xfrm>
            <a:off x="4733925" y="1809750"/>
            <a:ext cx="381000" cy="361950"/>
          </a:xfrm>
          <a:prstGeom prst="rect">
            <a:avLst/>
          </a:prstGeom>
          <a:noFill/>
          <a:ln w="0">
            <a:noFill/>
          </a:ln>
        </p:spPr>
        <p:txBody>
          <a:bodyPr wrap="square" lIns="0" tIns="0" rIns="0" bIns="0" anchor="t">
            <a:noAutofit/>
          </a:bodyPr>
          <a:lstStyle/>
          <a:p>
            <a:pPr>
              <a:defRPr sz="1275" b="0" i="0">
                <a:solidFill>
                  <a:srgbClr val="B56647"/>
                </a:solidFill>
                <a:latin typeface="Arial"/>
                <a:ea typeface="Arial"/>
                <a:cs typeface="Arial"/>
              </a:defRPr>
            </a:pPr>
            <a:r>
              <a:rPr sz="1275" b="0" i="0">
                <a:solidFill>
                  <a:srgbClr val="B56647"/>
                </a:solidFill>
                <a:latin typeface="Arial"/>
                <a:ea typeface="Arial"/>
                <a:cs typeface="Arial"/>
              </a:rPr>
              <a:t>05</a:t>
            </a:r>
          </a:p>
        </p:txBody>
      </p:sp>
      <p:sp>
        <p:nvSpPr>
          <p:cNvPr id="17" name="Explain why sustainability is becoming a stra">
            <a:extLst>
              <a:ext uri="{FF2B5EF4-FFF2-40B4-BE49-F238E27FC236}">
                <a16:creationId xmlns:a16="http://schemas.microsoft.com/office/drawing/2014/main" id="{D1170EF3-D886-4D25-BA56-5D5E18E2605D}"/>
              </a:ext>
            </a:extLst>
          </p:cNvPr>
          <p:cNvSpPr>
            <a:spLocks noGrp="1"/>
          </p:cNvSpPr>
          <p:nvPr/>
        </p:nvSpPr>
        <p:spPr>
          <a:xfrm>
            <a:off x="5191125" y="1809750"/>
            <a:ext cx="3448050" cy="619125"/>
          </a:xfrm>
          <a:prstGeom prst="rect">
            <a:avLst/>
          </a:prstGeom>
          <a:noFill/>
          <a:ln w="0">
            <a:noFill/>
          </a:ln>
        </p:spPr>
        <p:txBody>
          <a:bodyPr wrap="square" lIns="0" tIns="0" rIns="0" bIns="0" anchor="t">
            <a:noAutofit/>
          </a:bodyPr>
          <a:lstStyle/>
          <a:p>
            <a:pPr>
              <a:defRPr sz="1575" b="0" i="0">
                <a:solidFill>
                  <a:srgbClr val="173E35"/>
                </a:solidFill>
                <a:latin typeface="Arial"/>
                <a:ea typeface="Arial"/>
                <a:cs typeface="Arial"/>
              </a:defRPr>
            </a:pPr>
            <a:r>
              <a:rPr sz="1575" b="0" i="0">
                <a:solidFill>
                  <a:srgbClr val="173E35"/>
                </a:solidFill>
                <a:latin typeface="Arial"/>
                <a:ea typeface="Arial"/>
                <a:cs typeface="Arial"/>
              </a:rPr>
              <a:t>Explain why sustainability is becoming a strategic business issue.</a:t>
            </a:r>
          </a:p>
        </p:txBody>
      </p:sp>
      <p:sp>
        <p:nvSpPr>
          <p:cNvPr id="18" name="06">
            <a:extLst>
              <a:ext uri="{FF2B5EF4-FFF2-40B4-BE49-F238E27FC236}">
                <a16:creationId xmlns:a16="http://schemas.microsoft.com/office/drawing/2014/main" id="{177B930A-AAC8-46EE-90F7-329029C8A6C7}"/>
              </a:ext>
            </a:extLst>
          </p:cNvPr>
          <p:cNvSpPr>
            <a:spLocks noGrp="1"/>
          </p:cNvSpPr>
          <p:nvPr/>
        </p:nvSpPr>
        <p:spPr>
          <a:xfrm>
            <a:off x="4733925" y="2514600"/>
            <a:ext cx="381000" cy="361950"/>
          </a:xfrm>
          <a:prstGeom prst="rect">
            <a:avLst/>
          </a:prstGeom>
          <a:noFill/>
          <a:ln w="0">
            <a:noFill/>
          </a:ln>
        </p:spPr>
        <p:txBody>
          <a:bodyPr wrap="square" lIns="0" tIns="0" rIns="0" bIns="0" anchor="t">
            <a:noAutofit/>
          </a:bodyPr>
          <a:lstStyle/>
          <a:p>
            <a:pPr>
              <a:defRPr sz="1275" b="0" i="0">
                <a:solidFill>
                  <a:srgbClr val="B56647"/>
                </a:solidFill>
                <a:latin typeface="Arial"/>
                <a:ea typeface="Arial"/>
                <a:cs typeface="Arial"/>
              </a:defRPr>
            </a:pPr>
            <a:r>
              <a:rPr sz="1275" b="0" i="0">
                <a:solidFill>
                  <a:srgbClr val="B56647"/>
                </a:solidFill>
                <a:latin typeface="Arial"/>
                <a:ea typeface="Arial"/>
                <a:cs typeface="Arial"/>
              </a:rPr>
              <a:t>06</a:t>
            </a:r>
          </a:p>
        </p:txBody>
      </p:sp>
      <p:sp>
        <p:nvSpPr>
          <p:cNvPr id="19" name="Understand the major environmental challenges">
            <a:extLst>
              <a:ext uri="{FF2B5EF4-FFF2-40B4-BE49-F238E27FC236}">
                <a16:creationId xmlns:a16="http://schemas.microsoft.com/office/drawing/2014/main" id="{4F7B6EEF-D0F7-456F-9577-A62D3E6A9EB8}"/>
              </a:ext>
            </a:extLst>
          </p:cNvPr>
          <p:cNvSpPr>
            <a:spLocks noGrp="1"/>
          </p:cNvSpPr>
          <p:nvPr/>
        </p:nvSpPr>
        <p:spPr>
          <a:xfrm>
            <a:off x="5191125" y="2514600"/>
            <a:ext cx="3448050" cy="619125"/>
          </a:xfrm>
          <a:prstGeom prst="rect">
            <a:avLst/>
          </a:prstGeom>
          <a:noFill/>
          <a:ln w="0">
            <a:noFill/>
          </a:ln>
        </p:spPr>
        <p:txBody>
          <a:bodyPr wrap="square" lIns="0" tIns="0" rIns="0" bIns="0" anchor="t">
            <a:noAutofit/>
          </a:bodyPr>
          <a:lstStyle/>
          <a:p>
            <a:pPr>
              <a:defRPr sz="1575" b="0" i="0">
                <a:solidFill>
                  <a:srgbClr val="173E35"/>
                </a:solidFill>
                <a:latin typeface="Arial"/>
                <a:ea typeface="Arial"/>
                <a:cs typeface="Arial"/>
              </a:defRPr>
            </a:pPr>
            <a:r>
              <a:rPr sz="1575" b="0" i="0">
                <a:solidFill>
                  <a:srgbClr val="173E35"/>
                </a:solidFill>
                <a:latin typeface="Arial"/>
                <a:ea typeface="Arial"/>
                <a:cs typeface="Arial"/>
              </a:rPr>
              <a:t>Understand the major environmental challenges of the 21st century.</a:t>
            </a:r>
          </a:p>
        </p:txBody>
      </p:sp>
      <p:sp>
        <p:nvSpPr>
          <p:cNvPr id="20" name="07">
            <a:extLst>
              <a:ext uri="{FF2B5EF4-FFF2-40B4-BE49-F238E27FC236}">
                <a16:creationId xmlns:a16="http://schemas.microsoft.com/office/drawing/2014/main" id="{FE0C8E95-29A1-4F48-8876-A5DA8B580E86}"/>
              </a:ext>
            </a:extLst>
          </p:cNvPr>
          <p:cNvSpPr>
            <a:spLocks noGrp="1"/>
          </p:cNvSpPr>
          <p:nvPr/>
        </p:nvSpPr>
        <p:spPr>
          <a:xfrm>
            <a:off x="4733925" y="3219450"/>
            <a:ext cx="381000" cy="361950"/>
          </a:xfrm>
          <a:prstGeom prst="rect">
            <a:avLst/>
          </a:prstGeom>
          <a:noFill/>
          <a:ln w="0">
            <a:noFill/>
          </a:ln>
        </p:spPr>
        <p:txBody>
          <a:bodyPr wrap="square" lIns="0" tIns="0" rIns="0" bIns="0" anchor="t">
            <a:noAutofit/>
          </a:bodyPr>
          <a:lstStyle/>
          <a:p>
            <a:pPr>
              <a:defRPr sz="1275" b="0" i="0">
                <a:solidFill>
                  <a:srgbClr val="B56647"/>
                </a:solidFill>
                <a:latin typeface="Arial"/>
                <a:ea typeface="Arial"/>
                <a:cs typeface="Arial"/>
              </a:defRPr>
            </a:pPr>
            <a:r>
              <a:rPr sz="1275" b="0" i="0">
                <a:solidFill>
                  <a:srgbClr val="B56647"/>
                </a:solidFill>
                <a:latin typeface="Arial"/>
                <a:ea typeface="Arial"/>
                <a:cs typeface="Arial"/>
              </a:rPr>
              <a:t>07</a:t>
            </a:r>
          </a:p>
        </p:txBody>
      </p:sp>
      <p:sp>
        <p:nvSpPr>
          <p:cNvPr id="21" name="Analyze the impacts of urbanization on natura">
            <a:extLst>
              <a:ext uri="{FF2B5EF4-FFF2-40B4-BE49-F238E27FC236}">
                <a16:creationId xmlns:a16="http://schemas.microsoft.com/office/drawing/2014/main" id="{08E652ED-39EC-42A0-9588-8792F066D53C}"/>
              </a:ext>
            </a:extLst>
          </p:cNvPr>
          <p:cNvSpPr>
            <a:spLocks noGrp="1"/>
          </p:cNvSpPr>
          <p:nvPr/>
        </p:nvSpPr>
        <p:spPr>
          <a:xfrm>
            <a:off x="5191125" y="3219450"/>
            <a:ext cx="3448050" cy="790575"/>
          </a:xfrm>
          <a:prstGeom prst="rect">
            <a:avLst/>
          </a:prstGeom>
          <a:noFill/>
          <a:ln w="0">
            <a:noFill/>
          </a:ln>
        </p:spPr>
        <p:txBody>
          <a:bodyPr wrap="square" lIns="0" tIns="0" rIns="0" bIns="0" anchor="t">
            <a:noAutofit/>
          </a:bodyPr>
          <a:lstStyle/>
          <a:p>
            <a:pPr>
              <a:defRPr sz="1575" b="0" i="0">
                <a:solidFill>
                  <a:srgbClr val="173E35"/>
                </a:solidFill>
                <a:latin typeface="Arial"/>
                <a:ea typeface="Arial"/>
                <a:cs typeface="Arial"/>
              </a:defRPr>
            </a:pPr>
            <a:r>
              <a:rPr sz="1575" b="0" i="0">
                <a:solidFill>
                  <a:srgbClr val="173E35"/>
                </a:solidFill>
                <a:latin typeface="Arial"/>
                <a:ea typeface="Arial"/>
                <a:cs typeface="Arial"/>
              </a:rPr>
              <a:t>Analyze the impacts of urbanization on natural systems &amp; Green Infrastructure.</a:t>
            </a:r>
          </a:p>
        </p:txBody>
      </p:sp>
      <p:pic>
        <p:nvPicPr>
          <p:cNvPr id="46" name="Picture 45"/>
          <p:cNvPicPr>
            <a:picLocks noChangeAspect="1"/>
          </p:cNvPicPr>
          <p:nvPr/>
        </p:nvPicPr>
        <p:blipFill>
          <a:blip r:embed="rId3"/>
          <a:stretch/>
        </p:blipFill>
        <p:spPr>
          <a:xfrm>
            <a:off x="499570" y="4829175"/>
            <a:ext cx="315310" cy="152400"/>
          </a:xfrm>
          <a:prstGeom prst="rect">
            <a:avLst/>
          </a:prstGeom>
        </p:spPr>
      </p:pic>
      <p:sp>
        <p:nvSpPr>
          <p:cNvPr id="23" name="www.newton.university">
            <a:extLst>
              <a:ext uri="{FF2B5EF4-FFF2-40B4-BE49-F238E27FC236}">
                <a16:creationId xmlns:a16="http://schemas.microsoft.com/office/drawing/2014/main" id="{341B24F8-C4C6-4E3D-9D78-CB2DE922B966}"/>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24" name="02">
            <a:extLst>
              <a:ext uri="{FF2B5EF4-FFF2-40B4-BE49-F238E27FC236}">
                <a16:creationId xmlns:a16="http://schemas.microsoft.com/office/drawing/2014/main" id="{241AB1A1-D8A7-4E3C-9834-F58C8F613EF7}"/>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58665B"/>
                </a:solidFill>
                <a:latin typeface="Arial"/>
                <a:ea typeface="Arial"/>
                <a:cs typeface="Arial"/>
              </a:defRPr>
            </a:pPr>
            <a:r>
              <a:rPr sz="1125" b="0" i="0">
                <a:solidFill>
                  <a:srgbClr val="58665B"/>
                </a:solidFill>
                <a:latin typeface="Arial"/>
                <a:ea typeface="Arial"/>
                <a:cs typeface="Arial"/>
              </a:rPr>
              <a:t>02</a:t>
            </a:r>
          </a:p>
        </p:txBody>
      </p:sp>
    </p:spTree>
    <p:extLst>
      <p:ext uri="{BB962C8B-B14F-4D97-AF65-F5344CB8AC3E}">
        <p14:creationId xmlns:p14="http://schemas.microsoft.com/office/powerpoint/2010/main" val="10861527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6" name="Editorial frame">
            <a:extLst>
              <a:ext uri="{FF2B5EF4-FFF2-40B4-BE49-F238E27FC236}">
                <a16:creationId xmlns:a16="http://schemas.microsoft.com/office/drawing/2014/main" id="{B38DB0D4-2928-472F-803A-70F6837B5153}"/>
              </a:ext>
            </a:extLst>
          </p:cNvPr>
          <p:cNvSpPr>
            <a:spLocks noGrp="1"/>
          </p:cNvSpPr>
          <p:nvPr/>
        </p:nvSpPr>
        <p:spPr>
          <a:xfrm>
            <a:off x="219075" y="219075"/>
            <a:ext cx="8705850" cy="4514850"/>
          </a:xfrm>
          <a:prstGeom prst="rect">
            <a:avLst/>
          </a:prstGeom>
          <a:noFill/>
          <a:ln w="8573">
            <a:solidFill>
              <a:srgbClr val="B7C3B1"/>
            </a:solidFill>
          </a:ln>
        </p:spPr>
        <p:txBody>
          <a:bodyPr/>
          <a:lstStyle/>
          <a:p>
            <a:endParaRPr lang="en-US"/>
          </a:p>
        </p:txBody>
      </p:sp>
      <p:sp>
        <p:nvSpPr>
          <p:cNvPr id="2" name="Editorial rule">
            <a:extLst>
              <a:ext uri="{FF2B5EF4-FFF2-40B4-BE49-F238E27FC236}">
                <a16:creationId xmlns:a16="http://schemas.microsoft.com/office/drawing/2014/main" id="{F31B870D-1EB3-434C-AA72-FDA284ADF425}"/>
              </a:ext>
            </a:extLst>
          </p:cNvPr>
          <p:cNvSpPr>
            <a:spLocks noGrp="1"/>
          </p:cNvSpPr>
          <p:nvPr/>
        </p:nvSpPr>
        <p:spPr>
          <a:xfrm>
            <a:off x="495300" y="1066800"/>
            <a:ext cx="8153400" cy="7620"/>
          </a:xfrm>
          <a:prstGeom prst="rect">
            <a:avLst/>
          </a:prstGeom>
          <a:solidFill>
            <a:srgbClr val="B7C3B1"/>
          </a:solidFill>
          <a:ln w="0">
            <a:noFill/>
          </a:ln>
        </p:spPr>
        <p:txBody>
          <a:bodyPr/>
          <a:lstStyle/>
          <a:p>
            <a:endParaRPr lang="en-US"/>
          </a:p>
        </p:txBody>
      </p:sp>
      <p:sp>
        <p:nvSpPr>
          <p:cNvPr id="3" name="Editorial rule">
            <a:extLst>
              <a:ext uri="{FF2B5EF4-FFF2-40B4-BE49-F238E27FC236}">
                <a16:creationId xmlns:a16="http://schemas.microsoft.com/office/drawing/2014/main" id="{CBEB1BDD-CDED-47A6-949C-F3E196D4D71F}"/>
              </a:ext>
            </a:extLst>
          </p:cNvPr>
          <p:cNvSpPr>
            <a:spLocks noGrp="1"/>
          </p:cNvSpPr>
          <p:nvPr/>
        </p:nvSpPr>
        <p:spPr>
          <a:xfrm>
            <a:off x="495300" y="1052513"/>
            <a:ext cx="552450" cy="28575"/>
          </a:xfrm>
          <a:prstGeom prst="rect">
            <a:avLst/>
          </a:prstGeom>
          <a:solidFill>
            <a:srgbClr val="B56647"/>
          </a:solidFill>
          <a:ln w="0">
            <a:noFill/>
          </a:ln>
        </p:spPr>
        <p:txBody>
          <a:bodyPr/>
          <a:lstStyle/>
          <a:p>
            <a:endParaRPr lang="en-US"/>
          </a:p>
        </p:txBody>
      </p:sp>
      <p:sp>
        <p:nvSpPr>
          <p:cNvPr id="4" name="Editorial rule">
            <a:extLst>
              <a:ext uri="{FF2B5EF4-FFF2-40B4-BE49-F238E27FC236}">
                <a16:creationId xmlns:a16="http://schemas.microsoft.com/office/drawing/2014/main" id="{11FEB8A7-0B73-4E00-8EB5-D256434E155E}"/>
              </a:ext>
            </a:extLst>
          </p:cNvPr>
          <p:cNvSpPr>
            <a:spLocks noGrp="1"/>
          </p:cNvSpPr>
          <p:nvPr/>
        </p:nvSpPr>
        <p:spPr>
          <a:xfrm>
            <a:off x="4562475" y="1724025"/>
            <a:ext cx="8573" cy="2752725"/>
          </a:xfrm>
          <a:prstGeom prst="rect">
            <a:avLst/>
          </a:prstGeom>
          <a:solidFill>
            <a:srgbClr val="B7C3B1"/>
          </a:solidFill>
          <a:ln w="0">
            <a:noFill/>
          </a:ln>
        </p:spPr>
        <p:txBody>
          <a:bodyPr/>
          <a:lstStyle/>
          <a:p>
            <a:endParaRPr lang="en-US"/>
          </a:p>
        </p:txBody>
      </p:sp>
      <p:sp>
        <p:nvSpPr>
          <p:cNvPr id="5" name="Editorial rule">
            <a:extLst>
              <a:ext uri="{FF2B5EF4-FFF2-40B4-BE49-F238E27FC236}">
                <a16:creationId xmlns:a16="http://schemas.microsoft.com/office/drawing/2014/main" id="{CF60A00C-FCAB-4A34-B4EE-EF155F9A293E}"/>
              </a:ext>
            </a:extLst>
          </p:cNvPr>
          <p:cNvSpPr>
            <a:spLocks noGrp="1"/>
          </p:cNvSpPr>
          <p:nvPr/>
        </p:nvSpPr>
        <p:spPr>
          <a:xfrm>
            <a:off x="495300" y="1647825"/>
            <a:ext cx="3876675" cy="9525"/>
          </a:xfrm>
          <a:prstGeom prst="rect">
            <a:avLst/>
          </a:prstGeom>
          <a:solidFill>
            <a:srgbClr val="B56647"/>
          </a:solidFill>
          <a:ln w="0">
            <a:noFill/>
          </a:ln>
        </p:spPr>
        <p:txBody>
          <a:bodyPr/>
          <a:lstStyle/>
          <a:p>
            <a:endParaRPr lang="en-US"/>
          </a:p>
        </p:txBody>
      </p:sp>
      <p:sp>
        <p:nvSpPr>
          <p:cNvPr id="6" name="Editorial rule">
            <a:extLst>
              <a:ext uri="{FF2B5EF4-FFF2-40B4-BE49-F238E27FC236}">
                <a16:creationId xmlns:a16="http://schemas.microsoft.com/office/drawing/2014/main" id="{CB1851F2-49DA-4984-B628-8A394C364467}"/>
              </a:ext>
            </a:extLst>
          </p:cNvPr>
          <p:cNvSpPr>
            <a:spLocks noGrp="1"/>
          </p:cNvSpPr>
          <p:nvPr/>
        </p:nvSpPr>
        <p:spPr>
          <a:xfrm>
            <a:off x="4810125" y="1647825"/>
            <a:ext cx="3838575" cy="9525"/>
          </a:xfrm>
          <a:prstGeom prst="rect">
            <a:avLst/>
          </a:prstGeom>
          <a:solidFill>
            <a:srgbClr val="B56647"/>
          </a:solidFill>
          <a:ln w="0">
            <a:noFill/>
          </a:ln>
        </p:spPr>
        <p:txBody>
          <a:bodyPr/>
          <a:lstStyle/>
          <a:p>
            <a:endParaRPr lang="en-US"/>
          </a:p>
        </p:txBody>
      </p:sp>
      <p:sp>
        <p:nvSpPr>
          <p:cNvPr id="7" name="Today's Lecture Agenda">
            <a:extLst>
              <a:ext uri="{FF2B5EF4-FFF2-40B4-BE49-F238E27FC236}">
                <a16:creationId xmlns:a16="http://schemas.microsoft.com/office/drawing/2014/main" id="{EABF6B1A-9647-4EF1-BD2B-A6DD62D88891}"/>
              </a:ext>
            </a:extLst>
          </p:cNvPr>
          <p:cNvSpPr>
            <a:spLocks noGrp="1"/>
          </p:cNvSpPr>
          <p:nvPr/>
        </p:nvSpPr>
        <p:spPr>
          <a:xfrm>
            <a:off x="495300" y="381000"/>
            <a:ext cx="8096250" cy="952500"/>
          </a:xfrm>
          <a:prstGeom prst="rect">
            <a:avLst/>
          </a:prstGeom>
          <a:noFill/>
          <a:ln w="0">
            <a:noFill/>
          </a:ln>
        </p:spPr>
        <p:txBody>
          <a:bodyPr wrap="square" lIns="0" tIns="0" rIns="0" bIns="0" anchor="t">
            <a:noAutofit/>
          </a:bodyPr>
          <a:lstStyle/>
          <a:p>
            <a:pPr>
              <a:defRPr sz="2775" b="0" i="0">
                <a:solidFill>
                  <a:srgbClr val="173E35"/>
                </a:solidFill>
                <a:latin typeface="Georgia"/>
                <a:ea typeface="Georgia"/>
                <a:cs typeface="Georgia"/>
              </a:defRPr>
            </a:pPr>
            <a:r>
              <a:rPr sz="2775" b="0" i="0">
                <a:solidFill>
                  <a:srgbClr val="173E35"/>
                </a:solidFill>
                <a:latin typeface="Georgia"/>
                <a:ea typeface="Georgia"/>
                <a:cs typeface="Georgia"/>
              </a:rPr>
              <a:t>Today's Lecture Agenda</a:t>
            </a:r>
          </a:p>
        </p:txBody>
      </p:sp>
      <p:sp>
        <p:nvSpPr>
          <p:cNvPr id="8" name="Before the break">
            <a:extLst>
              <a:ext uri="{FF2B5EF4-FFF2-40B4-BE49-F238E27FC236}">
                <a16:creationId xmlns:a16="http://schemas.microsoft.com/office/drawing/2014/main" id="{7F319BD0-9D74-4191-8AE2-48C4BB67F841}"/>
              </a:ext>
            </a:extLst>
          </p:cNvPr>
          <p:cNvSpPr>
            <a:spLocks noGrp="1"/>
          </p:cNvSpPr>
          <p:nvPr/>
        </p:nvSpPr>
        <p:spPr>
          <a:xfrm>
            <a:off x="495300" y="1266825"/>
            <a:ext cx="3857625" cy="342900"/>
          </a:xfrm>
          <a:prstGeom prst="rect">
            <a:avLst/>
          </a:prstGeom>
          <a:noFill/>
          <a:ln w="0">
            <a:noFill/>
          </a:ln>
        </p:spPr>
        <p:txBody>
          <a:bodyPr wrap="square" lIns="0" tIns="0" rIns="0" bIns="0" anchor="t">
            <a:noAutofit/>
          </a:bodyPr>
          <a:lstStyle/>
          <a:p>
            <a:pPr>
              <a:defRPr sz="1950" b="0" i="0">
                <a:solidFill>
                  <a:srgbClr val="B56647"/>
                </a:solidFill>
                <a:latin typeface="Georgia"/>
                <a:ea typeface="Georgia"/>
                <a:cs typeface="Georgia"/>
              </a:defRPr>
            </a:pPr>
            <a:r>
              <a:rPr sz="1950" b="0" i="0">
                <a:solidFill>
                  <a:srgbClr val="B56647"/>
                </a:solidFill>
                <a:latin typeface="Georgia"/>
                <a:ea typeface="Georgia"/>
                <a:cs typeface="Georgia"/>
              </a:rPr>
              <a:t>Before the break</a:t>
            </a:r>
          </a:p>
        </p:txBody>
      </p:sp>
      <p:sp>
        <p:nvSpPr>
          <p:cNvPr id="9" name="After the break">
            <a:extLst>
              <a:ext uri="{FF2B5EF4-FFF2-40B4-BE49-F238E27FC236}">
                <a16:creationId xmlns:a16="http://schemas.microsoft.com/office/drawing/2014/main" id="{DB0FC378-B20F-499E-AC67-B6AEB0C8B78A}"/>
              </a:ext>
            </a:extLst>
          </p:cNvPr>
          <p:cNvSpPr>
            <a:spLocks noGrp="1"/>
          </p:cNvSpPr>
          <p:nvPr/>
        </p:nvSpPr>
        <p:spPr>
          <a:xfrm>
            <a:off x="4810125" y="1266825"/>
            <a:ext cx="3857625" cy="342900"/>
          </a:xfrm>
          <a:prstGeom prst="rect">
            <a:avLst/>
          </a:prstGeom>
          <a:noFill/>
          <a:ln w="0">
            <a:noFill/>
          </a:ln>
        </p:spPr>
        <p:txBody>
          <a:bodyPr wrap="square" lIns="0" tIns="0" rIns="0" bIns="0" anchor="t">
            <a:noAutofit/>
          </a:bodyPr>
          <a:lstStyle/>
          <a:p>
            <a:pPr>
              <a:defRPr sz="1950" b="0" i="0">
                <a:solidFill>
                  <a:srgbClr val="B56647"/>
                </a:solidFill>
                <a:latin typeface="Georgia"/>
                <a:ea typeface="Georgia"/>
                <a:cs typeface="Georgia"/>
              </a:defRPr>
            </a:pPr>
            <a:r>
              <a:rPr sz="1950" b="0" i="0">
                <a:solidFill>
                  <a:srgbClr val="B56647"/>
                </a:solidFill>
                <a:latin typeface="Georgia"/>
                <a:ea typeface="Georgia"/>
                <a:cs typeface="Georgia"/>
              </a:rPr>
              <a:t>After the break</a:t>
            </a:r>
          </a:p>
        </p:txBody>
      </p:sp>
      <p:sp>
        <p:nvSpPr>
          <p:cNvPr id="10" name="Part 1 — Why Sustainability Matters">
            <a:extLst>
              <a:ext uri="{FF2B5EF4-FFF2-40B4-BE49-F238E27FC236}">
                <a16:creationId xmlns:a16="http://schemas.microsoft.com/office/drawing/2014/main" id="{6B2CC03B-091F-4D4B-BCBF-CB6641836C37}"/>
              </a:ext>
            </a:extLst>
          </p:cNvPr>
          <p:cNvSpPr>
            <a:spLocks noGrp="1"/>
          </p:cNvSpPr>
          <p:nvPr/>
        </p:nvSpPr>
        <p:spPr>
          <a:xfrm>
            <a:off x="495300" y="1714500"/>
            <a:ext cx="3876675" cy="609600"/>
          </a:xfrm>
          <a:prstGeom prst="rect">
            <a:avLst/>
          </a:prstGeom>
          <a:noFill/>
          <a:ln w="0">
            <a:noFill/>
          </a:ln>
        </p:spPr>
        <p:txBody>
          <a:bodyPr wrap="square" lIns="0" tIns="0" rIns="0" bIns="0" anchor="t">
            <a:noAutofit/>
          </a:bodyPr>
          <a:lstStyle/>
          <a:p>
            <a:pPr>
              <a:defRPr sz="1575" b="0" i="0">
                <a:solidFill>
                  <a:srgbClr val="173E35"/>
                </a:solidFill>
                <a:latin typeface="Arial"/>
                <a:ea typeface="Arial"/>
                <a:cs typeface="Arial"/>
              </a:defRPr>
            </a:pPr>
            <a:r>
              <a:rPr sz="1575" b="0" i="0">
                <a:solidFill>
                  <a:srgbClr val="173E35"/>
                </a:solidFill>
                <a:latin typeface="Arial"/>
                <a:ea typeface="Arial"/>
                <a:cs typeface="Arial"/>
              </a:rPr>
              <a:t>Part 1 — Why Sustainability Matters</a:t>
            </a:r>
          </a:p>
        </p:txBody>
      </p:sp>
      <p:sp>
        <p:nvSpPr>
          <p:cNvPr id="11" name="Part 2 — Sustainability and Business">
            <a:extLst>
              <a:ext uri="{FF2B5EF4-FFF2-40B4-BE49-F238E27FC236}">
                <a16:creationId xmlns:a16="http://schemas.microsoft.com/office/drawing/2014/main" id="{759FC153-57C5-4E6B-A5A8-E5A8CB4C462C}"/>
              </a:ext>
            </a:extLst>
          </p:cNvPr>
          <p:cNvSpPr>
            <a:spLocks noGrp="1"/>
          </p:cNvSpPr>
          <p:nvPr/>
        </p:nvSpPr>
        <p:spPr>
          <a:xfrm>
            <a:off x="495300" y="2114550"/>
            <a:ext cx="3876675" cy="609600"/>
          </a:xfrm>
          <a:prstGeom prst="rect">
            <a:avLst/>
          </a:prstGeom>
          <a:noFill/>
          <a:ln w="0">
            <a:noFill/>
          </a:ln>
        </p:spPr>
        <p:txBody>
          <a:bodyPr wrap="square" lIns="0" tIns="0" rIns="0" bIns="0" anchor="t">
            <a:noAutofit/>
          </a:bodyPr>
          <a:lstStyle/>
          <a:p>
            <a:pPr>
              <a:defRPr sz="1575" b="0" i="0">
                <a:solidFill>
                  <a:srgbClr val="173E35"/>
                </a:solidFill>
                <a:latin typeface="Arial"/>
                <a:ea typeface="Arial"/>
                <a:cs typeface="Arial"/>
              </a:defRPr>
            </a:pPr>
            <a:r>
              <a:rPr sz="1575" b="0" i="0">
                <a:solidFill>
                  <a:srgbClr val="173E35"/>
                </a:solidFill>
                <a:latin typeface="Arial"/>
                <a:ea typeface="Arial"/>
                <a:cs typeface="Arial"/>
              </a:rPr>
              <a:t>Part 2 — Sustainability and Business</a:t>
            </a:r>
          </a:p>
        </p:txBody>
      </p:sp>
      <p:sp>
        <p:nvSpPr>
          <p:cNvPr id="12" name="Part 3 — Green Infrastructure in Business">
            <a:extLst>
              <a:ext uri="{FF2B5EF4-FFF2-40B4-BE49-F238E27FC236}">
                <a16:creationId xmlns:a16="http://schemas.microsoft.com/office/drawing/2014/main" id="{45A4EBA3-9AE0-4B34-B25A-A4860FF7D0D1}"/>
              </a:ext>
            </a:extLst>
          </p:cNvPr>
          <p:cNvSpPr>
            <a:spLocks noGrp="1"/>
          </p:cNvSpPr>
          <p:nvPr/>
        </p:nvSpPr>
        <p:spPr>
          <a:xfrm>
            <a:off x="495300" y="2514600"/>
            <a:ext cx="3876675" cy="609600"/>
          </a:xfrm>
          <a:prstGeom prst="rect">
            <a:avLst/>
          </a:prstGeom>
          <a:noFill/>
          <a:ln w="0">
            <a:noFill/>
          </a:ln>
        </p:spPr>
        <p:txBody>
          <a:bodyPr wrap="square" lIns="0" tIns="0" rIns="0" bIns="0" anchor="t">
            <a:noAutofit/>
          </a:bodyPr>
          <a:lstStyle/>
          <a:p>
            <a:pPr>
              <a:defRPr sz="1575" b="0" i="0">
                <a:solidFill>
                  <a:srgbClr val="173E35"/>
                </a:solidFill>
                <a:latin typeface="Arial"/>
                <a:ea typeface="Arial"/>
                <a:cs typeface="Arial"/>
              </a:defRPr>
            </a:pPr>
            <a:r>
              <a:rPr sz="1575" b="0" i="0">
                <a:solidFill>
                  <a:srgbClr val="173E35"/>
                </a:solidFill>
                <a:latin typeface="Arial"/>
                <a:ea typeface="Arial"/>
                <a:cs typeface="Arial"/>
              </a:rPr>
              <a:t>Part 3 — Green Infrastructure in Business</a:t>
            </a:r>
          </a:p>
        </p:txBody>
      </p:sp>
      <p:sp>
        <p:nvSpPr>
          <p:cNvPr id="13" name="Prague Focus — the City as a Living Laborator">
            <a:extLst>
              <a:ext uri="{FF2B5EF4-FFF2-40B4-BE49-F238E27FC236}">
                <a16:creationId xmlns:a16="http://schemas.microsoft.com/office/drawing/2014/main" id="{46A29CBD-BF36-4874-80D5-91A2F501D6D0}"/>
              </a:ext>
            </a:extLst>
          </p:cNvPr>
          <p:cNvSpPr>
            <a:spLocks noGrp="1"/>
          </p:cNvSpPr>
          <p:nvPr/>
        </p:nvSpPr>
        <p:spPr>
          <a:xfrm>
            <a:off x="495300" y="2914650"/>
            <a:ext cx="3876675" cy="609600"/>
          </a:xfrm>
          <a:prstGeom prst="rect">
            <a:avLst/>
          </a:prstGeom>
          <a:noFill/>
          <a:ln w="0">
            <a:noFill/>
          </a:ln>
        </p:spPr>
        <p:txBody>
          <a:bodyPr wrap="square" lIns="0" tIns="0" rIns="0" bIns="0" anchor="t">
            <a:noAutofit/>
          </a:bodyPr>
          <a:lstStyle/>
          <a:p>
            <a:pPr>
              <a:defRPr sz="1575" b="0" i="0">
                <a:solidFill>
                  <a:srgbClr val="173E35"/>
                </a:solidFill>
                <a:latin typeface="Arial"/>
                <a:ea typeface="Arial"/>
                <a:cs typeface="Arial"/>
              </a:defRPr>
            </a:pPr>
            <a:r>
              <a:rPr sz="1575" b="0" i="0">
                <a:solidFill>
                  <a:srgbClr val="173E35"/>
                </a:solidFill>
                <a:latin typeface="Arial"/>
                <a:ea typeface="Arial"/>
                <a:cs typeface="Arial"/>
              </a:rPr>
              <a:t>Prague Focus — the City as a Living Laboratory</a:t>
            </a:r>
          </a:p>
        </p:txBody>
      </p:sp>
      <p:sp>
        <p:nvSpPr>
          <p:cNvPr id="14" name="Case Study — Singapore: City in Nature">
            <a:extLst>
              <a:ext uri="{FF2B5EF4-FFF2-40B4-BE49-F238E27FC236}">
                <a16:creationId xmlns:a16="http://schemas.microsoft.com/office/drawing/2014/main" id="{E1085F38-554D-4474-BA0F-E87A5E2D9723}"/>
              </a:ext>
            </a:extLst>
          </p:cNvPr>
          <p:cNvSpPr>
            <a:spLocks noGrp="1"/>
          </p:cNvSpPr>
          <p:nvPr/>
        </p:nvSpPr>
        <p:spPr>
          <a:xfrm>
            <a:off x="495300" y="3524250"/>
            <a:ext cx="3876675" cy="609600"/>
          </a:xfrm>
          <a:prstGeom prst="rect">
            <a:avLst/>
          </a:prstGeom>
          <a:noFill/>
          <a:ln w="0">
            <a:noFill/>
          </a:ln>
        </p:spPr>
        <p:txBody>
          <a:bodyPr wrap="square" lIns="0" tIns="0" rIns="0" bIns="0" anchor="t">
            <a:noAutofit/>
          </a:bodyPr>
          <a:lstStyle/>
          <a:p>
            <a:pPr>
              <a:defRPr sz="1575" b="0" i="0">
                <a:solidFill>
                  <a:srgbClr val="173E35"/>
                </a:solidFill>
                <a:latin typeface="Arial"/>
                <a:ea typeface="Arial"/>
                <a:cs typeface="Arial"/>
              </a:defRPr>
            </a:pPr>
            <a:r>
              <a:rPr sz="1575" b="0" i="0">
                <a:solidFill>
                  <a:srgbClr val="173E35"/>
                </a:solidFill>
                <a:latin typeface="Arial"/>
                <a:ea typeface="Arial"/>
                <a:cs typeface="Arial"/>
              </a:rPr>
              <a:t>Case Study — Singapore: City in Nature</a:t>
            </a:r>
          </a:p>
        </p:txBody>
      </p:sp>
      <p:sp>
        <p:nvSpPr>
          <p:cNvPr id="15" name="Discussion">
            <a:extLst>
              <a:ext uri="{FF2B5EF4-FFF2-40B4-BE49-F238E27FC236}">
                <a16:creationId xmlns:a16="http://schemas.microsoft.com/office/drawing/2014/main" id="{A454FC71-8FD8-43BC-9164-AA0694FE4198}"/>
              </a:ext>
            </a:extLst>
          </p:cNvPr>
          <p:cNvSpPr>
            <a:spLocks noGrp="1"/>
          </p:cNvSpPr>
          <p:nvPr/>
        </p:nvSpPr>
        <p:spPr>
          <a:xfrm>
            <a:off x="495300" y="3981450"/>
            <a:ext cx="3876675" cy="609600"/>
          </a:xfrm>
          <a:prstGeom prst="rect">
            <a:avLst/>
          </a:prstGeom>
          <a:noFill/>
          <a:ln w="0">
            <a:noFill/>
          </a:ln>
        </p:spPr>
        <p:txBody>
          <a:bodyPr wrap="square" lIns="0" tIns="0" rIns="0" bIns="0" anchor="t">
            <a:noAutofit/>
          </a:bodyPr>
          <a:lstStyle/>
          <a:p>
            <a:pPr>
              <a:defRPr sz="1575" b="0" i="0">
                <a:solidFill>
                  <a:srgbClr val="173E35"/>
                </a:solidFill>
                <a:latin typeface="Arial"/>
                <a:ea typeface="Arial"/>
                <a:cs typeface="Arial"/>
              </a:defRPr>
            </a:pPr>
            <a:r>
              <a:rPr sz="1575" b="0" i="0">
                <a:solidFill>
                  <a:srgbClr val="173E35"/>
                </a:solidFill>
                <a:latin typeface="Arial"/>
                <a:ea typeface="Arial"/>
                <a:cs typeface="Arial"/>
              </a:rPr>
              <a:t>Discussion</a:t>
            </a:r>
          </a:p>
        </p:txBody>
      </p:sp>
      <p:sp>
        <p:nvSpPr>
          <p:cNvPr id="16" name="Part 4 — Planetary Challenges">
            <a:extLst>
              <a:ext uri="{FF2B5EF4-FFF2-40B4-BE49-F238E27FC236}">
                <a16:creationId xmlns:a16="http://schemas.microsoft.com/office/drawing/2014/main" id="{8408F5E8-6D37-4B71-AA5B-243C3D1D2A06}"/>
              </a:ext>
            </a:extLst>
          </p:cNvPr>
          <p:cNvSpPr>
            <a:spLocks noGrp="1"/>
          </p:cNvSpPr>
          <p:nvPr/>
        </p:nvSpPr>
        <p:spPr>
          <a:xfrm>
            <a:off x="4810125" y="1714500"/>
            <a:ext cx="3838575" cy="609600"/>
          </a:xfrm>
          <a:prstGeom prst="rect">
            <a:avLst/>
          </a:prstGeom>
          <a:noFill/>
          <a:ln w="0">
            <a:noFill/>
          </a:ln>
        </p:spPr>
        <p:txBody>
          <a:bodyPr wrap="square" lIns="0" tIns="0" rIns="0" bIns="0" anchor="t">
            <a:noAutofit/>
          </a:bodyPr>
          <a:lstStyle/>
          <a:p>
            <a:pPr>
              <a:defRPr sz="1575" b="0" i="0">
                <a:solidFill>
                  <a:srgbClr val="173E35"/>
                </a:solidFill>
                <a:latin typeface="Arial"/>
                <a:ea typeface="Arial"/>
                <a:cs typeface="Arial"/>
              </a:defRPr>
            </a:pPr>
            <a:r>
              <a:rPr sz="1575" b="0" i="0">
                <a:solidFill>
                  <a:srgbClr val="173E35"/>
                </a:solidFill>
                <a:latin typeface="Arial"/>
                <a:ea typeface="Arial"/>
                <a:cs typeface="Arial"/>
              </a:rPr>
              <a:t>Part 4 — Planetary Challenges</a:t>
            </a:r>
          </a:p>
        </p:txBody>
      </p:sp>
      <p:sp>
        <p:nvSpPr>
          <p:cNvPr id="17" name="Part 5 — Urban Development and Nature">
            <a:extLst>
              <a:ext uri="{FF2B5EF4-FFF2-40B4-BE49-F238E27FC236}">
                <a16:creationId xmlns:a16="http://schemas.microsoft.com/office/drawing/2014/main" id="{311CDA5F-315F-43E1-AF33-EECDE4FA31CF}"/>
              </a:ext>
            </a:extLst>
          </p:cNvPr>
          <p:cNvSpPr>
            <a:spLocks noGrp="1"/>
          </p:cNvSpPr>
          <p:nvPr/>
        </p:nvSpPr>
        <p:spPr>
          <a:xfrm>
            <a:off x="4810125" y="2114550"/>
            <a:ext cx="3838575" cy="609600"/>
          </a:xfrm>
          <a:prstGeom prst="rect">
            <a:avLst/>
          </a:prstGeom>
          <a:noFill/>
          <a:ln w="0">
            <a:noFill/>
          </a:ln>
        </p:spPr>
        <p:txBody>
          <a:bodyPr wrap="square" lIns="0" tIns="0" rIns="0" bIns="0" anchor="t">
            <a:noAutofit/>
          </a:bodyPr>
          <a:lstStyle/>
          <a:p>
            <a:pPr>
              <a:defRPr sz="1575" b="0" i="0">
                <a:solidFill>
                  <a:srgbClr val="173E35"/>
                </a:solidFill>
                <a:latin typeface="Arial"/>
                <a:ea typeface="Arial"/>
                <a:cs typeface="Arial"/>
              </a:defRPr>
            </a:pPr>
            <a:r>
              <a:rPr sz="1575" b="0" i="0">
                <a:solidFill>
                  <a:srgbClr val="173E35"/>
                </a:solidFill>
                <a:latin typeface="Arial"/>
                <a:ea typeface="Arial"/>
                <a:cs typeface="Arial"/>
              </a:rPr>
              <a:t>Part 5 — Urban Development and Nature</a:t>
            </a:r>
          </a:p>
        </p:txBody>
      </p:sp>
      <p:sp>
        <p:nvSpPr>
          <p:cNvPr id="18" name="Part 6 — Green Infrastructure as a Solution">
            <a:extLst>
              <a:ext uri="{FF2B5EF4-FFF2-40B4-BE49-F238E27FC236}">
                <a16:creationId xmlns:a16="http://schemas.microsoft.com/office/drawing/2014/main" id="{D8A3BD4A-FBAD-4940-91D8-13FEBFE2BAFA}"/>
              </a:ext>
            </a:extLst>
          </p:cNvPr>
          <p:cNvSpPr>
            <a:spLocks noGrp="1"/>
          </p:cNvSpPr>
          <p:nvPr/>
        </p:nvSpPr>
        <p:spPr>
          <a:xfrm>
            <a:off x="4810125" y="2514600"/>
            <a:ext cx="3838575" cy="609600"/>
          </a:xfrm>
          <a:prstGeom prst="rect">
            <a:avLst/>
          </a:prstGeom>
          <a:noFill/>
          <a:ln w="0">
            <a:noFill/>
          </a:ln>
        </p:spPr>
        <p:txBody>
          <a:bodyPr wrap="square" lIns="0" tIns="0" rIns="0" bIns="0" anchor="t">
            <a:noAutofit/>
          </a:bodyPr>
          <a:lstStyle/>
          <a:p>
            <a:pPr>
              <a:defRPr sz="1575" b="0" i="0">
                <a:solidFill>
                  <a:srgbClr val="173E35"/>
                </a:solidFill>
                <a:latin typeface="Arial"/>
                <a:ea typeface="Arial"/>
                <a:cs typeface="Arial"/>
              </a:defRPr>
            </a:pPr>
            <a:r>
              <a:rPr sz="1575" b="0" i="0">
                <a:solidFill>
                  <a:srgbClr val="173E35"/>
                </a:solidFill>
                <a:latin typeface="Arial"/>
                <a:ea typeface="Arial"/>
                <a:cs typeface="Arial"/>
              </a:rPr>
              <a:t>Part 6 — Green Infrastructure as a Solution</a:t>
            </a:r>
          </a:p>
        </p:txBody>
      </p:sp>
      <p:sp>
        <p:nvSpPr>
          <p:cNvPr id="19" name="Prague Case Study — the Vltava River Corridor">
            <a:extLst>
              <a:ext uri="{FF2B5EF4-FFF2-40B4-BE49-F238E27FC236}">
                <a16:creationId xmlns:a16="http://schemas.microsoft.com/office/drawing/2014/main" id="{81608D8A-4DFC-4901-AB83-410AAE416ED1}"/>
              </a:ext>
            </a:extLst>
          </p:cNvPr>
          <p:cNvSpPr>
            <a:spLocks noGrp="1"/>
          </p:cNvSpPr>
          <p:nvPr/>
        </p:nvSpPr>
        <p:spPr>
          <a:xfrm>
            <a:off x="4810125" y="3086100"/>
            <a:ext cx="3838575" cy="609600"/>
          </a:xfrm>
          <a:prstGeom prst="rect">
            <a:avLst/>
          </a:prstGeom>
          <a:noFill/>
          <a:ln w="0">
            <a:noFill/>
          </a:ln>
        </p:spPr>
        <p:txBody>
          <a:bodyPr wrap="square" lIns="0" tIns="0" rIns="0" bIns="0" anchor="t">
            <a:noAutofit/>
          </a:bodyPr>
          <a:lstStyle/>
          <a:p>
            <a:pPr>
              <a:defRPr sz="1575" b="0" i="0">
                <a:solidFill>
                  <a:srgbClr val="173E35"/>
                </a:solidFill>
                <a:latin typeface="Arial"/>
                <a:ea typeface="Arial"/>
                <a:cs typeface="Arial"/>
              </a:defRPr>
            </a:pPr>
            <a:r>
              <a:rPr sz="1575" b="0" i="0">
                <a:solidFill>
                  <a:srgbClr val="173E35"/>
                </a:solidFill>
                <a:latin typeface="Arial"/>
                <a:ea typeface="Arial"/>
                <a:cs typeface="Arial"/>
              </a:rPr>
              <a:t>Prague Case Study — the Vltava River Corridor</a:t>
            </a:r>
          </a:p>
        </p:txBody>
      </p:sp>
      <p:sp>
        <p:nvSpPr>
          <p:cNvPr id="20" name="Workshop and Preparation for Seminar 1">
            <a:extLst>
              <a:ext uri="{FF2B5EF4-FFF2-40B4-BE49-F238E27FC236}">
                <a16:creationId xmlns:a16="http://schemas.microsoft.com/office/drawing/2014/main" id="{2347511F-3976-429D-B2CD-59DBB789471C}"/>
              </a:ext>
            </a:extLst>
          </p:cNvPr>
          <p:cNvSpPr>
            <a:spLocks noGrp="1"/>
          </p:cNvSpPr>
          <p:nvPr/>
        </p:nvSpPr>
        <p:spPr>
          <a:xfrm>
            <a:off x="4810125" y="3657600"/>
            <a:ext cx="3838575" cy="609600"/>
          </a:xfrm>
          <a:prstGeom prst="rect">
            <a:avLst/>
          </a:prstGeom>
          <a:noFill/>
          <a:ln w="0">
            <a:noFill/>
          </a:ln>
        </p:spPr>
        <p:txBody>
          <a:bodyPr wrap="square" lIns="0" tIns="0" rIns="0" bIns="0" anchor="t">
            <a:noAutofit/>
          </a:bodyPr>
          <a:lstStyle/>
          <a:p>
            <a:pPr>
              <a:defRPr sz="1575" b="0" i="0">
                <a:solidFill>
                  <a:srgbClr val="173E35"/>
                </a:solidFill>
                <a:latin typeface="Arial"/>
                <a:ea typeface="Arial"/>
                <a:cs typeface="Arial"/>
              </a:defRPr>
            </a:pPr>
            <a:r>
              <a:rPr sz="1575" b="0" i="0">
                <a:solidFill>
                  <a:srgbClr val="173E35"/>
                </a:solidFill>
                <a:latin typeface="Arial"/>
                <a:ea typeface="Arial"/>
                <a:cs typeface="Arial"/>
              </a:rPr>
              <a:t>Workshop and Preparation for Seminar 1</a:t>
            </a:r>
          </a:p>
        </p:txBody>
      </p:sp>
      <p:sp>
        <p:nvSpPr>
          <p:cNvPr id="21" name="Key Messages and Reading">
            <a:extLst>
              <a:ext uri="{FF2B5EF4-FFF2-40B4-BE49-F238E27FC236}">
                <a16:creationId xmlns:a16="http://schemas.microsoft.com/office/drawing/2014/main" id="{0041D57D-A673-405D-B41B-6529A67F52B9}"/>
              </a:ext>
            </a:extLst>
          </p:cNvPr>
          <p:cNvSpPr>
            <a:spLocks noGrp="1"/>
          </p:cNvSpPr>
          <p:nvPr/>
        </p:nvSpPr>
        <p:spPr>
          <a:xfrm>
            <a:off x="4810125" y="4324350"/>
            <a:ext cx="3838575" cy="609600"/>
          </a:xfrm>
          <a:prstGeom prst="rect">
            <a:avLst/>
          </a:prstGeom>
          <a:noFill/>
          <a:ln w="0">
            <a:noFill/>
          </a:ln>
        </p:spPr>
        <p:txBody>
          <a:bodyPr wrap="square" lIns="0" tIns="0" rIns="0" bIns="0" anchor="t">
            <a:noAutofit/>
          </a:bodyPr>
          <a:lstStyle/>
          <a:p>
            <a:pPr>
              <a:defRPr sz="1575" b="0" i="0">
                <a:solidFill>
                  <a:srgbClr val="173E35"/>
                </a:solidFill>
                <a:latin typeface="Arial"/>
                <a:ea typeface="Arial"/>
                <a:cs typeface="Arial"/>
              </a:defRPr>
            </a:pPr>
            <a:r>
              <a:rPr sz="1575" b="0" i="0">
                <a:solidFill>
                  <a:srgbClr val="173E35"/>
                </a:solidFill>
                <a:latin typeface="Arial"/>
                <a:ea typeface="Arial"/>
                <a:cs typeface="Arial"/>
              </a:rPr>
              <a:t>Key Messages and Reading</a:t>
            </a:r>
          </a:p>
        </p:txBody>
      </p:sp>
      <p:sp>
        <p:nvSpPr>
          <p:cNvPr id="22" name="Break">
            <a:extLst>
              <a:ext uri="{FF2B5EF4-FFF2-40B4-BE49-F238E27FC236}">
                <a16:creationId xmlns:a16="http://schemas.microsoft.com/office/drawing/2014/main" id="{D727A7A7-89F1-4DA5-89BA-B93B94640035}"/>
              </a:ext>
            </a:extLst>
          </p:cNvPr>
          <p:cNvSpPr>
            <a:spLocks noGrp="1"/>
          </p:cNvSpPr>
          <p:nvPr/>
        </p:nvSpPr>
        <p:spPr>
          <a:xfrm>
            <a:off x="4124325" y="4552950"/>
            <a:ext cx="895350" cy="238125"/>
          </a:xfrm>
          <a:prstGeom prst="rect">
            <a:avLst/>
          </a:prstGeom>
          <a:noFill/>
          <a:ln w="0">
            <a:noFill/>
          </a:ln>
        </p:spPr>
        <p:txBody>
          <a:bodyPr wrap="square" lIns="0" tIns="0" rIns="0" bIns="0" anchor="t">
            <a:noAutofit/>
          </a:bodyPr>
          <a:lstStyle/>
          <a:p>
            <a:pPr algn="ctr">
              <a:defRPr sz="1050" b="0" i="0">
                <a:solidFill>
                  <a:srgbClr val="58665B"/>
                </a:solidFill>
                <a:latin typeface="Arial"/>
                <a:ea typeface="Arial"/>
                <a:cs typeface="Arial"/>
              </a:defRPr>
            </a:pPr>
            <a:r>
              <a:rPr sz="1050" b="0" i="0">
                <a:solidFill>
                  <a:srgbClr val="58665B"/>
                </a:solidFill>
                <a:latin typeface="Arial"/>
                <a:ea typeface="Arial"/>
                <a:cs typeface="Arial"/>
              </a:rPr>
              <a:t>Break</a:t>
            </a:r>
          </a:p>
        </p:txBody>
      </p:sp>
      <p:pic>
        <p:nvPicPr>
          <p:cNvPr id="48" name="Picture 47"/>
          <p:cNvPicPr>
            <a:picLocks noChangeAspect="1"/>
          </p:cNvPicPr>
          <p:nvPr/>
        </p:nvPicPr>
        <p:blipFill>
          <a:blip r:embed="rId3"/>
          <a:stretch/>
        </p:blipFill>
        <p:spPr>
          <a:xfrm>
            <a:off x="499570" y="4829175"/>
            <a:ext cx="315310" cy="152400"/>
          </a:xfrm>
          <a:prstGeom prst="rect">
            <a:avLst/>
          </a:prstGeom>
        </p:spPr>
      </p:pic>
      <p:sp>
        <p:nvSpPr>
          <p:cNvPr id="24" name="www.newton.university">
            <a:extLst>
              <a:ext uri="{FF2B5EF4-FFF2-40B4-BE49-F238E27FC236}">
                <a16:creationId xmlns:a16="http://schemas.microsoft.com/office/drawing/2014/main" id="{6443A38D-6A69-4567-8F7E-E6DE8B70D7F1}"/>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25" name="03">
            <a:extLst>
              <a:ext uri="{FF2B5EF4-FFF2-40B4-BE49-F238E27FC236}">
                <a16:creationId xmlns:a16="http://schemas.microsoft.com/office/drawing/2014/main" id="{827AC8BA-CC3E-46D3-B9D8-56E361FE202F}"/>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58665B"/>
                </a:solidFill>
                <a:latin typeface="Arial"/>
                <a:ea typeface="Arial"/>
                <a:cs typeface="Arial"/>
              </a:defRPr>
            </a:pPr>
            <a:r>
              <a:rPr sz="1125" b="0" i="0">
                <a:solidFill>
                  <a:srgbClr val="58665B"/>
                </a:solidFill>
                <a:latin typeface="Arial"/>
                <a:ea typeface="Arial"/>
                <a:cs typeface="Arial"/>
              </a:rPr>
              <a:t>03</a:t>
            </a:r>
          </a:p>
        </p:txBody>
      </p:sp>
    </p:spTree>
    <p:extLst>
      <p:ext uri="{BB962C8B-B14F-4D97-AF65-F5344CB8AC3E}">
        <p14:creationId xmlns:p14="http://schemas.microsoft.com/office/powerpoint/2010/main" val="937730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10" name="Editorial frame">
            <a:extLst>
              <a:ext uri="{FF2B5EF4-FFF2-40B4-BE49-F238E27FC236}">
                <a16:creationId xmlns:a16="http://schemas.microsoft.com/office/drawing/2014/main" id="{49A97C12-0994-4596-BA07-A8710A190B05}"/>
              </a:ext>
            </a:extLst>
          </p:cNvPr>
          <p:cNvSpPr>
            <a:spLocks noGrp="1"/>
          </p:cNvSpPr>
          <p:nvPr/>
        </p:nvSpPr>
        <p:spPr>
          <a:xfrm>
            <a:off x="219075" y="219075"/>
            <a:ext cx="8705850" cy="4514850"/>
          </a:xfrm>
          <a:prstGeom prst="rect">
            <a:avLst/>
          </a:prstGeom>
          <a:noFill/>
          <a:ln w="8573">
            <a:solidFill>
              <a:srgbClr val="173E35"/>
            </a:solidFill>
          </a:ln>
        </p:spPr>
        <p:txBody>
          <a:bodyPr/>
          <a:lstStyle/>
          <a:p>
            <a:endParaRPr lang="en-US"/>
          </a:p>
        </p:txBody>
      </p:sp>
      <p:sp>
        <p:nvSpPr>
          <p:cNvPr id="2" name="Editorial frame">
            <a:extLst>
              <a:ext uri="{FF2B5EF4-FFF2-40B4-BE49-F238E27FC236}">
                <a16:creationId xmlns:a16="http://schemas.microsoft.com/office/drawing/2014/main" id="{5DDFDBB1-5545-4B1A-935E-026ECEE39469}"/>
              </a:ext>
            </a:extLst>
          </p:cNvPr>
          <p:cNvSpPr>
            <a:spLocks noGrp="1"/>
          </p:cNvSpPr>
          <p:nvPr/>
        </p:nvSpPr>
        <p:spPr>
          <a:xfrm>
            <a:off x="295275" y="295275"/>
            <a:ext cx="8553450" cy="4362450"/>
          </a:xfrm>
          <a:prstGeom prst="rect">
            <a:avLst/>
          </a:prstGeom>
          <a:noFill/>
          <a:ln w="8573">
            <a:solidFill>
              <a:srgbClr val="D1D6C8"/>
            </a:solidFill>
          </a:ln>
        </p:spPr>
        <p:txBody>
          <a:bodyPr/>
          <a:lstStyle/>
          <a:p>
            <a:endParaRPr lang="en-US"/>
          </a:p>
        </p:txBody>
      </p:sp>
      <p:sp>
        <p:nvSpPr>
          <p:cNvPr id="3" name="Editorial rule">
            <a:extLst>
              <a:ext uri="{FF2B5EF4-FFF2-40B4-BE49-F238E27FC236}">
                <a16:creationId xmlns:a16="http://schemas.microsoft.com/office/drawing/2014/main" id="{3049F5DC-0F3F-4CA8-80FE-3F55DE0867BF}"/>
              </a:ext>
            </a:extLst>
          </p:cNvPr>
          <p:cNvSpPr>
            <a:spLocks noGrp="1"/>
          </p:cNvSpPr>
          <p:nvPr/>
        </p:nvSpPr>
        <p:spPr>
          <a:xfrm>
            <a:off x="495300" y="4371975"/>
            <a:ext cx="8153400" cy="11430"/>
          </a:xfrm>
          <a:prstGeom prst="rect">
            <a:avLst/>
          </a:prstGeom>
          <a:solidFill>
            <a:srgbClr val="B56647"/>
          </a:solidFill>
          <a:ln w="0">
            <a:noFill/>
          </a:ln>
        </p:spPr>
        <p:txBody>
          <a:bodyPr/>
          <a:lstStyle/>
          <a:p>
            <a:endParaRPr lang="en-US"/>
          </a:p>
        </p:txBody>
      </p:sp>
      <p:sp>
        <p:nvSpPr>
          <p:cNvPr id="4" name="Part 1">
            <a:extLst>
              <a:ext uri="{FF2B5EF4-FFF2-40B4-BE49-F238E27FC236}">
                <a16:creationId xmlns:a16="http://schemas.microsoft.com/office/drawing/2014/main" id="{987A7EC4-1707-4F6F-80E2-457DDB408CE4}"/>
              </a:ext>
            </a:extLst>
          </p:cNvPr>
          <p:cNvSpPr>
            <a:spLocks noGrp="1"/>
          </p:cNvSpPr>
          <p:nvPr/>
        </p:nvSpPr>
        <p:spPr>
          <a:xfrm>
            <a:off x="495300" y="666750"/>
            <a:ext cx="4762500" cy="304800"/>
          </a:xfrm>
          <a:prstGeom prst="rect">
            <a:avLst/>
          </a:prstGeom>
          <a:noFill/>
          <a:ln w="0">
            <a:noFill/>
          </a:ln>
        </p:spPr>
        <p:txBody>
          <a:bodyPr wrap="square" lIns="0" tIns="0" rIns="0" bIns="0" anchor="t">
            <a:noAutofit/>
          </a:bodyPr>
          <a:lstStyle/>
          <a:p>
            <a:pPr>
              <a:defRPr sz="1500" b="0" i="0">
                <a:solidFill>
                  <a:srgbClr val="58665B"/>
                </a:solidFill>
                <a:latin typeface="Arial"/>
                <a:ea typeface="Arial"/>
                <a:cs typeface="Arial"/>
              </a:defRPr>
            </a:pPr>
            <a:r>
              <a:rPr sz="1500" b="0" i="0">
                <a:solidFill>
                  <a:srgbClr val="58665B"/>
                </a:solidFill>
                <a:latin typeface="Arial"/>
                <a:ea typeface="Arial"/>
                <a:cs typeface="Arial"/>
              </a:rPr>
              <a:t>Part 1</a:t>
            </a:r>
          </a:p>
        </p:txBody>
      </p:sp>
      <p:sp>
        <p:nvSpPr>
          <p:cNvPr id="5" name="01">
            <a:extLst>
              <a:ext uri="{FF2B5EF4-FFF2-40B4-BE49-F238E27FC236}">
                <a16:creationId xmlns:a16="http://schemas.microsoft.com/office/drawing/2014/main" id="{EDBBE34E-2657-4DC7-AB35-AB80C1420294}"/>
              </a:ext>
            </a:extLst>
          </p:cNvPr>
          <p:cNvSpPr>
            <a:spLocks noGrp="1"/>
          </p:cNvSpPr>
          <p:nvPr/>
        </p:nvSpPr>
        <p:spPr>
          <a:xfrm>
            <a:off x="6858000" y="685800"/>
            <a:ext cx="1809750" cy="1428750"/>
          </a:xfrm>
          <a:prstGeom prst="rect">
            <a:avLst/>
          </a:prstGeom>
          <a:noFill/>
          <a:ln w="0">
            <a:noFill/>
          </a:ln>
        </p:spPr>
        <p:txBody>
          <a:bodyPr wrap="square" lIns="0" tIns="0" rIns="0" bIns="0" anchor="t">
            <a:noAutofit/>
          </a:bodyPr>
          <a:lstStyle/>
          <a:p>
            <a:pPr>
              <a:defRPr sz="8625" b="0" i="0">
                <a:solidFill>
                  <a:srgbClr val="B56647"/>
                </a:solidFill>
                <a:latin typeface="Georgia"/>
                <a:ea typeface="Georgia"/>
                <a:cs typeface="Georgia"/>
              </a:defRPr>
            </a:pPr>
            <a:r>
              <a:rPr sz="8625" b="0" i="0">
                <a:solidFill>
                  <a:srgbClr val="B56647"/>
                </a:solidFill>
                <a:latin typeface="Georgia"/>
                <a:ea typeface="Georgia"/>
                <a:cs typeface="Georgia"/>
              </a:rPr>
              <a:t>01</a:t>
            </a:r>
          </a:p>
        </p:txBody>
      </p:sp>
      <p:sp>
        <p:nvSpPr>
          <p:cNvPr id="6" name="Why Sustainability&#10;Matters">
            <a:extLst>
              <a:ext uri="{FF2B5EF4-FFF2-40B4-BE49-F238E27FC236}">
                <a16:creationId xmlns:a16="http://schemas.microsoft.com/office/drawing/2014/main" id="{363FD369-6B4E-4882-B657-9A70519AEB43}"/>
              </a:ext>
            </a:extLst>
          </p:cNvPr>
          <p:cNvSpPr>
            <a:spLocks noGrp="1"/>
          </p:cNvSpPr>
          <p:nvPr/>
        </p:nvSpPr>
        <p:spPr>
          <a:xfrm>
            <a:off x="495300" y="2238375"/>
            <a:ext cx="7905750" cy="1809750"/>
          </a:xfrm>
          <a:prstGeom prst="rect">
            <a:avLst/>
          </a:prstGeom>
          <a:noFill/>
          <a:ln w="0">
            <a:noFill/>
          </a:ln>
        </p:spPr>
        <p:txBody>
          <a:bodyPr wrap="square" lIns="0" tIns="0" rIns="0" bIns="0" anchor="t">
            <a:noAutofit/>
          </a:bodyPr>
          <a:lstStyle/>
          <a:p>
            <a:pPr>
              <a:defRPr sz="4425" b="0" i="0">
                <a:solidFill>
                  <a:srgbClr val="173E35"/>
                </a:solidFill>
                <a:latin typeface="Georgia"/>
                <a:ea typeface="Georgia"/>
                <a:cs typeface="Georgia"/>
              </a:defRPr>
            </a:pPr>
            <a:r>
              <a:rPr sz="4425" b="0" i="0">
                <a:solidFill>
                  <a:srgbClr val="173E35"/>
                </a:solidFill>
                <a:latin typeface="Georgia"/>
                <a:ea typeface="Georgia"/>
                <a:cs typeface="Georgia"/>
              </a:rPr>
              <a:t>Why Sustainability</a:t>
            </a:r>
          </a:p>
          <a:p>
            <a:pPr>
              <a:defRPr sz="4425" b="0" i="0">
                <a:solidFill>
                  <a:srgbClr val="173E35"/>
                </a:solidFill>
                <a:latin typeface="Georgia"/>
                <a:ea typeface="Georgia"/>
                <a:cs typeface="Georgia"/>
              </a:defRPr>
            </a:pPr>
            <a:r>
              <a:rPr sz="4425" b="0" i="0">
                <a:solidFill>
                  <a:srgbClr val="173E35"/>
                </a:solidFill>
                <a:latin typeface="Georgia"/>
                <a:ea typeface="Georgia"/>
                <a:cs typeface="Georgia"/>
              </a:rPr>
              <a:t>Matters</a:t>
            </a:r>
          </a:p>
        </p:txBody>
      </p:sp>
      <p:pic>
        <p:nvPicPr>
          <p:cNvPr id="16" name="Picture 15"/>
          <p:cNvPicPr>
            <a:picLocks noChangeAspect="1"/>
          </p:cNvPicPr>
          <p:nvPr/>
        </p:nvPicPr>
        <p:blipFill>
          <a:blip r:embed="rId3"/>
          <a:stretch/>
        </p:blipFill>
        <p:spPr>
          <a:xfrm>
            <a:off x="499570" y="4829175"/>
            <a:ext cx="315310" cy="152400"/>
          </a:xfrm>
          <a:prstGeom prst="rect">
            <a:avLst/>
          </a:prstGeom>
        </p:spPr>
      </p:pic>
      <p:sp>
        <p:nvSpPr>
          <p:cNvPr id="8" name="www.newton.university">
            <a:extLst>
              <a:ext uri="{FF2B5EF4-FFF2-40B4-BE49-F238E27FC236}">
                <a16:creationId xmlns:a16="http://schemas.microsoft.com/office/drawing/2014/main" id="{D230AAA9-6BCC-4097-A022-8664A449B86B}"/>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9" name="04">
            <a:extLst>
              <a:ext uri="{FF2B5EF4-FFF2-40B4-BE49-F238E27FC236}">
                <a16:creationId xmlns:a16="http://schemas.microsoft.com/office/drawing/2014/main" id="{8B960223-E969-41EE-901A-83F1E2D1713F}"/>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58665B"/>
                </a:solidFill>
                <a:latin typeface="Arial"/>
                <a:ea typeface="Arial"/>
                <a:cs typeface="Arial"/>
              </a:defRPr>
            </a:pPr>
            <a:r>
              <a:rPr sz="1125" b="0" i="0">
                <a:solidFill>
                  <a:srgbClr val="58665B"/>
                </a:solidFill>
                <a:latin typeface="Arial"/>
                <a:ea typeface="Arial"/>
                <a:cs typeface="Arial"/>
              </a:rPr>
              <a:t>04</a:t>
            </a:r>
          </a:p>
        </p:txBody>
      </p:sp>
    </p:spTree>
    <p:extLst>
      <p:ext uri="{BB962C8B-B14F-4D97-AF65-F5344CB8AC3E}">
        <p14:creationId xmlns:p14="http://schemas.microsoft.com/office/powerpoint/2010/main" val="7655021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32E29"/>
        </a:solidFill>
        <a:effectLst/>
      </p:bgPr>
    </p:bg>
    <p:spTree>
      <p:nvGrpSpPr>
        <p:cNvPr id="1" name=""/>
        <p:cNvGrpSpPr/>
        <p:nvPr/>
      </p:nvGrpSpPr>
      <p:grpSpPr>
        <a:xfrm>
          <a:off x="0" y="0"/>
          <a:ext cx="0" cy="0"/>
          <a:chOff x="0" y="0"/>
          <a:chExt cx="0" cy="0"/>
        </a:xfrm>
      </p:grpSpPr>
      <p:sp>
        <p:nvSpPr>
          <p:cNvPr id="14" name="Editorial rule">
            <a:extLst>
              <a:ext uri="{FF2B5EF4-FFF2-40B4-BE49-F238E27FC236}">
                <a16:creationId xmlns:a16="http://schemas.microsoft.com/office/drawing/2014/main" id="{49EDF462-E779-4DFE-94D9-1E0D578AA319}"/>
              </a:ext>
            </a:extLst>
          </p:cNvPr>
          <p:cNvSpPr>
            <a:spLocks noGrp="1"/>
          </p:cNvSpPr>
          <p:nvPr/>
        </p:nvSpPr>
        <p:spPr>
          <a:xfrm>
            <a:off x="495300" y="1038225"/>
            <a:ext cx="8153400" cy="9525"/>
          </a:xfrm>
          <a:prstGeom prst="rect">
            <a:avLst/>
          </a:prstGeom>
          <a:solidFill>
            <a:srgbClr val="638674"/>
          </a:solidFill>
          <a:ln w="0">
            <a:noFill/>
          </a:ln>
        </p:spPr>
        <p:txBody>
          <a:bodyPr/>
          <a:lstStyle/>
          <a:p>
            <a:endParaRPr lang="en-US"/>
          </a:p>
        </p:txBody>
      </p:sp>
      <p:sp>
        <p:nvSpPr>
          <p:cNvPr id="2" name="Editorial frame">
            <a:extLst>
              <a:ext uri="{FF2B5EF4-FFF2-40B4-BE49-F238E27FC236}">
                <a16:creationId xmlns:a16="http://schemas.microsoft.com/office/drawing/2014/main" id="{51B8CF73-979E-432E-99E9-32A1D877146A}"/>
              </a:ext>
            </a:extLst>
          </p:cNvPr>
          <p:cNvSpPr>
            <a:spLocks noGrp="1"/>
          </p:cNvSpPr>
          <p:nvPr/>
        </p:nvSpPr>
        <p:spPr>
          <a:xfrm>
            <a:off x="361950" y="1638300"/>
            <a:ext cx="8420100" cy="1466850"/>
          </a:xfrm>
          <a:prstGeom prst="rect">
            <a:avLst/>
          </a:prstGeom>
          <a:solidFill>
            <a:srgbClr val="1C3A32"/>
          </a:solidFill>
          <a:ln w="10478">
            <a:solidFill>
              <a:srgbClr val="749680"/>
            </a:solidFill>
          </a:ln>
        </p:spPr>
        <p:txBody>
          <a:bodyPr/>
          <a:lstStyle/>
          <a:p>
            <a:endParaRPr lang="en-US"/>
          </a:p>
        </p:txBody>
      </p:sp>
      <p:sp>
        <p:nvSpPr>
          <p:cNvPr id="3" name="Editorial rule">
            <a:extLst>
              <a:ext uri="{FF2B5EF4-FFF2-40B4-BE49-F238E27FC236}">
                <a16:creationId xmlns:a16="http://schemas.microsoft.com/office/drawing/2014/main" id="{A011C3FB-4732-46E8-ABB2-66596E1C1D99}"/>
              </a:ext>
            </a:extLst>
          </p:cNvPr>
          <p:cNvSpPr>
            <a:spLocks noGrp="1"/>
          </p:cNvSpPr>
          <p:nvPr/>
        </p:nvSpPr>
        <p:spPr>
          <a:xfrm>
            <a:off x="361950" y="1638300"/>
            <a:ext cx="47625" cy="1466850"/>
          </a:xfrm>
          <a:prstGeom prst="rect">
            <a:avLst/>
          </a:prstGeom>
          <a:solidFill>
            <a:srgbClr val="BCA57E"/>
          </a:solidFill>
          <a:ln w="0">
            <a:noFill/>
          </a:ln>
        </p:spPr>
        <p:txBody>
          <a:bodyPr/>
          <a:lstStyle/>
          <a:p>
            <a:endParaRPr lang="en-US"/>
          </a:p>
        </p:txBody>
      </p:sp>
      <p:sp>
        <p:nvSpPr>
          <p:cNvPr id="4" name="Editorial frame">
            <a:extLst>
              <a:ext uri="{FF2B5EF4-FFF2-40B4-BE49-F238E27FC236}">
                <a16:creationId xmlns:a16="http://schemas.microsoft.com/office/drawing/2014/main" id="{585F6504-8F6A-4CF4-8F66-4ADC34AE3EB9}"/>
              </a:ext>
            </a:extLst>
          </p:cNvPr>
          <p:cNvSpPr>
            <a:spLocks noGrp="1"/>
          </p:cNvSpPr>
          <p:nvPr/>
        </p:nvSpPr>
        <p:spPr>
          <a:xfrm>
            <a:off x="361950" y="3152775"/>
            <a:ext cx="4124325" cy="1457325"/>
          </a:xfrm>
          <a:prstGeom prst="rect">
            <a:avLst/>
          </a:prstGeom>
          <a:noFill/>
          <a:ln w="8573">
            <a:solidFill>
              <a:srgbClr val="638674"/>
            </a:solidFill>
          </a:ln>
        </p:spPr>
        <p:txBody>
          <a:bodyPr/>
          <a:lstStyle/>
          <a:p>
            <a:endParaRPr lang="en-US"/>
          </a:p>
        </p:txBody>
      </p:sp>
      <p:sp>
        <p:nvSpPr>
          <p:cNvPr id="5" name="Editorial frame">
            <a:extLst>
              <a:ext uri="{FF2B5EF4-FFF2-40B4-BE49-F238E27FC236}">
                <a16:creationId xmlns:a16="http://schemas.microsoft.com/office/drawing/2014/main" id="{F4126E9A-8CBB-429D-B858-6EF02655A02B}"/>
              </a:ext>
            </a:extLst>
          </p:cNvPr>
          <p:cNvSpPr>
            <a:spLocks noGrp="1"/>
          </p:cNvSpPr>
          <p:nvPr/>
        </p:nvSpPr>
        <p:spPr>
          <a:xfrm>
            <a:off x="4752975" y="3152775"/>
            <a:ext cx="4029075" cy="1457325"/>
          </a:xfrm>
          <a:prstGeom prst="rect">
            <a:avLst/>
          </a:prstGeom>
          <a:noFill/>
          <a:ln w="8573">
            <a:solidFill>
              <a:srgbClr val="638674"/>
            </a:solidFill>
          </a:ln>
        </p:spPr>
        <p:txBody>
          <a:bodyPr/>
          <a:lstStyle/>
          <a:p>
            <a:endParaRPr lang="en-US"/>
          </a:p>
        </p:txBody>
      </p:sp>
      <p:sp>
        <p:nvSpPr>
          <p:cNvPr id="6" name="Opening Discussion">
            <a:extLst>
              <a:ext uri="{FF2B5EF4-FFF2-40B4-BE49-F238E27FC236}">
                <a16:creationId xmlns:a16="http://schemas.microsoft.com/office/drawing/2014/main" id="{E3F4250F-B106-4B3D-BC20-EECCDEFDC4D0}"/>
              </a:ext>
            </a:extLst>
          </p:cNvPr>
          <p:cNvSpPr>
            <a:spLocks noGrp="1"/>
          </p:cNvSpPr>
          <p:nvPr/>
        </p:nvSpPr>
        <p:spPr>
          <a:xfrm>
            <a:off x="495300" y="381000"/>
            <a:ext cx="8096250" cy="952500"/>
          </a:xfrm>
          <a:prstGeom prst="rect">
            <a:avLst/>
          </a:prstGeom>
          <a:noFill/>
          <a:ln w="0">
            <a:noFill/>
          </a:ln>
        </p:spPr>
        <p:txBody>
          <a:bodyPr wrap="square" lIns="0" tIns="0" rIns="0" bIns="0" anchor="t">
            <a:noAutofit/>
          </a:bodyPr>
          <a:lstStyle/>
          <a:p>
            <a:pPr>
              <a:defRPr sz="2775" b="0" i="0">
                <a:solidFill>
                  <a:srgbClr val="F5F2EA"/>
                </a:solidFill>
                <a:latin typeface="Georgia"/>
                <a:ea typeface="Georgia"/>
                <a:cs typeface="Georgia"/>
              </a:defRPr>
            </a:pPr>
            <a:r>
              <a:rPr sz="2775" b="0" i="0">
                <a:solidFill>
                  <a:srgbClr val="F5F2EA"/>
                </a:solidFill>
                <a:latin typeface="Georgia"/>
                <a:ea typeface="Georgia"/>
                <a:cs typeface="Georgia"/>
              </a:rPr>
              <a:t>Opening Discussion</a:t>
            </a:r>
          </a:p>
        </p:txBody>
      </p:sp>
      <p:sp>
        <p:nvSpPr>
          <p:cNvPr id="7" name="Class brainstorming exercise">
            <a:extLst>
              <a:ext uri="{FF2B5EF4-FFF2-40B4-BE49-F238E27FC236}">
                <a16:creationId xmlns:a16="http://schemas.microsoft.com/office/drawing/2014/main" id="{EA2ADC9B-7BAD-4A04-B6AC-E6DF65E21902}"/>
              </a:ext>
            </a:extLst>
          </p:cNvPr>
          <p:cNvSpPr>
            <a:spLocks noGrp="1"/>
          </p:cNvSpPr>
          <p:nvPr/>
        </p:nvSpPr>
        <p:spPr>
          <a:xfrm>
            <a:off x="495300" y="1190625"/>
            <a:ext cx="7143750" cy="304800"/>
          </a:xfrm>
          <a:prstGeom prst="rect">
            <a:avLst/>
          </a:prstGeom>
          <a:noFill/>
          <a:ln w="0">
            <a:noFill/>
          </a:ln>
        </p:spPr>
        <p:txBody>
          <a:bodyPr wrap="square" lIns="0" tIns="0" rIns="0" bIns="0" anchor="t">
            <a:noAutofit/>
          </a:bodyPr>
          <a:lstStyle/>
          <a:p>
            <a:pPr>
              <a:defRPr sz="1500" b="0" i="0">
                <a:solidFill>
                  <a:srgbClr val="B4C5B6"/>
                </a:solidFill>
                <a:latin typeface="Arial"/>
                <a:ea typeface="Arial"/>
                <a:cs typeface="Arial"/>
              </a:defRPr>
            </a:pPr>
            <a:r>
              <a:rPr sz="1500" b="0" i="0">
                <a:solidFill>
                  <a:srgbClr val="B4C5B6"/>
                </a:solidFill>
                <a:latin typeface="Arial"/>
                <a:ea typeface="Arial"/>
                <a:cs typeface="Arial"/>
              </a:rPr>
              <a:t>Class brainstorming exercise</a:t>
            </a:r>
          </a:p>
        </p:txBody>
      </p:sp>
      <p:sp>
        <p:nvSpPr>
          <p:cNvPr id="8" name="What does sustainability mean to you?">
            <a:extLst>
              <a:ext uri="{FF2B5EF4-FFF2-40B4-BE49-F238E27FC236}">
                <a16:creationId xmlns:a16="http://schemas.microsoft.com/office/drawing/2014/main" id="{990A1F31-804F-4333-A080-CC1AD9422D19}"/>
              </a:ext>
            </a:extLst>
          </p:cNvPr>
          <p:cNvSpPr>
            <a:spLocks noGrp="1"/>
          </p:cNvSpPr>
          <p:nvPr/>
        </p:nvSpPr>
        <p:spPr>
          <a:xfrm>
            <a:off x="495300" y="1790700"/>
            <a:ext cx="7667625" cy="1143000"/>
          </a:xfrm>
          <a:prstGeom prst="rect">
            <a:avLst/>
          </a:prstGeom>
          <a:noFill/>
          <a:ln w="0">
            <a:noFill/>
          </a:ln>
        </p:spPr>
        <p:txBody>
          <a:bodyPr wrap="square" lIns="0" tIns="0" rIns="0" bIns="0" anchor="t">
            <a:noAutofit/>
          </a:bodyPr>
          <a:lstStyle/>
          <a:p>
            <a:pPr>
              <a:defRPr sz="3600" b="0" i="0">
                <a:solidFill>
                  <a:srgbClr val="F5F2EA"/>
                </a:solidFill>
                <a:latin typeface="Georgia"/>
                <a:ea typeface="Georgia"/>
                <a:cs typeface="Georgia"/>
              </a:defRPr>
            </a:pPr>
            <a:r>
              <a:rPr sz="3600" b="0" i="0">
                <a:solidFill>
                  <a:srgbClr val="F5F2EA"/>
                </a:solidFill>
                <a:latin typeface="Georgia"/>
                <a:ea typeface="Georgia"/>
                <a:cs typeface="Georgia"/>
              </a:rPr>
              <a:t>What does sustainability mean to you?</a:t>
            </a:r>
          </a:p>
        </p:txBody>
      </p:sp>
      <p:sp>
        <p:nvSpPr>
          <p:cNvPr id="9" name="Can a company be profitable and sustainable a">
            <a:extLst>
              <a:ext uri="{FF2B5EF4-FFF2-40B4-BE49-F238E27FC236}">
                <a16:creationId xmlns:a16="http://schemas.microsoft.com/office/drawing/2014/main" id="{66256DA2-80DE-4897-942F-BBC745AB1F43}"/>
              </a:ext>
            </a:extLst>
          </p:cNvPr>
          <p:cNvSpPr>
            <a:spLocks noGrp="1"/>
          </p:cNvSpPr>
          <p:nvPr/>
        </p:nvSpPr>
        <p:spPr>
          <a:xfrm>
            <a:off x="495300" y="3276600"/>
            <a:ext cx="3810000" cy="971550"/>
          </a:xfrm>
          <a:prstGeom prst="rect">
            <a:avLst/>
          </a:prstGeom>
          <a:noFill/>
          <a:ln w="0">
            <a:noFill/>
          </a:ln>
        </p:spPr>
        <p:txBody>
          <a:bodyPr wrap="square" lIns="0" tIns="0" rIns="0" bIns="0" anchor="t">
            <a:noAutofit/>
          </a:bodyPr>
          <a:lstStyle/>
          <a:p>
            <a:pPr>
              <a:defRPr sz="1875" b="0" i="0">
                <a:solidFill>
                  <a:srgbClr val="F5F2EA"/>
                </a:solidFill>
                <a:latin typeface="Arial"/>
                <a:ea typeface="Arial"/>
                <a:cs typeface="Arial"/>
              </a:defRPr>
            </a:pPr>
            <a:r>
              <a:rPr sz="1875" b="0" i="0">
                <a:solidFill>
                  <a:srgbClr val="F5F2EA"/>
                </a:solidFill>
                <a:latin typeface="Arial"/>
                <a:ea typeface="Arial"/>
                <a:cs typeface="Arial"/>
              </a:rPr>
              <a:t>Can a company be profitable and sustainable at the same time?</a:t>
            </a:r>
          </a:p>
        </p:txBody>
      </p:sp>
      <p:sp>
        <p:nvSpPr>
          <p:cNvPr id="10" name="Should businesses be responsible for environm">
            <a:extLst>
              <a:ext uri="{FF2B5EF4-FFF2-40B4-BE49-F238E27FC236}">
                <a16:creationId xmlns:a16="http://schemas.microsoft.com/office/drawing/2014/main" id="{B0548C91-3C36-4AAF-A7CA-A525232E78B6}"/>
              </a:ext>
            </a:extLst>
          </p:cNvPr>
          <p:cNvSpPr>
            <a:spLocks noGrp="1"/>
          </p:cNvSpPr>
          <p:nvPr/>
        </p:nvSpPr>
        <p:spPr>
          <a:xfrm>
            <a:off x="4895850" y="3276600"/>
            <a:ext cx="3638550" cy="971550"/>
          </a:xfrm>
          <a:prstGeom prst="rect">
            <a:avLst/>
          </a:prstGeom>
          <a:noFill/>
          <a:ln w="0">
            <a:noFill/>
          </a:ln>
        </p:spPr>
        <p:txBody>
          <a:bodyPr wrap="square" lIns="0" tIns="0" rIns="0" bIns="0" anchor="t">
            <a:noAutofit/>
          </a:bodyPr>
          <a:lstStyle/>
          <a:p>
            <a:pPr>
              <a:defRPr sz="1875" b="0" i="0">
                <a:solidFill>
                  <a:srgbClr val="F5F2EA"/>
                </a:solidFill>
                <a:latin typeface="Arial"/>
                <a:ea typeface="Arial"/>
                <a:cs typeface="Arial"/>
              </a:defRPr>
            </a:pPr>
            <a:r>
              <a:rPr sz="1875" b="0" i="0">
                <a:solidFill>
                  <a:srgbClr val="F5F2EA"/>
                </a:solidFill>
                <a:latin typeface="Arial"/>
                <a:ea typeface="Arial"/>
                <a:cs typeface="Arial"/>
              </a:rPr>
              <a:t>Should businesses be responsible for environmental protection?</a:t>
            </a:r>
          </a:p>
        </p:txBody>
      </p:sp>
      <p:pic>
        <p:nvPicPr>
          <p:cNvPr id="24" name="Picture 23"/>
          <p:cNvPicPr>
            <a:picLocks noChangeAspect="1"/>
          </p:cNvPicPr>
          <p:nvPr/>
        </p:nvPicPr>
        <p:blipFill>
          <a:blip r:embed="rId3"/>
          <a:stretch/>
        </p:blipFill>
        <p:spPr>
          <a:xfrm>
            <a:off x="499570" y="4829175"/>
            <a:ext cx="315310" cy="152400"/>
          </a:xfrm>
          <a:prstGeom prst="rect">
            <a:avLst/>
          </a:prstGeom>
        </p:spPr>
      </p:pic>
      <p:sp>
        <p:nvSpPr>
          <p:cNvPr id="12" name="www.newton.university">
            <a:extLst>
              <a:ext uri="{FF2B5EF4-FFF2-40B4-BE49-F238E27FC236}">
                <a16:creationId xmlns:a16="http://schemas.microsoft.com/office/drawing/2014/main" id="{98EB91DC-2B97-47D0-8210-F6BCE0D65B8C}"/>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C7D0C6"/>
                </a:solidFill>
                <a:latin typeface="Arial"/>
                <a:ea typeface="Arial"/>
                <a:cs typeface="Arial"/>
              </a:defRPr>
            </a:pPr>
            <a:r>
              <a:rPr sz="750" b="0" i="0">
                <a:solidFill>
                  <a:srgbClr val="C7D0C6"/>
                </a:solidFill>
                <a:latin typeface="Arial"/>
                <a:ea typeface="Arial"/>
                <a:cs typeface="Arial"/>
              </a:rPr>
              <a:t>www.newton.university</a:t>
            </a:r>
          </a:p>
        </p:txBody>
      </p:sp>
      <p:sp>
        <p:nvSpPr>
          <p:cNvPr id="13" name="05">
            <a:extLst>
              <a:ext uri="{FF2B5EF4-FFF2-40B4-BE49-F238E27FC236}">
                <a16:creationId xmlns:a16="http://schemas.microsoft.com/office/drawing/2014/main" id="{640534A8-CC4B-4B2A-BF65-EB6C799933D9}"/>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E8EDE5"/>
                </a:solidFill>
                <a:latin typeface="Arial"/>
                <a:ea typeface="Arial"/>
                <a:cs typeface="Arial"/>
              </a:defRPr>
            </a:pPr>
            <a:r>
              <a:rPr sz="1125" b="0" i="0">
                <a:solidFill>
                  <a:srgbClr val="E8EDE5"/>
                </a:solidFill>
                <a:latin typeface="Arial"/>
                <a:ea typeface="Arial"/>
                <a:cs typeface="Arial"/>
              </a:rPr>
              <a:t>05</a:t>
            </a:r>
          </a:p>
        </p:txBody>
      </p:sp>
    </p:spTree>
    <p:extLst>
      <p:ext uri="{BB962C8B-B14F-4D97-AF65-F5344CB8AC3E}">
        <p14:creationId xmlns:p14="http://schemas.microsoft.com/office/powerpoint/2010/main" val="13015051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18" name="Editorial rule">
            <a:extLst>
              <a:ext uri="{FF2B5EF4-FFF2-40B4-BE49-F238E27FC236}">
                <a16:creationId xmlns:a16="http://schemas.microsoft.com/office/drawing/2014/main" id="{7319CFE0-E19A-4EE7-8F7D-FCBC782299DB}"/>
              </a:ext>
            </a:extLst>
          </p:cNvPr>
          <p:cNvSpPr>
            <a:spLocks noGrp="1"/>
          </p:cNvSpPr>
          <p:nvPr/>
        </p:nvSpPr>
        <p:spPr>
          <a:xfrm>
            <a:off x="495300" y="1066800"/>
            <a:ext cx="8153400" cy="7620"/>
          </a:xfrm>
          <a:prstGeom prst="rect">
            <a:avLst/>
          </a:prstGeom>
          <a:solidFill>
            <a:srgbClr val="B7C3B1"/>
          </a:solidFill>
          <a:ln w="0">
            <a:noFill/>
          </a:ln>
        </p:spPr>
        <p:txBody>
          <a:bodyPr/>
          <a:lstStyle/>
          <a:p>
            <a:endParaRPr lang="en-US"/>
          </a:p>
        </p:txBody>
      </p:sp>
      <p:sp>
        <p:nvSpPr>
          <p:cNvPr id="2" name="Editorial rule">
            <a:extLst>
              <a:ext uri="{FF2B5EF4-FFF2-40B4-BE49-F238E27FC236}">
                <a16:creationId xmlns:a16="http://schemas.microsoft.com/office/drawing/2014/main" id="{2C675882-A7B0-42EF-A901-EEB7DB38DA33}"/>
              </a:ext>
            </a:extLst>
          </p:cNvPr>
          <p:cNvSpPr>
            <a:spLocks noGrp="1"/>
          </p:cNvSpPr>
          <p:nvPr/>
        </p:nvSpPr>
        <p:spPr>
          <a:xfrm>
            <a:off x="495300" y="1052513"/>
            <a:ext cx="552450" cy="28575"/>
          </a:xfrm>
          <a:prstGeom prst="rect">
            <a:avLst/>
          </a:prstGeom>
          <a:solidFill>
            <a:srgbClr val="B56647"/>
          </a:solidFill>
          <a:ln w="0">
            <a:noFill/>
          </a:ln>
        </p:spPr>
        <p:txBody>
          <a:bodyPr/>
          <a:lstStyle/>
          <a:p>
            <a:endParaRPr lang="en-US"/>
          </a:p>
        </p:txBody>
      </p:sp>
      <p:sp>
        <p:nvSpPr>
          <p:cNvPr id="3" name="Editorial frame">
            <a:extLst>
              <a:ext uri="{FF2B5EF4-FFF2-40B4-BE49-F238E27FC236}">
                <a16:creationId xmlns:a16="http://schemas.microsoft.com/office/drawing/2014/main" id="{0569CECB-9E1F-47AF-B7F4-7C570AC685F5}"/>
              </a:ext>
            </a:extLst>
          </p:cNvPr>
          <p:cNvSpPr>
            <a:spLocks noGrp="1"/>
          </p:cNvSpPr>
          <p:nvPr/>
        </p:nvSpPr>
        <p:spPr>
          <a:xfrm>
            <a:off x="361950" y="1695450"/>
            <a:ext cx="8420100" cy="1752600"/>
          </a:xfrm>
          <a:prstGeom prst="rect">
            <a:avLst/>
          </a:prstGeom>
          <a:solidFill>
            <a:srgbClr val="E8EEE1"/>
          </a:solidFill>
          <a:ln w="8573">
            <a:solidFill>
              <a:srgbClr val="BECBB5"/>
            </a:solidFill>
          </a:ln>
        </p:spPr>
        <p:txBody>
          <a:bodyPr/>
          <a:lstStyle/>
          <a:p>
            <a:endParaRPr lang="en-US"/>
          </a:p>
        </p:txBody>
      </p:sp>
      <p:sp>
        <p:nvSpPr>
          <p:cNvPr id="4" name="Editorial rule">
            <a:extLst>
              <a:ext uri="{FF2B5EF4-FFF2-40B4-BE49-F238E27FC236}">
                <a16:creationId xmlns:a16="http://schemas.microsoft.com/office/drawing/2014/main" id="{EB910CF1-4AFC-440D-8340-F9746F2B5FDC}"/>
              </a:ext>
            </a:extLst>
          </p:cNvPr>
          <p:cNvSpPr>
            <a:spLocks noGrp="1"/>
          </p:cNvSpPr>
          <p:nvPr/>
        </p:nvSpPr>
        <p:spPr>
          <a:xfrm>
            <a:off x="361950" y="1695450"/>
            <a:ext cx="47625" cy="1752600"/>
          </a:xfrm>
          <a:prstGeom prst="rect">
            <a:avLst/>
          </a:prstGeom>
          <a:solidFill>
            <a:srgbClr val="B56647"/>
          </a:solidFill>
          <a:ln w="0">
            <a:noFill/>
          </a:ln>
        </p:spPr>
        <p:txBody>
          <a:bodyPr/>
          <a:lstStyle/>
          <a:p>
            <a:endParaRPr lang="en-US"/>
          </a:p>
        </p:txBody>
      </p:sp>
      <p:sp>
        <p:nvSpPr>
          <p:cNvPr id="5" name="Editorial frame">
            <a:extLst>
              <a:ext uri="{FF2B5EF4-FFF2-40B4-BE49-F238E27FC236}">
                <a16:creationId xmlns:a16="http://schemas.microsoft.com/office/drawing/2014/main" id="{36ECD774-7286-47BF-8B30-43D32E2C0B54}"/>
              </a:ext>
            </a:extLst>
          </p:cNvPr>
          <p:cNvSpPr>
            <a:spLocks noGrp="1"/>
          </p:cNvSpPr>
          <p:nvPr/>
        </p:nvSpPr>
        <p:spPr>
          <a:xfrm>
            <a:off x="361950" y="3971925"/>
            <a:ext cx="2686050" cy="762000"/>
          </a:xfrm>
          <a:prstGeom prst="rect">
            <a:avLst/>
          </a:prstGeom>
          <a:noFill/>
          <a:ln w="8573">
            <a:solidFill>
              <a:srgbClr val="C7CDBB"/>
            </a:solidFill>
          </a:ln>
        </p:spPr>
        <p:txBody>
          <a:bodyPr/>
          <a:lstStyle/>
          <a:p>
            <a:endParaRPr lang="en-US"/>
          </a:p>
        </p:txBody>
      </p:sp>
      <p:sp>
        <p:nvSpPr>
          <p:cNvPr id="6" name="Editorial frame">
            <a:extLst>
              <a:ext uri="{FF2B5EF4-FFF2-40B4-BE49-F238E27FC236}">
                <a16:creationId xmlns:a16="http://schemas.microsoft.com/office/drawing/2014/main" id="{9F778D1A-FB53-4074-B287-BE72C78E7367}"/>
              </a:ext>
            </a:extLst>
          </p:cNvPr>
          <p:cNvSpPr>
            <a:spLocks noGrp="1"/>
          </p:cNvSpPr>
          <p:nvPr/>
        </p:nvSpPr>
        <p:spPr>
          <a:xfrm>
            <a:off x="3086100" y="3971925"/>
            <a:ext cx="2686050" cy="762000"/>
          </a:xfrm>
          <a:prstGeom prst="rect">
            <a:avLst/>
          </a:prstGeom>
          <a:noFill/>
          <a:ln w="8573">
            <a:solidFill>
              <a:srgbClr val="C7CDBB"/>
            </a:solidFill>
          </a:ln>
        </p:spPr>
        <p:txBody>
          <a:bodyPr/>
          <a:lstStyle/>
          <a:p>
            <a:endParaRPr lang="en-US"/>
          </a:p>
        </p:txBody>
      </p:sp>
      <p:sp>
        <p:nvSpPr>
          <p:cNvPr id="7" name="Editorial frame">
            <a:extLst>
              <a:ext uri="{FF2B5EF4-FFF2-40B4-BE49-F238E27FC236}">
                <a16:creationId xmlns:a16="http://schemas.microsoft.com/office/drawing/2014/main" id="{5275D8AC-CA94-4ECF-B2F2-3D82BD57D149}"/>
              </a:ext>
            </a:extLst>
          </p:cNvPr>
          <p:cNvSpPr>
            <a:spLocks noGrp="1"/>
          </p:cNvSpPr>
          <p:nvPr/>
        </p:nvSpPr>
        <p:spPr>
          <a:xfrm>
            <a:off x="5810250" y="3971925"/>
            <a:ext cx="2686050" cy="762000"/>
          </a:xfrm>
          <a:prstGeom prst="rect">
            <a:avLst/>
          </a:prstGeom>
          <a:noFill/>
          <a:ln w="8573">
            <a:solidFill>
              <a:srgbClr val="C7CDBB"/>
            </a:solidFill>
          </a:ln>
        </p:spPr>
        <p:txBody>
          <a:bodyPr/>
          <a:lstStyle/>
          <a:p>
            <a:endParaRPr lang="en-US"/>
          </a:p>
        </p:txBody>
      </p:sp>
      <p:sp>
        <p:nvSpPr>
          <p:cNvPr id="8" name="What is Sustainability?">
            <a:extLst>
              <a:ext uri="{FF2B5EF4-FFF2-40B4-BE49-F238E27FC236}">
                <a16:creationId xmlns:a16="http://schemas.microsoft.com/office/drawing/2014/main" id="{32C20B2C-0B4B-45FD-9265-76FCC8CE4979}"/>
              </a:ext>
            </a:extLst>
          </p:cNvPr>
          <p:cNvSpPr>
            <a:spLocks noGrp="1"/>
          </p:cNvSpPr>
          <p:nvPr/>
        </p:nvSpPr>
        <p:spPr>
          <a:xfrm>
            <a:off x="495300" y="381000"/>
            <a:ext cx="8096250" cy="952500"/>
          </a:xfrm>
          <a:prstGeom prst="rect">
            <a:avLst/>
          </a:prstGeom>
          <a:noFill/>
          <a:ln w="0">
            <a:noFill/>
          </a:ln>
        </p:spPr>
        <p:txBody>
          <a:bodyPr wrap="square" lIns="0" tIns="0" rIns="0" bIns="0" anchor="t">
            <a:noAutofit/>
          </a:bodyPr>
          <a:lstStyle/>
          <a:p>
            <a:pPr>
              <a:defRPr sz="2775" b="0" i="0">
                <a:solidFill>
                  <a:srgbClr val="173E35"/>
                </a:solidFill>
                <a:latin typeface="Georgia"/>
                <a:ea typeface="Georgia"/>
                <a:cs typeface="Georgia"/>
              </a:defRPr>
            </a:pPr>
            <a:r>
              <a:rPr sz="2775" b="0" i="0">
                <a:solidFill>
                  <a:srgbClr val="173E35"/>
                </a:solidFill>
                <a:latin typeface="Georgia"/>
                <a:ea typeface="Georgia"/>
                <a:cs typeface="Georgia"/>
              </a:rPr>
              <a:t>What is Sustainability?</a:t>
            </a:r>
          </a:p>
        </p:txBody>
      </p:sp>
      <p:sp>
        <p:nvSpPr>
          <p:cNvPr id="9" name="Brundtland Definition (1987)">
            <a:extLst>
              <a:ext uri="{FF2B5EF4-FFF2-40B4-BE49-F238E27FC236}">
                <a16:creationId xmlns:a16="http://schemas.microsoft.com/office/drawing/2014/main" id="{C88D2212-C2DF-4BA7-AC5F-D80A2A282517}"/>
              </a:ext>
            </a:extLst>
          </p:cNvPr>
          <p:cNvSpPr>
            <a:spLocks noGrp="1"/>
          </p:cNvSpPr>
          <p:nvPr/>
        </p:nvSpPr>
        <p:spPr>
          <a:xfrm>
            <a:off x="495300" y="1314450"/>
            <a:ext cx="7429500" cy="304800"/>
          </a:xfrm>
          <a:prstGeom prst="rect">
            <a:avLst/>
          </a:prstGeom>
          <a:noFill/>
          <a:ln w="0">
            <a:noFill/>
          </a:ln>
        </p:spPr>
        <p:txBody>
          <a:bodyPr wrap="square" lIns="0" tIns="0" rIns="0" bIns="0" anchor="t">
            <a:noAutofit/>
          </a:bodyPr>
          <a:lstStyle/>
          <a:p>
            <a:pPr>
              <a:defRPr sz="1425" b="0" i="0">
                <a:solidFill>
                  <a:srgbClr val="B56647"/>
                </a:solidFill>
                <a:latin typeface="Arial"/>
                <a:ea typeface="Arial"/>
                <a:cs typeface="Arial"/>
              </a:defRPr>
            </a:pPr>
            <a:r>
              <a:rPr sz="1425" b="0" i="0">
                <a:solidFill>
                  <a:srgbClr val="B56647"/>
                </a:solidFill>
                <a:latin typeface="Arial"/>
                <a:ea typeface="Arial"/>
                <a:cs typeface="Arial"/>
              </a:rPr>
              <a:t>Brundtland Definition (1987)</a:t>
            </a:r>
          </a:p>
        </p:txBody>
      </p:sp>
      <p:sp>
        <p:nvSpPr>
          <p:cNvPr id="10" name="“Sustainable development is development that ">
            <a:extLst>
              <a:ext uri="{FF2B5EF4-FFF2-40B4-BE49-F238E27FC236}">
                <a16:creationId xmlns:a16="http://schemas.microsoft.com/office/drawing/2014/main" id="{06BF525F-1D37-4E1F-AFB6-1810DDE9D820}"/>
              </a:ext>
            </a:extLst>
          </p:cNvPr>
          <p:cNvSpPr>
            <a:spLocks noGrp="1"/>
          </p:cNvSpPr>
          <p:nvPr/>
        </p:nvSpPr>
        <p:spPr>
          <a:xfrm>
            <a:off x="495300" y="1866900"/>
            <a:ext cx="8048625" cy="1571625"/>
          </a:xfrm>
          <a:prstGeom prst="rect">
            <a:avLst/>
          </a:prstGeom>
          <a:noFill/>
          <a:ln w="0">
            <a:noFill/>
          </a:ln>
        </p:spPr>
        <p:txBody>
          <a:bodyPr wrap="square" lIns="0" tIns="0" rIns="0" bIns="0" anchor="t">
            <a:noAutofit/>
          </a:bodyPr>
          <a:lstStyle/>
          <a:p>
            <a:pPr>
              <a:defRPr sz="2550" b="0" i="0">
                <a:solidFill>
                  <a:srgbClr val="173E35"/>
                </a:solidFill>
                <a:latin typeface="Georgia"/>
                <a:ea typeface="Georgia"/>
                <a:cs typeface="Georgia"/>
              </a:defRPr>
            </a:pPr>
            <a:r>
              <a:rPr sz="2550" b="0" i="0">
                <a:solidFill>
                  <a:srgbClr val="173E35"/>
                </a:solidFill>
                <a:latin typeface="Georgia"/>
                <a:ea typeface="Georgia"/>
                <a:cs typeface="Georgia"/>
              </a:rPr>
              <a:t>“Sustainable development is development that meets the needs of the present without compromising the ability of future generations to meet their own needs.”</a:t>
            </a:r>
          </a:p>
        </p:txBody>
      </p:sp>
      <p:sp>
        <p:nvSpPr>
          <p:cNvPr id="11" name="Three ideas behind the definition">
            <a:extLst>
              <a:ext uri="{FF2B5EF4-FFF2-40B4-BE49-F238E27FC236}">
                <a16:creationId xmlns:a16="http://schemas.microsoft.com/office/drawing/2014/main" id="{8166AB70-F274-4593-B769-9FD9924C3F49}"/>
              </a:ext>
            </a:extLst>
          </p:cNvPr>
          <p:cNvSpPr>
            <a:spLocks noGrp="1"/>
          </p:cNvSpPr>
          <p:nvPr/>
        </p:nvSpPr>
        <p:spPr>
          <a:xfrm>
            <a:off x="495300" y="3648075"/>
            <a:ext cx="7953375" cy="266700"/>
          </a:xfrm>
          <a:prstGeom prst="rect">
            <a:avLst/>
          </a:prstGeom>
          <a:noFill/>
          <a:ln w="0">
            <a:noFill/>
          </a:ln>
        </p:spPr>
        <p:txBody>
          <a:bodyPr wrap="square" lIns="0" tIns="0" rIns="0" bIns="0" anchor="t">
            <a:noAutofit/>
          </a:bodyPr>
          <a:lstStyle/>
          <a:p>
            <a:pPr>
              <a:defRPr sz="1425" b="0" i="0">
                <a:solidFill>
                  <a:srgbClr val="58665B"/>
                </a:solidFill>
                <a:latin typeface="Arial"/>
                <a:ea typeface="Arial"/>
                <a:cs typeface="Arial"/>
              </a:defRPr>
            </a:pPr>
            <a:r>
              <a:rPr sz="1425" b="0" i="0">
                <a:solidFill>
                  <a:srgbClr val="58665B"/>
                </a:solidFill>
                <a:latin typeface="Arial"/>
                <a:ea typeface="Arial"/>
                <a:cs typeface="Arial"/>
              </a:rPr>
              <a:t>Three ideas behind the definition</a:t>
            </a:r>
          </a:p>
        </p:txBody>
      </p:sp>
      <p:sp>
        <p:nvSpPr>
          <p:cNvPr id="12" name="Long-term thinking">
            <a:extLst>
              <a:ext uri="{FF2B5EF4-FFF2-40B4-BE49-F238E27FC236}">
                <a16:creationId xmlns:a16="http://schemas.microsoft.com/office/drawing/2014/main" id="{F83C0A87-78EB-4F23-80E0-55FB0BAC78E6}"/>
              </a:ext>
            </a:extLst>
          </p:cNvPr>
          <p:cNvSpPr>
            <a:spLocks noGrp="1"/>
          </p:cNvSpPr>
          <p:nvPr/>
        </p:nvSpPr>
        <p:spPr>
          <a:xfrm>
            <a:off x="495300" y="4095750"/>
            <a:ext cx="2476500" cy="619125"/>
          </a:xfrm>
          <a:prstGeom prst="rect">
            <a:avLst/>
          </a:prstGeom>
          <a:noFill/>
          <a:ln w="0">
            <a:noFill/>
          </a:ln>
        </p:spPr>
        <p:txBody>
          <a:bodyPr wrap="square" lIns="0" tIns="0" rIns="0" bIns="0" anchor="t">
            <a:noAutofit/>
          </a:bodyPr>
          <a:lstStyle/>
          <a:p>
            <a:pPr>
              <a:defRPr sz="1725" b="0" i="0">
                <a:solidFill>
                  <a:srgbClr val="173E35"/>
                </a:solidFill>
                <a:latin typeface="Arial"/>
                <a:ea typeface="Arial"/>
                <a:cs typeface="Arial"/>
              </a:defRPr>
            </a:pPr>
            <a:r>
              <a:rPr sz="1725" b="0" i="0">
                <a:solidFill>
                  <a:srgbClr val="173E35"/>
                </a:solidFill>
                <a:latin typeface="Arial"/>
                <a:ea typeface="Arial"/>
                <a:cs typeface="Arial"/>
              </a:rPr>
              <a:t>Long-term thinking</a:t>
            </a:r>
          </a:p>
        </p:txBody>
      </p:sp>
      <p:sp>
        <p:nvSpPr>
          <p:cNvPr id="13" name="Responsible resource management">
            <a:extLst>
              <a:ext uri="{FF2B5EF4-FFF2-40B4-BE49-F238E27FC236}">
                <a16:creationId xmlns:a16="http://schemas.microsoft.com/office/drawing/2014/main" id="{02FB5E97-9245-48AA-B804-410C8D5FCFD3}"/>
              </a:ext>
            </a:extLst>
          </p:cNvPr>
          <p:cNvSpPr>
            <a:spLocks noGrp="1"/>
          </p:cNvSpPr>
          <p:nvPr/>
        </p:nvSpPr>
        <p:spPr>
          <a:xfrm>
            <a:off x="3219450" y="4095750"/>
            <a:ext cx="2476500" cy="619125"/>
          </a:xfrm>
          <a:prstGeom prst="rect">
            <a:avLst/>
          </a:prstGeom>
          <a:noFill/>
          <a:ln w="0">
            <a:noFill/>
          </a:ln>
        </p:spPr>
        <p:txBody>
          <a:bodyPr wrap="square" lIns="0" tIns="0" rIns="0" bIns="0" anchor="t">
            <a:noAutofit/>
          </a:bodyPr>
          <a:lstStyle/>
          <a:p>
            <a:pPr>
              <a:defRPr sz="1725" b="0" i="0">
                <a:solidFill>
                  <a:srgbClr val="173E35"/>
                </a:solidFill>
                <a:latin typeface="Arial"/>
                <a:ea typeface="Arial"/>
                <a:cs typeface="Arial"/>
              </a:defRPr>
            </a:pPr>
            <a:r>
              <a:rPr sz="1725" b="0" i="0">
                <a:solidFill>
                  <a:srgbClr val="173E35"/>
                </a:solidFill>
                <a:latin typeface="Arial"/>
                <a:ea typeface="Arial"/>
                <a:cs typeface="Arial"/>
              </a:rPr>
              <a:t>Responsible resource management</a:t>
            </a:r>
          </a:p>
        </p:txBody>
      </p:sp>
      <p:sp>
        <p:nvSpPr>
          <p:cNvPr id="14" name="Intergenerational responsibility">
            <a:extLst>
              <a:ext uri="{FF2B5EF4-FFF2-40B4-BE49-F238E27FC236}">
                <a16:creationId xmlns:a16="http://schemas.microsoft.com/office/drawing/2014/main" id="{57BE6093-37A7-4028-BADA-E9B2507041C7}"/>
              </a:ext>
            </a:extLst>
          </p:cNvPr>
          <p:cNvSpPr>
            <a:spLocks noGrp="1"/>
          </p:cNvSpPr>
          <p:nvPr/>
        </p:nvSpPr>
        <p:spPr>
          <a:xfrm>
            <a:off x="5943600" y="4095750"/>
            <a:ext cx="2476500" cy="619125"/>
          </a:xfrm>
          <a:prstGeom prst="rect">
            <a:avLst/>
          </a:prstGeom>
          <a:noFill/>
          <a:ln w="0">
            <a:noFill/>
          </a:ln>
        </p:spPr>
        <p:txBody>
          <a:bodyPr wrap="square" lIns="0" tIns="0" rIns="0" bIns="0" anchor="t">
            <a:noAutofit/>
          </a:bodyPr>
          <a:lstStyle/>
          <a:p>
            <a:pPr>
              <a:defRPr sz="1725" b="0" i="0">
                <a:solidFill>
                  <a:srgbClr val="173E35"/>
                </a:solidFill>
                <a:latin typeface="Arial"/>
                <a:ea typeface="Arial"/>
                <a:cs typeface="Arial"/>
              </a:defRPr>
            </a:pPr>
            <a:r>
              <a:rPr sz="1725" b="0" i="0">
                <a:solidFill>
                  <a:srgbClr val="173E35"/>
                </a:solidFill>
                <a:latin typeface="Arial"/>
                <a:ea typeface="Arial"/>
                <a:cs typeface="Arial"/>
              </a:rPr>
              <a:t>Intergenerational responsibility</a:t>
            </a:r>
          </a:p>
        </p:txBody>
      </p:sp>
      <p:pic>
        <p:nvPicPr>
          <p:cNvPr id="32" name="Picture 31"/>
          <p:cNvPicPr>
            <a:picLocks noChangeAspect="1"/>
          </p:cNvPicPr>
          <p:nvPr/>
        </p:nvPicPr>
        <p:blipFill>
          <a:blip r:embed="rId3"/>
          <a:stretch/>
        </p:blipFill>
        <p:spPr>
          <a:xfrm>
            <a:off x="499570" y="4829175"/>
            <a:ext cx="315310" cy="152400"/>
          </a:xfrm>
          <a:prstGeom prst="rect">
            <a:avLst/>
          </a:prstGeom>
        </p:spPr>
      </p:pic>
      <p:sp>
        <p:nvSpPr>
          <p:cNvPr id="16" name="www.newton.university">
            <a:extLst>
              <a:ext uri="{FF2B5EF4-FFF2-40B4-BE49-F238E27FC236}">
                <a16:creationId xmlns:a16="http://schemas.microsoft.com/office/drawing/2014/main" id="{2B095259-1F2B-44F5-9B43-BEF2A0C2EF90}"/>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17" name="06">
            <a:extLst>
              <a:ext uri="{FF2B5EF4-FFF2-40B4-BE49-F238E27FC236}">
                <a16:creationId xmlns:a16="http://schemas.microsoft.com/office/drawing/2014/main" id="{C7BB66E2-FDE3-4D40-B91A-EA7EFEF48091}"/>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58665B"/>
                </a:solidFill>
                <a:latin typeface="Arial"/>
                <a:ea typeface="Arial"/>
                <a:cs typeface="Arial"/>
              </a:defRPr>
            </a:pPr>
            <a:r>
              <a:rPr sz="1125" b="0" i="0">
                <a:solidFill>
                  <a:srgbClr val="58665B"/>
                </a:solidFill>
                <a:latin typeface="Arial"/>
                <a:ea typeface="Arial"/>
                <a:cs typeface="Arial"/>
              </a:rPr>
              <a:t>06</a:t>
            </a:r>
          </a:p>
        </p:txBody>
      </p:sp>
    </p:spTree>
    <p:extLst>
      <p:ext uri="{BB962C8B-B14F-4D97-AF65-F5344CB8AC3E}">
        <p14:creationId xmlns:p14="http://schemas.microsoft.com/office/powerpoint/2010/main" val="761888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9" name="Editorial rule">
            <a:extLst>
              <a:ext uri="{FF2B5EF4-FFF2-40B4-BE49-F238E27FC236}">
                <a16:creationId xmlns:a16="http://schemas.microsoft.com/office/drawing/2014/main" id="{60A250A1-8674-47FF-ABAC-F0EB3E0FD4BA}"/>
              </a:ext>
            </a:extLst>
          </p:cNvPr>
          <p:cNvSpPr>
            <a:spLocks noGrp="1"/>
          </p:cNvSpPr>
          <p:nvPr/>
        </p:nvSpPr>
        <p:spPr>
          <a:xfrm>
            <a:off x="495300" y="1066800"/>
            <a:ext cx="8153400" cy="7620"/>
          </a:xfrm>
          <a:prstGeom prst="rect">
            <a:avLst/>
          </a:prstGeom>
          <a:solidFill>
            <a:srgbClr val="B7C3B1"/>
          </a:solidFill>
          <a:ln w="0">
            <a:noFill/>
          </a:ln>
        </p:spPr>
        <p:txBody>
          <a:bodyPr/>
          <a:lstStyle/>
          <a:p>
            <a:endParaRPr lang="en-US"/>
          </a:p>
        </p:txBody>
      </p:sp>
      <p:sp>
        <p:nvSpPr>
          <p:cNvPr id="2" name="Editorial rule">
            <a:extLst>
              <a:ext uri="{FF2B5EF4-FFF2-40B4-BE49-F238E27FC236}">
                <a16:creationId xmlns:a16="http://schemas.microsoft.com/office/drawing/2014/main" id="{D15096D4-AACD-4CF9-B824-0DCB67937E2A}"/>
              </a:ext>
            </a:extLst>
          </p:cNvPr>
          <p:cNvSpPr>
            <a:spLocks noGrp="1"/>
          </p:cNvSpPr>
          <p:nvPr/>
        </p:nvSpPr>
        <p:spPr>
          <a:xfrm>
            <a:off x="495300" y="1052513"/>
            <a:ext cx="552450" cy="28575"/>
          </a:xfrm>
          <a:prstGeom prst="rect">
            <a:avLst/>
          </a:prstGeom>
          <a:solidFill>
            <a:srgbClr val="B56647"/>
          </a:solidFill>
          <a:ln w="0">
            <a:noFill/>
          </a:ln>
        </p:spPr>
        <p:txBody>
          <a:bodyPr/>
          <a:lstStyle/>
          <a:p>
            <a:endParaRPr lang="en-US"/>
          </a:p>
        </p:txBody>
      </p:sp>
      <p:sp>
        <p:nvSpPr>
          <p:cNvPr id="3" name="Editorial frame">
            <a:extLst>
              <a:ext uri="{FF2B5EF4-FFF2-40B4-BE49-F238E27FC236}">
                <a16:creationId xmlns:a16="http://schemas.microsoft.com/office/drawing/2014/main" id="{505F17E2-B91A-4113-BCAC-98F3065FFD96}"/>
              </a:ext>
            </a:extLst>
          </p:cNvPr>
          <p:cNvSpPr>
            <a:spLocks noGrp="1"/>
          </p:cNvSpPr>
          <p:nvPr/>
        </p:nvSpPr>
        <p:spPr>
          <a:xfrm>
            <a:off x="361950" y="1847850"/>
            <a:ext cx="2667000" cy="2809875"/>
          </a:xfrm>
          <a:prstGeom prst="rect">
            <a:avLst/>
          </a:prstGeom>
          <a:solidFill>
            <a:srgbClr val="F0E1D7"/>
          </a:solidFill>
          <a:ln w="8573">
            <a:solidFill>
              <a:srgbClr val="D3B49D"/>
            </a:solidFill>
          </a:ln>
        </p:spPr>
        <p:txBody>
          <a:bodyPr/>
          <a:lstStyle/>
          <a:p>
            <a:endParaRPr lang="en-US"/>
          </a:p>
        </p:txBody>
      </p:sp>
      <p:sp>
        <p:nvSpPr>
          <p:cNvPr id="4" name="Editorial frame">
            <a:extLst>
              <a:ext uri="{FF2B5EF4-FFF2-40B4-BE49-F238E27FC236}">
                <a16:creationId xmlns:a16="http://schemas.microsoft.com/office/drawing/2014/main" id="{1FC13E03-AE22-4B78-BFF5-D9CEFDF4CE88}"/>
              </a:ext>
            </a:extLst>
          </p:cNvPr>
          <p:cNvSpPr>
            <a:spLocks noGrp="1"/>
          </p:cNvSpPr>
          <p:nvPr/>
        </p:nvSpPr>
        <p:spPr>
          <a:xfrm>
            <a:off x="3105150" y="1847850"/>
            <a:ext cx="2667000" cy="2809875"/>
          </a:xfrm>
          <a:prstGeom prst="rect">
            <a:avLst/>
          </a:prstGeom>
          <a:solidFill>
            <a:srgbClr val="DFE8D8"/>
          </a:solidFill>
          <a:ln w="8573">
            <a:solidFill>
              <a:srgbClr val="A8BA9A"/>
            </a:solidFill>
          </a:ln>
        </p:spPr>
        <p:txBody>
          <a:bodyPr/>
          <a:lstStyle/>
          <a:p>
            <a:endParaRPr lang="en-US"/>
          </a:p>
        </p:txBody>
      </p:sp>
      <p:sp>
        <p:nvSpPr>
          <p:cNvPr id="5" name="Editorial frame">
            <a:extLst>
              <a:ext uri="{FF2B5EF4-FFF2-40B4-BE49-F238E27FC236}">
                <a16:creationId xmlns:a16="http://schemas.microsoft.com/office/drawing/2014/main" id="{954F0158-EBFA-4114-8272-756BB555F46F}"/>
              </a:ext>
            </a:extLst>
          </p:cNvPr>
          <p:cNvSpPr>
            <a:spLocks noGrp="1"/>
          </p:cNvSpPr>
          <p:nvPr/>
        </p:nvSpPr>
        <p:spPr>
          <a:xfrm>
            <a:off x="5848350" y="1847850"/>
            <a:ext cx="2933700" cy="2809875"/>
          </a:xfrm>
          <a:prstGeom prst="rect">
            <a:avLst/>
          </a:prstGeom>
          <a:solidFill>
            <a:srgbClr val="EAE5D9"/>
          </a:solidFill>
          <a:ln w="8573">
            <a:solidFill>
              <a:srgbClr val="BEB49D"/>
            </a:solidFill>
          </a:ln>
        </p:spPr>
        <p:txBody>
          <a:bodyPr/>
          <a:lstStyle/>
          <a:p>
            <a:endParaRPr lang="en-US"/>
          </a:p>
        </p:txBody>
      </p:sp>
      <p:sp>
        <p:nvSpPr>
          <p:cNvPr id="6" name="Editorial rule">
            <a:extLst>
              <a:ext uri="{FF2B5EF4-FFF2-40B4-BE49-F238E27FC236}">
                <a16:creationId xmlns:a16="http://schemas.microsoft.com/office/drawing/2014/main" id="{871038EC-9BCA-4228-B09B-B2DA1AB65622}"/>
              </a:ext>
            </a:extLst>
          </p:cNvPr>
          <p:cNvSpPr>
            <a:spLocks noGrp="1"/>
          </p:cNvSpPr>
          <p:nvPr/>
        </p:nvSpPr>
        <p:spPr>
          <a:xfrm>
            <a:off x="361950" y="1847850"/>
            <a:ext cx="2667000" cy="38100"/>
          </a:xfrm>
          <a:prstGeom prst="rect">
            <a:avLst/>
          </a:prstGeom>
          <a:solidFill>
            <a:srgbClr val="B56647"/>
          </a:solidFill>
          <a:ln w="0">
            <a:noFill/>
          </a:ln>
        </p:spPr>
        <p:txBody>
          <a:bodyPr/>
          <a:lstStyle/>
          <a:p>
            <a:endParaRPr lang="en-US"/>
          </a:p>
        </p:txBody>
      </p:sp>
      <p:sp>
        <p:nvSpPr>
          <p:cNvPr id="7" name="Editorial rule">
            <a:extLst>
              <a:ext uri="{FF2B5EF4-FFF2-40B4-BE49-F238E27FC236}">
                <a16:creationId xmlns:a16="http://schemas.microsoft.com/office/drawing/2014/main" id="{A6C27846-163C-41C3-A3CF-0637CA546FA7}"/>
              </a:ext>
            </a:extLst>
          </p:cNvPr>
          <p:cNvSpPr>
            <a:spLocks noGrp="1"/>
          </p:cNvSpPr>
          <p:nvPr/>
        </p:nvSpPr>
        <p:spPr>
          <a:xfrm>
            <a:off x="3105150" y="1847850"/>
            <a:ext cx="2667000" cy="38100"/>
          </a:xfrm>
          <a:prstGeom prst="rect">
            <a:avLst/>
          </a:prstGeom>
          <a:solidFill>
            <a:srgbClr val="173E35"/>
          </a:solidFill>
          <a:ln w="0">
            <a:noFill/>
          </a:ln>
        </p:spPr>
        <p:txBody>
          <a:bodyPr/>
          <a:lstStyle/>
          <a:p>
            <a:endParaRPr lang="en-US"/>
          </a:p>
        </p:txBody>
      </p:sp>
      <p:sp>
        <p:nvSpPr>
          <p:cNvPr id="8" name="Editorial rule">
            <a:extLst>
              <a:ext uri="{FF2B5EF4-FFF2-40B4-BE49-F238E27FC236}">
                <a16:creationId xmlns:a16="http://schemas.microsoft.com/office/drawing/2014/main" id="{A5CA48C0-14C8-4045-8B66-1DA9189FD7AE}"/>
              </a:ext>
            </a:extLst>
          </p:cNvPr>
          <p:cNvSpPr>
            <a:spLocks noGrp="1"/>
          </p:cNvSpPr>
          <p:nvPr/>
        </p:nvSpPr>
        <p:spPr>
          <a:xfrm>
            <a:off x="5848350" y="1847850"/>
            <a:ext cx="2933700" cy="38100"/>
          </a:xfrm>
          <a:prstGeom prst="rect">
            <a:avLst/>
          </a:prstGeom>
          <a:solidFill>
            <a:srgbClr val="9B855C"/>
          </a:solidFill>
          <a:ln w="0">
            <a:noFill/>
          </a:ln>
        </p:spPr>
        <p:txBody>
          <a:bodyPr/>
          <a:lstStyle/>
          <a:p>
            <a:endParaRPr lang="en-US"/>
          </a:p>
        </p:txBody>
      </p:sp>
      <p:sp>
        <p:nvSpPr>
          <p:cNvPr id="9" name="The Triple Bottom Line">
            <a:extLst>
              <a:ext uri="{FF2B5EF4-FFF2-40B4-BE49-F238E27FC236}">
                <a16:creationId xmlns:a16="http://schemas.microsoft.com/office/drawing/2014/main" id="{22DC3A8E-D93C-4AB9-84BA-0FC50D525794}"/>
              </a:ext>
            </a:extLst>
          </p:cNvPr>
          <p:cNvSpPr>
            <a:spLocks noGrp="1"/>
          </p:cNvSpPr>
          <p:nvPr/>
        </p:nvSpPr>
        <p:spPr>
          <a:xfrm>
            <a:off x="495300" y="381000"/>
            <a:ext cx="8096250" cy="952500"/>
          </a:xfrm>
          <a:prstGeom prst="rect">
            <a:avLst/>
          </a:prstGeom>
          <a:noFill/>
          <a:ln w="0">
            <a:noFill/>
          </a:ln>
        </p:spPr>
        <p:txBody>
          <a:bodyPr wrap="square" lIns="0" tIns="0" rIns="0" bIns="0" anchor="t">
            <a:noAutofit/>
          </a:bodyPr>
          <a:lstStyle/>
          <a:p>
            <a:pPr>
              <a:defRPr sz="2775" b="0" i="0">
                <a:solidFill>
                  <a:srgbClr val="173E35"/>
                </a:solidFill>
                <a:latin typeface="Georgia"/>
                <a:ea typeface="Georgia"/>
                <a:cs typeface="Georgia"/>
              </a:defRPr>
            </a:pPr>
            <a:r>
              <a:rPr sz="2775" b="0" i="0">
                <a:solidFill>
                  <a:srgbClr val="173E35"/>
                </a:solidFill>
                <a:latin typeface="Georgia"/>
                <a:ea typeface="Georgia"/>
                <a:cs typeface="Georgia"/>
              </a:rPr>
              <a:t>The Triple Bottom Line</a:t>
            </a:r>
          </a:p>
        </p:txBody>
      </p:sp>
      <p:sp>
        <p:nvSpPr>
          <p:cNvPr id="10" name="Sustainability balances three dimensions of v">
            <a:extLst>
              <a:ext uri="{FF2B5EF4-FFF2-40B4-BE49-F238E27FC236}">
                <a16:creationId xmlns:a16="http://schemas.microsoft.com/office/drawing/2014/main" id="{A3507E27-F61E-49DC-AC78-BB646D61CEC1}"/>
              </a:ext>
            </a:extLst>
          </p:cNvPr>
          <p:cNvSpPr>
            <a:spLocks noGrp="1"/>
          </p:cNvSpPr>
          <p:nvPr/>
        </p:nvSpPr>
        <p:spPr>
          <a:xfrm>
            <a:off x="495300" y="1304925"/>
            <a:ext cx="7810500" cy="323850"/>
          </a:xfrm>
          <a:prstGeom prst="rect">
            <a:avLst/>
          </a:prstGeom>
          <a:noFill/>
          <a:ln w="0">
            <a:noFill/>
          </a:ln>
        </p:spPr>
        <p:txBody>
          <a:bodyPr wrap="square" lIns="0" tIns="0" rIns="0" bIns="0" anchor="t">
            <a:noAutofit/>
          </a:bodyPr>
          <a:lstStyle/>
          <a:p>
            <a:pPr>
              <a:defRPr sz="1650" b="0" i="0">
                <a:solidFill>
                  <a:srgbClr val="58665B"/>
                </a:solidFill>
                <a:latin typeface="Arial"/>
                <a:ea typeface="Arial"/>
                <a:cs typeface="Arial"/>
              </a:defRPr>
            </a:pPr>
            <a:r>
              <a:rPr sz="1650" b="0" i="0">
                <a:solidFill>
                  <a:srgbClr val="58665B"/>
                </a:solidFill>
                <a:latin typeface="Arial"/>
                <a:ea typeface="Arial"/>
                <a:cs typeface="Arial"/>
              </a:rPr>
              <a:t>Sustainability balances three dimensions of value:</a:t>
            </a:r>
          </a:p>
        </p:txBody>
      </p:sp>
      <p:sp>
        <p:nvSpPr>
          <p:cNvPr id="11" name="People">
            <a:extLst>
              <a:ext uri="{FF2B5EF4-FFF2-40B4-BE49-F238E27FC236}">
                <a16:creationId xmlns:a16="http://schemas.microsoft.com/office/drawing/2014/main" id="{C2C7EF3B-A585-45EA-8E7E-0B54634889C7}"/>
              </a:ext>
            </a:extLst>
          </p:cNvPr>
          <p:cNvSpPr>
            <a:spLocks noGrp="1"/>
          </p:cNvSpPr>
          <p:nvPr/>
        </p:nvSpPr>
        <p:spPr>
          <a:xfrm>
            <a:off x="495300" y="2000250"/>
            <a:ext cx="2590800" cy="762000"/>
          </a:xfrm>
          <a:prstGeom prst="rect">
            <a:avLst/>
          </a:prstGeom>
          <a:noFill/>
          <a:ln w="0">
            <a:noFill/>
          </a:ln>
        </p:spPr>
        <p:txBody>
          <a:bodyPr wrap="square" lIns="0" tIns="0" rIns="0" bIns="0" anchor="t">
            <a:noAutofit/>
          </a:bodyPr>
          <a:lstStyle/>
          <a:p>
            <a:pPr>
              <a:defRPr sz="3675" b="0" i="0">
                <a:solidFill>
                  <a:srgbClr val="B56647"/>
                </a:solidFill>
                <a:latin typeface="Georgia"/>
                <a:ea typeface="Georgia"/>
                <a:cs typeface="Georgia"/>
              </a:defRPr>
            </a:pPr>
            <a:r>
              <a:rPr sz="3675" b="0" i="0">
                <a:solidFill>
                  <a:srgbClr val="B56647"/>
                </a:solidFill>
                <a:latin typeface="Georgia"/>
                <a:ea typeface="Georgia"/>
                <a:cs typeface="Georgia"/>
              </a:rPr>
              <a:t>People</a:t>
            </a:r>
          </a:p>
        </p:txBody>
      </p:sp>
      <p:sp>
        <p:nvSpPr>
          <p:cNvPr id="12" name="Social">
            <a:extLst>
              <a:ext uri="{FF2B5EF4-FFF2-40B4-BE49-F238E27FC236}">
                <a16:creationId xmlns:a16="http://schemas.microsoft.com/office/drawing/2014/main" id="{50BA6C06-6CF3-407A-A9F0-FA993A8E1AE5}"/>
              </a:ext>
            </a:extLst>
          </p:cNvPr>
          <p:cNvSpPr>
            <a:spLocks noGrp="1"/>
          </p:cNvSpPr>
          <p:nvPr/>
        </p:nvSpPr>
        <p:spPr>
          <a:xfrm>
            <a:off x="495300" y="2771775"/>
            <a:ext cx="2571750" cy="285750"/>
          </a:xfrm>
          <a:prstGeom prst="rect">
            <a:avLst/>
          </a:prstGeom>
          <a:noFill/>
          <a:ln w="0">
            <a:noFill/>
          </a:ln>
        </p:spPr>
        <p:txBody>
          <a:bodyPr wrap="square" lIns="0" tIns="0" rIns="0" bIns="0" anchor="t">
            <a:noAutofit/>
          </a:bodyPr>
          <a:lstStyle/>
          <a:p>
            <a:pPr>
              <a:defRPr sz="1425" b="0" i="0">
                <a:solidFill>
                  <a:srgbClr val="58665B"/>
                </a:solidFill>
                <a:latin typeface="Arial"/>
                <a:ea typeface="Arial"/>
                <a:cs typeface="Arial"/>
              </a:defRPr>
            </a:pPr>
            <a:r>
              <a:rPr sz="1425" b="0" i="0">
                <a:solidFill>
                  <a:srgbClr val="58665B"/>
                </a:solidFill>
                <a:latin typeface="Arial"/>
                <a:ea typeface="Arial"/>
                <a:cs typeface="Arial"/>
              </a:rPr>
              <a:t>Social</a:t>
            </a:r>
          </a:p>
        </p:txBody>
      </p:sp>
      <p:sp>
        <p:nvSpPr>
          <p:cNvPr id="13" name="Human rights">
            <a:extLst>
              <a:ext uri="{FF2B5EF4-FFF2-40B4-BE49-F238E27FC236}">
                <a16:creationId xmlns:a16="http://schemas.microsoft.com/office/drawing/2014/main" id="{698B5F5C-C273-437B-B8E3-8A605C303337}"/>
              </a:ext>
            </a:extLst>
          </p:cNvPr>
          <p:cNvSpPr>
            <a:spLocks noGrp="1"/>
          </p:cNvSpPr>
          <p:nvPr/>
        </p:nvSpPr>
        <p:spPr>
          <a:xfrm>
            <a:off x="495300" y="3333750"/>
            <a:ext cx="2533650" cy="547688"/>
          </a:xfrm>
          <a:prstGeom prst="rect">
            <a:avLst/>
          </a:prstGeom>
          <a:noFill/>
          <a:ln w="0">
            <a:noFill/>
          </a:ln>
        </p:spPr>
        <p:txBody>
          <a:bodyPr wrap="square" lIns="0" tIns="0" rIns="0" bIns="0" anchor="t">
            <a:noAutofit/>
          </a:bodyPr>
          <a:lstStyle/>
          <a:p>
            <a:pPr>
              <a:defRPr sz="1725" b="0" i="0">
                <a:solidFill>
                  <a:srgbClr val="173E35"/>
                </a:solidFill>
                <a:latin typeface="Arial"/>
                <a:ea typeface="Arial"/>
                <a:cs typeface="Arial"/>
              </a:defRPr>
            </a:pPr>
            <a:r>
              <a:rPr sz="1725" b="0" i="0">
                <a:solidFill>
                  <a:srgbClr val="173E35"/>
                </a:solidFill>
                <a:latin typeface="Arial"/>
                <a:ea typeface="Arial"/>
                <a:cs typeface="Arial"/>
              </a:rPr>
              <a:t>Human rights</a:t>
            </a:r>
          </a:p>
        </p:txBody>
      </p:sp>
      <p:sp>
        <p:nvSpPr>
          <p:cNvPr id="14" name="Fair wages">
            <a:extLst>
              <a:ext uri="{FF2B5EF4-FFF2-40B4-BE49-F238E27FC236}">
                <a16:creationId xmlns:a16="http://schemas.microsoft.com/office/drawing/2014/main" id="{DFBF40E6-C8A2-42C3-9F69-95C354ED6011}"/>
              </a:ext>
            </a:extLst>
          </p:cNvPr>
          <p:cNvSpPr>
            <a:spLocks noGrp="1"/>
          </p:cNvSpPr>
          <p:nvPr/>
        </p:nvSpPr>
        <p:spPr>
          <a:xfrm>
            <a:off x="495300" y="3695700"/>
            <a:ext cx="2533650" cy="547688"/>
          </a:xfrm>
          <a:prstGeom prst="rect">
            <a:avLst/>
          </a:prstGeom>
          <a:noFill/>
          <a:ln w="0">
            <a:noFill/>
          </a:ln>
        </p:spPr>
        <p:txBody>
          <a:bodyPr wrap="square" lIns="0" tIns="0" rIns="0" bIns="0" anchor="t">
            <a:noAutofit/>
          </a:bodyPr>
          <a:lstStyle/>
          <a:p>
            <a:pPr>
              <a:defRPr sz="1725" b="0" i="0">
                <a:solidFill>
                  <a:srgbClr val="173E35"/>
                </a:solidFill>
                <a:latin typeface="Arial"/>
                <a:ea typeface="Arial"/>
                <a:cs typeface="Arial"/>
              </a:defRPr>
            </a:pPr>
            <a:r>
              <a:rPr sz="1725" b="0" i="0">
                <a:solidFill>
                  <a:srgbClr val="173E35"/>
                </a:solidFill>
                <a:latin typeface="Arial"/>
                <a:ea typeface="Arial"/>
                <a:cs typeface="Arial"/>
              </a:rPr>
              <a:t>Fair wages</a:t>
            </a:r>
          </a:p>
        </p:txBody>
      </p:sp>
      <p:sp>
        <p:nvSpPr>
          <p:cNvPr id="15" name="Community wellbeing">
            <a:extLst>
              <a:ext uri="{FF2B5EF4-FFF2-40B4-BE49-F238E27FC236}">
                <a16:creationId xmlns:a16="http://schemas.microsoft.com/office/drawing/2014/main" id="{1EBE9762-DF14-46E0-B70D-DAAB9E817CF2}"/>
              </a:ext>
            </a:extLst>
          </p:cNvPr>
          <p:cNvSpPr>
            <a:spLocks noGrp="1"/>
          </p:cNvSpPr>
          <p:nvPr/>
        </p:nvSpPr>
        <p:spPr>
          <a:xfrm>
            <a:off x="495300" y="4057650"/>
            <a:ext cx="2533650" cy="547688"/>
          </a:xfrm>
          <a:prstGeom prst="rect">
            <a:avLst/>
          </a:prstGeom>
          <a:noFill/>
          <a:ln w="0">
            <a:noFill/>
          </a:ln>
        </p:spPr>
        <p:txBody>
          <a:bodyPr wrap="square" lIns="0" tIns="0" rIns="0" bIns="0" anchor="t">
            <a:noAutofit/>
          </a:bodyPr>
          <a:lstStyle/>
          <a:p>
            <a:pPr>
              <a:defRPr sz="1725" b="0" i="0">
                <a:solidFill>
                  <a:srgbClr val="173E35"/>
                </a:solidFill>
                <a:latin typeface="Arial"/>
                <a:ea typeface="Arial"/>
                <a:cs typeface="Arial"/>
              </a:defRPr>
            </a:pPr>
            <a:r>
              <a:rPr sz="1725" b="0" i="0">
                <a:solidFill>
                  <a:srgbClr val="173E35"/>
                </a:solidFill>
                <a:latin typeface="Arial"/>
                <a:ea typeface="Arial"/>
                <a:cs typeface="Arial"/>
              </a:rPr>
              <a:t>Community wellbeing</a:t>
            </a:r>
          </a:p>
        </p:txBody>
      </p:sp>
      <p:sp>
        <p:nvSpPr>
          <p:cNvPr id="16" name="Planet">
            <a:extLst>
              <a:ext uri="{FF2B5EF4-FFF2-40B4-BE49-F238E27FC236}">
                <a16:creationId xmlns:a16="http://schemas.microsoft.com/office/drawing/2014/main" id="{586FB829-CCA7-4140-A087-0D576497891B}"/>
              </a:ext>
            </a:extLst>
          </p:cNvPr>
          <p:cNvSpPr>
            <a:spLocks noGrp="1"/>
          </p:cNvSpPr>
          <p:nvPr/>
        </p:nvSpPr>
        <p:spPr>
          <a:xfrm>
            <a:off x="3238500" y="2000250"/>
            <a:ext cx="2590800" cy="762000"/>
          </a:xfrm>
          <a:prstGeom prst="rect">
            <a:avLst/>
          </a:prstGeom>
          <a:noFill/>
          <a:ln w="0">
            <a:noFill/>
          </a:ln>
        </p:spPr>
        <p:txBody>
          <a:bodyPr wrap="square" lIns="0" tIns="0" rIns="0" bIns="0" anchor="t">
            <a:noAutofit/>
          </a:bodyPr>
          <a:lstStyle/>
          <a:p>
            <a:pPr>
              <a:defRPr sz="3675" b="0" i="0">
                <a:solidFill>
                  <a:srgbClr val="173E35"/>
                </a:solidFill>
                <a:latin typeface="Georgia"/>
                <a:ea typeface="Georgia"/>
                <a:cs typeface="Georgia"/>
              </a:defRPr>
            </a:pPr>
            <a:r>
              <a:rPr sz="3675" b="0" i="0">
                <a:solidFill>
                  <a:srgbClr val="173E35"/>
                </a:solidFill>
                <a:latin typeface="Georgia"/>
                <a:ea typeface="Georgia"/>
                <a:cs typeface="Georgia"/>
              </a:rPr>
              <a:t>Planet</a:t>
            </a:r>
          </a:p>
        </p:txBody>
      </p:sp>
      <p:sp>
        <p:nvSpPr>
          <p:cNvPr id="17" name="Environmental">
            <a:extLst>
              <a:ext uri="{FF2B5EF4-FFF2-40B4-BE49-F238E27FC236}">
                <a16:creationId xmlns:a16="http://schemas.microsoft.com/office/drawing/2014/main" id="{4D6FA05B-DA9A-4716-9F34-7D9341135BF6}"/>
              </a:ext>
            </a:extLst>
          </p:cNvPr>
          <p:cNvSpPr>
            <a:spLocks noGrp="1"/>
          </p:cNvSpPr>
          <p:nvPr/>
        </p:nvSpPr>
        <p:spPr>
          <a:xfrm>
            <a:off x="3238500" y="2771775"/>
            <a:ext cx="2571750" cy="285750"/>
          </a:xfrm>
          <a:prstGeom prst="rect">
            <a:avLst/>
          </a:prstGeom>
          <a:noFill/>
          <a:ln w="0">
            <a:noFill/>
          </a:ln>
        </p:spPr>
        <p:txBody>
          <a:bodyPr wrap="square" lIns="0" tIns="0" rIns="0" bIns="0" anchor="t">
            <a:noAutofit/>
          </a:bodyPr>
          <a:lstStyle/>
          <a:p>
            <a:pPr>
              <a:defRPr sz="1425" b="0" i="0">
                <a:solidFill>
                  <a:srgbClr val="58665B"/>
                </a:solidFill>
                <a:latin typeface="Arial"/>
                <a:ea typeface="Arial"/>
                <a:cs typeface="Arial"/>
              </a:defRPr>
            </a:pPr>
            <a:r>
              <a:rPr sz="1425" b="0" i="0">
                <a:solidFill>
                  <a:srgbClr val="58665B"/>
                </a:solidFill>
                <a:latin typeface="Arial"/>
                <a:ea typeface="Arial"/>
                <a:cs typeface="Arial"/>
              </a:rPr>
              <a:t>Environmental</a:t>
            </a:r>
          </a:p>
        </p:txBody>
      </p:sp>
      <p:sp>
        <p:nvSpPr>
          <p:cNvPr id="18" name="Carbon emissions">
            <a:extLst>
              <a:ext uri="{FF2B5EF4-FFF2-40B4-BE49-F238E27FC236}">
                <a16:creationId xmlns:a16="http://schemas.microsoft.com/office/drawing/2014/main" id="{057B5187-F629-4634-A162-A8238A854964}"/>
              </a:ext>
            </a:extLst>
          </p:cNvPr>
          <p:cNvSpPr>
            <a:spLocks noGrp="1"/>
          </p:cNvSpPr>
          <p:nvPr/>
        </p:nvSpPr>
        <p:spPr>
          <a:xfrm>
            <a:off x="3238500" y="3333750"/>
            <a:ext cx="2533650" cy="547688"/>
          </a:xfrm>
          <a:prstGeom prst="rect">
            <a:avLst/>
          </a:prstGeom>
          <a:noFill/>
          <a:ln w="0">
            <a:noFill/>
          </a:ln>
        </p:spPr>
        <p:txBody>
          <a:bodyPr wrap="square" lIns="0" tIns="0" rIns="0" bIns="0" anchor="t">
            <a:noAutofit/>
          </a:bodyPr>
          <a:lstStyle/>
          <a:p>
            <a:pPr>
              <a:defRPr sz="1725" b="0" i="0">
                <a:solidFill>
                  <a:srgbClr val="173E35"/>
                </a:solidFill>
                <a:latin typeface="Arial"/>
                <a:ea typeface="Arial"/>
                <a:cs typeface="Arial"/>
              </a:defRPr>
            </a:pPr>
            <a:r>
              <a:rPr sz="1725" b="0" i="0">
                <a:solidFill>
                  <a:srgbClr val="173E35"/>
                </a:solidFill>
                <a:latin typeface="Arial"/>
                <a:ea typeface="Arial"/>
                <a:cs typeface="Arial"/>
              </a:rPr>
              <a:t>Carbon emissions</a:t>
            </a:r>
          </a:p>
        </p:txBody>
      </p:sp>
      <p:sp>
        <p:nvSpPr>
          <p:cNvPr id="19" name="Biodiversity">
            <a:extLst>
              <a:ext uri="{FF2B5EF4-FFF2-40B4-BE49-F238E27FC236}">
                <a16:creationId xmlns:a16="http://schemas.microsoft.com/office/drawing/2014/main" id="{EC355367-705F-4D3D-A5A0-2ED70A3E8CD0}"/>
              </a:ext>
            </a:extLst>
          </p:cNvPr>
          <p:cNvSpPr>
            <a:spLocks noGrp="1"/>
          </p:cNvSpPr>
          <p:nvPr/>
        </p:nvSpPr>
        <p:spPr>
          <a:xfrm>
            <a:off x="3238500" y="3695700"/>
            <a:ext cx="2533650" cy="547688"/>
          </a:xfrm>
          <a:prstGeom prst="rect">
            <a:avLst/>
          </a:prstGeom>
          <a:noFill/>
          <a:ln w="0">
            <a:noFill/>
          </a:ln>
        </p:spPr>
        <p:txBody>
          <a:bodyPr wrap="square" lIns="0" tIns="0" rIns="0" bIns="0" anchor="t">
            <a:noAutofit/>
          </a:bodyPr>
          <a:lstStyle/>
          <a:p>
            <a:pPr>
              <a:defRPr sz="1725" b="0" i="0">
                <a:solidFill>
                  <a:srgbClr val="173E35"/>
                </a:solidFill>
                <a:latin typeface="Arial"/>
                <a:ea typeface="Arial"/>
                <a:cs typeface="Arial"/>
              </a:defRPr>
            </a:pPr>
            <a:r>
              <a:rPr sz="1725" b="0" i="0">
                <a:solidFill>
                  <a:srgbClr val="173E35"/>
                </a:solidFill>
                <a:latin typeface="Arial"/>
                <a:ea typeface="Arial"/>
                <a:cs typeface="Arial"/>
              </a:rPr>
              <a:t>Biodiversity</a:t>
            </a:r>
          </a:p>
        </p:txBody>
      </p:sp>
      <p:sp>
        <p:nvSpPr>
          <p:cNvPr id="20" name="Water management">
            <a:extLst>
              <a:ext uri="{FF2B5EF4-FFF2-40B4-BE49-F238E27FC236}">
                <a16:creationId xmlns:a16="http://schemas.microsoft.com/office/drawing/2014/main" id="{939036A0-C85D-4C8E-BE56-1AA05FD0F12C}"/>
              </a:ext>
            </a:extLst>
          </p:cNvPr>
          <p:cNvSpPr>
            <a:spLocks noGrp="1"/>
          </p:cNvSpPr>
          <p:nvPr/>
        </p:nvSpPr>
        <p:spPr>
          <a:xfrm>
            <a:off x="3238500" y="4057650"/>
            <a:ext cx="2533650" cy="547688"/>
          </a:xfrm>
          <a:prstGeom prst="rect">
            <a:avLst/>
          </a:prstGeom>
          <a:noFill/>
          <a:ln w="0">
            <a:noFill/>
          </a:ln>
        </p:spPr>
        <p:txBody>
          <a:bodyPr wrap="square" lIns="0" tIns="0" rIns="0" bIns="0" anchor="t">
            <a:noAutofit/>
          </a:bodyPr>
          <a:lstStyle/>
          <a:p>
            <a:pPr>
              <a:defRPr sz="1725" b="0" i="0">
                <a:solidFill>
                  <a:srgbClr val="173E35"/>
                </a:solidFill>
                <a:latin typeface="Arial"/>
                <a:ea typeface="Arial"/>
                <a:cs typeface="Arial"/>
              </a:defRPr>
            </a:pPr>
            <a:r>
              <a:rPr sz="1725" b="0" i="0">
                <a:solidFill>
                  <a:srgbClr val="173E35"/>
                </a:solidFill>
                <a:latin typeface="Arial"/>
                <a:ea typeface="Arial"/>
                <a:cs typeface="Arial"/>
              </a:rPr>
              <a:t>Water management</a:t>
            </a:r>
          </a:p>
        </p:txBody>
      </p:sp>
      <p:sp>
        <p:nvSpPr>
          <p:cNvPr id="21" name="Profit">
            <a:extLst>
              <a:ext uri="{FF2B5EF4-FFF2-40B4-BE49-F238E27FC236}">
                <a16:creationId xmlns:a16="http://schemas.microsoft.com/office/drawing/2014/main" id="{33C72B9C-2C73-42FE-AE93-85821F16FEAA}"/>
              </a:ext>
            </a:extLst>
          </p:cNvPr>
          <p:cNvSpPr>
            <a:spLocks noGrp="1"/>
          </p:cNvSpPr>
          <p:nvPr/>
        </p:nvSpPr>
        <p:spPr>
          <a:xfrm>
            <a:off x="5981700" y="2000250"/>
            <a:ext cx="2590800" cy="762000"/>
          </a:xfrm>
          <a:prstGeom prst="rect">
            <a:avLst/>
          </a:prstGeom>
          <a:noFill/>
          <a:ln w="0">
            <a:noFill/>
          </a:ln>
        </p:spPr>
        <p:txBody>
          <a:bodyPr wrap="square" lIns="0" tIns="0" rIns="0" bIns="0" anchor="t">
            <a:noAutofit/>
          </a:bodyPr>
          <a:lstStyle/>
          <a:p>
            <a:pPr>
              <a:defRPr sz="3675" b="0" i="0">
                <a:solidFill>
                  <a:srgbClr val="B56647"/>
                </a:solidFill>
                <a:latin typeface="Georgia"/>
                <a:ea typeface="Georgia"/>
                <a:cs typeface="Georgia"/>
              </a:defRPr>
            </a:pPr>
            <a:r>
              <a:rPr sz="3675" b="0" i="0">
                <a:solidFill>
                  <a:srgbClr val="B56647"/>
                </a:solidFill>
                <a:latin typeface="Georgia"/>
                <a:ea typeface="Georgia"/>
                <a:cs typeface="Georgia"/>
              </a:rPr>
              <a:t>Profit</a:t>
            </a:r>
          </a:p>
        </p:txBody>
      </p:sp>
      <p:sp>
        <p:nvSpPr>
          <p:cNvPr id="22" name="Economic">
            <a:extLst>
              <a:ext uri="{FF2B5EF4-FFF2-40B4-BE49-F238E27FC236}">
                <a16:creationId xmlns:a16="http://schemas.microsoft.com/office/drawing/2014/main" id="{7D634477-1056-431A-ACB4-971950110646}"/>
              </a:ext>
            </a:extLst>
          </p:cNvPr>
          <p:cNvSpPr>
            <a:spLocks noGrp="1"/>
          </p:cNvSpPr>
          <p:nvPr/>
        </p:nvSpPr>
        <p:spPr>
          <a:xfrm>
            <a:off x="5981700" y="2771775"/>
            <a:ext cx="2571750" cy="285750"/>
          </a:xfrm>
          <a:prstGeom prst="rect">
            <a:avLst/>
          </a:prstGeom>
          <a:noFill/>
          <a:ln w="0">
            <a:noFill/>
          </a:ln>
        </p:spPr>
        <p:txBody>
          <a:bodyPr wrap="square" lIns="0" tIns="0" rIns="0" bIns="0" anchor="t">
            <a:noAutofit/>
          </a:bodyPr>
          <a:lstStyle/>
          <a:p>
            <a:pPr>
              <a:defRPr sz="1425" b="0" i="0">
                <a:solidFill>
                  <a:srgbClr val="58665B"/>
                </a:solidFill>
                <a:latin typeface="Arial"/>
                <a:ea typeface="Arial"/>
                <a:cs typeface="Arial"/>
              </a:defRPr>
            </a:pPr>
            <a:r>
              <a:rPr sz="1425" b="0" i="0">
                <a:solidFill>
                  <a:srgbClr val="58665B"/>
                </a:solidFill>
                <a:latin typeface="Arial"/>
                <a:ea typeface="Arial"/>
                <a:cs typeface="Arial"/>
              </a:rPr>
              <a:t>Economic</a:t>
            </a:r>
          </a:p>
        </p:txBody>
      </p:sp>
      <p:sp>
        <p:nvSpPr>
          <p:cNvPr id="23" name="Financial performance">
            <a:extLst>
              <a:ext uri="{FF2B5EF4-FFF2-40B4-BE49-F238E27FC236}">
                <a16:creationId xmlns:a16="http://schemas.microsoft.com/office/drawing/2014/main" id="{E045CEFB-E0F9-4C7A-8DDF-1117162603DD}"/>
              </a:ext>
            </a:extLst>
          </p:cNvPr>
          <p:cNvSpPr>
            <a:spLocks noGrp="1"/>
          </p:cNvSpPr>
          <p:nvPr/>
        </p:nvSpPr>
        <p:spPr>
          <a:xfrm>
            <a:off x="5981700" y="3333750"/>
            <a:ext cx="2533650" cy="547688"/>
          </a:xfrm>
          <a:prstGeom prst="rect">
            <a:avLst/>
          </a:prstGeom>
          <a:noFill/>
          <a:ln w="0">
            <a:noFill/>
          </a:ln>
        </p:spPr>
        <p:txBody>
          <a:bodyPr wrap="square" lIns="0" tIns="0" rIns="0" bIns="0" anchor="t">
            <a:noAutofit/>
          </a:bodyPr>
          <a:lstStyle/>
          <a:p>
            <a:pPr>
              <a:defRPr sz="1725" b="0" i="0">
                <a:solidFill>
                  <a:srgbClr val="173E35"/>
                </a:solidFill>
                <a:latin typeface="Arial"/>
                <a:ea typeface="Arial"/>
                <a:cs typeface="Arial"/>
              </a:defRPr>
            </a:pPr>
            <a:r>
              <a:rPr sz="1725" b="0" i="0">
                <a:solidFill>
                  <a:srgbClr val="173E35"/>
                </a:solidFill>
                <a:latin typeface="Arial"/>
                <a:ea typeface="Arial"/>
                <a:cs typeface="Arial"/>
              </a:rPr>
              <a:t>Financial performance</a:t>
            </a:r>
          </a:p>
        </p:txBody>
      </p:sp>
      <p:sp>
        <p:nvSpPr>
          <p:cNvPr id="24" name="Innovation">
            <a:extLst>
              <a:ext uri="{FF2B5EF4-FFF2-40B4-BE49-F238E27FC236}">
                <a16:creationId xmlns:a16="http://schemas.microsoft.com/office/drawing/2014/main" id="{9922B3AC-3409-449A-98D6-9B582AF2E37F}"/>
              </a:ext>
            </a:extLst>
          </p:cNvPr>
          <p:cNvSpPr>
            <a:spLocks noGrp="1"/>
          </p:cNvSpPr>
          <p:nvPr/>
        </p:nvSpPr>
        <p:spPr>
          <a:xfrm>
            <a:off x="5981700" y="3695700"/>
            <a:ext cx="2533650" cy="547688"/>
          </a:xfrm>
          <a:prstGeom prst="rect">
            <a:avLst/>
          </a:prstGeom>
          <a:noFill/>
          <a:ln w="0">
            <a:noFill/>
          </a:ln>
        </p:spPr>
        <p:txBody>
          <a:bodyPr wrap="square" lIns="0" tIns="0" rIns="0" bIns="0" anchor="t">
            <a:noAutofit/>
          </a:bodyPr>
          <a:lstStyle/>
          <a:p>
            <a:pPr>
              <a:defRPr sz="1725" b="0" i="0">
                <a:solidFill>
                  <a:srgbClr val="173E35"/>
                </a:solidFill>
                <a:latin typeface="Arial"/>
                <a:ea typeface="Arial"/>
                <a:cs typeface="Arial"/>
              </a:defRPr>
            </a:pPr>
            <a:r>
              <a:rPr sz="1725" b="0" i="0">
                <a:solidFill>
                  <a:srgbClr val="173E35"/>
                </a:solidFill>
                <a:latin typeface="Arial"/>
                <a:ea typeface="Arial"/>
                <a:cs typeface="Arial"/>
              </a:rPr>
              <a:t>Innovation</a:t>
            </a:r>
          </a:p>
        </p:txBody>
      </p:sp>
      <p:sp>
        <p:nvSpPr>
          <p:cNvPr id="25" name="Competitiveness">
            <a:extLst>
              <a:ext uri="{FF2B5EF4-FFF2-40B4-BE49-F238E27FC236}">
                <a16:creationId xmlns:a16="http://schemas.microsoft.com/office/drawing/2014/main" id="{98A1AAB3-073A-49E9-89AD-171040F6A494}"/>
              </a:ext>
            </a:extLst>
          </p:cNvPr>
          <p:cNvSpPr>
            <a:spLocks noGrp="1"/>
          </p:cNvSpPr>
          <p:nvPr/>
        </p:nvSpPr>
        <p:spPr>
          <a:xfrm>
            <a:off x="5981700" y="4057650"/>
            <a:ext cx="2533650" cy="547688"/>
          </a:xfrm>
          <a:prstGeom prst="rect">
            <a:avLst/>
          </a:prstGeom>
          <a:noFill/>
          <a:ln w="0">
            <a:noFill/>
          </a:ln>
        </p:spPr>
        <p:txBody>
          <a:bodyPr wrap="square" lIns="0" tIns="0" rIns="0" bIns="0" anchor="t">
            <a:noAutofit/>
          </a:bodyPr>
          <a:lstStyle/>
          <a:p>
            <a:pPr>
              <a:defRPr sz="1725" b="0" i="0">
                <a:solidFill>
                  <a:srgbClr val="173E35"/>
                </a:solidFill>
                <a:latin typeface="Arial"/>
                <a:ea typeface="Arial"/>
                <a:cs typeface="Arial"/>
              </a:defRPr>
            </a:pPr>
            <a:r>
              <a:rPr sz="1725" b="0" i="0">
                <a:solidFill>
                  <a:srgbClr val="173E35"/>
                </a:solidFill>
                <a:latin typeface="Arial"/>
                <a:ea typeface="Arial"/>
                <a:cs typeface="Arial"/>
              </a:rPr>
              <a:t>Competitiveness</a:t>
            </a:r>
          </a:p>
        </p:txBody>
      </p:sp>
      <p:pic>
        <p:nvPicPr>
          <p:cNvPr id="54" name="Picture 53"/>
          <p:cNvPicPr>
            <a:picLocks noChangeAspect="1"/>
          </p:cNvPicPr>
          <p:nvPr/>
        </p:nvPicPr>
        <p:blipFill>
          <a:blip r:embed="rId3"/>
          <a:stretch/>
        </p:blipFill>
        <p:spPr>
          <a:xfrm>
            <a:off x="499570" y="4829175"/>
            <a:ext cx="315310" cy="152400"/>
          </a:xfrm>
          <a:prstGeom prst="rect">
            <a:avLst/>
          </a:prstGeom>
        </p:spPr>
      </p:pic>
      <p:sp>
        <p:nvSpPr>
          <p:cNvPr id="27" name="www.newton.university">
            <a:extLst>
              <a:ext uri="{FF2B5EF4-FFF2-40B4-BE49-F238E27FC236}">
                <a16:creationId xmlns:a16="http://schemas.microsoft.com/office/drawing/2014/main" id="{CD2EC701-9EED-45B7-A2A7-021A86743D9B}"/>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28" name="07">
            <a:extLst>
              <a:ext uri="{FF2B5EF4-FFF2-40B4-BE49-F238E27FC236}">
                <a16:creationId xmlns:a16="http://schemas.microsoft.com/office/drawing/2014/main" id="{3AEBC0E2-18CF-4CF2-A683-90A6E140AD42}"/>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58665B"/>
                </a:solidFill>
                <a:latin typeface="Arial"/>
                <a:ea typeface="Arial"/>
                <a:cs typeface="Arial"/>
              </a:defRPr>
            </a:pPr>
            <a:r>
              <a:rPr sz="1125" b="0" i="0">
                <a:solidFill>
                  <a:srgbClr val="58665B"/>
                </a:solidFill>
                <a:latin typeface="Arial"/>
                <a:ea typeface="Arial"/>
                <a:cs typeface="Arial"/>
              </a:rPr>
              <a:t>07</a:t>
            </a:r>
          </a:p>
        </p:txBody>
      </p:sp>
    </p:spTree>
    <p:extLst>
      <p:ext uri="{BB962C8B-B14F-4D97-AF65-F5344CB8AC3E}">
        <p14:creationId xmlns:p14="http://schemas.microsoft.com/office/powerpoint/2010/main" val="604018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0" name="Editorial rule">
            <a:extLst>
              <a:ext uri="{FF2B5EF4-FFF2-40B4-BE49-F238E27FC236}">
                <a16:creationId xmlns:a16="http://schemas.microsoft.com/office/drawing/2014/main" id="{08A2628B-5863-4487-B1DF-34605BE8A18C}"/>
              </a:ext>
            </a:extLst>
          </p:cNvPr>
          <p:cNvSpPr>
            <a:spLocks noGrp="1"/>
          </p:cNvSpPr>
          <p:nvPr/>
        </p:nvSpPr>
        <p:spPr>
          <a:xfrm>
            <a:off x="495300" y="1066800"/>
            <a:ext cx="8153400" cy="7620"/>
          </a:xfrm>
          <a:prstGeom prst="rect">
            <a:avLst/>
          </a:prstGeom>
          <a:solidFill>
            <a:srgbClr val="B7C3B1"/>
          </a:solidFill>
          <a:ln w="0">
            <a:noFill/>
          </a:ln>
        </p:spPr>
        <p:txBody>
          <a:bodyPr/>
          <a:lstStyle/>
          <a:p>
            <a:endParaRPr lang="en-US"/>
          </a:p>
        </p:txBody>
      </p:sp>
      <p:sp>
        <p:nvSpPr>
          <p:cNvPr id="2" name="Editorial rule">
            <a:extLst>
              <a:ext uri="{FF2B5EF4-FFF2-40B4-BE49-F238E27FC236}">
                <a16:creationId xmlns:a16="http://schemas.microsoft.com/office/drawing/2014/main" id="{ADBF39A8-7C28-48F5-9207-9B7C07C39AD7}"/>
              </a:ext>
            </a:extLst>
          </p:cNvPr>
          <p:cNvSpPr>
            <a:spLocks noGrp="1"/>
          </p:cNvSpPr>
          <p:nvPr/>
        </p:nvSpPr>
        <p:spPr>
          <a:xfrm>
            <a:off x="495300" y="1052513"/>
            <a:ext cx="552450" cy="28575"/>
          </a:xfrm>
          <a:prstGeom prst="rect">
            <a:avLst/>
          </a:prstGeom>
          <a:solidFill>
            <a:srgbClr val="B56647"/>
          </a:solidFill>
          <a:ln w="0">
            <a:noFill/>
          </a:ln>
        </p:spPr>
        <p:txBody>
          <a:bodyPr/>
          <a:lstStyle/>
          <a:p>
            <a:endParaRPr lang="en-US"/>
          </a:p>
        </p:txBody>
      </p:sp>
      <p:sp>
        <p:nvSpPr>
          <p:cNvPr id="3" name="Editorial frame">
            <a:extLst>
              <a:ext uri="{FF2B5EF4-FFF2-40B4-BE49-F238E27FC236}">
                <a16:creationId xmlns:a16="http://schemas.microsoft.com/office/drawing/2014/main" id="{193F8AC2-2047-4B74-86A3-BB343F044C32}"/>
              </a:ext>
            </a:extLst>
          </p:cNvPr>
          <p:cNvSpPr>
            <a:spLocks noGrp="1"/>
          </p:cNvSpPr>
          <p:nvPr/>
        </p:nvSpPr>
        <p:spPr>
          <a:xfrm>
            <a:off x="361950" y="1562100"/>
            <a:ext cx="2667000" cy="3114675"/>
          </a:xfrm>
          <a:prstGeom prst="rect">
            <a:avLst/>
          </a:prstGeom>
          <a:solidFill>
            <a:srgbClr val="F0ECE2"/>
          </a:solidFill>
          <a:ln w="8573">
            <a:solidFill>
              <a:srgbClr val="BDCCB7"/>
            </a:solidFill>
          </a:ln>
        </p:spPr>
        <p:txBody>
          <a:bodyPr/>
          <a:lstStyle/>
          <a:p>
            <a:endParaRPr lang="en-US"/>
          </a:p>
        </p:txBody>
      </p:sp>
      <p:sp>
        <p:nvSpPr>
          <p:cNvPr id="4" name="Editorial frame">
            <a:extLst>
              <a:ext uri="{FF2B5EF4-FFF2-40B4-BE49-F238E27FC236}">
                <a16:creationId xmlns:a16="http://schemas.microsoft.com/office/drawing/2014/main" id="{61B07BFC-E634-4941-8732-E5FCF97E0741}"/>
              </a:ext>
            </a:extLst>
          </p:cNvPr>
          <p:cNvSpPr>
            <a:spLocks noGrp="1"/>
          </p:cNvSpPr>
          <p:nvPr/>
        </p:nvSpPr>
        <p:spPr>
          <a:xfrm>
            <a:off x="3114675" y="1562100"/>
            <a:ext cx="2667000" cy="3114675"/>
          </a:xfrm>
          <a:prstGeom prst="rect">
            <a:avLst/>
          </a:prstGeom>
          <a:solidFill>
            <a:srgbClr val="E8EEDF"/>
          </a:solidFill>
          <a:ln w="8573">
            <a:solidFill>
              <a:srgbClr val="BDCCB7"/>
            </a:solidFill>
          </a:ln>
        </p:spPr>
        <p:txBody>
          <a:bodyPr/>
          <a:lstStyle/>
          <a:p>
            <a:endParaRPr lang="en-US"/>
          </a:p>
        </p:txBody>
      </p:sp>
      <p:sp>
        <p:nvSpPr>
          <p:cNvPr id="5" name="Editorial frame">
            <a:extLst>
              <a:ext uri="{FF2B5EF4-FFF2-40B4-BE49-F238E27FC236}">
                <a16:creationId xmlns:a16="http://schemas.microsoft.com/office/drawing/2014/main" id="{AE307554-762E-4FFC-8E47-A8819743439B}"/>
              </a:ext>
            </a:extLst>
          </p:cNvPr>
          <p:cNvSpPr>
            <a:spLocks noGrp="1"/>
          </p:cNvSpPr>
          <p:nvPr/>
        </p:nvSpPr>
        <p:spPr>
          <a:xfrm>
            <a:off x="5867400" y="1562100"/>
            <a:ext cx="2914650" cy="3114675"/>
          </a:xfrm>
          <a:prstGeom prst="rect">
            <a:avLst/>
          </a:prstGeom>
          <a:solidFill>
            <a:srgbClr val="E0E8D8"/>
          </a:solidFill>
          <a:ln w="8573">
            <a:solidFill>
              <a:srgbClr val="BDCCB7"/>
            </a:solidFill>
          </a:ln>
        </p:spPr>
        <p:txBody>
          <a:bodyPr/>
          <a:lstStyle/>
          <a:p>
            <a:endParaRPr lang="en-US"/>
          </a:p>
        </p:txBody>
      </p:sp>
      <p:sp>
        <p:nvSpPr>
          <p:cNvPr id="6" name="Editorial rule">
            <a:extLst>
              <a:ext uri="{FF2B5EF4-FFF2-40B4-BE49-F238E27FC236}">
                <a16:creationId xmlns:a16="http://schemas.microsoft.com/office/drawing/2014/main" id="{ABD7CACF-E4BC-4F62-BF38-E6747A389AB6}"/>
              </a:ext>
            </a:extLst>
          </p:cNvPr>
          <p:cNvSpPr>
            <a:spLocks noGrp="1"/>
          </p:cNvSpPr>
          <p:nvPr/>
        </p:nvSpPr>
        <p:spPr>
          <a:xfrm>
            <a:off x="495300" y="2400300"/>
            <a:ext cx="8077200" cy="9525"/>
          </a:xfrm>
          <a:prstGeom prst="rect">
            <a:avLst/>
          </a:prstGeom>
          <a:solidFill>
            <a:srgbClr val="B56647"/>
          </a:solidFill>
          <a:ln w="0">
            <a:noFill/>
          </a:ln>
        </p:spPr>
        <p:txBody>
          <a:bodyPr/>
          <a:lstStyle/>
          <a:p>
            <a:endParaRPr lang="en-US"/>
          </a:p>
        </p:txBody>
      </p:sp>
      <p:sp>
        <p:nvSpPr>
          <p:cNvPr id="7" name="Evolution of Corporate Sustainability">
            <a:extLst>
              <a:ext uri="{FF2B5EF4-FFF2-40B4-BE49-F238E27FC236}">
                <a16:creationId xmlns:a16="http://schemas.microsoft.com/office/drawing/2014/main" id="{A6A4D631-331C-44FC-BA7D-D7AD0D4A534F}"/>
              </a:ext>
            </a:extLst>
          </p:cNvPr>
          <p:cNvSpPr>
            <a:spLocks noGrp="1"/>
          </p:cNvSpPr>
          <p:nvPr/>
        </p:nvSpPr>
        <p:spPr>
          <a:xfrm>
            <a:off x="495300" y="381000"/>
            <a:ext cx="8096250" cy="952500"/>
          </a:xfrm>
          <a:prstGeom prst="rect">
            <a:avLst/>
          </a:prstGeom>
          <a:noFill/>
          <a:ln w="0">
            <a:noFill/>
          </a:ln>
        </p:spPr>
        <p:txBody>
          <a:bodyPr wrap="square" lIns="0" tIns="0" rIns="0" bIns="0" anchor="t">
            <a:noAutofit/>
          </a:bodyPr>
          <a:lstStyle/>
          <a:p>
            <a:pPr>
              <a:defRPr sz="2775" b="0" i="0">
                <a:solidFill>
                  <a:srgbClr val="173E35"/>
                </a:solidFill>
                <a:latin typeface="Georgia"/>
                <a:ea typeface="Georgia"/>
                <a:cs typeface="Georgia"/>
              </a:defRPr>
            </a:pPr>
            <a:r>
              <a:rPr sz="2775" b="0" i="0">
                <a:solidFill>
                  <a:srgbClr val="173E35"/>
                </a:solidFill>
                <a:latin typeface="Georgia"/>
                <a:ea typeface="Georgia"/>
                <a:cs typeface="Georgia"/>
              </a:rPr>
              <a:t>Evolution of Corporate Sustainability</a:t>
            </a:r>
          </a:p>
        </p:txBody>
      </p:sp>
      <p:sp>
        <p:nvSpPr>
          <p:cNvPr id="8" name="1970s">
            <a:extLst>
              <a:ext uri="{FF2B5EF4-FFF2-40B4-BE49-F238E27FC236}">
                <a16:creationId xmlns:a16="http://schemas.microsoft.com/office/drawing/2014/main" id="{FDC058D4-FD40-45D8-BBDF-362172AE2358}"/>
              </a:ext>
            </a:extLst>
          </p:cNvPr>
          <p:cNvSpPr>
            <a:spLocks noGrp="1"/>
          </p:cNvSpPr>
          <p:nvPr/>
        </p:nvSpPr>
        <p:spPr>
          <a:xfrm>
            <a:off x="495300" y="1724025"/>
            <a:ext cx="2600325" cy="666750"/>
          </a:xfrm>
          <a:prstGeom prst="rect">
            <a:avLst/>
          </a:prstGeom>
          <a:noFill/>
          <a:ln w="0">
            <a:noFill/>
          </a:ln>
        </p:spPr>
        <p:txBody>
          <a:bodyPr wrap="square" lIns="0" tIns="0" rIns="0" bIns="0" anchor="t">
            <a:noAutofit/>
          </a:bodyPr>
          <a:lstStyle/>
          <a:p>
            <a:pPr>
              <a:defRPr sz="3600" b="0" i="0">
                <a:solidFill>
                  <a:srgbClr val="173E35"/>
                </a:solidFill>
                <a:latin typeface="Georgia"/>
                <a:ea typeface="Georgia"/>
                <a:cs typeface="Georgia"/>
              </a:defRPr>
            </a:pPr>
            <a:r>
              <a:rPr sz="3600" b="0" i="0">
                <a:solidFill>
                  <a:srgbClr val="173E35"/>
                </a:solidFill>
                <a:latin typeface="Georgia"/>
                <a:ea typeface="Georgia"/>
                <a:cs typeface="Georgia"/>
              </a:rPr>
              <a:t>1970s</a:t>
            </a:r>
          </a:p>
        </p:txBody>
      </p:sp>
      <p:sp>
        <p:nvSpPr>
          <p:cNvPr id="9" name="Compliance">
            <a:extLst>
              <a:ext uri="{FF2B5EF4-FFF2-40B4-BE49-F238E27FC236}">
                <a16:creationId xmlns:a16="http://schemas.microsoft.com/office/drawing/2014/main" id="{36BD0ED2-6AB4-463F-8B3F-E6F558E1644C}"/>
              </a:ext>
            </a:extLst>
          </p:cNvPr>
          <p:cNvSpPr>
            <a:spLocks noGrp="1"/>
          </p:cNvSpPr>
          <p:nvPr/>
        </p:nvSpPr>
        <p:spPr>
          <a:xfrm>
            <a:off x="495300" y="2562225"/>
            <a:ext cx="2524125" cy="704850"/>
          </a:xfrm>
          <a:prstGeom prst="rect">
            <a:avLst/>
          </a:prstGeom>
          <a:noFill/>
          <a:ln w="0">
            <a:noFill/>
          </a:ln>
        </p:spPr>
        <p:txBody>
          <a:bodyPr wrap="square" lIns="0" tIns="0" rIns="0" bIns="0" anchor="t">
            <a:noAutofit/>
          </a:bodyPr>
          <a:lstStyle/>
          <a:p>
            <a:pPr>
              <a:defRPr sz="1950" b="1" i="0">
                <a:solidFill>
                  <a:srgbClr val="173E35"/>
                </a:solidFill>
                <a:latin typeface="Arial"/>
                <a:ea typeface="Arial"/>
                <a:cs typeface="Arial"/>
              </a:defRPr>
            </a:pPr>
            <a:r>
              <a:rPr sz="1950" b="1" i="0">
                <a:solidFill>
                  <a:srgbClr val="173E35"/>
                </a:solidFill>
                <a:latin typeface="Arial"/>
                <a:ea typeface="Arial"/>
                <a:cs typeface="Arial"/>
              </a:rPr>
              <a:t>Compliance</a:t>
            </a:r>
          </a:p>
        </p:txBody>
      </p:sp>
      <p:sp>
        <p:nvSpPr>
          <p:cNvPr id="10" name="Environmental regulations set the minimum sta">
            <a:extLst>
              <a:ext uri="{FF2B5EF4-FFF2-40B4-BE49-F238E27FC236}">
                <a16:creationId xmlns:a16="http://schemas.microsoft.com/office/drawing/2014/main" id="{E7BDD029-BC3F-4251-81C8-729A98E00BFD}"/>
              </a:ext>
            </a:extLst>
          </p:cNvPr>
          <p:cNvSpPr>
            <a:spLocks noGrp="1"/>
          </p:cNvSpPr>
          <p:nvPr/>
        </p:nvSpPr>
        <p:spPr>
          <a:xfrm>
            <a:off x="495300" y="3495675"/>
            <a:ext cx="2476500" cy="1047750"/>
          </a:xfrm>
          <a:prstGeom prst="rect">
            <a:avLst/>
          </a:prstGeom>
          <a:noFill/>
          <a:ln w="0">
            <a:noFill/>
          </a:ln>
        </p:spPr>
        <p:txBody>
          <a:bodyPr wrap="square" lIns="0" tIns="0" rIns="0" bIns="0" anchor="t">
            <a:noAutofit/>
          </a:bodyPr>
          <a:lstStyle/>
          <a:p>
            <a:pPr>
              <a:defRPr sz="1725" b="0" i="0">
                <a:solidFill>
                  <a:srgbClr val="173E35"/>
                </a:solidFill>
                <a:latin typeface="Arial"/>
                <a:ea typeface="Arial"/>
                <a:cs typeface="Arial"/>
              </a:defRPr>
            </a:pPr>
            <a:r>
              <a:rPr sz="1725" b="0" i="0">
                <a:solidFill>
                  <a:srgbClr val="173E35"/>
                </a:solidFill>
                <a:latin typeface="Arial"/>
                <a:ea typeface="Arial"/>
                <a:cs typeface="Arial"/>
              </a:rPr>
              <a:t>Environmental regulations set the minimum standard</a:t>
            </a:r>
          </a:p>
        </p:txBody>
      </p:sp>
      <p:sp>
        <p:nvSpPr>
          <p:cNvPr id="11" name="1990s">
            <a:extLst>
              <a:ext uri="{FF2B5EF4-FFF2-40B4-BE49-F238E27FC236}">
                <a16:creationId xmlns:a16="http://schemas.microsoft.com/office/drawing/2014/main" id="{97B22636-E166-408C-BD8F-7CC3102FDC4C}"/>
              </a:ext>
            </a:extLst>
          </p:cNvPr>
          <p:cNvSpPr>
            <a:spLocks noGrp="1"/>
          </p:cNvSpPr>
          <p:nvPr/>
        </p:nvSpPr>
        <p:spPr>
          <a:xfrm>
            <a:off x="3248025" y="1724025"/>
            <a:ext cx="2600325" cy="666750"/>
          </a:xfrm>
          <a:prstGeom prst="rect">
            <a:avLst/>
          </a:prstGeom>
          <a:noFill/>
          <a:ln w="0">
            <a:noFill/>
          </a:ln>
        </p:spPr>
        <p:txBody>
          <a:bodyPr wrap="square" lIns="0" tIns="0" rIns="0" bIns="0" anchor="t">
            <a:noAutofit/>
          </a:bodyPr>
          <a:lstStyle/>
          <a:p>
            <a:pPr>
              <a:defRPr sz="3600" b="0" i="0">
                <a:solidFill>
                  <a:srgbClr val="173E35"/>
                </a:solidFill>
                <a:latin typeface="Georgia"/>
                <a:ea typeface="Georgia"/>
                <a:cs typeface="Georgia"/>
              </a:defRPr>
            </a:pPr>
            <a:r>
              <a:rPr sz="3600" b="0" i="0">
                <a:solidFill>
                  <a:srgbClr val="173E35"/>
                </a:solidFill>
                <a:latin typeface="Georgia"/>
                <a:ea typeface="Georgia"/>
                <a:cs typeface="Georgia"/>
              </a:rPr>
              <a:t>1990s</a:t>
            </a:r>
          </a:p>
        </p:txBody>
      </p:sp>
      <p:sp>
        <p:nvSpPr>
          <p:cNvPr id="12" name="Corporate Responsibility">
            <a:extLst>
              <a:ext uri="{FF2B5EF4-FFF2-40B4-BE49-F238E27FC236}">
                <a16:creationId xmlns:a16="http://schemas.microsoft.com/office/drawing/2014/main" id="{5B41B56A-CF7B-46E6-BDD4-BB5220C0419D}"/>
              </a:ext>
            </a:extLst>
          </p:cNvPr>
          <p:cNvSpPr>
            <a:spLocks noGrp="1"/>
          </p:cNvSpPr>
          <p:nvPr/>
        </p:nvSpPr>
        <p:spPr>
          <a:xfrm>
            <a:off x="3248025" y="2562225"/>
            <a:ext cx="2524125" cy="704850"/>
          </a:xfrm>
          <a:prstGeom prst="rect">
            <a:avLst/>
          </a:prstGeom>
          <a:noFill/>
          <a:ln w="0">
            <a:noFill/>
          </a:ln>
        </p:spPr>
        <p:txBody>
          <a:bodyPr wrap="square" lIns="0" tIns="0" rIns="0" bIns="0" anchor="t">
            <a:noAutofit/>
          </a:bodyPr>
          <a:lstStyle/>
          <a:p>
            <a:pPr>
              <a:defRPr sz="1950" b="1" i="0">
                <a:solidFill>
                  <a:srgbClr val="173E35"/>
                </a:solidFill>
                <a:latin typeface="Arial"/>
                <a:ea typeface="Arial"/>
                <a:cs typeface="Arial"/>
              </a:defRPr>
            </a:pPr>
            <a:r>
              <a:rPr sz="1950" b="1" i="0">
                <a:solidFill>
                  <a:srgbClr val="173E35"/>
                </a:solidFill>
                <a:latin typeface="Arial"/>
                <a:ea typeface="Arial"/>
                <a:cs typeface="Arial"/>
              </a:rPr>
              <a:t>Corporate Responsibility</a:t>
            </a:r>
          </a:p>
        </p:txBody>
      </p:sp>
      <p:sp>
        <p:nvSpPr>
          <p:cNvPr id="13" name="Voluntary CSR programmes and reporting">
            <a:extLst>
              <a:ext uri="{FF2B5EF4-FFF2-40B4-BE49-F238E27FC236}">
                <a16:creationId xmlns:a16="http://schemas.microsoft.com/office/drawing/2014/main" id="{74225FB1-6FC7-4379-A02B-35B6E771077F}"/>
              </a:ext>
            </a:extLst>
          </p:cNvPr>
          <p:cNvSpPr>
            <a:spLocks noGrp="1"/>
          </p:cNvSpPr>
          <p:nvPr/>
        </p:nvSpPr>
        <p:spPr>
          <a:xfrm>
            <a:off x="3248025" y="3495675"/>
            <a:ext cx="2476500" cy="1047750"/>
          </a:xfrm>
          <a:prstGeom prst="rect">
            <a:avLst/>
          </a:prstGeom>
          <a:noFill/>
          <a:ln w="0">
            <a:noFill/>
          </a:ln>
        </p:spPr>
        <p:txBody>
          <a:bodyPr wrap="square" lIns="0" tIns="0" rIns="0" bIns="0" anchor="t">
            <a:noAutofit/>
          </a:bodyPr>
          <a:lstStyle/>
          <a:p>
            <a:pPr>
              <a:defRPr sz="1725" b="0" i="0">
                <a:solidFill>
                  <a:srgbClr val="173E35"/>
                </a:solidFill>
                <a:latin typeface="Arial"/>
                <a:ea typeface="Arial"/>
                <a:cs typeface="Arial"/>
              </a:defRPr>
            </a:pPr>
            <a:r>
              <a:rPr sz="1725" b="0" i="0">
                <a:solidFill>
                  <a:srgbClr val="173E35"/>
                </a:solidFill>
                <a:latin typeface="Arial"/>
                <a:ea typeface="Arial"/>
                <a:cs typeface="Arial"/>
              </a:rPr>
              <a:t>Voluntary CSR programmes and reporting</a:t>
            </a:r>
          </a:p>
        </p:txBody>
      </p:sp>
      <p:sp>
        <p:nvSpPr>
          <p:cNvPr id="14" name="Today">
            <a:extLst>
              <a:ext uri="{FF2B5EF4-FFF2-40B4-BE49-F238E27FC236}">
                <a16:creationId xmlns:a16="http://schemas.microsoft.com/office/drawing/2014/main" id="{80632930-16F3-4EBC-81B1-0219FC923060}"/>
              </a:ext>
            </a:extLst>
          </p:cNvPr>
          <p:cNvSpPr>
            <a:spLocks noGrp="1"/>
          </p:cNvSpPr>
          <p:nvPr/>
        </p:nvSpPr>
        <p:spPr>
          <a:xfrm>
            <a:off x="6000750" y="1724025"/>
            <a:ext cx="2600325" cy="666750"/>
          </a:xfrm>
          <a:prstGeom prst="rect">
            <a:avLst/>
          </a:prstGeom>
          <a:noFill/>
          <a:ln w="0">
            <a:noFill/>
          </a:ln>
        </p:spPr>
        <p:txBody>
          <a:bodyPr wrap="square" lIns="0" tIns="0" rIns="0" bIns="0" anchor="t">
            <a:noAutofit/>
          </a:bodyPr>
          <a:lstStyle/>
          <a:p>
            <a:pPr>
              <a:defRPr sz="3600" b="0" i="0">
                <a:solidFill>
                  <a:srgbClr val="B56647"/>
                </a:solidFill>
                <a:latin typeface="Georgia"/>
                <a:ea typeface="Georgia"/>
                <a:cs typeface="Georgia"/>
              </a:defRPr>
            </a:pPr>
            <a:r>
              <a:rPr sz="3600" b="0" i="0">
                <a:solidFill>
                  <a:srgbClr val="B56647"/>
                </a:solidFill>
                <a:latin typeface="Georgia"/>
                <a:ea typeface="Georgia"/>
                <a:cs typeface="Georgia"/>
              </a:rPr>
              <a:t>Today</a:t>
            </a:r>
          </a:p>
        </p:txBody>
      </p:sp>
      <p:sp>
        <p:nvSpPr>
          <p:cNvPr id="15" name="ESG and Sustainable Business">
            <a:extLst>
              <a:ext uri="{FF2B5EF4-FFF2-40B4-BE49-F238E27FC236}">
                <a16:creationId xmlns:a16="http://schemas.microsoft.com/office/drawing/2014/main" id="{6F2A62BA-FAA7-4D33-A259-EF2BC1D15DD6}"/>
              </a:ext>
            </a:extLst>
          </p:cNvPr>
          <p:cNvSpPr>
            <a:spLocks noGrp="1"/>
          </p:cNvSpPr>
          <p:nvPr/>
        </p:nvSpPr>
        <p:spPr>
          <a:xfrm>
            <a:off x="6000750" y="2562225"/>
            <a:ext cx="2524125" cy="704850"/>
          </a:xfrm>
          <a:prstGeom prst="rect">
            <a:avLst/>
          </a:prstGeom>
          <a:noFill/>
          <a:ln w="0">
            <a:noFill/>
          </a:ln>
        </p:spPr>
        <p:txBody>
          <a:bodyPr wrap="square" lIns="0" tIns="0" rIns="0" bIns="0" anchor="t">
            <a:noAutofit/>
          </a:bodyPr>
          <a:lstStyle/>
          <a:p>
            <a:pPr>
              <a:defRPr sz="1950" b="1" i="0">
                <a:solidFill>
                  <a:srgbClr val="173E35"/>
                </a:solidFill>
                <a:latin typeface="Arial"/>
                <a:ea typeface="Arial"/>
                <a:cs typeface="Arial"/>
              </a:defRPr>
            </a:pPr>
            <a:r>
              <a:rPr sz="1950" b="1" i="0">
                <a:solidFill>
                  <a:srgbClr val="173E35"/>
                </a:solidFill>
                <a:latin typeface="Arial"/>
                <a:ea typeface="Arial"/>
                <a:cs typeface="Arial"/>
              </a:rPr>
              <a:t>ESG and Sustainable Business</a:t>
            </a:r>
          </a:p>
        </p:txBody>
      </p:sp>
      <p:sp>
        <p:nvSpPr>
          <p:cNvPr id="16" name="Sustainability as core strategy: Microsoft, U">
            <a:extLst>
              <a:ext uri="{FF2B5EF4-FFF2-40B4-BE49-F238E27FC236}">
                <a16:creationId xmlns:a16="http://schemas.microsoft.com/office/drawing/2014/main" id="{69D476EF-FE63-4331-9834-A76367D7A460}"/>
              </a:ext>
            </a:extLst>
          </p:cNvPr>
          <p:cNvSpPr>
            <a:spLocks noGrp="1"/>
          </p:cNvSpPr>
          <p:nvPr/>
        </p:nvSpPr>
        <p:spPr>
          <a:xfrm>
            <a:off x="6000750" y="3495675"/>
            <a:ext cx="2476500" cy="1047750"/>
          </a:xfrm>
          <a:prstGeom prst="rect">
            <a:avLst/>
          </a:prstGeom>
          <a:noFill/>
          <a:ln w="0">
            <a:noFill/>
          </a:ln>
        </p:spPr>
        <p:txBody>
          <a:bodyPr wrap="square" lIns="0" tIns="0" rIns="0" bIns="0" anchor="t">
            <a:noAutofit/>
          </a:bodyPr>
          <a:lstStyle/>
          <a:p>
            <a:pPr>
              <a:defRPr sz="1725" b="0" i="0">
                <a:solidFill>
                  <a:srgbClr val="173E35"/>
                </a:solidFill>
                <a:latin typeface="Arial"/>
                <a:ea typeface="Arial"/>
                <a:cs typeface="Arial"/>
              </a:defRPr>
            </a:pPr>
            <a:r>
              <a:rPr sz="1725" b="0" i="0">
                <a:solidFill>
                  <a:srgbClr val="173E35"/>
                </a:solidFill>
                <a:latin typeface="Arial"/>
                <a:ea typeface="Arial"/>
                <a:cs typeface="Arial"/>
              </a:rPr>
              <a:t>Sustainability as core strategy: Microsoft, Unilever, Patagonia, IKEA</a:t>
            </a:r>
          </a:p>
        </p:txBody>
      </p:sp>
      <p:pic>
        <p:nvPicPr>
          <p:cNvPr id="36" name="Picture 35"/>
          <p:cNvPicPr>
            <a:picLocks noChangeAspect="1"/>
          </p:cNvPicPr>
          <p:nvPr/>
        </p:nvPicPr>
        <p:blipFill>
          <a:blip r:embed="rId3"/>
          <a:stretch/>
        </p:blipFill>
        <p:spPr>
          <a:xfrm>
            <a:off x="499570" y="4829175"/>
            <a:ext cx="315310" cy="152400"/>
          </a:xfrm>
          <a:prstGeom prst="rect">
            <a:avLst/>
          </a:prstGeom>
        </p:spPr>
      </p:pic>
      <p:sp>
        <p:nvSpPr>
          <p:cNvPr id="18" name="www.newton.university">
            <a:extLst>
              <a:ext uri="{FF2B5EF4-FFF2-40B4-BE49-F238E27FC236}">
                <a16:creationId xmlns:a16="http://schemas.microsoft.com/office/drawing/2014/main" id="{8054E0F4-F733-49AA-A870-7FB0BF0F9E6A}"/>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19" name="08">
            <a:extLst>
              <a:ext uri="{FF2B5EF4-FFF2-40B4-BE49-F238E27FC236}">
                <a16:creationId xmlns:a16="http://schemas.microsoft.com/office/drawing/2014/main" id="{BBCD18EA-DC8A-4AA4-BD83-6C69F72290B6}"/>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58665B"/>
                </a:solidFill>
                <a:latin typeface="Arial"/>
                <a:ea typeface="Arial"/>
                <a:cs typeface="Arial"/>
              </a:defRPr>
            </a:pPr>
            <a:r>
              <a:rPr sz="1125" b="0" i="0">
                <a:solidFill>
                  <a:srgbClr val="58665B"/>
                </a:solidFill>
                <a:latin typeface="Arial"/>
                <a:ea typeface="Arial"/>
                <a:cs typeface="Arial"/>
              </a:rPr>
              <a:t>08</a:t>
            </a:r>
          </a:p>
        </p:txBody>
      </p:sp>
    </p:spTree>
    <p:extLst>
      <p:ext uri="{BB962C8B-B14F-4D97-AF65-F5344CB8AC3E}">
        <p14:creationId xmlns:p14="http://schemas.microsoft.com/office/powerpoint/2010/main" val="18538454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32E29"/>
        </a:solidFill>
        <a:effectLst/>
      </p:bgPr>
    </p:bg>
    <p:spTree>
      <p:nvGrpSpPr>
        <p:cNvPr id="1" name=""/>
        <p:cNvGrpSpPr/>
        <p:nvPr/>
      </p:nvGrpSpPr>
      <p:grpSpPr>
        <a:xfrm>
          <a:off x="0" y="0"/>
          <a:ext cx="0" cy="0"/>
          <a:chOff x="0" y="0"/>
          <a:chExt cx="0" cy="0"/>
        </a:xfrm>
      </p:grpSpPr>
      <p:sp>
        <p:nvSpPr>
          <p:cNvPr id="10" name="Editorial frame">
            <a:extLst>
              <a:ext uri="{FF2B5EF4-FFF2-40B4-BE49-F238E27FC236}">
                <a16:creationId xmlns:a16="http://schemas.microsoft.com/office/drawing/2014/main" id="{4EB6FEF6-257D-45F4-8ADB-3F7D8B50590D}"/>
              </a:ext>
            </a:extLst>
          </p:cNvPr>
          <p:cNvSpPr>
            <a:spLocks noGrp="1"/>
          </p:cNvSpPr>
          <p:nvPr/>
        </p:nvSpPr>
        <p:spPr>
          <a:xfrm>
            <a:off x="219075" y="219075"/>
            <a:ext cx="8705850" cy="4514850"/>
          </a:xfrm>
          <a:prstGeom prst="rect">
            <a:avLst/>
          </a:prstGeom>
          <a:noFill/>
          <a:ln w="8573">
            <a:solidFill>
              <a:srgbClr val="789888"/>
            </a:solidFill>
          </a:ln>
        </p:spPr>
        <p:txBody>
          <a:bodyPr/>
          <a:lstStyle/>
          <a:p>
            <a:endParaRPr lang="en-US"/>
          </a:p>
        </p:txBody>
      </p:sp>
      <p:sp>
        <p:nvSpPr>
          <p:cNvPr id="2" name="Editorial frame">
            <a:extLst>
              <a:ext uri="{FF2B5EF4-FFF2-40B4-BE49-F238E27FC236}">
                <a16:creationId xmlns:a16="http://schemas.microsoft.com/office/drawing/2014/main" id="{BFD19C1B-BCE6-4E4D-A0BD-7E5AD6E6CC08}"/>
              </a:ext>
            </a:extLst>
          </p:cNvPr>
          <p:cNvSpPr>
            <a:spLocks noGrp="1"/>
          </p:cNvSpPr>
          <p:nvPr/>
        </p:nvSpPr>
        <p:spPr>
          <a:xfrm>
            <a:off x="3209925" y="1552575"/>
            <a:ext cx="5572125" cy="2800350"/>
          </a:xfrm>
          <a:prstGeom prst="rect">
            <a:avLst/>
          </a:prstGeom>
          <a:noFill/>
          <a:ln w="8573">
            <a:solidFill>
              <a:srgbClr val="5F806F"/>
            </a:solidFill>
          </a:ln>
        </p:spPr>
        <p:txBody>
          <a:bodyPr/>
          <a:lstStyle/>
          <a:p>
            <a:endParaRPr lang="en-US"/>
          </a:p>
        </p:txBody>
      </p:sp>
      <p:sp>
        <p:nvSpPr>
          <p:cNvPr id="3" name="Editorial rule">
            <a:extLst>
              <a:ext uri="{FF2B5EF4-FFF2-40B4-BE49-F238E27FC236}">
                <a16:creationId xmlns:a16="http://schemas.microsoft.com/office/drawing/2014/main" id="{B4060513-966D-497F-B0AE-7D05EBB1D348}"/>
              </a:ext>
            </a:extLst>
          </p:cNvPr>
          <p:cNvSpPr>
            <a:spLocks noGrp="1"/>
          </p:cNvSpPr>
          <p:nvPr/>
        </p:nvSpPr>
        <p:spPr>
          <a:xfrm>
            <a:off x="3209925" y="1552575"/>
            <a:ext cx="38100" cy="2800350"/>
          </a:xfrm>
          <a:prstGeom prst="rect">
            <a:avLst/>
          </a:prstGeom>
          <a:solidFill>
            <a:srgbClr val="C4AA82"/>
          </a:solidFill>
          <a:ln w="0">
            <a:noFill/>
          </a:ln>
        </p:spPr>
        <p:txBody>
          <a:bodyPr/>
          <a:lstStyle/>
          <a:p>
            <a:endParaRPr lang="en-US"/>
          </a:p>
        </p:txBody>
      </p:sp>
      <p:sp>
        <p:nvSpPr>
          <p:cNvPr id="4" name="02">
            <a:extLst>
              <a:ext uri="{FF2B5EF4-FFF2-40B4-BE49-F238E27FC236}">
                <a16:creationId xmlns:a16="http://schemas.microsoft.com/office/drawing/2014/main" id="{69739CA1-73EB-4EE4-9CAF-F1BDDA6D1C2D}"/>
              </a:ext>
            </a:extLst>
          </p:cNvPr>
          <p:cNvSpPr>
            <a:spLocks noGrp="1"/>
          </p:cNvSpPr>
          <p:nvPr/>
        </p:nvSpPr>
        <p:spPr>
          <a:xfrm>
            <a:off x="495300" y="704850"/>
            <a:ext cx="2667000" cy="1905000"/>
          </a:xfrm>
          <a:prstGeom prst="rect">
            <a:avLst/>
          </a:prstGeom>
          <a:noFill/>
          <a:ln w="0">
            <a:noFill/>
          </a:ln>
        </p:spPr>
        <p:txBody>
          <a:bodyPr wrap="square" lIns="0" tIns="0" rIns="0" bIns="0" anchor="t">
            <a:noAutofit/>
          </a:bodyPr>
          <a:lstStyle/>
          <a:p>
            <a:pPr>
              <a:defRPr sz="11700" b="0" i="0">
                <a:solidFill>
                  <a:srgbClr val="668773"/>
                </a:solidFill>
                <a:latin typeface="Georgia"/>
                <a:ea typeface="Georgia"/>
                <a:cs typeface="Georgia"/>
              </a:defRPr>
            </a:pPr>
            <a:r>
              <a:rPr sz="11700" b="0" i="0">
                <a:solidFill>
                  <a:srgbClr val="668773"/>
                </a:solidFill>
                <a:latin typeface="Georgia"/>
                <a:ea typeface="Georgia"/>
                <a:cs typeface="Georgia"/>
              </a:rPr>
              <a:t>02</a:t>
            </a:r>
          </a:p>
        </p:txBody>
      </p:sp>
      <p:sp>
        <p:nvSpPr>
          <p:cNvPr id="5" name="Sustainability&#10;and Business">
            <a:extLst>
              <a:ext uri="{FF2B5EF4-FFF2-40B4-BE49-F238E27FC236}">
                <a16:creationId xmlns:a16="http://schemas.microsoft.com/office/drawing/2014/main" id="{329D74AC-9637-48CE-8A4F-95CE49C3F31A}"/>
              </a:ext>
            </a:extLst>
          </p:cNvPr>
          <p:cNvSpPr>
            <a:spLocks noGrp="1"/>
          </p:cNvSpPr>
          <p:nvPr/>
        </p:nvSpPr>
        <p:spPr>
          <a:xfrm>
            <a:off x="3333750" y="2133600"/>
            <a:ext cx="5191125" cy="1619250"/>
          </a:xfrm>
          <a:prstGeom prst="rect">
            <a:avLst/>
          </a:prstGeom>
          <a:noFill/>
          <a:ln w="0">
            <a:noFill/>
          </a:ln>
        </p:spPr>
        <p:txBody>
          <a:bodyPr wrap="square" lIns="0" tIns="0" rIns="0" bIns="0" anchor="t">
            <a:noAutofit/>
          </a:bodyPr>
          <a:lstStyle/>
          <a:p>
            <a:pPr>
              <a:defRPr sz="3750" b="0" i="0">
                <a:solidFill>
                  <a:srgbClr val="F5F2EA"/>
                </a:solidFill>
                <a:latin typeface="Georgia"/>
                <a:ea typeface="Georgia"/>
                <a:cs typeface="Georgia"/>
              </a:defRPr>
            </a:pPr>
            <a:r>
              <a:rPr sz="3750" b="0" i="0">
                <a:solidFill>
                  <a:srgbClr val="F5F2EA"/>
                </a:solidFill>
                <a:latin typeface="Georgia"/>
                <a:ea typeface="Georgia"/>
                <a:cs typeface="Georgia"/>
              </a:rPr>
              <a:t>Sustainability</a:t>
            </a:r>
          </a:p>
          <a:p>
            <a:pPr>
              <a:defRPr sz="3750" b="0" i="0">
                <a:solidFill>
                  <a:srgbClr val="F5F2EA"/>
                </a:solidFill>
                <a:latin typeface="Georgia"/>
                <a:ea typeface="Georgia"/>
                <a:cs typeface="Georgia"/>
              </a:defRPr>
            </a:pPr>
            <a:r>
              <a:rPr sz="3750" b="0" i="0">
                <a:solidFill>
                  <a:srgbClr val="F5F2EA"/>
                </a:solidFill>
                <a:latin typeface="Georgia"/>
                <a:ea typeface="Georgia"/>
                <a:cs typeface="Georgia"/>
              </a:rPr>
              <a:t>and Business</a:t>
            </a:r>
          </a:p>
        </p:txBody>
      </p:sp>
      <p:sp>
        <p:nvSpPr>
          <p:cNvPr id="6" name="Part 2">
            <a:extLst>
              <a:ext uri="{FF2B5EF4-FFF2-40B4-BE49-F238E27FC236}">
                <a16:creationId xmlns:a16="http://schemas.microsoft.com/office/drawing/2014/main" id="{95218FC5-0068-4E84-9FAD-2726CCC58543}"/>
              </a:ext>
            </a:extLst>
          </p:cNvPr>
          <p:cNvSpPr>
            <a:spLocks noGrp="1"/>
          </p:cNvSpPr>
          <p:nvPr/>
        </p:nvSpPr>
        <p:spPr>
          <a:xfrm>
            <a:off x="3381375" y="1724025"/>
            <a:ext cx="3333750" cy="333375"/>
          </a:xfrm>
          <a:prstGeom prst="rect">
            <a:avLst/>
          </a:prstGeom>
          <a:noFill/>
          <a:ln w="0">
            <a:noFill/>
          </a:ln>
        </p:spPr>
        <p:txBody>
          <a:bodyPr wrap="square" lIns="0" tIns="0" rIns="0" bIns="0" anchor="t">
            <a:noAutofit/>
          </a:bodyPr>
          <a:lstStyle/>
          <a:p>
            <a:pPr>
              <a:defRPr sz="1500" b="0" i="0">
                <a:solidFill>
                  <a:srgbClr val="C7D0C6"/>
                </a:solidFill>
                <a:latin typeface="Arial"/>
                <a:ea typeface="Arial"/>
                <a:cs typeface="Arial"/>
              </a:defRPr>
            </a:pPr>
            <a:r>
              <a:rPr sz="1500" b="0" i="0">
                <a:solidFill>
                  <a:srgbClr val="C7D0C6"/>
                </a:solidFill>
                <a:latin typeface="Arial"/>
                <a:ea typeface="Arial"/>
                <a:cs typeface="Arial"/>
              </a:rPr>
              <a:t>Part 2</a:t>
            </a:r>
          </a:p>
        </p:txBody>
      </p:sp>
      <p:pic>
        <p:nvPicPr>
          <p:cNvPr id="16" name="Picture 15"/>
          <p:cNvPicPr>
            <a:picLocks noChangeAspect="1"/>
          </p:cNvPicPr>
          <p:nvPr/>
        </p:nvPicPr>
        <p:blipFill>
          <a:blip r:embed="rId3"/>
          <a:stretch/>
        </p:blipFill>
        <p:spPr>
          <a:xfrm>
            <a:off x="499570" y="4829175"/>
            <a:ext cx="315310" cy="152400"/>
          </a:xfrm>
          <a:prstGeom prst="rect">
            <a:avLst/>
          </a:prstGeom>
        </p:spPr>
      </p:pic>
      <p:sp>
        <p:nvSpPr>
          <p:cNvPr id="8" name="www.newton.university">
            <a:extLst>
              <a:ext uri="{FF2B5EF4-FFF2-40B4-BE49-F238E27FC236}">
                <a16:creationId xmlns:a16="http://schemas.microsoft.com/office/drawing/2014/main" id="{B497AF4E-B8EC-407F-A920-2631439AF6AC}"/>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C7D0C6"/>
                </a:solidFill>
                <a:latin typeface="Arial"/>
                <a:ea typeface="Arial"/>
                <a:cs typeface="Arial"/>
              </a:defRPr>
            </a:pPr>
            <a:r>
              <a:rPr sz="750" b="0" i="0">
                <a:solidFill>
                  <a:srgbClr val="C7D0C6"/>
                </a:solidFill>
                <a:latin typeface="Arial"/>
                <a:ea typeface="Arial"/>
                <a:cs typeface="Arial"/>
              </a:rPr>
              <a:t>www.newton.university</a:t>
            </a:r>
          </a:p>
        </p:txBody>
      </p:sp>
      <p:sp>
        <p:nvSpPr>
          <p:cNvPr id="9" name="09">
            <a:extLst>
              <a:ext uri="{FF2B5EF4-FFF2-40B4-BE49-F238E27FC236}">
                <a16:creationId xmlns:a16="http://schemas.microsoft.com/office/drawing/2014/main" id="{F43DDA7B-4549-418D-A88B-013A4DF55A4A}"/>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E8EDE5"/>
                </a:solidFill>
                <a:latin typeface="Arial"/>
                <a:ea typeface="Arial"/>
                <a:cs typeface="Arial"/>
              </a:defRPr>
            </a:pPr>
            <a:r>
              <a:rPr sz="1125" b="0" i="0">
                <a:solidFill>
                  <a:srgbClr val="E8EDE5"/>
                </a:solidFill>
                <a:latin typeface="Arial"/>
                <a:ea typeface="Arial"/>
                <a:cs typeface="Arial"/>
              </a:rPr>
              <a:t>09</a:t>
            </a:r>
          </a:p>
        </p:txBody>
      </p:sp>
    </p:spTree>
    <p:extLst>
      <p:ext uri="{BB962C8B-B14F-4D97-AF65-F5344CB8AC3E}">
        <p14:creationId xmlns:p14="http://schemas.microsoft.com/office/powerpoint/2010/main" val="2447092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0" name="Editorial rule">
            <a:extLst>
              <a:ext uri="{FF2B5EF4-FFF2-40B4-BE49-F238E27FC236}">
                <a16:creationId xmlns:a16="http://schemas.microsoft.com/office/drawing/2014/main" id="{C8460FAB-2F87-4ECA-BB04-6B2270BBEEE8}"/>
              </a:ext>
            </a:extLst>
          </p:cNvPr>
          <p:cNvSpPr>
            <a:spLocks noGrp="1"/>
          </p:cNvSpPr>
          <p:nvPr/>
        </p:nvSpPr>
        <p:spPr>
          <a:xfrm>
            <a:off x="495300" y="1066800"/>
            <a:ext cx="8153400" cy="7620"/>
          </a:xfrm>
          <a:prstGeom prst="rect">
            <a:avLst/>
          </a:prstGeom>
          <a:solidFill>
            <a:srgbClr val="B7C3B1"/>
          </a:solidFill>
          <a:ln w="0">
            <a:noFill/>
          </a:ln>
        </p:spPr>
        <p:txBody>
          <a:bodyPr/>
          <a:lstStyle/>
          <a:p>
            <a:endParaRPr lang="en-US"/>
          </a:p>
        </p:txBody>
      </p:sp>
      <p:sp>
        <p:nvSpPr>
          <p:cNvPr id="2" name="Editorial rule">
            <a:extLst>
              <a:ext uri="{FF2B5EF4-FFF2-40B4-BE49-F238E27FC236}">
                <a16:creationId xmlns:a16="http://schemas.microsoft.com/office/drawing/2014/main" id="{2EF123CF-7F79-4D79-9CF5-39087437BFE0}"/>
              </a:ext>
            </a:extLst>
          </p:cNvPr>
          <p:cNvSpPr>
            <a:spLocks noGrp="1"/>
          </p:cNvSpPr>
          <p:nvPr/>
        </p:nvSpPr>
        <p:spPr>
          <a:xfrm>
            <a:off x="495300" y="1052513"/>
            <a:ext cx="552450" cy="28575"/>
          </a:xfrm>
          <a:prstGeom prst="rect">
            <a:avLst/>
          </a:prstGeom>
          <a:solidFill>
            <a:srgbClr val="B56647"/>
          </a:solidFill>
          <a:ln w="0">
            <a:noFill/>
          </a:ln>
        </p:spPr>
        <p:txBody>
          <a:bodyPr/>
          <a:lstStyle/>
          <a:p>
            <a:endParaRPr lang="en-US"/>
          </a:p>
        </p:txBody>
      </p:sp>
      <p:sp>
        <p:nvSpPr>
          <p:cNvPr id="3" name="Editorial frame">
            <a:extLst>
              <a:ext uri="{FF2B5EF4-FFF2-40B4-BE49-F238E27FC236}">
                <a16:creationId xmlns:a16="http://schemas.microsoft.com/office/drawing/2014/main" id="{570CA8E2-9383-45D0-A917-FE2C2B6C5E38}"/>
              </a:ext>
            </a:extLst>
          </p:cNvPr>
          <p:cNvSpPr>
            <a:spLocks noGrp="1"/>
          </p:cNvSpPr>
          <p:nvPr/>
        </p:nvSpPr>
        <p:spPr>
          <a:xfrm>
            <a:off x="361950" y="1847850"/>
            <a:ext cx="4067175" cy="1390650"/>
          </a:xfrm>
          <a:prstGeom prst="rect">
            <a:avLst/>
          </a:prstGeom>
          <a:solidFill>
            <a:srgbClr val="E5EBDC"/>
          </a:solidFill>
          <a:ln w="8573">
            <a:solidFill>
              <a:srgbClr val="BDCCB7"/>
            </a:solidFill>
          </a:ln>
        </p:spPr>
        <p:txBody>
          <a:bodyPr/>
          <a:lstStyle/>
          <a:p>
            <a:endParaRPr lang="en-US"/>
          </a:p>
        </p:txBody>
      </p:sp>
      <p:sp>
        <p:nvSpPr>
          <p:cNvPr id="4" name="Editorial frame">
            <a:extLst>
              <a:ext uri="{FF2B5EF4-FFF2-40B4-BE49-F238E27FC236}">
                <a16:creationId xmlns:a16="http://schemas.microsoft.com/office/drawing/2014/main" id="{1A08D98D-447E-44EF-BA0A-C0AF1D769387}"/>
              </a:ext>
            </a:extLst>
          </p:cNvPr>
          <p:cNvSpPr>
            <a:spLocks noGrp="1"/>
          </p:cNvSpPr>
          <p:nvPr/>
        </p:nvSpPr>
        <p:spPr>
          <a:xfrm>
            <a:off x="4629150" y="1847850"/>
            <a:ext cx="4152900" cy="1390650"/>
          </a:xfrm>
          <a:prstGeom prst="rect">
            <a:avLst/>
          </a:prstGeom>
          <a:solidFill>
            <a:srgbClr val="EDE7DA"/>
          </a:solidFill>
          <a:ln w="8573">
            <a:solidFill>
              <a:srgbClr val="BDCCB7"/>
            </a:solidFill>
          </a:ln>
        </p:spPr>
        <p:txBody>
          <a:bodyPr/>
          <a:lstStyle/>
          <a:p>
            <a:endParaRPr lang="en-US"/>
          </a:p>
        </p:txBody>
      </p:sp>
      <p:sp>
        <p:nvSpPr>
          <p:cNvPr id="5" name="Editorial frame">
            <a:extLst>
              <a:ext uri="{FF2B5EF4-FFF2-40B4-BE49-F238E27FC236}">
                <a16:creationId xmlns:a16="http://schemas.microsoft.com/office/drawing/2014/main" id="{269E4CCF-E766-492C-9073-41DD2BB794AE}"/>
              </a:ext>
            </a:extLst>
          </p:cNvPr>
          <p:cNvSpPr>
            <a:spLocks noGrp="1"/>
          </p:cNvSpPr>
          <p:nvPr/>
        </p:nvSpPr>
        <p:spPr>
          <a:xfrm>
            <a:off x="361950" y="3343275"/>
            <a:ext cx="4067175" cy="1333500"/>
          </a:xfrm>
          <a:prstGeom prst="rect">
            <a:avLst/>
          </a:prstGeom>
          <a:solidFill>
            <a:srgbClr val="EDE7DA"/>
          </a:solidFill>
          <a:ln w="8573">
            <a:solidFill>
              <a:srgbClr val="BDCCB7"/>
            </a:solidFill>
          </a:ln>
        </p:spPr>
        <p:txBody>
          <a:bodyPr/>
          <a:lstStyle/>
          <a:p>
            <a:endParaRPr lang="en-US"/>
          </a:p>
        </p:txBody>
      </p:sp>
      <p:sp>
        <p:nvSpPr>
          <p:cNvPr id="6" name="Editorial frame">
            <a:extLst>
              <a:ext uri="{FF2B5EF4-FFF2-40B4-BE49-F238E27FC236}">
                <a16:creationId xmlns:a16="http://schemas.microsoft.com/office/drawing/2014/main" id="{3E3E6101-D296-4C99-AEC7-AB5F455E7C60}"/>
              </a:ext>
            </a:extLst>
          </p:cNvPr>
          <p:cNvSpPr>
            <a:spLocks noGrp="1"/>
          </p:cNvSpPr>
          <p:nvPr/>
        </p:nvSpPr>
        <p:spPr>
          <a:xfrm>
            <a:off x="4629150" y="3343275"/>
            <a:ext cx="4152900" cy="1333500"/>
          </a:xfrm>
          <a:prstGeom prst="rect">
            <a:avLst/>
          </a:prstGeom>
          <a:solidFill>
            <a:srgbClr val="E5EBDC"/>
          </a:solidFill>
          <a:ln w="8573">
            <a:solidFill>
              <a:srgbClr val="BDCCB7"/>
            </a:solidFill>
          </a:ln>
        </p:spPr>
        <p:txBody>
          <a:bodyPr/>
          <a:lstStyle/>
          <a:p>
            <a:endParaRPr lang="en-US"/>
          </a:p>
        </p:txBody>
      </p:sp>
      <p:sp>
        <p:nvSpPr>
          <p:cNvPr id="7" name="Why Companies Care About Sustainability">
            <a:extLst>
              <a:ext uri="{FF2B5EF4-FFF2-40B4-BE49-F238E27FC236}">
                <a16:creationId xmlns:a16="http://schemas.microsoft.com/office/drawing/2014/main" id="{FF35FF23-B157-4D96-AE1D-F219E3AE39C1}"/>
              </a:ext>
            </a:extLst>
          </p:cNvPr>
          <p:cNvSpPr>
            <a:spLocks noGrp="1"/>
          </p:cNvSpPr>
          <p:nvPr/>
        </p:nvSpPr>
        <p:spPr>
          <a:xfrm>
            <a:off x="495300" y="381000"/>
            <a:ext cx="8096250" cy="952500"/>
          </a:xfrm>
          <a:prstGeom prst="rect">
            <a:avLst/>
          </a:prstGeom>
          <a:noFill/>
          <a:ln w="0">
            <a:noFill/>
          </a:ln>
        </p:spPr>
        <p:txBody>
          <a:bodyPr wrap="square" lIns="0" tIns="0" rIns="0" bIns="0" anchor="t">
            <a:noAutofit/>
          </a:bodyPr>
          <a:lstStyle/>
          <a:p>
            <a:pPr>
              <a:defRPr sz="2625" b="0" i="0">
                <a:solidFill>
                  <a:srgbClr val="173E35"/>
                </a:solidFill>
                <a:latin typeface="Georgia"/>
                <a:ea typeface="Georgia"/>
                <a:cs typeface="Georgia"/>
              </a:defRPr>
            </a:pPr>
            <a:r>
              <a:rPr sz="2625" b="0" i="0">
                <a:solidFill>
                  <a:srgbClr val="173E35"/>
                </a:solidFill>
                <a:latin typeface="Georgia"/>
                <a:ea typeface="Georgia"/>
                <a:cs typeface="Georgia"/>
              </a:rPr>
              <a:t>Why Companies Care About Sustainability</a:t>
            </a:r>
          </a:p>
        </p:txBody>
      </p:sp>
      <p:sp>
        <p:nvSpPr>
          <p:cNvPr id="8" name="Four drivers push sustainability onto the man">
            <a:extLst>
              <a:ext uri="{FF2B5EF4-FFF2-40B4-BE49-F238E27FC236}">
                <a16:creationId xmlns:a16="http://schemas.microsoft.com/office/drawing/2014/main" id="{DE9BBD95-4A84-41F2-8898-E3E86698FF26}"/>
              </a:ext>
            </a:extLst>
          </p:cNvPr>
          <p:cNvSpPr>
            <a:spLocks noGrp="1"/>
          </p:cNvSpPr>
          <p:nvPr/>
        </p:nvSpPr>
        <p:spPr>
          <a:xfrm>
            <a:off x="495300" y="1304925"/>
            <a:ext cx="8096250" cy="381000"/>
          </a:xfrm>
          <a:prstGeom prst="rect">
            <a:avLst/>
          </a:prstGeom>
          <a:noFill/>
          <a:ln w="0">
            <a:noFill/>
          </a:ln>
        </p:spPr>
        <p:txBody>
          <a:bodyPr wrap="square" lIns="0" tIns="0" rIns="0" bIns="0" anchor="t">
            <a:noAutofit/>
          </a:bodyPr>
          <a:lstStyle/>
          <a:p>
            <a:pPr>
              <a:defRPr sz="1650" b="0" i="0">
                <a:solidFill>
                  <a:srgbClr val="58665B"/>
                </a:solidFill>
                <a:latin typeface="Arial"/>
                <a:ea typeface="Arial"/>
                <a:cs typeface="Arial"/>
              </a:defRPr>
            </a:pPr>
            <a:r>
              <a:rPr sz="1650" b="0" i="0">
                <a:solidFill>
                  <a:srgbClr val="58665B"/>
                </a:solidFill>
                <a:latin typeface="Arial"/>
                <a:ea typeface="Arial"/>
                <a:cs typeface="Arial"/>
              </a:rPr>
              <a:t>Four drivers push sustainability onto the management agenda:</a:t>
            </a:r>
          </a:p>
        </p:txBody>
      </p:sp>
      <p:sp>
        <p:nvSpPr>
          <p:cNvPr id="9" name="Regulation">
            <a:extLst>
              <a:ext uri="{FF2B5EF4-FFF2-40B4-BE49-F238E27FC236}">
                <a16:creationId xmlns:a16="http://schemas.microsoft.com/office/drawing/2014/main" id="{49F08B49-238D-4033-AA7C-6674FE9BF508}"/>
              </a:ext>
            </a:extLst>
          </p:cNvPr>
          <p:cNvSpPr>
            <a:spLocks noGrp="1"/>
          </p:cNvSpPr>
          <p:nvPr/>
        </p:nvSpPr>
        <p:spPr>
          <a:xfrm>
            <a:off x="495300" y="1971675"/>
            <a:ext cx="3810000" cy="361950"/>
          </a:xfrm>
          <a:prstGeom prst="rect">
            <a:avLst/>
          </a:prstGeom>
          <a:noFill/>
          <a:ln w="0">
            <a:noFill/>
          </a:ln>
        </p:spPr>
        <p:txBody>
          <a:bodyPr wrap="square" lIns="0" tIns="0" rIns="0" bIns="0" anchor="t">
            <a:noAutofit/>
          </a:bodyPr>
          <a:lstStyle/>
          <a:p>
            <a:pPr>
              <a:defRPr sz="2175" b="0" i="0">
                <a:solidFill>
                  <a:srgbClr val="173E35"/>
                </a:solidFill>
                <a:latin typeface="Georgia"/>
                <a:ea typeface="Georgia"/>
                <a:cs typeface="Georgia"/>
              </a:defRPr>
            </a:pPr>
            <a:r>
              <a:rPr sz="2175" b="0" i="0">
                <a:solidFill>
                  <a:srgbClr val="173E35"/>
                </a:solidFill>
                <a:latin typeface="Georgia"/>
                <a:ea typeface="Georgia"/>
                <a:cs typeface="Georgia"/>
              </a:rPr>
              <a:t>Regulation</a:t>
            </a:r>
          </a:p>
        </p:txBody>
      </p:sp>
      <p:sp>
        <p:nvSpPr>
          <p:cNvPr id="10" name="European Green Deal · CSRD · ESG requirements">
            <a:extLst>
              <a:ext uri="{FF2B5EF4-FFF2-40B4-BE49-F238E27FC236}">
                <a16:creationId xmlns:a16="http://schemas.microsoft.com/office/drawing/2014/main" id="{35FF159E-D905-42E9-BCDE-D02BCC019F16}"/>
              </a:ext>
            </a:extLst>
          </p:cNvPr>
          <p:cNvSpPr>
            <a:spLocks noGrp="1"/>
          </p:cNvSpPr>
          <p:nvPr/>
        </p:nvSpPr>
        <p:spPr>
          <a:xfrm>
            <a:off x="495300" y="2428875"/>
            <a:ext cx="3762375" cy="809625"/>
          </a:xfrm>
          <a:prstGeom prst="rect">
            <a:avLst/>
          </a:prstGeom>
          <a:noFill/>
          <a:ln w="0">
            <a:noFill/>
          </a:ln>
        </p:spPr>
        <p:txBody>
          <a:bodyPr wrap="square" lIns="0" tIns="0" rIns="0" bIns="0" anchor="t">
            <a:noAutofit/>
          </a:bodyPr>
          <a:lstStyle/>
          <a:p>
            <a:pPr>
              <a:defRPr sz="1725" b="0" i="0">
                <a:solidFill>
                  <a:srgbClr val="58665B"/>
                </a:solidFill>
                <a:latin typeface="Arial"/>
                <a:ea typeface="Arial"/>
                <a:cs typeface="Arial"/>
              </a:defRPr>
            </a:pPr>
            <a:r>
              <a:rPr sz="1725" b="0" i="0">
                <a:solidFill>
                  <a:srgbClr val="58665B"/>
                </a:solidFill>
                <a:latin typeface="Arial"/>
                <a:ea typeface="Arial"/>
                <a:cs typeface="Arial"/>
              </a:rPr>
              <a:t>European Green Deal · CSRD · ESG requirements</a:t>
            </a:r>
          </a:p>
        </p:txBody>
      </p:sp>
      <p:sp>
        <p:nvSpPr>
          <p:cNvPr id="11" name="Investors">
            <a:extLst>
              <a:ext uri="{FF2B5EF4-FFF2-40B4-BE49-F238E27FC236}">
                <a16:creationId xmlns:a16="http://schemas.microsoft.com/office/drawing/2014/main" id="{AA080E02-19AB-42DA-9529-B4172F8C6697}"/>
              </a:ext>
            </a:extLst>
          </p:cNvPr>
          <p:cNvSpPr>
            <a:spLocks noGrp="1"/>
          </p:cNvSpPr>
          <p:nvPr/>
        </p:nvSpPr>
        <p:spPr>
          <a:xfrm>
            <a:off x="4762500" y="1971675"/>
            <a:ext cx="3810000" cy="361950"/>
          </a:xfrm>
          <a:prstGeom prst="rect">
            <a:avLst/>
          </a:prstGeom>
          <a:noFill/>
          <a:ln w="0">
            <a:noFill/>
          </a:ln>
        </p:spPr>
        <p:txBody>
          <a:bodyPr wrap="square" lIns="0" tIns="0" rIns="0" bIns="0" anchor="t">
            <a:noAutofit/>
          </a:bodyPr>
          <a:lstStyle/>
          <a:p>
            <a:pPr>
              <a:defRPr sz="2175" b="0" i="0">
                <a:solidFill>
                  <a:srgbClr val="173E35"/>
                </a:solidFill>
                <a:latin typeface="Georgia"/>
                <a:ea typeface="Georgia"/>
                <a:cs typeface="Georgia"/>
              </a:defRPr>
            </a:pPr>
            <a:r>
              <a:rPr sz="2175" b="0" i="0">
                <a:solidFill>
                  <a:srgbClr val="173E35"/>
                </a:solidFill>
                <a:latin typeface="Georgia"/>
                <a:ea typeface="Georgia"/>
                <a:cs typeface="Georgia"/>
              </a:rPr>
              <a:t>Investors</a:t>
            </a:r>
          </a:p>
        </p:txBody>
      </p:sp>
      <p:sp>
        <p:nvSpPr>
          <p:cNvPr id="12" name="ESG investing · e.g. BlackRock">
            <a:extLst>
              <a:ext uri="{FF2B5EF4-FFF2-40B4-BE49-F238E27FC236}">
                <a16:creationId xmlns:a16="http://schemas.microsoft.com/office/drawing/2014/main" id="{8DEF077D-FAE5-4C05-96F5-FE246A81D2C8}"/>
              </a:ext>
            </a:extLst>
          </p:cNvPr>
          <p:cNvSpPr>
            <a:spLocks noGrp="1"/>
          </p:cNvSpPr>
          <p:nvPr/>
        </p:nvSpPr>
        <p:spPr>
          <a:xfrm>
            <a:off x="4762500" y="2428875"/>
            <a:ext cx="3762375" cy="809625"/>
          </a:xfrm>
          <a:prstGeom prst="rect">
            <a:avLst/>
          </a:prstGeom>
          <a:noFill/>
          <a:ln w="0">
            <a:noFill/>
          </a:ln>
        </p:spPr>
        <p:txBody>
          <a:bodyPr wrap="square" lIns="0" tIns="0" rIns="0" bIns="0" anchor="t">
            <a:noAutofit/>
          </a:bodyPr>
          <a:lstStyle/>
          <a:p>
            <a:pPr>
              <a:defRPr sz="1725" b="0" i="0">
                <a:solidFill>
                  <a:srgbClr val="58665B"/>
                </a:solidFill>
                <a:latin typeface="Arial"/>
                <a:ea typeface="Arial"/>
                <a:cs typeface="Arial"/>
              </a:defRPr>
            </a:pPr>
            <a:r>
              <a:rPr sz="1725" b="0" i="0">
                <a:solidFill>
                  <a:srgbClr val="58665B"/>
                </a:solidFill>
                <a:latin typeface="Arial"/>
                <a:ea typeface="Arial"/>
                <a:cs typeface="Arial"/>
              </a:rPr>
              <a:t>ESG investing · e.g. BlackRock</a:t>
            </a:r>
          </a:p>
        </p:txBody>
      </p:sp>
      <p:sp>
        <p:nvSpPr>
          <p:cNvPr id="13" name="Customers">
            <a:extLst>
              <a:ext uri="{FF2B5EF4-FFF2-40B4-BE49-F238E27FC236}">
                <a16:creationId xmlns:a16="http://schemas.microsoft.com/office/drawing/2014/main" id="{43D53641-47DD-44DC-A2EE-F61D55A98CB1}"/>
              </a:ext>
            </a:extLst>
          </p:cNvPr>
          <p:cNvSpPr>
            <a:spLocks noGrp="1"/>
          </p:cNvSpPr>
          <p:nvPr/>
        </p:nvSpPr>
        <p:spPr>
          <a:xfrm>
            <a:off x="495300" y="3486150"/>
            <a:ext cx="3810000" cy="361950"/>
          </a:xfrm>
          <a:prstGeom prst="rect">
            <a:avLst/>
          </a:prstGeom>
          <a:noFill/>
          <a:ln w="0">
            <a:noFill/>
          </a:ln>
        </p:spPr>
        <p:txBody>
          <a:bodyPr wrap="square" lIns="0" tIns="0" rIns="0" bIns="0" anchor="t">
            <a:noAutofit/>
          </a:bodyPr>
          <a:lstStyle/>
          <a:p>
            <a:pPr>
              <a:defRPr sz="2175" b="0" i="0">
                <a:solidFill>
                  <a:srgbClr val="173E35"/>
                </a:solidFill>
                <a:latin typeface="Georgia"/>
                <a:ea typeface="Georgia"/>
                <a:cs typeface="Georgia"/>
              </a:defRPr>
            </a:pPr>
            <a:r>
              <a:rPr sz="2175" b="0" i="0">
                <a:solidFill>
                  <a:srgbClr val="173E35"/>
                </a:solidFill>
                <a:latin typeface="Georgia"/>
                <a:ea typeface="Georgia"/>
                <a:cs typeface="Georgia"/>
              </a:rPr>
              <a:t>Customers</a:t>
            </a:r>
          </a:p>
        </p:txBody>
      </p:sp>
      <p:sp>
        <p:nvSpPr>
          <p:cNvPr id="14" name="Demand for greener products">
            <a:extLst>
              <a:ext uri="{FF2B5EF4-FFF2-40B4-BE49-F238E27FC236}">
                <a16:creationId xmlns:a16="http://schemas.microsoft.com/office/drawing/2014/main" id="{4239DFD7-DA46-43FB-BBDC-5FDDE0100CD7}"/>
              </a:ext>
            </a:extLst>
          </p:cNvPr>
          <p:cNvSpPr>
            <a:spLocks noGrp="1"/>
          </p:cNvSpPr>
          <p:nvPr/>
        </p:nvSpPr>
        <p:spPr>
          <a:xfrm>
            <a:off x="495300" y="3943350"/>
            <a:ext cx="3762375" cy="809625"/>
          </a:xfrm>
          <a:prstGeom prst="rect">
            <a:avLst/>
          </a:prstGeom>
          <a:noFill/>
          <a:ln w="0">
            <a:noFill/>
          </a:ln>
        </p:spPr>
        <p:txBody>
          <a:bodyPr wrap="square" lIns="0" tIns="0" rIns="0" bIns="0" anchor="t">
            <a:noAutofit/>
          </a:bodyPr>
          <a:lstStyle/>
          <a:p>
            <a:pPr>
              <a:defRPr sz="1725" b="0" i="0">
                <a:solidFill>
                  <a:srgbClr val="58665B"/>
                </a:solidFill>
                <a:latin typeface="Arial"/>
                <a:ea typeface="Arial"/>
                <a:cs typeface="Arial"/>
              </a:defRPr>
            </a:pPr>
            <a:r>
              <a:rPr sz="1725" b="0" i="0">
                <a:solidFill>
                  <a:srgbClr val="58665B"/>
                </a:solidFill>
                <a:latin typeface="Arial"/>
                <a:ea typeface="Arial"/>
                <a:cs typeface="Arial"/>
              </a:rPr>
              <a:t>Demand for greener products</a:t>
            </a:r>
          </a:p>
        </p:txBody>
      </p:sp>
      <p:sp>
        <p:nvSpPr>
          <p:cNvPr id="15" name="Employees">
            <a:extLst>
              <a:ext uri="{FF2B5EF4-FFF2-40B4-BE49-F238E27FC236}">
                <a16:creationId xmlns:a16="http://schemas.microsoft.com/office/drawing/2014/main" id="{29A795D4-13B1-4831-AA22-25C3B52F4140}"/>
              </a:ext>
            </a:extLst>
          </p:cNvPr>
          <p:cNvSpPr>
            <a:spLocks noGrp="1"/>
          </p:cNvSpPr>
          <p:nvPr/>
        </p:nvSpPr>
        <p:spPr>
          <a:xfrm>
            <a:off x="4762500" y="3486150"/>
            <a:ext cx="3810000" cy="361950"/>
          </a:xfrm>
          <a:prstGeom prst="rect">
            <a:avLst/>
          </a:prstGeom>
          <a:noFill/>
          <a:ln w="0">
            <a:noFill/>
          </a:ln>
        </p:spPr>
        <p:txBody>
          <a:bodyPr wrap="square" lIns="0" tIns="0" rIns="0" bIns="0" anchor="t">
            <a:noAutofit/>
          </a:bodyPr>
          <a:lstStyle/>
          <a:p>
            <a:pPr>
              <a:defRPr sz="2175" b="0" i="0">
                <a:solidFill>
                  <a:srgbClr val="173E35"/>
                </a:solidFill>
                <a:latin typeface="Georgia"/>
                <a:ea typeface="Georgia"/>
                <a:cs typeface="Georgia"/>
              </a:defRPr>
            </a:pPr>
            <a:r>
              <a:rPr sz="2175" b="0" i="0">
                <a:solidFill>
                  <a:srgbClr val="173E35"/>
                </a:solidFill>
                <a:latin typeface="Georgia"/>
                <a:ea typeface="Georgia"/>
                <a:cs typeface="Georgia"/>
              </a:rPr>
              <a:t>Employees</a:t>
            </a:r>
          </a:p>
        </p:txBody>
      </p:sp>
      <p:sp>
        <p:nvSpPr>
          <p:cNvPr id="16" name="Preference for sustainable employers">
            <a:extLst>
              <a:ext uri="{FF2B5EF4-FFF2-40B4-BE49-F238E27FC236}">
                <a16:creationId xmlns:a16="http://schemas.microsoft.com/office/drawing/2014/main" id="{D36E1257-E79D-4C72-91E7-B9DE397897C7}"/>
              </a:ext>
            </a:extLst>
          </p:cNvPr>
          <p:cNvSpPr>
            <a:spLocks noGrp="1"/>
          </p:cNvSpPr>
          <p:nvPr/>
        </p:nvSpPr>
        <p:spPr>
          <a:xfrm>
            <a:off x="4762500" y="3943350"/>
            <a:ext cx="3762375" cy="809625"/>
          </a:xfrm>
          <a:prstGeom prst="rect">
            <a:avLst/>
          </a:prstGeom>
          <a:noFill/>
          <a:ln w="0">
            <a:noFill/>
          </a:ln>
        </p:spPr>
        <p:txBody>
          <a:bodyPr wrap="square" lIns="0" tIns="0" rIns="0" bIns="0" anchor="t">
            <a:noAutofit/>
          </a:bodyPr>
          <a:lstStyle/>
          <a:p>
            <a:pPr>
              <a:defRPr sz="1725" b="0" i="0">
                <a:solidFill>
                  <a:srgbClr val="58665B"/>
                </a:solidFill>
                <a:latin typeface="Arial"/>
                <a:ea typeface="Arial"/>
                <a:cs typeface="Arial"/>
              </a:defRPr>
            </a:pPr>
            <a:r>
              <a:rPr sz="1725" b="0" i="0">
                <a:solidFill>
                  <a:srgbClr val="58665B"/>
                </a:solidFill>
                <a:latin typeface="Arial"/>
                <a:ea typeface="Arial"/>
                <a:cs typeface="Arial"/>
              </a:rPr>
              <a:t>Preference for sustainable employers</a:t>
            </a:r>
          </a:p>
        </p:txBody>
      </p:sp>
      <p:pic>
        <p:nvPicPr>
          <p:cNvPr id="36" name="Picture 35"/>
          <p:cNvPicPr>
            <a:picLocks noChangeAspect="1"/>
          </p:cNvPicPr>
          <p:nvPr/>
        </p:nvPicPr>
        <p:blipFill>
          <a:blip r:embed="rId3"/>
          <a:stretch/>
        </p:blipFill>
        <p:spPr>
          <a:xfrm>
            <a:off x="499570" y="4829175"/>
            <a:ext cx="315310" cy="152400"/>
          </a:xfrm>
          <a:prstGeom prst="rect">
            <a:avLst/>
          </a:prstGeom>
        </p:spPr>
      </p:pic>
      <p:sp>
        <p:nvSpPr>
          <p:cNvPr id="18" name="www.newton.university">
            <a:extLst>
              <a:ext uri="{FF2B5EF4-FFF2-40B4-BE49-F238E27FC236}">
                <a16:creationId xmlns:a16="http://schemas.microsoft.com/office/drawing/2014/main" id="{085174A2-5737-46A9-BC7D-0BBA7320420A}"/>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19" name="10">
            <a:extLst>
              <a:ext uri="{FF2B5EF4-FFF2-40B4-BE49-F238E27FC236}">
                <a16:creationId xmlns:a16="http://schemas.microsoft.com/office/drawing/2014/main" id="{BC254004-FE9E-485E-B0CA-0BEA4E8F9C98}"/>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58665B"/>
                </a:solidFill>
                <a:latin typeface="Arial"/>
                <a:ea typeface="Arial"/>
                <a:cs typeface="Arial"/>
              </a:defRPr>
            </a:pPr>
            <a:r>
              <a:rPr sz="1125" b="0" i="0">
                <a:solidFill>
                  <a:srgbClr val="58665B"/>
                </a:solidFill>
                <a:latin typeface="Arial"/>
                <a:ea typeface="Arial"/>
                <a:cs typeface="Arial"/>
              </a:rPr>
              <a:t>10</a:t>
            </a:r>
          </a:p>
        </p:txBody>
      </p:sp>
    </p:spTree>
    <p:extLst>
      <p:ext uri="{BB962C8B-B14F-4D97-AF65-F5344CB8AC3E}">
        <p14:creationId xmlns:p14="http://schemas.microsoft.com/office/powerpoint/2010/main" val="16863150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E9DA"/>
        </a:solidFill>
        <a:effectLst/>
      </p:bgPr>
    </p:bg>
    <p:spTree>
      <p:nvGrpSpPr>
        <p:cNvPr id="1" name=""/>
        <p:cNvGrpSpPr/>
        <p:nvPr/>
      </p:nvGrpSpPr>
      <p:grpSpPr>
        <a:xfrm>
          <a:off x="0" y="0"/>
          <a:ext cx="0" cy="0"/>
          <a:chOff x="0" y="0"/>
          <a:chExt cx="0" cy="0"/>
        </a:xfrm>
      </p:grpSpPr>
      <p:sp>
        <p:nvSpPr>
          <p:cNvPr id="24" name="Editorial rule">
            <a:extLst>
              <a:ext uri="{FF2B5EF4-FFF2-40B4-BE49-F238E27FC236}">
                <a16:creationId xmlns:a16="http://schemas.microsoft.com/office/drawing/2014/main" id="{3779028A-CB96-453E-8518-6440B09F9233}"/>
              </a:ext>
            </a:extLst>
          </p:cNvPr>
          <p:cNvSpPr>
            <a:spLocks noGrp="1"/>
          </p:cNvSpPr>
          <p:nvPr/>
        </p:nvSpPr>
        <p:spPr>
          <a:xfrm>
            <a:off x="495300" y="1066800"/>
            <a:ext cx="8153400" cy="7620"/>
          </a:xfrm>
          <a:prstGeom prst="rect">
            <a:avLst/>
          </a:prstGeom>
          <a:solidFill>
            <a:srgbClr val="B7C3B1"/>
          </a:solidFill>
          <a:ln w="0">
            <a:noFill/>
          </a:ln>
        </p:spPr>
        <p:txBody>
          <a:bodyPr/>
          <a:lstStyle/>
          <a:p>
            <a:endParaRPr lang="en-US"/>
          </a:p>
        </p:txBody>
      </p:sp>
      <p:sp>
        <p:nvSpPr>
          <p:cNvPr id="2" name="Editorial rule">
            <a:extLst>
              <a:ext uri="{FF2B5EF4-FFF2-40B4-BE49-F238E27FC236}">
                <a16:creationId xmlns:a16="http://schemas.microsoft.com/office/drawing/2014/main" id="{CA39BD41-9009-4AD2-8DA0-C79098E5D053}"/>
              </a:ext>
            </a:extLst>
          </p:cNvPr>
          <p:cNvSpPr>
            <a:spLocks noGrp="1"/>
          </p:cNvSpPr>
          <p:nvPr/>
        </p:nvSpPr>
        <p:spPr>
          <a:xfrm>
            <a:off x="495300" y="1052513"/>
            <a:ext cx="552450" cy="28575"/>
          </a:xfrm>
          <a:prstGeom prst="rect">
            <a:avLst/>
          </a:prstGeom>
          <a:solidFill>
            <a:srgbClr val="B56647"/>
          </a:solidFill>
          <a:ln w="0">
            <a:noFill/>
          </a:ln>
        </p:spPr>
        <p:txBody>
          <a:bodyPr/>
          <a:lstStyle/>
          <a:p>
            <a:endParaRPr lang="en-US"/>
          </a:p>
        </p:txBody>
      </p:sp>
      <p:sp>
        <p:nvSpPr>
          <p:cNvPr id="3" name="Editorial frame">
            <a:extLst>
              <a:ext uri="{FF2B5EF4-FFF2-40B4-BE49-F238E27FC236}">
                <a16:creationId xmlns:a16="http://schemas.microsoft.com/office/drawing/2014/main" id="{F4641FE7-F936-4231-A0D3-76670BFBB502}"/>
              </a:ext>
            </a:extLst>
          </p:cNvPr>
          <p:cNvSpPr>
            <a:spLocks noGrp="1"/>
          </p:cNvSpPr>
          <p:nvPr/>
        </p:nvSpPr>
        <p:spPr>
          <a:xfrm>
            <a:off x="361950" y="1609725"/>
            <a:ext cx="8420100" cy="3076575"/>
          </a:xfrm>
          <a:prstGeom prst="rect">
            <a:avLst/>
          </a:prstGeom>
          <a:noFill/>
          <a:ln w="8573">
            <a:solidFill>
              <a:srgbClr val="B7AA91"/>
            </a:solidFill>
          </a:ln>
        </p:spPr>
        <p:txBody>
          <a:bodyPr/>
          <a:lstStyle/>
          <a:p>
            <a:endParaRPr lang="en-US"/>
          </a:p>
        </p:txBody>
      </p:sp>
      <p:sp>
        <p:nvSpPr>
          <p:cNvPr id="4" name="Editorial rule">
            <a:extLst>
              <a:ext uri="{FF2B5EF4-FFF2-40B4-BE49-F238E27FC236}">
                <a16:creationId xmlns:a16="http://schemas.microsoft.com/office/drawing/2014/main" id="{D4BE787C-5E18-4B69-A8EA-A5309FED7933}"/>
              </a:ext>
            </a:extLst>
          </p:cNvPr>
          <p:cNvSpPr>
            <a:spLocks noGrp="1"/>
          </p:cNvSpPr>
          <p:nvPr/>
        </p:nvSpPr>
        <p:spPr>
          <a:xfrm>
            <a:off x="3105150" y="1762125"/>
            <a:ext cx="9525" cy="2771775"/>
          </a:xfrm>
          <a:prstGeom prst="rect">
            <a:avLst/>
          </a:prstGeom>
          <a:solidFill>
            <a:srgbClr val="B7AA91"/>
          </a:solidFill>
          <a:ln w="0">
            <a:noFill/>
          </a:ln>
        </p:spPr>
        <p:txBody>
          <a:bodyPr/>
          <a:lstStyle/>
          <a:p>
            <a:endParaRPr lang="en-US"/>
          </a:p>
        </p:txBody>
      </p:sp>
      <p:sp>
        <p:nvSpPr>
          <p:cNvPr id="5" name="Editorial rule">
            <a:extLst>
              <a:ext uri="{FF2B5EF4-FFF2-40B4-BE49-F238E27FC236}">
                <a16:creationId xmlns:a16="http://schemas.microsoft.com/office/drawing/2014/main" id="{81EA5721-0387-4D66-B727-04E1C4ADD288}"/>
              </a:ext>
            </a:extLst>
          </p:cNvPr>
          <p:cNvSpPr>
            <a:spLocks noGrp="1"/>
          </p:cNvSpPr>
          <p:nvPr/>
        </p:nvSpPr>
        <p:spPr>
          <a:xfrm>
            <a:off x="5857875" y="1762125"/>
            <a:ext cx="9525" cy="2771775"/>
          </a:xfrm>
          <a:prstGeom prst="rect">
            <a:avLst/>
          </a:prstGeom>
          <a:solidFill>
            <a:srgbClr val="B7AA91"/>
          </a:solidFill>
          <a:ln w="0">
            <a:noFill/>
          </a:ln>
        </p:spPr>
        <p:txBody>
          <a:bodyPr/>
          <a:lstStyle/>
          <a:p>
            <a:endParaRPr lang="en-US"/>
          </a:p>
        </p:txBody>
      </p:sp>
      <p:sp>
        <p:nvSpPr>
          <p:cNvPr id="6" name="Editorial rule">
            <a:extLst>
              <a:ext uri="{FF2B5EF4-FFF2-40B4-BE49-F238E27FC236}">
                <a16:creationId xmlns:a16="http://schemas.microsoft.com/office/drawing/2014/main" id="{482B6FC9-9849-4B27-96FC-AB192DE020DA}"/>
              </a:ext>
            </a:extLst>
          </p:cNvPr>
          <p:cNvSpPr>
            <a:spLocks noGrp="1"/>
          </p:cNvSpPr>
          <p:nvPr/>
        </p:nvSpPr>
        <p:spPr>
          <a:xfrm>
            <a:off x="361950" y="1609725"/>
            <a:ext cx="8420100" cy="38100"/>
          </a:xfrm>
          <a:prstGeom prst="rect">
            <a:avLst/>
          </a:prstGeom>
          <a:solidFill>
            <a:srgbClr val="B56647"/>
          </a:solidFill>
          <a:ln w="0">
            <a:noFill/>
          </a:ln>
        </p:spPr>
        <p:txBody>
          <a:bodyPr/>
          <a:lstStyle/>
          <a:p>
            <a:endParaRPr lang="en-US"/>
          </a:p>
        </p:txBody>
      </p:sp>
      <p:sp>
        <p:nvSpPr>
          <p:cNvPr id="7" name="Business Risks of Unsustainability">
            <a:extLst>
              <a:ext uri="{FF2B5EF4-FFF2-40B4-BE49-F238E27FC236}">
                <a16:creationId xmlns:a16="http://schemas.microsoft.com/office/drawing/2014/main" id="{AE0D29B6-6163-4350-8BAA-CE399CCE91BF}"/>
              </a:ext>
            </a:extLst>
          </p:cNvPr>
          <p:cNvSpPr>
            <a:spLocks noGrp="1"/>
          </p:cNvSpPr>
          <p:nvPr/>
        </p:nvSpPr>
        <p:spPr>
          <a:xfrm>
            <a:off x="495300" y="381000"/>
            <a:ext cx="8096250" cy="952500"/>
          </a:xfrm>
          <a:prstGeom prst="rect">
            <a:avLst/>
          </a:prstGeom>
          <a:noFill/>
          <a:ln w="0">
            <a:noFill/>
          </a:ln>
        </p:spPr>
        <p:txBody>
          <a:bodyPr wrap="square" lIns="0" tIns="0" rIns="0" bIns="0" anchor="t">
            <a:noAutofit/>
          </a:bodyPr>
          <a:lstStyle/>
          <a:p>
            <a:pPr>
              <a:defRPr sz="2775" b="0" i="0">
                <a:solidFill>
                  <a:srgbClr val="173E35"/>
                </a:solidFill>
                <a:latin typeface="Georgia"/>
                <a:ea typeface="Georgia"/>
                <a:cs typeface="Georgia"/>
              </a:defRPr>
            </a:pPr>
            <a:r>
              <a:rPr sz="2775" b="0" i="0">
                <a:solidFill>
                  <a:srgbClr val="173E35"/>
                </a:solidFill>
                <a:latin typeface="Georgia"/>
                <a:ea typeface="Georgia"/>
                <a:cs typeface="Georgia"/>
              </a:rPr>
              <a:t>Business Risks of Unsustainability</a:t>
            </a:r>
          </a:p>
        </p:txBody>
      </p:sp>
      <p:sp>
        <p:nvSpPr>
          <p:cNvPr id="8" name="01">
            <a:extLst>
              <a:ext uri="{FF2B5EF4-FFF2-40B4-BE49-F238E27FC236}">
                <a16:creationId xmlns:a16="http://schemas.microsoft.com/office/drawing/2014/main" id="{B52DD8C4-3310-4A76-8034-64919F6FE988}"/>
              </a:ext>
            </a:extLst>
          </p:cNvPr>
          <p:cNvSpPr>
            <a:spLocks noGrp="1"/>
          </p:cNvSpPr>
          <p:nvPr/>
        </p:nvSpPr>
        <p:spPr>
          <a:xfrm>
            <a:off x="495300" y="1781175"/>
            <a:ext cx="2190750" cy="504825"/>
          </a:xfrm>
          <a:prstGeom prst="rect">
            <a:avLst/>
          </a:prstGeom>
          <a:noFill/>
          <a:ln w="0">
            <a:noFill/>
          </a:ln>
        </p:spPr>
        <p:txBody>
          <a:bodyPr wrap="square" lIns="0" tIns="0" rIns="0" bIns="0" anchor="t">
            <a:noAutofit/>
          </a:bodyPr>
          <a:lstStyle/>
          <a:p>
            <a:pPr>
              <a:defRPr sz="2625" b="0" i="0">
                <a:solidFill>
                  <a:srgbClr val="B56647"/>
                </a:solidFill>
                <a:latin typeface="Georgia"/>
                <a:ea typeface="Georgia"/>
                <a:cs typeface="Georgia"/>
              </a:defRPr>
            </a:pPr>
            <a:r>
              <a:rPr sz="2625" b="0" i="0">
                <a:solidFill>
                  <a:srgbClr val="B56647"/>
                </a:solidFill>
                <a:latin typeface="Georgia"/>
                <a:ea typeface="Georgia"/>
                <a:cs typeface="Georgia"/>
              </a:rPr>
              <a:t>01</a:t>
            </a:r>
          </a:p>
        </p:txBody>
      </p:sp>
      <p:sp>
        <p:nvSpPr>
          <p:cNvPr id="9" name="Environmental risks">
            <a:extLst>
              <a:ext uri="{FF2B5EF4-FFF2-40B4-BE49-F238E27FC236}">
                <a16:creationId xmlns:a16="http://schemas.microsoft.com/office/drawing/2014/main" id="{1E4F8156-67DD-4D21-8FFC-18D8206D064E}"/>
              </a:ext>
            </a:extLst>
          </p:cNvPr>
          <p:cNvSpPr>
            <a:spLocks noGrp="1"/>
          </p:cNvSpPr>
          <p:nvPr/>
        </p:nvSpPr>
        <p:spPr>
          <a:xfrm>
            <a:off x="495300" y="2447925"/>
            <a:ext cx="2571750" cy="609600"/>
          </a:xfrm>
          <a:prstGeom prst="rect">
            <a:avLst/>
          </a:prstGeom>
          <a:noFill/>
          <a:ln w="0">
            <a:noFill/>
          </a:ln>
        </p:spPr>
        <p:txBody>
          <a:bodyPr wrap="square" lIns="0" tIns="0" rIns="0" bIns="0" anchor="t">
            <a:noAutofit/>
          </a:bodyPr>
          <a:lstStyle/>
          <a:p>
            <a:pPr>
              <a:defRPr sz="2100" b="0" i="0">
                <a:solidFill>
                  <a:srgbClr val="173E35"/>
                </a:solidFill>
                <a:latin typeface="Georgia"/>
                <a:ea typeface="Georgia"/>
                <a:cs typeface="Georgia"/>
              </a:defRPr>
            </a:pPr>
            <a:r>
              <a:rPr sz="2100" b="0" i="0">
                <a:solidFill>
                  <a:srgbClr val="173E35"/>
                </a:solidFill>
                <a:latin typeface="Georgia"/>
                <a:ea typeface="Georgia"/>
                <a:cs typeface="Georgia"/>
              </a:rPr>
              <a:t>Environmental risks</a:t>
            </a:r>
          </a:p>
        </p:txBody>
      </p:sp>
      <p:sp>
        <p:nvSpPr>
          <p:cNvPr id="10" name="Flooding">
            <a:extLst>
              <a:ext uri="{FF2B5EF4-FFF2-40B4-BE49-F238E27FC236}">
                <a16:creationId xmlns:a16="http://schemas.microsoft.com/office/drawing/2014/main" id="{F156967D-856C-4578-9B63-9BD7479DF6AE}"/>
              </a:ext>
            </a:extLst>
          </p:cNvPr>
          <p:cNvSpPr>
            <a:spLocks noGrp="1"/>
          </p:cNvSpPr>
          <p:nvPr/>
        </p:nvSpPr>
        <p:spPr>
          <a:xfrm>
            <a:off x="495300" y="3324225"/>
            <a:ext cx="2457450" cy="619125"/>
          </a:xfrm>
          <a:prstGeom prst="rect">
            <a:avLst/>
          </a:prstGeom>
          <a:noFill/>
          <a:ln w="0">
            <a:noFill/>
          </a:ln>
        </p:spPr>
        <p:txBody>
          <a:bodyPr wrap="square" lIns="0" tIns="0" rIns="0" bIns="0" anchor="t">
            <a:noAutofit/>
          </a:bodyPr>
          <a:lstStyle/>
          <a:p>
            <a:pPr>
              <a:defRPr sz="1725" b="0" i="0">
                <a:solidFill>
                  <a:srgbClr val="173E35"/>
                </a:solidFill>
                <a:latin typeface="Arial"/>
                <a:ea typeface="Arial"/>
                <a:cs typeface="Arial"/>
              </a:defRPr>
            </a:pPr>
            <a:r>
              <a:rPr sz="1725" b="0" i="0">
                <a:solidFill>
                  <a:srgbClr val="173E35"/>
                </a:solidFill>
                <a:latin typeface="Arial"/>
                <a:ea typeface="Arial"/>
                <a:cs typeface="Arial"/>
              </a:rPr>
              <a:t>Flooding</a:t>
            </a:r>
          </a:p>
        </p:txBody>
      </p:sp>
      <p:sp>
        <p:nvSpPr>
          <p:cNvPr id="11" name="Drought">
            <a:extLst>
              <a:ext uri="{FF2B5EF4-FFF2-40B4-BE49-F238E27FC236}">
                <a16:creationId xmlns:a16="http://schemas.microsoft.com/office/drawing/2014/main" id="{5272C39E-5F91-4ECA-8DFA-A23E0FDD944E}"/>
              </a:ext>
            </a:extLst>
          </p:cNvPr>
          <p:cNvSpPr>
            <a:spLocks noGrp="1"/>
          </p:cNvSpPr>
          <p:nvPr/>
        </p:nvSpPr>
        <p:spPr>
          <a:xfrm>
            <a:off x="495300" y="3724275"/>
            <a:ext cx="2457450" cy="619125"/>
          </a:xfrm>
          <a:prstGeom prst="rect">
            <a:avLst/>
          </a:prstGeom>
          <a:noFill/>
          <a:ln w="0">
            <a:noFill/>
          </a:ln>
        </p:spPr>
        <p:txBody>
          <a:bodyPr wrap="square" lIns="0" tIns="0" rIns="0" bIns="0" anchor="t">
            <a:noAutofit/>
          </a:bodyPr>
          <a:lstStyle/>
          <a:p>
            <a:pPr>
              <a:defRPr sz="1725" b="0" i="0">
                <a:solidFill>
                  <a:srgbClr val="173E35"/>
                </a:solidFill>
                <a:latin typeface="Arial"/>
                <a:ea typeface="Arial"/>
                <a:cs typeface="Arial"/>
              </a:defRPr>
            </a:pPr>
            <a:r>
              <a:rPr sz="1725" b="0" i="0">
                <a:solidFill>
                  <a:srgbClr val="173E35"/>
                </a:solidFill>
                <a:latin typeface="Arial"/>
                <a:ea typeface="Arial"/>
                <a:cs typeface="Arial"/>
              </a:rPr>
              <a:t>Drought</a:t>
            </a:r>
          </a:p>
        </p:txBody>
      </p:sp>
      <p:sp>
        <p:nvSpPr>
          <p:cNvPr id="12" name="Heat waves">
            <a:extLst>
              <a:ext uri="{FF2B5EF4-FFF2-40B4-BE49-F238E27FC236}">
                <a16:creationId xmlns:a16="http://schemas.microsoft.com/office/drawing/2014/main" id="{8808C64E-C07D-4254-B15F-68CBE08427E5}"/>
              </a:ext>
            </a:extLst>
          </p:cNvPr>
          <p:cNvSpPr>
            <a:spLocks noGrp="1"/>
          </p:cNvSpPr>
          <p:nvPr/>
        </p:nvSpPr>
        <p:spPr>
          <a:xfrm>
            <a:off x="495300" y="4124325"/>
            <a:ext cx="2457450" cy="619125"/>
          </a:xfrm>
          <a:prstGeom prst="rect">
            <a:avLst/>
          </a:prstGeom>
          <a:noFill/>
          <a:ln w="0">
            <a:noFill/>
          </a:ln>
        </p:spPr>
        <p:txBody>
          <a:bodyPr wrap="square" lIns="0" tIns="0" rIns="0" bIns="0" anchor="t">
            <a:noAutofit/>
          </a:bodyPr>
          <a:lstStyle/>
          <a:p>
            <a:pPr>
              <a:defRPr sz="1725" b="0" i="0">
                <a:solidFill>
                  <a:srgbClr val="173E35"/>
                </a:solidFill>
                <a:latin typeface="Arial"/>
                <a:ea typeface="Arial"/>
                <a:cs typeface="Arial"/>
              </a:defRPr>
            </a:pPr>
            <a:r>
              <a:rPr sz="1725" b="0" i="0">
                <a:solidFill>
                  <a:srgbClr val="173E35"/>
                </a:solidFill>
                <a:latin typeface="Arial"/>
                <a:ea typeface="Arial"/>
                <a:cs typeface="Arial"/>
              </a:rPr>
              <a:t>Heat waves</a:t>
            </a:r>
          </a:p>
        </p:txBody>
      </p:sp>
      <p:sp>
        <p:nvSpPr>
          <p:cNvPr id="13" name="02">
            <a:extLst>
              <a:ext uri="{FF2B5EF4-FFF2-40B4-BE49-F238E27FC236}">
                <a16:creationId xmlns:a16="http://schemas.microsoft.com/office/drawing/2014/main" id="{A5B70F88-7B9B-4854-A63B-CDD381E254DA}"/>
              </a:ext>
            </a:extLst>
          </p:cNvPr>
          <p:cNvSpPr>
            <a:spLocks noGrp="1"/>
          </p:cNvSpPr>
          <p:nvPr/>
        </p:nvSpPr>
        <p:spPr>
          <a:xfrm>
            <a:off x="3248025" y="1781175"/>
            <a:ext cx="2190750" cy="504825"/>
          </a:xfrm>
          <a:prstGeom prst="rect">
            <a:avLst/>
          </a:prstGeom>
          <a:noFill/>
          <a:ln w="0">
            <a:noFill/>
          </a:ln>
        </p:spPr>
        <p:txBody>
          <a:bodyPr wrap="square" lIns="0" tIns="0" rIns="0" bIns="0" anchor="t">
            <a:noAutofit/>
          </a:bodyPr>
          <a:lstStyle/>
          <a:p>
            <a:pPr>
              <a:defRPr sz="2625" b="0" i="0">
                <a:solidFill>
                  <a:srgbClr val="B56647"/>
                </a:solidFill>
                <a:latin typeface="Georgia"/>
                <a:ea typeface="Georgia"/>
                <a:cs typeface="Georgia"/>
              </a:defRPr>
            </a:pPr>
            <a:r>
              <a:rPr sz="2625" b="0" i="0">
                <a:solidFill>
                  <a:srgbClr val="B56647"/>
                </a:solidFill>
                <a:latin typeface="Georgia"/>
                <a:ea typeface="Georgia"/>
                <a:cs typeface="Georgia"/>
              </a:rPr>
              <a:t>02</a:t>
            </a:r>
          </a:p>
        </p:txBody>
      </p:sp>
      <p:sp>
        <p:nvSpPr>
          <p:cNvPr id="14" name="Economic risks">
            <a:extLst>
              <a:ext uri="{FF2B5EF4-FFF2-40B4-BE49-F238E27FC236}">
                <a16:creationId xmlns:a16="http://schemas.microsoft.com/office/drawing/2014/main" id="{303C3AB2-67F6-4D77-BB73-A036EAC58C3C}"/>
              </a:ext>
            </a:extLst>
          </p:cNvPr>
          <p:cNvSpPr>
            <a:spLocks noGrp="1"/>
          </p:cNvSpPr>
          <p:nvPr/>
        </p:nvSpPr>
        <p:spPr>
          <a:xfrm>
            <a:off x="3248025" y="2447925"/>
            <a:ext cx="2571750" cy="609600"/>
          </a:xfrm>
          <a:prstGeom prst="rect">
            <a:avLst/>
          </a:prstGeom>
          <a:noFill/>
          <a:ln w="0">
            <a:noFill/>
          </a:ln>
        </p:spPr>
        <p:txBody>
          <a:bodyPr wrap="square" lIns="0" tIns="0" rIns="0" bIns="0" anchor="t">
            <a:noAutofit/>
          </a:bodyPr>
          <a:lstStyle/>
          <a:p>
            <a:pPr>
              <a:defRPr sz="2100" b="0" i="0">
                <a:solidFill>
                  <a:srgbClr val="173E35"/>
                </a:solidFill>
                <a:latin typeface="Georgia"/>
                <a:ea typeface="Georgia"/>
                <a:cs typeface="Georgia"/>
              </a:defRPr>
            </a:pPr>
            <a:r>
              <a:rPr sz="2100" b="0" i="0">
                <a:solidFill>
                  <a:srgbClr val="173E35"/>
                </a:solidFill>
                <a:latin typeface="Georgia"/>
                <a:ea typeface="Georgia"/>
                <a:cs typeface="Georgia"/>
              </a:rPr>
              <a:t>Economic risks</a:t>
            </a:r>
          </a:p>
        </p:txBody>
      </p:sp>
      <p:sp>
        <p:nvSpPr>
          <p:cNvPr id="15" name="Resource scarcity">
            <a:extLst>
              <a:ext uri="{FF2B5EF4-FFF2-40B4-BE49-F238E27FC236}">
                <a16:creationId xmlns:a16="http://schemas.microsoft.com/office/drawing/2014/main" id="{67571905-4BDC-41AA-9823-13340F0F74B8}"/>
              </a:ext>
            </a:extLst>
          </p:cNvPr>
          <p:cNvSpPr>
            <a:spLocks noGrp="1"/>
          </p:cNvSpPr>
          <p:nvPr/>
        </p:nvSpPr>
        <p:spPr>
          <a:xfrm>
            <a:off x="3248025" y="3324225"/>
            <a:ext cx="2457450" cy="619125"/>
          </a:xfrm>
          <a:prstGeom prst="rect">
            <a:avLst/>
          </a:prstGeom>
          <a:noFill/>
          <a:ln w="0">
            <a:noFill/>
          </a:ln>
        </p:spPr>
        <p:txBody>
          <a:bodyPr wrap="square" lIns="0" tIns="0" rIns="0" bIns="0" anchor="t">
            <a:noAutofit/>
          </a:bodyPr>
          <a:lstStyle/>
          <a:p>
            <a:pPr>
              <a:defRPr sz="1725" b="0" i="0">
                <a:solidFill>
                  <a:srgbClr val="173E35"/>
                </a:solidFill>
                <a:latin typeface="Arial"/>
                <a:ea typeface="Arial"/>
                <a:cs typeface="Arial"/>
              </a:defRPr>
            </a:pPr>
            <a:r>
              <a:rPr sz="1725" b="0" i="0">
                <a:solidFill>
                  <a:srgbClr val="173E35"/>
                </a:solidFill>
                <a:latin typeface="Arial"/>
                <a:ea typeface="Arial"/>
                <a:cs typeface="Arial"/>
              </a:rPr>
              <a:t>Resource scarcity</a:t>
            </a:r>
          </a:p>
        </p:txBody>
      </p:sp>
      <p:sp>
        <p:nvSpPr>
          <p:cNvPr id="16" name="Rising costs">
            <a:extLst>
              <a:ext uri="{FF2B5EF4-FFF2-40B4-BE49-F238E27FC236}">
                <a16:creationId xmlns:a16="http://schemas.microsoft.com/office/drawing/2014/main" id="{B4B2558A-C516-4475-92CF-AFABF7CB96EF}"/>
              </a:ext>
            </a:extLst>
          </p:cNvPr>
          <p:cNvSpPr>
            <a:spLocks noGrp="1"/>
          </p:cNvSpPr>
          <p:nvPr/>
        </p:nvSpPr>
        <p:spPr>
          <a:xfrm>
            <a:off x="3248025" y="3724275"/>
            <a:ext cx="2457450" cy="619125"/>
          </a:xfrm>
          <a:prstGeom prst="rect">
            <a:avLst/>
          </a:prstGeom>
          <a:noFill/>
          <a:ln w="0">
            <a:noFill/>
          </a:ln>
        </p:spPr>
        <p:txBody>
          <a:bodyPr wrap="square" lIns="0" tIns="0" rIns="0" bIns="0" anchor="t">
            <a:noAutofit/>
          </a:bodyPr>
          <a:lstStyle/>
          <a:p>
            <a:pPr>
              <a:defRPr sz="1725" b="0" i="0">
                <a:solidFill>
                  <a:srgbClr val="173E35"/>
                </a:solidFill>
                <a:latin typeface="Arial"/>
                <a:ea typeface="Arial"/>
                <a:cs typeface="Arial"/>
              </a:defRPr>
            </a:pPr>
            <a:r>
              <a:rPr sz="1725" b="0" i="0">
                <a:solidFill>
                  <a:srgbClr val="173E35"/>
                </a:solidFill>
                <a:latin typeface="Arial"/>
                <a:ea typeface="Arial"/>
                <a:cs typeface="Arial"/>
              </a:rPr>
              <a:t>Rising costs</a:t>
            </a:r>
          </a:p>
        </p:txBody>
      </p:sp>
      <p:sp>
        <p:nvSpPr>
          <p:cNvPr id="17" name="03">
            <a:extLst>
              <a:ext uri="{FF2B5EF4-FFF2-40B4-BE49-F238E27FC236}">
                <a16:creationId xmlns:a16="http://schemas.microsoft.com/office/drawing/2014/main" id="{F84E4083-4984-43E9-9F0A-E45B9AB099AA}"/>
              </a:ext>
            </a:extLst>
          </p:cNvPr>
          <p:cNvSpPr>
            <a:spLocks noGrp="1"/>
          </p:cNvSpPr>
          <p:nvPr/>
        </p:nvSpPr>
        <p:spPr>
          <a:xfrm>
            <a:off x="6000750" y="1781175"/>
            <a:ext cx="2190750" cy="504825"/>
          </a:xfrm>
          <a:prstGeom prst="rect">
            <a:avLst/>
          </a:prstGeom>
          <a:noFill/>
          <a:ln w="0">
            <a:noFill/>
          </a:ln>
        </p:spPr>
        <p:txBody>
          <a:bodyPr wrap="square" lIns="0" tIns="0" rIns="0" bIns="0" anchor="t">
            <a:noAutofit/>
          </a:bodyPr>
          <a:lstStyle/>
          <a:p>
            <a:pPr>
              <a:defRPr sz="2625" b="0" i="0">
                <a:solidFill>
                  <a:srgbClr val="B56647"/>
                </a:solidFill>
                <a:latin typeface="Georgia"/>
                <a:ea typeface="Georgia"/>
                <a:cs typeface="Georgia"/>
              </a:defRPr>
            </a:pPr>
            <a:r>
              <a:rPr sz="2625" b="0" i="0">
                <a:solidFill>
                  <a:srgbClr val="B56647"/>
                </a:solidFill>
                <a:latin typeface="Georgia"/>
                <a:ea typeface="Georgia"/>
                <a:cs typeface="Georgia"/>
              </a:rPr>
              <a:t>03</a:t>
            </a:r>
          </a:p>
        </p:txBody>
      </p:sp>
      <p:sp>
        <p:nvSpPr>
          <p:cNvPr id="18" name="Reputational risks">
            <a:extLst>
              <a:ext uri="{FF2B5EF4-FFF2-40B4-BE49-F238E27FC236}">
                <a16:creationId xmlns:a16="http://schemas.microsoft.com/office/drawing/2014/main" id="{478B5B12-5DC0-4BA4-9DAD-EC0E41553E81}"/>
              </a:ext>
            </a:extLst>
          </p:cNvPr>
          <p:cNvSpPr>
            <a:spLocks noGrp="1"/>
          </p:cNvSpPr>
          <p:nvPr/>
        </p:nvSpPr>
        <p:spPr>
          <a:xfrm>
            <a:off x="6000750" y="2447925"/>
            <a:ext cx="2571750" cy="609600"/>
          </a:xfrm>
          <a:prstGeom prst="rect">
            <a:avLst/>
          </a:prstGeom>
          <a:noFill/>
          <a:ln w="0">
            <a:noFill/>
          </a:ln>
        </p:spPr>
        <p:txBody>
          <a:bodyPr wrap="square" lIns="0" tIns="0" rIns="0" bIns="0" anchor="t">
            <a:noAutofit/>
          </a:bodyPr>
          <a:lstStyle/>
          <a:p>
            <a:pPr>
              <a:defRPr sz="2100" b="0" i="0">
                <a:solidFill>
                  <a:srgbClr val="173E35"/>
                </a:solidFill>
                <a:latin typeface="Georgia"/>
                <a:ea typeface="Georgia"/>
                <a:cs typeface="Georgia"/>
              </a:defRPr>
            </a:pPr>
            <a:r>
              <a:rPr sz="2100" b="0" i="0">
                <a:solidFill>
                  <a:srgbClr val="173E35"/>
                </a:solidFill>
                <a:latin typeface="Georgia"/>
                <a:ea typeface="Georgia"/>
                <a:cs typeface="Georgia"/>
              </a:rPr>
              <a:t>Reputational risks</a:t>
            </a:r>
          </a:p>
        </p:txBody>
      </p:sp>
      <p:sp>
        <p:nvSpPr>
          <p:cNvPr id="19" name="Greenwashing accusations">
            <a:extLst>
              <a:ext uri="{FF2B5EF4-FFF2-40B4-BE49-F238E27FC236}">
                <a16:creationId xmlns:a16="http://schemas.microsoft.com/office/drawing/2014/main" id="{4FB834E4-E4F6-4210-A651-E0B3BEA3943C}"/>
              </a:ext>
            </a:extLst>
          </p:cNvPr>
          <p:cNvSpPr>
            <a:spLocks noGrp="1"/>
          </p:cNvSpPr>
          <p:nvPr/>
        </p:nvSpPr>
        <p:spPr>
          <a:xfrm>
            <a:off x="6000750" y="3324225"/>
            <a:ext cx="2457450" cy="619125"/>
          </a:xfrm>
          <a:prstGeom prst="rect">
            <a:avLst/>
          </a:prstGeom>
          <a:noFill/>
          <a:ln w="0">
            <a:noFill/>
          </a:ln>
        </p:spPr>
        <p:txBody>
          <a:bodyPr wrap="square" lIns="0" tIns="0" rIns="0" bIns="0" anchor="t">
            <a:noAutofit/>
          </a:bodyPr>
          <a:lstStyle/>
          <a:p>
            <a:pPr>
              <a:defRPr sz="1725" b="0" i="0">
                <a:solidFill>
                  <a:srgbClr val="173E35"/>
                </a:solidFill>
                <a:latin typeface="Arial"/>
                <a:ea typeface="Arial"/>
                <a:cs typeface="Arial"/>
              </a:defRPr>
            </a:pPr>
            <a:r>
              <a:rPr sz="1725" b="0" i="0">
                <a:solidFill>
                  <a:srgbClr val="173E35"/>
                </a:solidFill>
                <a:latin typeface="Arial"/>
                <a:ea typeface="Arial"/>
                <a:cs typeface="Arial"/>
              </a:rPr>
              <a:t>Greenwashing accusations</a:t>
            </a:r>
          </a:p>
        </p:txBody>
      </p:sp>
      <p:sp>
        <p:nvSpPr>
          <p:cNvPr id="20" name="Brand damage">
            <a:extLst>
              <a:ext uri="{FF2B5EF4-FFF2-40B4-BE49-F238E27FC236}">
                <a16:creationId xmlns:a16="http://schemas.microsoft.com/office/drawing/2014/main" id="{168E027C-1CD9-41FD-8CAD-86FC86D31A90}"/>
              </a:ext>
            </a:extLst>
          </p:cNvPr>
          <p:cNvSpPr>
            <a:spLocks noGrp="1"/>
          </p:cNvSpPr>
          <p:nvPr/>
        </p:nvSpPr>
        <p:spPr>
          <a:xfrm>
            <a:off x="6000750" y="4000500"/>
            <a:ext cx="2457450" cy="619125"/>
          </a:xfrm>
          <a:prstGeom prst="rect">
            <a:avLst/>
          </a:prstGeom>
          <a:noFill/>
          <a:ln w="0">
            <a:noFill/>
          </a:ln>
        </p:spPr>
        <p:txBody>
          <a:bodyPr wrap="square" lIns="0" tIns="0" rIns="0" bIns="0" anchor="t">
            <a:noAutofit/>
          </a:bodyPr>
          <a:lstStyle/>
          <a:p>
            <a:pPr>
              <a:defRPr sz="1725" b="0" i="0">
                <a:solidFill>
                  <a:srgbClr val="173E35"/>
                </a:solidFill>
                <a:latin typeface="Arial"/>
                <a:ea typeface="Arial"/>
                <a:cs typeface="Arial"/>
              </a:defRPr>
            </a:pPr>
            <a:r>
              <a:rPr sz="1725" b="0" i="0">
                <a:solidFill>
                  <a:srgbClr val="173E35"/>
                </a:solidFill>
                <a:latin typeface="Arial"/>
                <a:ea typeface="Arial"/>
                <a:cs typeface="Arial"/>
              </a:rPr>
              <a:t>Brand damage</a:t>
            </a:r>
          </a:p>
        </p:txBody>
      </p:sp>
      <p:pic>
        <p:nvPicPr>
          <p:cNvPr id="44" name="Picture 43"/>
          <p:cNvPicPr>
            <a:picLocks noChangeAspect="1"/>
          </p:cNvPicPr>
          <p:nvPr/>
        </p:nvPicPr>
        <p:blipFill>
          <a:blip r:embed="rId3"/>
          <a:stretch/>
        </p:blipFill>
        <p:spPr>
          <a:xfrm>
            <a:off x="499570" y="4829175"/>
            <a:ext cx="315310" cy="152400"/>
          </a:xfrm>
          <a:prstGeom prst="rect">
            <a:avLst/>
          </a:prstGeom>
        </p:spPr>
      </p:pic>
      <p:sp>
        <p:nvSpPr>
          <p:cNvPr id="22" name="www.newton.university">
            <a:extLst>
              <a:ext uri="{FF2B5EF4-FFF2-40B4-BE49-F238E27FC236}">
                <a16:creationId xmlns:a16="http://schemas.microsoft.com/office/drawing/2014/main" id="{41DEAA19-B56C-4308-ADB0-67B98B5BE0DD}"/>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23" name="11">
            <a:extLst>
              <a:ext uri="{FF2B5EF4-FFF2-40B4-BE49-F238E27FC236}">
                <a16:creationId xmlns:a16="http://schemas.microsoft.com/office/drawing/2014/main" id="{8C534C6C-174C-4737-BA57-161E939EDA78}"/>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58665B"/>
                </a:solidFill>
                <a:latin typeface="Arial"/>
                <a:ea typeface="Arial"/>
                <a:cs typeface="Arial"/>
              </a:defRPr>
            </a:pPr>
            <a:r>
              <a:rPr sz="1125" b="0" i="0">
                <a:solidFill>
                  <a:srgbClr val="58665B"/>
                </a:solidFill>
                <a:latin typeface="Arial"/>
                <a:ea typeface="Arial"/>
                <a:cs typeface="Arial"/>
              </a:rPr>
              <a:t>11</a:t>
            </a:r>
          </a:p>
        </p:txBody>
      </p:sp>
    </p:spTree>
    <p:extLst>
      <p:ext uri="{BB962C8B-B14F-4D97-AF65-F5344CB8AC3E}">
        <p14:creationId xmlns:p14="http://schemas.microsoft.com/office/powerpoint/2010/main" val="165208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19" name="Editorial rule">
            <a:extLst>
              <a:ext uri="{FF2B5EF4-FFF2-40B4-BE49-F238E27FC236}">
                <a16:creationId xmlns:a16="http://schemas.microsoft.com/office/drawing/2014/main" id="{E60B2F24-1211-4C26-B95F-5794D84CFFE1}"/>
              </a:ext>
            </a:extLst>
          </p:cNvPr>
          <p:cNvSpPr>
            <a:spLocks noGrp="1"/>
          </p:cNvSpPr>
          <p:nvPr/>
        </p:nvSpPr>
        <p:spPr>
          <a:xfrm>
            <a:off x="495300" y="1066800"/>
            <a:ext cx="8153400" cy="7620"/>
          </a:xfrm>
          <a:prstGeom prst="rect">
            <a:avLst/>
          </a:prstGeom>
          <a:solidFill>
            <a:srgbClr val="B7C3B1"/>
          </a:solidFill>
          <a:ln w="0">
            <a:noFill/>
          </a:ln>
        </p:spPr>
        <p:txBody>
          <a:bodyPr/>
          <a:lstStyle/>
          <a:p>
            <a:endParaRPr lang="en-US"/>
          </a:p>
        </p:txBody>
      </p:sp>
      <p:sp>
        <p:nvSpPr>
          <p:cNvPr id="2" name="Editorial rule">
            <a:extLst>
              <a:ext uri="{FF2B5EF4-FFF2-40B4-BE49-F238E27FC236}">
                <a16:creationId xmlns:a16="http://schemas.microsoft.com/office/drawing/2014/main" id="{7BC745AA-752D-4ECA-8CA1-6CF09A71EA56}"/>
              </a:ext>
            </a:extLst>
          </p:cNvPr>
          <p:cNvSpPr>
            <a:spLocks noGrp="1"/>
          </p:cNvSpPr>
          <p:nvPr/>
        </p:nvSpPr>
        <p:spPr>
          <a:xfrm>
            <a:off x="495300" y="1052513"/>
            <a:ext cx="552450" cy="28575"/>
          </a:xfrm>
          <a:prstGeom prst="rect">
            <a:avLst/>
          </a:prstGeom>
          <a:solidFill>
            <a:srgbClr val="B56647"/>
          </a:solidFill>
          <a:ln w="0">
            <a:noFill/>
          </a:ln>
        </p:spPr>
        <p:txBody>
          <a:bodyPr/>
          <a:lstStyle/>
          <a:p>
            <a:endParaRPr lang="en-US"/>
          </a:p>
        </p:txBody>
      </p:sp>
      <p:sp>
        <p:nvSpPr>
          <p:cNvPr id="3" name="Editorial frame">
            <a:extLst>
              <a:ext uri="{FF2B5EF4-FFF2-40B4-BE49-F238E27FC236}">
                <a16:creationId xmlns:a16="http://schemas.microsoft.com/office/drawing/2014/main" id="{896831C0-39E7-4F1C-8C33-E3C2DD896697}"/>
              </a:ext>
            </a:extLst>
          </p:cNvPr>
          <p:cNvSpPr>
            <a:spLocks noGrp="1"/>
          </p:cNvSpPr>
          <p:nvPr/>
        </p:nvSpPr>
        <p:spPr>
          <a:xfrm>
            <a:off x="361950" y="1809750"/>
            <a:ext cx="5238750" cy="2085975"/>
          </a:xfrm>
          <a:prstGeom prst="rect">
            <a:avLst/>
          </a:prstGeom>
          <a:noFill/>
          <a:ln w="8573">
            <a:solidFill>
              <a:srgbClr val="C2CCB7"/>
            </a:solidFill>
          </a:ln>
        </p:spPr>
        <p:txBody>
          <a:bodyPr/>
          <a:lstStyle/>
          <a:p>
            <a:endParaRPr lang="en-US"/>
          </a:p>
        </p:txBody>
      </p:sp>
      <p:sp>
        <p:nvSpPr>
          <p:cNvPr id="4" name="Editorial frame">
            <a:extLst>
              <a:ext uri="{FF2B5EF4-FFF2-40B4-BE49-F238E27FC236}">
                <a16:creationId xmlns:a16="http://schemas.microsoft.com/office/drawing/2014/main" id="{9705AB41-A830-4595-9118-058B3521A9E4}"/>
              </a:ext>
            </a:extLst>
          </p:cNvPr>
          <p:cNvSpPr>
            <a:spLocks noGrp="1"/>
          </p:cNvSpPr>
          <p:nvPr/>
        </p:nvSpPr>
        <p:spPr>
          <a:xfrm>
            <a:off x="5857875" y="1724025"/>
            <a:ext cx="2924175" cy="2781300"/>
          </a:xfrm>
          <a:prstGeom prst="rect">
            <a:avLst/>
          </a:prstGeom>
          <a:solidFill>
            <a:srgbClr val="EEE4D7"/>
          </a:solidFill>
          <a:ln w="8573">
            <a:solidFill>
              <a:srgbClr val="C5AF97"/>
            </a:solidFill>
          </a:ln>
        </p:spPr>
        <p:txBody>
          <a:bodyPr/>
          <a:lstStyle/>
          <a:p>
            <a:endParaRPr lang="en-US"/>
          </a:p>
        </p:txBody>
      </p:sp>
      <p:sp>
        <p:nvSpPr>
          <p:cNvPr id="5" name="Editorial rule">
            <a:extLst>
              <a:ext uri="{FF2B5EF4-FFF2-40B4-BE49-F238E27FC236}">
                <a16:creationId xmlns:a16="http://schemas.microsoft.com/office/drawing/2014/main" id="{8254FF7C-7BC7-47D9-93D8-0C11C600A5F1}"/>
              </a:ext>
            </a:extLst>
          </p:cNvPr>
          <p:cNvSpPr>
            <a:spLocks noGrp="1"/>
          </p:cNvSpPr>
          <p:nvPr/>
        </p:nvSpPr>
        <p:spPr>
          <a:xfrm>
            <a:off x="5857875" y="1724025"/>
            <a:ext cx="2924175" cy="38100"/>
          </a:xfrm>
          <a:prstGeom prst="rect">
            <a:avLst/>
          </a:prstGeom>
          <a:solidFill>
            <a:srgbClr val="B56647"/>
          </a:solidFill>
          <a:ln w="0">
            <a:noFill/>
          </a:ln>
        </p:spPr>
        <p:txBody>
          <a:bodyPr/>
          <a:lstStyle/>
          <a:p>
            <a:endParaRPr lang="en-US"/>
          </a:p>
        </p:txBody>
      </p:sp>
      <p:sp>
        <p:nvSpPr>
          <p:cNvPr id="6" name="Case Study: Unilever">
            <a:extLst>
              <a:ext uri="{FF2B5EF4-FFF2-40B4-BE49-F238E27FC236}">
                <a16:creationId xmlns:a16="http://schemas.microsoft.com/office/drawing/2014/main" id="{345D5C97-F6AC-4029-B128-41C4159219B7}"/>
              </a:ext>
            </a:extLst>
          </p:cNvPr>
          <p:cNvSpPr>
            <a:spLocks noGrp="1"/>
          </p:cNvSpPr>
          <p:nvPr/>
        </p:nvSpPr>
        <p:spPr>
          <a:xfrm>
            <a:off x="495300" y="381000"/>
            <a:ext cx="8096250" cy="952500"/>
          </a:xfrm>
          <a:prstGeom prst="rect">
            <a:avLst/>
          </a:prstGeom>
          <a:noFill/>
          <a:ln w="0">
            <a:noFill/>
          </a:ln>
        </p:spPr>
        <p:txBody>
          <a:bodyPr wrap="square" lIns="0" tIns="0" rIns="0" bIns="0" anchor="t">
            <a:noAutofit/>
          </a:bodyPr>
          <a:lstStyle/>
          <a:p>
            <a:pPr>
              <a:defRPr sz="2775" b="0" i="0">
                <a:solidFill>
                  <a:srgbClr val="173E35"/>
                </a:solidFill>
                <a:latin typeface="Georgia"/>
                <a:ea typeface="Georgia"/>
                <a:cs typeface="Georgia"/>
              </a:defRPr>
            </a:pPr>
            <a:r>
              <a:rPr sz="2775" b="0" i="0">
                <a:solidFill>
                  <a:srgbClr val="173E35"/>
                </a:solidFill>
                <a:latin typeface="Georgia"/>
                <a:ea typeface="Georgia"/>
                <a:cs typeface="Georgia"/>
              </a:rPr>
              <a:t>Case Study: Unilever</a:t>
            </a:r>
          </a:p>
        </p:txBody>
      </p:sp>
      <p:sp>
        <p:nvSpPr>
          <p:cNvPr id="7" name="Sustainability strategy focus">
            <a:extLst>
              <a:ext uri="{FF2B5EF4-FFF2-40B4-BE49-F238E27FC236}">
                <a16:creationId xmlns:a16="http://schemas.microsoft.com/office/drawing/2014/main" id="{48C6D89C-EE2E-46F3-928E-742E129A1FB8}"/>
              </a:ext>
            </a:extLst>
          </p:cNvPr>
          <p:cNvSpPr>
            <a:spLocks noGrp="1"/>
          </p:cNvSpPr>
          <p:nvPr/>
        </p:nvSpPr>
        <p:spPr>
          <a:xfrm>
            <a:off x="495300" y="1333500"/>
            <a:ext cx="7953375" cy="333375"/>
          </a:xfrm>
          <a:prstGeom prst="rect">
            <a:avLst/>
          </a:prstGeom>
          <a:noFill/>
          <a:ln w="0">
            <a:noFill/>
          </a:ln>
        </p:spPr>
        <p:txBody>
          <a:bodyPr wrap="square" lIns="0" tIns="0" rIns="0" bIns="0" anchor="t">
            <a:noAutofit/>
          </a:bodyPr>
          <a:lstStyle/>
          <a:p>
            <a:pPr>
              <a:defRPr sz="1575" b="0" i="0">
                <a:solidFill>
                  <a:srgbClr val="58665B"/>
                </a:solidFill>
                <a:latin typeface="Arial"/>
                <a:ea typeface="Arial"/>
                <a:cs typeface="Arial"/>
              </a:defRPr>
            </a:pPr>
            <a:r>
              <a:rPr sz="1575" b="0" i="0">
                <a:solidFill>
                  <a:srgbClr val="58665B"/>
                </a:solidFill>
                <a:latin typeface="Arial"/>
                <a:ea typeface="Arial"/>
                <a:cs typeface="Arial"/>
              </a:rPr>
              <a:t>Sustainability strategy focus</a:t>
            </a:r>
          </a:p>
        </p:txBody>
      </p:sp>
      <p:sp>
        <p:nvSpPr>
          <p:cNvPr id="8" name="01">
            <a:extLst>
              <a:ext uri="{FF2B5EF4-FFF2-40B4-BE49-F238E27FC236}">
                <a16:creationId xmlns:a16="http://schemas.microsoft.com/office/drawing/2014/main" id="{80CB771A-CFC8-4E58-B639-59C3AFD1CDEC}"/>
              </a:ext>
            </a:extLst>
          </p:cNvPr>
          <p:cNvSpPr>
            <a:spLocks noGrp="1"/>
          </p:cNvSpPr>
          <p:nvPr/>
        </p:nvSpPr>
        <p:spPr>
          <a:xfrm>
            <a:off x="495300" y="1962150"/>
            <a:ext cx="381000" cy="361950"/>
          </a:xfrm>
          <a:prstGeom prst="rect">
            <a:avLst/>
          </a:prstGeom>
          <a:noFill/>
          <a:ln w="0">
            <a:noFill/>
          </a:ln>
        </p:spPr>
        <p:txBody>
          <a:bodyPr wrap="square" lIns="0" tIns="0" rIns="0" bIns="0" anchor="t">
            <a:noAutofit/>
          </a:bodyPr>
          <a:lstStyle/>
          <a:p>
            <a:pPr>
              <a:defRPr sz="1275" b="0" i="0">
                <a:solidFill>
                  <a:srgbClr val="B56647"/>
                </a:solidFill>
                <a:latin typeface="Arial"/>
                <a:ea typeface="Arial"/>
                <a:cs typeface="Arial"/>
              </a:defRPr>
            </a:pPr>
            <a:r>
              <a:rPr sz="1275" b="0" i="0">
                <a:solidFill>
                  <a:srgbClr val="B56647"/>
                </a:solidFill>
                <a:latin typeface="Arial"/>
                <a:ea typeface="Arial"/>
                <a:cs typeface="Arial"/>
              </a:rPr>
              <a:t>01</a:t>
            </a:r>
          </a:p>
        </p:txBody>
      </p:sp>
      <p:sp>
        <p:nvSpPr>
          <p:cNvPr id="9" name="Sustainable sourcing of raw materials">
            <a:extLst>
              <a:ext uri="{FF2B5EF4-FFF2-40B4-BE49-F238E27FC236}">
                <a16:creationId xmlns:a16="http://schemas.microsoft.com/office/drawing/2014/main" id="{FA6CE188-142E-4DEC-B1C4-B3B2F08F8078}"/>
              </a:ext>
            </a:extLst>
          </p:cNvPr>
          <p:cNvSpPr>
            <a:spLocks noGrp="1"/>
          </p:cNvSpPr>
          <p:nvPr/>
        </p:nvSpPr>
        <p:spPr>
          <a:xfrm>
            <a:off x="952500" y="1962150"/>
            <a:ext cx="4400550" cy="619125"/>
          </a:xfrm>
          <a:prstGeom prst="rect">
            <a:avLst/>
          </a:prstGeom>
          <a:noFill/>
          <a:ln w="0">
            <a:noFill/>
          </a:ln>
        </p:spPr>
        <p:txBody>
          <a:bodyPr wrap="square" lIns="0" tIns="0" rIns="0" bIns="0" anchor="t">
            <a:noAutofit/>
          </a:bodyPr>
          <a:lstStyle/>
          <a:p>
            <a:pPr>
              <a:defRPr sz="1800" b="0" i="0">
                <a:solidFill>
                  <a:srgbClr val="173E35"/>
                </a:solidFill>
                <a:latin typeface="Arial"/>
                <a:ea typeface="Arial"/>
                <a:cs typeface="Arial"/>
              </a:defRPr>
            </a:pPr>
            <a:r>
              <a:rPr sz="1800" b="0" i="0">
                <a:solidFill>
                  <a:srgbClr val="173E35"/>
                </a:solidFill>
                <a:latin typeface="Arial"/>
                <a:ea typeface="Arial"/>
                <a:cs typeface="Arial"/>
              </a:rPr>
              <a:t>Sustainable sourcing of raw materials</a:t>
            </a:r>
          </a:p>
        </p:txBody>
      </p:sp>
      <p:sp>
        <p:nvSpPr>
          <p:cNvPr id="10" name="02">
            <a:extLst>
              <a:ext uri="{FF2B5EF4-FFF2-40B4-BE49-F238E27FC236}">
                <a16:creationId xmlns:a16="http://schemas.microsoft.com/office/drawing/2014/main" id="{27EB1D06-3C1F-41FE-A2EF-1D639A466F7F}"/>
              </a:ext>
            </a:extLst>
          </p:cNvPr>
          <p:cNvSpPr>
            <a:spLocks noGrp="1"/>
          </p:cNvSpPr>
          <p:nvPr/>
        </p:nvSpPr>
        <p:spPr>
          <a:xfrm>
            <a:off x="495300" y="2552700"/>
            <a:ext cx="381000" cy="361950"/>
          </a:xfrm>
          <a:prstGeom prst="rect">
            <a:avLst/>
          </a:prstGeom>
          <a:noFill/>
          <a:ln w="0">
            <a:noFill/>
          </a:ln>
        </p:spPr>
        <p:txBody>
          <a:bodyPr wrap="square" lIns="0" tIns="0" rIns="0" bIns="0" anchor="t">
            <a:noAutofit/>
          </a:bodyPr>
          <a:lstStyle/>
          <a:p>
            <a:pPr>
              <a:defRPr sz="1275" b="0" i="0">
                <a:solidFill>
                  <a:srgbClr val="B56647"/>
                </a:solidFill>
                <a:latin typeface="Arial"/>
                <a:ea typeface="Arial"/>
                <a:cs typeface="Arial"/>
              </a:defRPr>
            </a:pPr>
            <a:r>
              <a:rPr sz="1275" b="0" i="0">
                <a:solidFill>
                  <a:srgbClr val="B56647"/>
                </a:solidFill>
                <a:latin typeface="Arial"/>
                <a:ea typeface="Arial"/>
                <a:cs typeface="Arial"/>
              </a:rPr>
              <a:t>02</a:t>
            </a:r>
          </a:p>
        </p:txBody>
      </p:sp>
      <p:sp>
        <p:nvSpPr>
          <p:cNvPr id="11" name="Water use reduction">
            <a:extLst>
              <a:ext uri="{FF2B5EF4-FFF2-40B4-BE49-F238E27FC236}">
                <a16:creationId xmlns:a16="http://schemas.microsoft.com/office/drawing/2014/main" id="{419A8F1F-5191-4403-B8CD-FF7A7B472162}"/>
              </a:ext>
            </a:extLst>
          </p:cNvPr>
          <p:cNvSpPr>
            <a:spLocks noGrp="1"/>
          </p:cNvSpPr>
          <p:nvPr/>
        </p:nvSpPr>
        <p:spPr>
          <a:xfrm>
            <a:off x="952500" y="2552700"/>
            <a:ext cx="4400550" cy="619125"/>
          </a:xfrm>
          <a:prstGeom prst="rect">
            <a:avLst/>
          </a:prstGeom>
          <a:noFill/>
          <a:ln w="0">
            <a:noFill/>
          </a:ln>
        </p:spPr>
        <p:txBody>
          <a:bodyPr wrap="square" lIns="0" tIns="0" rIns="0" bIns="0" anchor="t">
            <a:noAutofit/>
          </a:bodyPr>
          <a:lstStyle/>
          <a:p>
            <a:pPr>
              <a:defRPr sz="1800" b="0" i="0">
                <a:solidFill>
                  <a:srgbClr val="173E35"/>
                </a:solidFill>
                <a:latin typeface="Arial"/>
                <a:ea typeface="Arial"/>
                <a:cs typeface="Arial"/>
              </a:defRPr>
            </a:pPr>
            <a:r>
              <a:rPr sz="1800" b="0" i="0">
                <a:solidFill>
                  <a:srgbClr val="173E35"/>
                </a:solidFill>
                <a:latin typeface="Arial"/>
                <a:ea typeface="Arial"/>
                <a:cs typeface="Arial"/>
              </a:rPr>
              <a:t>Water use reduction</a:t>
            </a:r>
          </a:p>
        </p:txBody>
      </p:sp>
      <p:sp>
        <p:nvSpPr>
          <p:cNvPr id="12" name="03">
            <a:extLst>
              <a:ext uri="{FF2B5EF4-FFF2-40B4-BE49-F238E27FC236}">
                <a16:creationId xmlns:a16="http://schemas.microsoft.com/office/drawing/2014/main" id="{E95E8BCA-CC50-4FFA-B147-56FBD59A2443}"/>
              </a:ext>
            </a:extLst>
          </p:cNvPr>
          <p:cNvSpPr>
            <a:spLocks noGrp="1"/>
          </p:cNvSpPr>
          <p:nvPr/>
        </p:nvSpPr>
        <p:spPr>
          <a:xfrm>
            <a:off x="495300" y="3143250"/>
            <a:ext cx="381000" cy="361950"/>
          </a:xfrm>
          <a:prstGeom prst="rect">
            <a:avLst/>
          </a:prstGeom>
          <a:noFill/>
          <a:ln w="0">
            <a:noFill/>
          </a:ln>
        </p:spPr>
        <p:txBody>
          <a:bodyPr wrap="square" lIns="0" tIns="0" rIns="0" bIns="0" anchor="t">
            <a:noAutofit/>
          </a:bodyPr>
          <a:lstStyle/>
          <a:p>
            <a:pPr>
              <a:defRPr sz="1275" b="0" i="0">
                <a:solidFill>
                  <a:srgbClr val="B56647"/>
                </a:solidFill>
                <a:latin typeface="Arial"/>
                <a:ea typeface="Arial"/>
                <a:cs typeface="Arial"/>
              </a:defRPr>
            </a:pPr>
            <a:r>
              <a:rPr sz="1275" b="0" i="0">
                <a:solidFill>
                  <a:srgbClr val="B56647"/>
                </a:solidFill>
                <a:latin typeface="Arial"/>
                <a:ea typeface="Arial"/>
                <a:cs typeface="Arial"/>
              </a:rPr>
              <a:t>03</a:t>
            </a:r>
          </a:p>
        </p:txBody>
      </p:sp>
      <p:sp>
        <p:nvSpPr>
          <p:cNvPr id="13" name="Carbon reduction across the value chain">
            <a:extLst>
              <a:ext uri="{FF2B5EF4-FFF2-40B4-BE49-F238E27FC236}">
                <a16:creationId xmlns:a16="http://schemas.microsoft.com/office/drawing/2014/main" id="{88AA5EE6-7C98-455C-B152-4FD48EAC0972}"/>
              </a:ext>
            </a:extLst>
          </p:cNvPr>
          <p:cNvSpPr>
            <a:spLocks noGrp="1"/>
          </p:cNvSpPr>
          <p:nvPr/>
        </p:nvSpPr>
        <p:spPr>
          <a:xfrm>
            <a:off x="952500" y="3143250"/>
            <a:ext cx="4400550" cy="619125"/>
          </a:xfrm>
          <a:prstGeom prst="rect">
            <a:avLst/>
          </a:prstGeom>
          <a:noFill/>
          <a:ln w="0">
            <a:noFill/>
          </a:ln>
        </p:spPr>
        <p:txBody>
          <a:bodyPr wrap="square" lIns="0" tIns="0" rIns="0" bIns="0" anchor="t">
            <a:noAutofit/>
          </a:bodyPr>
          <a:lstStyle/>
          <a:p>
            <a:pPr>
              <a:defRPr sz="1800" b="0" i="0">
                <a:solidFill>
                  <a:srgbClr val="173E35"/>
                </a:solidFill>
                <a:latin typeface="Arial"/>
                <a:ea typeface="Arial"/>
                <a:cs typeface="Arial"/>
              </a:defRPr>
            </a:pPr>
            <a:r>
              <a:rPr sz="1800" b="0" i="0">
                <a:solidFill>
                  <a:srgbClr val="173E35"/>
                </a:solidFill>
                <a:latin typeface="Arial"/>
                <a:ea typeface="Arial"/>
                <a:cs typeface="Arial"/>
              </a:rPr>
              <a:t>Carbon reduction across the value chain</a:t>
            </a:r>
          </a:p>
        </p:txBody>
      </p:sp>
      <p:sp>
        <p:nvSpPr>
          <p:cNvPr id="14" name="Discussion">
            <a:extLst>
              <a:ext uri="{FF2B5EF4-FFF2-40B4-BE49-F238E27FC236}">
                <a16:creationId xmlns:a16="http://schemas.microsoft.com/office/drawing/2014/main" id="{FF09EE4B-58DA-4725-9284-DB7D523A296B}"/>
              </a:ext>
            </a:extLst>
          </p:cNvPr>
          <p:cNvSpPr>
            <a:spLocks noGrp="1"/>
          </p:cNvSpPr>
          <p:nvPr/>
        </p:nvSpPr>
        <p:spPr>
          <a:xfrm>
            <a:off x="6096000" y="1866900"/>
            <a:ext cx="2476500" cy="304800"/>
          </a:xfrm>
          <a:prstGeom prst="rect">
            <a:avLst/>
          </a:prstGeom>
          <a:noFill/>
          <a:ln w="0">
            <a:noFill/>
          </a:ln>
        </p:spPr>
        <p:txBody>
          <a:bodyPr wrap="square" lIns="0" tIns="0" rIns="0" bIns="0" anchor="t">
            <a:noAutofit/>
          </a:bodyPr>
          <a:lstStyle/>
          <a:p>
            <a:pPr>
              <a:defRPr sz="1425" b="0" i="0">
                <a:solidFill>
                  <a:srgbClr val="B56647"/>
                </a:solidFill>
                <a:latin typeface="Arial"/>
                <a:ea typeface="Arial"/>
                <a:cs typeface="Arial"/>
              </a:defRPr>
            </a:pPr>
            <a:r>
              <a:rPr sz="1425" b="0" i="0">
                <a:solidFill>
                  <a:srgbClr val="B56647"/>
                </a:solidFill>
                <a:latin typeface="Arial"/>
                <a:ea typeface="Arial"/>
                <a:cs typeface="Arial"/>
              </a:rPr>
              <a:t>Discussion</a:t>
            </a:r>
          </a:p>
        </p:txBody>
      </p:sp>
      <p:sp>
        <p:nvSpPr>
          <p:cNvPr id="15" name="How does sustainability create business value">
            <a:extLst>
              <a:ext uri="{FF2B5EF4-FFF2-40B4-BE49-F238E27FC236}">
                <a16:creationId xmlns:a16="http://schemas.microsoft.com/office/drawing/2014/main" id="{EF0C8AB1-61A2-4442-8288-85662D02471C}"/>
              </a:ext>
            </a:extLst>
          </p:cNvPr>
          <p:cNvSpPr>
            <a:spLocks noGrp="1"/>
          </p:cNvSpPr>
          <p:nvPr/>
        </p:nvSpPr>
        <p:spPr>
          <a:xfrm>
            <a:off x="6096000" y="2371725"/>
            <a:ext cx="2495550" cy="1905000"/>
          </a:xfrm>
          <a:prstGeom prst="rect">
            <a:avLst/>
          </a:prstGeom>
          <a:noFill/>
          <a:ln w="0">
            <a:noFill/>
          </a:ln>
        </p:spPr>
        <p:txBody>
          <a:bodyPr wrap="square" lIns="0" tIns="0" rIns="0" bIns="0" anchor="t">
            <a:noAutofit/>
          </a:bodyPr>
          <a:lstStyle/>
          <a:p>
            <a:pPr>
              <a:defRPr sz="2475" b="0" i="0">
                <a:solidFill>
                  <a:srgbClr val="173E35"/>
                </a:solidFill>
                <a:latin typeface="Georgia"/>
                <a:ea typeface="Georgia"/>
                <a:cs typeface="Georgia"/>
              </a:defRPr>
            </a:pPr>
            <a:r>
              <a:rPr sz="2475" b="0" i="0">
                <a:solidFill>
                  <a:srgbClr val="173E35"/>
                </a:solidFill>
                <a:latin typeface="Georgia"/>
                <a:ea typeface="Georgia"/>
                <a:cs typeface="Georgia"/>
              </a:rPr>
              <a:t>How does sustainability create business value?</a:t>
            </a:r>
          </a:p>
        </p:txBody>
      </p:sp>
      <p:pic>
        <p:nvPicPr>
          <p:cNvPr id="34" name="Picture 33"/>
          <p:cNvPicPr>
            <a:picLocks noChangeAspect="1"/>
          </p:cNvPicPr>
          <p:nvPr/>
        </p:nvPicPr>
        <p:blipFill>
          <a:blip r:embed="rId3"/>
          <a:stretch/>
        </p:blipFill>
        <p:spPr>
          <a:xfrm>
            <a:off x="499570" y="4829175"/>
            <a:ext cx="315310" cy="152400"/>
          </a:xfrm>
          <a:prstGeom prst="rect">
            <a:avLst/>
          </a:prstGeom>
        </p:spPr>
      </p:pic>
      <p:sp>
        <p:nvSpPr>
          <p:cNvPr id="17" name="www.newton.university">
            <a:extLst>
              <a:ext uri="{FF2B5EF4-FFF2-40B4-BE49-F238E27FC236}">
                <a16:creationId xmlns:a16="http://schemas.microsoft.com/office/drawing/2014/main" id="{F57A4EE1-D644-4AE1-AEFD-072A2EE13A59}"/>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18" name="12">
            <a:extLst>
              <a:ext uri="{FF2B5EF4-FFF2-40B4-BE49-F238E27FC236}">
                <a16:creationId xmlns:a16="http://schemas.microsoft.com/office/drawing/2014/main" id="{762A328F-57C2-4FBB-BA6F-B368DF76C85A}"/>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58665B"/>
                </a:solidFill>
                <a:latin typeface="Arial"/>
                <a:ea typeface="Arial"/>
                <a:cs typeface="Arial"/>
              </a:defRPr>
            </a:pPr>
            <a:r>
              <a:rPr sz="1125" b="0" i="0">
                <a:solidFill>
                  <a:srgbClr val="58665B"/>
                </a:solidFill>
                <a:latin typeface="Arial"/>
                <a:ea typeface="Arial"/>
                <a:cs typeface="Arial"/>
              </a:rPr>
              <a:t>12</a:t>
            </a:r>
          </a:p>
        </p:txBody>
      </p:sp>
    </p:spTree>
    <p:extLst>
      <p:ext uri="{BB962C8B-B14F-4D97-AF65-F5344CB8AC3E}">
        <p14:creationId xmlns:p14="http://schemas.microsoft.com/office/powerpoint/2010/main" val="14499001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32E29"/>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t="3368" b="3368"/>
          <a:stretch>
            <a:fillRect/>
          </a:stretch>
        </p:blipFill>
        <p:spPr>
          <a:xfrm>
            <a:off x="5467350" y="0"/>
            <a:ext cx="3676650" cy="5143500"/>
          </a:xfrm>
          <a:prstGeom prst="rect">
            <a:avLst/>
          </a:prstGeom>
        </p:spPr>
      </p:pic>
      <p:sp>
        <p:nvSpPr>
          <p:cNvPr id="2" name="Part 3">
            <a:extLst>
              <a:ext uri="{FF2B5EF4-FFF2-40B4-BE49-F238E27FC236}">
                <a16:creationId xmlns:a16="http://schemas.microsoft.com/office/drawing/2014/main" id="{2811A21E-3D5C-40DA-B697-BC6849341ECE}"/>
              </a:ext>
            </a:extLst>
          </p:cNvPr>
          <p:cNvSpPr>
            <a:spLocks noGrp="1"/>
          </p:cNvSpPr>
          <p:nvPr/>
        </p:nvSpPr>
        <p:spPr>
          <a:xfrm>
            <a:off x="495300" y="666750"/>
            <a:ext cx="3810000" cy="285750"/>
          </a:xfrm>
          <a:prstGeom prst="rect">
            <a:avLst/>
          </a:prstGeom>
          <a:noFill/>
          <a:ln w="0">
            <a:noFill/>
          </a:ln>
        </p:spPr>
        <p:txBody>
          <a:bodyPr wrap="square" lIns="0" tIns="0" rIns="0" bIns="0" anchor="t">
            <a:noAutofit/>
          </a:bodyPr>
          <a:lstStyle/>
          <a:p>
            <a:pPr>
              <a:defRPr sz="1500" b="0" i="0">
                <a:solidFill>
                  <a:srgbClr val="C7D0C6"/>
                </a:solidFill>
                <a:latin typeface="Arial"/>
                <a:ea typeface="Arial"/>
                <a:cs typeface="Arial"/>
              </a:defRPr>
            </a:pPr>
            <a:r>
              <a:rPr sz="1500" b="0" i="0">
                <a:solidFill>
                  <a:srgbClr val="C7D0C6"/>
                </a:solidFill>
                <a:latin typeface="Arial"/>
                <a:ea typeface="Arial"/>
                <a:cs typeface="Arial"/>
              </a:rPr>
              <a:t>Part 3</a:t>
            </a:r>
          </a:p>
        </p:txBody>
      </p:sp>
      <p:sp>
        <p:nvSpPr>
          <p:cNvPr id="3" name="Green Infrastructure&#10;in Business">
            <a:extLst>
              <a:ext uri="{FF2B5EF4-FFF2-40B4-BE49-F238E27FC236}">
                <a16:creationId xmlns:a16="http://schemas.microsoft.com/office/drawing/2014/main" id="{3CCBBF0F-8570-4D93-99A6-49368409ACAD}"/>
              </a:ext>
            </a:extLst>
          </p:cNvPr>
          <p:cNvSpPr>
            <a:spLocks noGrp="1"/>
          </p:cNvSpPr>
          <p:nvPr/>
        </p:nvSpPr>
        <p:spPr>
          <a:xfrm>
            <a:off x="495300" y="1857375"/>
            <a:ext cx="4686300" cy="2190750"/>
          </a:xfrm>
          <a:prstGeom prst="rect">
            <a:avLst/>
          </a:prstGeom>
          <a:noFill/>
          <a:ln w="0">
            <a:noFill/>
          </a:ln>
        </p:spPr>
        <p:txBody>
          <a:bodyPr wrap="square" lIns="0" tIns="0" rIns="0" bIns="0" anchor="t">
            <a:noAutofit/>
          </a:bodyPr>
          <a:lstStyle/>
          <a:p>
            <a:pPr>
              <a:defRPr sz="3600" b="0" i="0">
                <a:solidFill>
                  <a:srgbClr val="F5F2EA"/>
                </a:solidFill>
                <a:latin typeface="Georgia"/>
                <a:ea typeface="Georgia"/>
                <a:cs typeface="Georgia"/>
              </a:defRPr>
            </a:pPr>
            <a:r>
              <a:rPr sz="3600" b="0" i="0">
                <a:solidFill>
                  <a:srgbClr val="F5F2EA"/>
                </a:solidFill>
                <a:latin typeface="Georgia"/>
                <a:ea typeface="Georgia"/>
                <a:cs typeface="Georgia"/>
              </a:rPr>
              <a:t>Green Infrastructure</a:t>
            </a:r>
          </a:p>
          <a:p>
            <a:pPr>
              <a:defRPr sz="3600" b="0" i="0">
                <a:solidFill>
                  <a:srgbClr val="F5F2EA"/>
                </a:solidFill>
                <a:latin typeface="Georgia"/>
                <a:ea typeface="Georgia"/>
                <a:cs typeface="Georgia"/>
              </a:defRPr>
            </a:pPr>
            <a:r>
              <a:rPr sz="3600" b="0" i="0">
                <a:solidFill>
                  <a:srgbClr val="F5F2EA"/>
                </a:solidFill>
                <a:latin typeface="Georgia"/>
                <a:ea typeface="Georgia"/>
                <a:cs typeface="Georgia"/>
              </a:rPr>
              <a:t>in Business</a:t>
            </a:r>
          </a:p>
        </p:txBody>
      </p:sp>
      <p:pic>
        <p:nvPicPr>
          <p:cNvPr id="10" name="Picture 9"/>
          <p:cNvPicPr>
            <a:picLocks noChangeAspect="1"/>
          </p:cNvPicPr>
          <p:nvPr/>
        </p:nvPicPr>
        <p:blipFill>
          <a:blip r:embed="rId4"/>
          <a:stretch/>
        </p:blipFill>
        <p:spPr>
          <a:xfrm>
            <a:off x="499570" y="4829175"/>
            <a:ext cx="315310" cy="152400"/>
          </a:xfrm>
          <a:prstGeom prst="rect">
            <a:avLst/>
          </a:prstGeom>
        </p:spPr>
      </p:pic>
      <p:sp>
        <p:nvSpPr>
          <p:cNvPr id="5" name="www.newton.university">
            <a:extLst>
              <a:ext uri="{FF2B5EF4-FFF2-40B4-BE49-F238E27FC236}">
                <a16:creationId xmlns:a16="http://schemas.microsoft.com/office/drawing/2014/main" id="{98AA07C0-28A9-4155-B16F-A4AD7E886494}"/>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C7D0C6"/>
                </a:solidFill>
                <a:latin typeface="Arial"/>
                <a:ea typeface="Arial"/>
                <a:cs typeface="Arial"/>
              </a:defRPr>
            </a:pPr>
            <a:r>
              <a:rPr sz="750" b="0" i="0">
                <a:solidFill>
                  <a:srgbClr val="C7D0C6"/>
                </a:solidFill>
                <a:latin typeface="Arial"/>
                <a:ea typeface="Arial"/>
                <a:cs typeface="Arial"/>
              </a:rPr>
              <a:t>www.newton.university</a:t>
            </a:r>
          </a:p>
        </p:txBody>
      </p:sp>
      <p:sp>
        <p:nvSpPr>
          <p:cNvPr id="6" name="13">
            <a:extLst>
              <a:ext uri="{FF2B5EF4-FFF2-40B4-BE49-F238E27FC236}">
                <a16:creationId xmlns:a16="http://schemas.microsoft.com/office/drawing/2014/main" id="{E4B5A403-0F46-4C84-A560-2B1B34C4F18F}"/>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E8EDE5"/>
                </a:solidFill>
                <a:latin typeface="Arial"/>
                <a:ea typeface="Arial"/>
                <a:cs typeface="Arial"/>
              </a:defRPr>
            </a:pPr>
            <a:r>
              <a:rPr sz="1125" b="0" i="0">
                <a:solidFill>
                  <a:srgbClr val="E8EDE5"/>
                </a:solidFill>
                <a:latin typeface="Arial"/>
                <a:ea typeface="Arial"/>
                <a:cs typeface="Arial"/>
              </a:rPr>
              <a:t>13</a:t>
            </a:r>
          </a:p>
        </p:txBody>
      </p:sp>
    </p:spTree>
    <p:extLst>
      <p:ext uri="{BB962C8B-B14F-4D97-AF65-F5344CB8AC3E}">
        <p14:creationId xmlns:p14="http://schemas.microsoft.com/office/powerpoint/2010/main" val="20923482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10" name="What is Green Infrastructure?">
            <a:extLst>
              <a:ext uri="{FF2B5EF4-FFF2-40B4-BE49-F238E27FC236}">
                <a16:creationId xmlns:a16="http://schemas.microsoft.com/office/drawing/2014/main" id="{AF218A63-FA94-45B5-AA77-19847F1B09A8}"/>
              </a:ext>
            </a:extLst>
          </p:cNvPr>
          <p:cNvSpPr>
            <a:spLocks noGrp="1"/>
          </p:cNvSpPr>
          <p:nvPr/>
        </p:nvSpPr>
        <p:spPr>
          <a:xfrm>
            <a:off x="495300" y="381000"/>
            <a:ext cx="5381625" cy="952500"/>
          </a:xfrm>
          <a:prstGeom prst="rect">
            <a:avLst/>
          </a:prstGeom>
          <a:noFill/>
          <a:ln w="0">
            <a:noFill/>
          </a:ln>
        </p:spPr>
        <p:txBody>
          <a:bodyPr wrap="square" lIns="0" tIns="0" rIns="0" bIns="0" anchor="t">
            <a:noAutofit/>
          </a:bodyPr>
          <a:lstStyle/>
          <a:p>
            <a:pPr>
              <a:defRPr sz="2625" b="0" i="0">
                <a:solidFill>
                  <a:srgbClr val="173E35"/>
                </a:solidFill>
                <a:latin typeface="Georgia"/>
                <a:ea typeface="Georgia"/>
                <a:cs typeface="Georgia"/>
              </a:defRPr>
            </a:pPr>
            <a:r>
              <a:rPr sz="2625" b="0" i="0">
                <a:solidFill>
                  <a:srgbClr val="173E35"/>
                </a:solidFill>
                <a:latin typeface="Georgia"/>
                <a:ea typeface="Georgia"/>
                <a:cs typeface="Georgia"/>
              </a:rPr>
              <a:t>What is Green Infrastructure?</a:t>
            </a:r>
          </a:p>
        </p:txBody>
      </p:sp>
      <p:pic>
        <p:nvPicPr>
          <p:cNvPr id="11" name="Picture 10"/>
          <p:cNvPicPr>
            <a:picLocks noChangeAspect="1"/>
          </p:cNvPicPr>
          <p:nvPr/>
        </p:nvPicPr>
        <p:blipFill>
          <a:blip r:embed="rId3"/>
          <a:srcRect l="6938" r="6938"/>
          <a:stretch>
            <a:fillRect/>
          </a:stretch>
        </p:blipFill>
        <p:spPr>
          <a:xfrm>
            <a:off x="6096000" y="342900"/>
            <a:ext cx="2571750" cy="3981450"/>
          </a:xfrm>
          <a:prstGeom prst="rect">
            <a:avLst/>
          </a:prstGeom>
        </p:spPr>
      </p:pic>
      <p:sp>
        <p:nvSpPr>
          <p:cNvPr id="3" name="Living wall at St Edmund Hall: nature integra">
            <a:extLst>
              <a:ext uri="{FF2B5EF4-FFF2-40B4-BE49-F238E27FC236}">
                <a16:creationId xmlns:a16="http://schemas.microsoft.com/office/drawing/2014/main" id="{B3FFD1D0-A52C-4C1B-90A8-71C37805A875}"/>
              </a:ext>
            </a:extLst>
          </p:cNvPr>
          <p:cNvSpPr>
            <a:spLocks noGrp="1"/>
          </p:cNvSpPr>
          <p:nvPr/>
        </p:nvSpPr>
        <p:spPr>
          <a:xfrm>
            <a:off x="6096000" y="4419600"/>
            <a:ext cx="2571750" cy="304800"/>
          </a:xfrm>
          <a:prstGeom prst="rect">
            <a:avLst/>
          </a:prstGeom>
          <a:noFill/>
          <a:ln w="0">
            <a:noFill/>
          </a:ln>
        </p:spPr>
        <p:txBody>
          <a:bodyPr wrap="square" lIns="0" tIns="0" rIns="0" bIns="0" anchor="t">
            <a:noAutofit/>
          </a:bodyPr>
          <a:lstStyle/>
          <a:p>
            <a:pPr>
              <a:defRPr sz="900" b="0" i="0">
                <a:solidFill>
                  <a:srgbClr val="58665B"/>
                </a:solidFill>
                <a:latin typeface="Arial"/>
                <a:ea typeface="Arial"/>
                <a:cs typeface="Arial"/>
              </a:defRPr>
            </a:pPr>
            <a:r>
              <a:rPr sz="900" b="0" i="0">
                <a:solidFill>
                  <a:srgbClr val="58665B"/>
                </a:solidFill>
                <a:latin typeface="Arial"/>
                <a:ea typeface="Arial"/>
                <a:cs typeface="Arial"/>
              </a:rPr>
              <a:t>Living wall at St Edmund Hall: nature integrated into the built environment</a:t>
            </a:r>
          </a:p>
        </p:txBody>
      </p:sp>
      <p:sp>
        <p:nvSpPr>
          <p:cNvPr id="4" name="Definition">
            <a:extLst>
              <a:ext uri="{FF2B5EF4-FFF2-40B4-BE49-F238E27FC236}">
                <a16:creationId xmlns:a16="http://schemas.microsoft.com/office/drawing/2014/main" id="{366DA239-4621-43AC-A349-D6B21CBC5E53}"/>
              </a:ext>
            </a:extLst>
          </p:cNvPr>
          <p:cNvSpPr>
            <a:spLocks noGrp="1"/>
          </p:cNvSpPr>
          <p:nvPr/>
        </p:nvSpPr>
        <p:spPr>
          <a:xfrm>
            <a:off x="495300" y="1390650"/>
            <a:ext cx="5200650" cy="238125"/>
          </a:xfrm>
          <a:prstGeom prst="rect">
            <a:avLst/>
          </a:prstGeom>
          <a:noFill/>
          <a:ln w="0">
            <a:noFill/>
          </a:ln>
        </p:spPr>
        <p:txBody>
          <a:bodyPr wrap="square" lIns="0" tIns="0" rIns="0" bIns="0" anchor="t">
            <a:noAutofit/>
          </a:bodyPr>
          <a:lstStyle/>
          <a:p>
            <a:pPr>
              <a:defRPr sz="1350" b="0" i="0">
                <a:solidFill>
                  <a:srgbClr val="B56647"/>
                </a:solidFill>
                <a:latin typeface="Arial"/>
                <a:ea typeface="Arial"/>
                <a:cs typeface="Arial"/>
              </a:defRPr>
            </a:pPr>
            <a:r>
              <a:rPr sz="1350" b="0" i="0">
                <a:solidFill>
                  <a:srgbClr val="B56647"/>
                </a:solidFill>
                <a:latin typeface="Arial"/>
                <a:ea typeface="Arial"/>
                <a:cs typeface="Arial"/>
              </a:rPr>
              <a:t>Definition</a:t>
            </a:r>
          </a:p>
        </p:txBody>
      </p:sp>
      <p:sp>
        <p:nvSpPr>
          <p:cNvPr id="5" name="A strategically planned network of natural an">
            <a:extLst>
              <a:ext uri="{FF2B5EF4-FFF2-40B4-BE49-F238E27FC236}">
                <a16:creationId xmlns:a16="http://schemas.microsoft.com/office/drawing/2014/main" id="{C9CE3A9D-64C7-48DF-816E-C7B45248289C}"/>
              </a:ext>
            </a:extLst>
          </p:cNvPr>
          <p:cNvSpPr>
            <a:spLocks noGrp="1"/>
          </p:cNvSpPr>
          <p:nvPr/>
        </p:nvSpPr>
        <p:spPr>
          <a:xfrm>
            <a:off x="495300" y="1809750"/>
            <a:ext cx="5153025" cy="1343025"/>
          </a:xfrm>
          <a:prstGeom prst="rect">
            <a:avLst/>
          </a:prstGeom>
          <a:noFill/>
          <a:ln w="0">
            <a:noFill/>
          </a:ln>
        </p:spPr>
        <p:txBody>
          <a:bodyPr wrap="square" lIns="0" tIns="0" rIns="0" bIns="0" anchor="t">
            <a:noAutofit/>
          </a:bodyPr>
          <a:lstStyle/>
          <a:p>
            <a:pPr>
              <a:defRPr sz="1875" b="0" i="0">
                <a:solidFill>
                  <a:srgbClr val="173E35"/>
                </a:solidFill>
                <a:latin typeface="Georgia"/>
                <a:ea typeface="Georgia"/>
                <a:cs typeface="Georgia"/>
              </a:defRPr>
            </a:pPr>
            <a:r>
              <a:rPr sz="1875" b="0" i="0">
                <a:solidFill>
                  <a:srgbClr val="173E35"/>
                </a:solidFill>
                <a:latin typeface="Georgia"/>
                <a:ea typeface="Georgia"/>
                <a:cs typeface="Georgia"/>
              </a:rPr>
              <a:t>A strategically planned network of natural and semi-natural areas, designed and managed to provide ecosystem services and improve environmental quality.</a:t>
            </a:r>
          </a:p>
        </p:txBody>
      </p:sp>
      <p:sp>
        <p:nvSpPr>
          <p:cNvPr id="6" name="For a company, Green Infrastructure means usi">
            <a:extLst>
              <a:ext uri="{FF2B5EF4-FFF2-40B4-BE49-F238E27FC236}">
                <a16:creationId xmlns:a16="http://schemas.microsoft.com/office/drawing/2014/main" id="{C710BE7D-9907-4A2C-8EB4-1430FD38937B}"/>
              </a:ext>
            </a:extLst>
          </p:cNvPr>
          <p:cNvSpPr>
            <a:spLocks noGrp="1"/>
          </p:cNvSpPr>
          <p:nvPr/>
        </p:nvSpPr>
        <p:spPr>
          <a:xfrm>
            <a:off x="495300" y="3371850"/>
            <a:ext cx="5095875" cy="1304925"/>
          </a:xfrm>
          <a:prstGeom prst="rect">
            <a:avLst/>
          </a:prstGeom>
          <a:noFill/>
          <a:ln w="0">
            <a:noFill/>
          </a:ln>
        </p:spPr>
        <p:txBody>
          <a:bodyPr wrap="square" lIns="0" tIns="0" rIns="0" bIns="0" anchor="t">
            <a:noAutofit/>
          </a:bodyPr>
          <a:lstStyle/>
          <a:p>
            <a:pPr>
              <a:defRPr sz="1575" b="0" i="0">
                <a:solidFill>
                  <a:srgbClr val="173E35"/>
                </a:solidFill>
                <a:latin typeface="Arial"/>
                <a:ea typeface="Arial"/>
                <a:cs typeface="Arial"/>
              </a:defRPr>
            </a:pPr>
            <a:r>
              <a:rPr sz="1575" b="0" i="0">
                <a:solidFill>
                  <a:srgbClr val="173E35"/>
                </a:solidFill>
                <a:latin typeface="Arial"/>
                <a:ea typeface="Arial"/>
                <a:cs typeface="Arial"/>
              </a:rPr>
              <a:t>For a company, Green Infrastructure means using nature as a business asset — green roofs, living walls, rain gardens or trees on site — to cut operating costs, manage risk and deliver services it would otherwise pay for.</a:t>
            </a:r>
          </a:p>
        </p:txBody>
      </p:sp>
      <p:pic>
        <p:nvPicPr>
          <p:cNvPr id="16" name="Picture 15"/>
          <p:cNvPicPr>
            <a:picLocks noChangeAspect="1"/>
          </p:cNvPicPr>
          <p:nvPr/>
        </p:nvPicPr>
        <p:blipFill>
          <a:blip r:embed="rId4"/>
          <a:stretch/>
        </p:blipFill>
        <p:spPr>
          <a:xfrm>
            <a:off x="499570" y="4829175"/>
            <a:ext cx="315310" cy="152400"/>
          </a:xfrm>
          <a:prstGeom prst="rect">
            <a:avLst/>
          </a:prstGeom>
        </p:spPr>
      </p:pic>
      <p:sp>
        <p:nvSpPr>
          <p:cNvPr id="8" name="www.newton.university">
            <a:extLst>
              <a:ext uri="{FF2B5EF4-FFF2-40B4-BE49-F238E27FC236}">
                <a16:creationId xmlns:a16="http://schemas.microsoft.com/office/drawing/2014/main" id="{0BB26E45-DB58-43D8-8E13-4621A6239F65}"/>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9" name="14">
            <a:extLst>
              <a:ext uri="{FF2B5EF4-FFF2-40B4-BE49-F238E27FC236}">
                <a16:creationId xmlns:a16="http://schemas.microsoft.com/office/drawing/2014/main" id="{79F566B4-53F9-4597-9298-E72E5A9BE819}"/>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58665B"/>
                </a:solidFill>
                <a:latin typeface="Arial"/>
                <a:ea typeface="Arial"/>
                <a:cs typeface="Arial"/>
              </a:defRPr>
            </a:pPr>
            <a:r>
              <a:rPr sz="1125" b="0" i="0">
                <a:solidFill>
                  <a:srgbClr val="58665B"/>
                </a:solidFill>
                <a:latin typeface="Arial"/>
                <a:ea typeface="Arial"/>
                <a:cs typeface="Arial"/>
              </a:rPr>
              <a:t>14</a:t>
            </a:r>
          </a:p>
        </p:txBody>
      </p:sp>
    </p:spTree>
    <p:extLst>
      <p:ext uri="{BB962C8B-B14F-4D97-AF65-F5344CB8AC3E}">
        <p14:creationId xmlns:p14="http://schemas.microsoft.com/office/powerpoint/2010/main" val="2988488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7" name="Editorial rule">
            <a:extLst>
              <a:ext uri="{FF2B5EF4-FFF2-40B4-BE49-F238E27FC236}">
                <a16:creationId xmlns:a16="http://schemas.microsoft.com/office/drawing/2014/main" id="{D9EAB0E7-BF6A-470B-B054-D65DC707A9F4}"/>
              </a:ext>
            </a:extLst>
          </p:cNvPr>
          <p:cNvSpPr>
            <a:spLocks noGrp="1"/>
          </p:cNvSpPr>
          <p:nvPr/>
        </p:nvSpPr>
        <p:spPr>
          <a:xfrm>
            <a:off x="495300" y="1066800"/>
            <a:ext cx="8153400" cy="7620"/>
          </a:xfrm>
          <a:prstGeom prst="rect">
            <a:avLst/>
          </a:prstGeom>
          <a:solidFill>
            <a:srgbClr val="B7C3B1"/>
          </a:solidFill>
          <a:ln w="0">
            <a:noFill/>
          </a:ln>
        </p:spPr>
        <p:txBody>
          <a:bodyPr/>
          <a:lstStyle/>
          <a:p>
            <a:endParaRPr lang="en-US"/>
          </a:p>
        </p:txBody>
      </p:sp>
      <p:sp>
        <p:nvSpPr>
          <p:cNvPr id="2" name="Editorial rule">
            <a:extLst>
              <a:ext uri="{FF2B5EF4-FFF2-40B4-BE49-F238E27FC236}">
                <a16:creationId xmlns:a16="http://schemas.microsoft.com/office/drawing/2014/main" id="{9B11B146-5899-498E-AC28-843B45875F06}"/>
              </a:ext>
            </a:extLst>
          </p:cNvPr>
          <p:cNvSpPr>
            <a:spLocks noGrp="1"/>
          </p:cNvSpPr>
          <p:nvPr/>
        </p:nvSpPr>
        <p:spPr>
          <a:xfrm>
            <a:off x="495300" y="1052513"/>
            <a:ext cx="552450" cy="28575"/>
          </a:xfrm>
          <a:prstGeom prst="rect">
            <a:avLst/>
          </a:prstGeom>
          <a:solidFill>
            <a:srgbClr val="B56647"/>
          </a:solidFill>
          <a:ln w="0">
            <a:noFill/>
          </a:ln>
        </p:spPr>
        <p:txBody>
          <a:bodyPr/>
          <a:lstStyle/>
          <a:p>
            <a:endParaRPr lang="en-US"/>
          </a:p>
        </p:txBody>
      </p:sp>
      <p:sp>
        <p:nvSpPr>
          <p:cNvPr id="3" name="Editorial frame">
            <a:extLst>
              <a:ext uri="{FF2B5EF4-FFF2-40B4-BE49-F238E27FC236}">
                <a16:creationId xmlns:a16="http://schemas.microsoft.com/office/drawing/2014/main" id="{67D62017-559D-4D7B-8E92-B40AEFDF43EE}"/>
              </a:ext>
            </a:extLst>
          </p:cNvPr>
          <p:cNvSpPr>
            <a:spLocks noGrp="1"/>
          </p:cNvSpPr>
          <p:nvPr/>
        </p:nvSpPr>
        <p:spPr>
          <a:xfrm>
            <a:off x="361950" y="1543050"/>
            <a:ext cx="4067175" cy="1495425"/>
          </a:xfrm>
          <a:prstGeom prst="rect">
            <a:avLst/>
          </a:prstGeom>
          <a:solidFill>
            <a:srgbClr val="E3EADB"/>
          </a:solidFill>
          <a:ln w="8573">
            <a:solidFill>
              <a:srgbClr val="BDCCB7"/>
            </a:solidFill>
          </a:ln>
        </p:spPr>
        <p:txBody>
          <a:bodyPr/>
          <a:lstStyle/>
          <a:p>
            <a:endParaRPr lang="en-US"/>
          </a:p>
        </p:txBody>
      </p:sp>
      <p:sp>
        <p:nvSpPr>
          <p:cNvPr id="4" name="Editorial frame">
            <a:extLst>
              <a:ext uri="{FF2B5EF4-FFF2-40B4-BE49-F238E27FC236}">
                <a16:creationId xmlns:a16="http://schemas.microsoft.com/office/drawing/2014/main" id="{7C8A4597-64E8-4EF6-A3FB-438683B19C35}"/>
              </a:ext>
            </a:extLst>
          </p:cNvPr>
          <p:cNvSpPr>
            <a:spLocks noGrp="1"/>
          </p:cNvSpPr>
          <p:nvPr/>
        </p:nvSpPr>
        <p:spPr>
          <a:xfrm>
            <a:off x="4629150" y="1543050"/>
            <a:ext cx="4152900" cy="1495425"/>
          </a:xfrm>
          <a:prstGeom prst="rect">
            <a:avLst/>
          </a:prstGeom>
          <a:solidFill>
            <a:srgbClr val="EFEBE0"/>
          </a:solidFill>
          <a:ln w="8573">
            <a:solidFill>
              <a:srgbClr val="BDCCB7"/>
            </a:solidFill>
          </a:ln>
        </p:spPr>
        <p:txBody>
          <a:bodyPr/>
          <a:lstStyle/>
          <a:p>
            <a:endParaRPr lang="en-US"/>
          </a:p>
        </p:txBody>
      </p:sp>
      <p:sp>
        <p:nvSpPr>
          <p:cNvPr id="5" name="Editorial frame">
            <a:extLst>
              <a:ext uri="{FF2B5EF4-FFF2-40B4-BE49-F238E27FC236}">
                <a16:creationId xmlns:a16="http://schemas.microsoft.com/office/drawing/2014/main" id="{C5124C4E-288F-4C5F-A18E-9A46FF5EA7AB}"/>
              </a:ext>
            </a:extLst>
          </p:cNvPr>
          <p:cNvSpPr>
            <a:spLocks noGrp="1"/>
          </p:cNvSpPr>
          <p:nvPr/>
        </p:nvSpPr>
        <p:spPr>
          <a:xfrm>
            <a:off x="361950" y="3105150"/>
            <a:ext cx="4067175" cy="1590675"/>
          </a:xfrm>
          <a:prstGeom prst="rect">
            <a:avLst/>
          </a:prstGeom>
          <a:solidFill>
            <a:srgbClr val="EFEBE0"/>
          </a:solidFill>
          <a:ln w="8573">
            <a:solidFill>
              <a:srgbClr val="BDCCB7"/>
            </a:solidFill>
          </a:ln>
        </p:spPr>
        <p:txBody>
          <a:bodyPr/>
          <a:lstStyle/>
          <a:p>
            <a:endParaRPr lang="en-US"/>
          </a:p>
        </p:txBody>
      </p:sp>
      <p:sp>
        <p:nvSpPr>
          <p:cNvPr id="6" name="Editorial frame">
            <a:extLst>
              <a:ext uri="{FF2B5EF4-FFF2-40B4-BE49-F238E27FC236}">
                <a16:creationId xmlns:a16="http://schemas.microsoft.com/office/drawing/2014/main" id="{438ACCDE-4817-45C7-AF90-B83B564DFC70}"/>
              </a:ext>
            </a:extLst>
          </p:cNvPr>
          <p:cNvSpPr>
            <a:spLocks noGrp="1"/>
          </p:cNvSpPr>
          <p:nvPr/>
        </p:nvSpPr>
        <p:spPr>
          <a:xfrm>
            <a:off x="4629150" y="3105150"/>
            <a:ext cx="4152900" cy="1590675"/>
          </a:xfrm>
          <a:prstGeom prst="rect">
            <a:avLst/>
          </a:prstGeom>
          <a:solidFill>
            <a:srgbClr val="E3EADB"/>
          </a:solidFill>
          <a:ln w="8573">
            <a:solidFill>
              <a:srgbClr val="BDCCB7"/>
            </a:solidFill>
          </a:ln>
        </p:spPr>
        <p:txBody>
          <a:bodyPr/>
          <a:lstStyle/>
          <a:p>
            <a:endParaRPr lang="en-US"/>
          </a:p>
        </p:txBody>
      </p:sp>
      <p:sp>
        <p:nvSpPr>
          <p:cNvPr id="7" name="Green Infrastructure a Company Can Use">
            <a:extLst>
              <a:ext uri="{FF2B5EF4-FFF2-40B4-BE49-F238E27FC236}">
                <a16:creationId xmlns:a16="http://schemas.microsoft.com/office/drawing/2014/main" id="{C466F804-C7C2-4A2A-A6D5-8BBA6D04CE11}"/>
              </a:ext>
            </a:extLst>
          </p:cNvPr>
          <p:cNvSpPr>
            <a:spLocks noGrp="1"/>
          </p:cNvSpPr>
          <p:nvPr/>
        </p:nvSpPr>
        <p:spPr>
          <a:xfrm>
            <a:off x="495300" y="381000"/>
            <a:ext cx="8096250" cy="952500"/>
          </a:xfrm>
          <a:prstGeom prst="rect">
            <a:avLst/>
          </a:prstGeom>
          <a:noFill/>
          <a:ln w="0">
            <a:noFill/>
          </a:ln>
        </p:spPr>
        <p:txBody>
          <a:bodyPr wrap="square" lIns="0" tIns="0" rIns="0" bIns="0" anchor="t">
            <a:noAutofit/>
          </a:bodyPr>
          <a:lstStyle/>
          <a:p>
            <a:pPr>
              <a:defRPr sz="2625" b="0" i="0">
                <a:solidFill>
                  <a:srgbClr val="173E35"/>
                </a:solidFill>
                <a:latin typeface="Georgia"/>
                <a:ea typeface="Georgia"/>
                <a:cs typeface="Georgia"/>
              </a:defRPr>
            </a:pPr>
            <a:r>
              <a:rPr sz="2625" b="0" i="0">
                <a:solidFill>
                  <a:srgbClr val="173E35"/>
                </a:solidFill>
                <a:latin typeface="Georgia"/>
                <a:ea typeface="Georgia"/>
                <a:cs typeface="Georgia"/>
              </a:rPr>
              <a:t>Green Infrastructure a Company Can Use</a:t>
            </a:r>
          </a:p>
        </p:txBody>
      </p:sp>
      <p:sp>
        <p:nvSpPr>
          <p:cNvPr id="8" name="Green roofs">
            <a:extLst>
              <a:ext uri="{FF2B5EF4-FFF2-40B4-BE49-F238E27FC236}">
                <a16:creationId xmlns:a16="http://schemas.microsoft.com/office/drawing/2014/main" id="{6ACCA3E0-55C0-4438-A32D-2918AC8CB10E}"/>
              </a:ext>
            </a:extLst>
          </p:cNvPr>
          <p:cNvSpPr>
            <a:spLocks noGrp="1"/>
          </p:cNvSpPr>
          <p:nvPr/>
        </p:nvSpPr>
        <p:spPr>
          <a:xfrm>
            <a:off x="495300" y="1685925"/>
            <a:ext cx="3810000" cy="609600"/>
          </a:xfrm>
          <a:prstGeom prst="rect">
            <a:avLst/>
          </a:prstGeom>
          <a:noFill/>
          <a:ln w="0">
            <a:noFill/>
          </a:ln>
        </p:spPr>
        <p:txBody>
          <a:bodyPr wrap="square" lIns="0" tIns="0" rIns="0" bIns="0" anchor="t">
            <a:noAutofit/>
          </a:bodyPr>
          <a:lstStyle/>
          <a:p>
            <a:pPr>
              <a:defRPr sz="2100" b="0" i="0">
                <a:solidFill>
                  <a:srgbClr val="173E35"/>
                </a:solidFill>
                <a:latin typeface="Georgia"/>
                <a:ea typeface="Georgia"/>
                <a:cs typeface="Georgia"/>
              </a:defRPr>
            </a:pPr>
            <a:r>
              <a:rPr sz="2100" b="0" i="0">
                <a:solidFill>
                  <a:srgbClr val="173E35"/>
                </a:solidFill>
                <a:latin typeface="Georgia"/>
                <a:ea typeface="Georgia"/>
                <a:cs typeface="Georgia"/>
              </a:rPr>
              <a:t>Green roofs</a:t>
            </a:r>
          </a:p>
        </p:txBody>
      </p:sp>
      <p:sp>
        <p:nvSpPr>
          <p:cNvPr id="9" name="Lower cooling bills">
            <a:extLst>
              <a:ext uri="{FF2B5EF4-FFF2-40B4-BE49-F238E27FC236}">
                <a16:creationId xmlns:a16="http://schemas.microsoft.com/office/drawing/2014/main" id="{F3073715-82FC-48DD-B5E4-DA950B54485D}"/>
              </a:ext>
            </a:extLst>
          </p:cNvPr>
          <p:cNvSpPr>
            <a:spLocks noGrp="1"/>
          </p:cNvSpPr>
          <p:nvPr/>
        </p:nvSpPr>
        <p:spPr>
          <a:xfrm>
            <a:off x="495300" y="2124075"/>
            <a:ext cx="3810000" cy="523875"/>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Lower cooling bills</a:t>
            </a:r>
          </a:p>
        </p:txBody>
      </p:sp>
      <p:sp>
        <p:nvSpPr>
          <p:cNvPr id="10" name="Longer roof life">
            <a:extLst>
              <a:ext uri="{FF2B5EF4-FFF2-40B4-BE49-F238E27FC236}">
                <a16:creationId xmlns:a16="http://schemas.microsoft.com/office/drawing/2014/main" id="{0832351D-FABB-4240-98A4-0C791A06F705}"/>
              </a:ext>
            </a:extLst>
          </p:cNvPr>
          <p:cNvSpPr>
            <a:spLocks noGrp="1"/>
          </p:cNvSpPr>
          <p:nvPr/>
        </p:nvSpPr>
        <p:spPr>
          <a:xfrm>
            <a:off x="495300" y="2419350"/>
            <a:ext cx="3810000" cy="523875"/>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Longer roof life</a:t>
            </a:r>
          </a:p>
        </p:txBody>
      </p:sp>
      <p:sp>
        <p:nvSpPr>
          <p:cNvPr id="11" name="Lower stormwater fees">
            <a:extLst>
              <a:ext uri="{FF2B5EF4-FFF2-40B4-BE49-F238E27FC236}">
                <a16:creationId xmlns:a16="http://schemas.microsoft.com/office/drawing/2014/main" id="{25EA0923-9778-4138-A7C1-3511A7239E2D}"/>
              </a:ext>
            </a:extLst>
          </p:cNvPr>
          <p:cNvSpPr>
            <a:spLocks noGrp="1"/>
          </p:cNvSpPr>
          <p:nvPr/>
        </p:nvSpPr>
        <p:spPr>
          <a:xfrm>
            <a:off x="495300" y="2714625"/>
            <a:ext cx="3810000" cy="523875"/>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Lower stormwater fees</a:t>
            </a:r>
          </a:p>
        </p:txBody>
      </p:sp>
      <p:sp>
        <p:nvSpPr>
          <p:cNvPr id="12" name="Living walls">
            <a:extLst>
              <a:ext uri="{FF2B5EF4-FFF2-40B4-BE49-F238E27FC236}">
                <a16:creationId xmlns:a16="http://schemas.microsoft.com/office/drawing/2014/main" id="{38A8A1FE-48B4-42FB-B21E-DDD1D233DE4D}"/>
              </a:ext>
            </a:extLst>
          </p:cNvPr>
          <p:cNvSpPr>
            <a:spLocks noGrp="1"/>
          </p:cNvSpPr>
          <p:nvPr/>
        </p:nvSpPr>
        <p:spPr>
          <a:xfrm>
            <a:off x="4733925" y="1685925"/>
            <a:ext cx="3810000" cy="609600"/>
          </a:xfrm>
          <a:prstGeom prst="rect">
            <a:avLst/>
          </a:prstGeom>
          <a:noFill/>
          <a:ln w="0">
            <a:noFill/>
          </a:ln>
        </p:spPr>
        <p:txBody>
          <a:bodyPr wrap="square" lIns="0" tIns="0" rIns="0" bIns="0" anchor="t">
            <a:noAutofit/>
          </a:bodyPr>
          <a:lstStyle/>
          <a:p>
            <a:pPr>
              <a:defRPr sz="2100" b="0" i="0">
                <a:solidFill>
                  <a:srgbClr val="173E35"/>
                </a:solidFill>
                <a:latin typeface="Georgia"/>
                <a:ea typeface="Georgia"/>
                <a:cs typeface="Georgia"/>
              </a:defRPr>
            </a:pPr>
            <a:r>
              <a:rPr sz="2100" b="0" i="0">
                <a:solidFill>
                  <a:srgbClr val="173E35"/>
                </a:solidFill>
                <a:latin typeface="Georgia"/>
                <a:ea typeface="Georgia"/>
                <a:cs typeface="Georgia"/>
              </a:rPr>
              <a:t>Living walls</a:t>
            </a:r>
          </a:p>
        </p:txBody>
      </p:sp>
      <p:sp>
        <p:nvSpPr>
          <p:cNvPr id="13" name="Cooler buildings">
            <a:extLst>
              <a:ext uri="{FF2B5EF4-FFF2-40B4-BE49-F238E27FC236}">
                <a16:creationId xmlns:a16="http://schemas.microsoft.com/office/drawing/2014/main" id="{BEC7978E-B24F-48CF-AAAC-31B3DF837C4C}"/>
              </a:ext>
            </a:extLst>
          </p:cNvPr>
          <p:cNvSpPr>
            <a:spLocks noGrp="1"/>
          </p:cNvSpPr>
          <p:nvPr/>
        </p:nvSpPr>
        <p:spPr>
          <a:xfrm>
            <a:off x="4733925" y="2124075"/>
            <a:ext cx="3810000" cy="523875"/>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Cooler buildings</a:t>
            </a:r>
          </a:p>
        </p:txBody>
      </p:sp>
      <p:sp>
        <p:nvSpPr>
          <p:cNvPr id="14" name="Cleaner air">
            <a:extLst>
              <a:ext uri="{FF2B5EF4-FFF2-40B4-BE49-F238E27FC236}">
                <a16:creationId xmlns:a16="http://schemas.microsoft.com/office/drawing/2014/main" id="{83AF967E-15A7-43D9-B0CB-1B1D3206E754}"/>
              </a:ext>
            </a:extLst>
          </p:cNvPr>
          <p:cNvSpPr>
            <a:spLocks noGrp="1"/>
          </p:cNvSpPr>
          <p:nvPr/>
        </p:nvSpPr>
        <p:spPr>
          <a:xfrm>
            <a:off x="4733925" y="2419350"/>
            <a:ext cx="3810000" cy="523875"/>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Cleaner air</a:t>
            </a:r>
          </a:p>
        </p:txBody>
      </p:sp>
      <p:sp>
        <p:nvSpPr>
          <p:cNvPr id="15" name="Brand image">
            <a:extLst>
              <a:ext uri="{FF2B5EF4-FFF2-40B4-BE49-F238E27FC236}">
                <a16:creationId xmlns:a16="http://schemas.microsoft.com/office/drawing/2014/main" id="{11CA3567-3A22-4F42-BB05-3E2F10BD470C}"/>
              </a:ext>
            </a:extLst>
          </p:cNvPr>
          <p:cNvSpPr>
            <a:spLocks noGrp="1"/>
          </p:cNvSpPr>
          <p:nvPr/>
        </p:nvSpPr>
        <p:spPr>
          <a:xfrm>
            <a:off x="4733925" y="2714625"/>
            <a:ext cx="3810000" cy="523875"/>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Brand image</a:t>
            </a:r>
          </a:p>
        </p:txBody>
      </p:sp>
      <p:sp>
        <p:nvSpPr>
          <p:cNvPr id="16" name="Rain gardens">
            <a:extLst>
              <a:ext uri="{FF2B5EF4-FFF2-40B4-BE49-F238E27FC236}">
                <a16:creationId xmlns:a16="http://schemas.microsoft.com/office/drawing/2014/main" id="{EB49EF21-C480-407D-9B80-0EF17535A7DF}"/>
              </a:ext>
            </a:extLst>
          </p:cNvPr>
          <p:cNvSpPr>
            <a:spLocks noGrp="1"/>
          </p:cNvSpPr>
          <p:nvPr/>
        </p:nvSpPr>
        <p:spPr>
          <a:xfrm>
            <a:off x="495300" y="3200400"/>
            <a:ext cx="3810000" cy="609600"/>
          </a:xfrm>
          <a:prstGeom prst="rect">
            <a:avLst/>
          </a:prstGeom>
          <a:noFill/>
          <a:ln w="0">
            <a:noFill/>
          </a:ln>
        </p:spPr>
        <p:txBody>
          <a:bodyPr wrap="square" lIns="0" tIns="0" rIns="0" bIns="0" anchor="t">
            <a:noAutofit/>
          </a:bodyPr>
          <a:lstStyle/>
          <a:p>
            <a:pPr>
              <a:defRPr sz="2100" b="0" i="0">
                <a:solidFill>
                  <a:srgbClr val="173E35"/>
                </a:solidFill>
                <a:latin typeface="Georgia"/>
                <a:ea typeface="Georgia"/>
                <a:cs typeface="Georgia"/>
              </a:defRPr>
            </a:pPr>
            <a:r>
              <a:rPr sz="2100" b="0" i="0">
                <a:solidFill>
                  <a:srgbClr val="173E35"/>
                </a:solidFill>
                <a:latin typeface="Georgia"/>
                <a:ea typeface="Georgia"/>
                <a:cs typeface="Georgia"/>
              </a:rPr>
              <a:t>Rain gardens</a:t>
            </a:r>
          </a:p>
        </p:txBody>
      </p:sp>
      <p:sp>
        <p:nvSpPr>
          <p:cNvPr id="17" name="Flood protection">
            <a:extLst>
              <a:ext uri="{FF2B5EF4-FFF2-40B4-BE49-F238E27FC236}">
                <a16:creationId xmlns:a16="http://schemas.microsoft.com/office/drawing/2014/main" id="{4EE1C31E-E688-4B68-8511-A4294C98E75F}"/>
              </a:ext>
            </a:extLst>
          </p:cNvPr>
          <p:cNvSpPr>
            <a:spLocks noGrp="1"/>
          </p:cNvSpPr>
          <p:nvPr/>
        </p:nvSpPr>
        <p:spPr>
          <a:xfrm>
            <a:off x="495300" y="3638550"/>
            <a:ext cx="3810000" cy="523875"/>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Flood protection</a:t>
            </a:r>
          </a:p>
        </p:txBody>
      </p:sp>
      <p:sp>
        <p:nvSpPr>
          <p:cNvPr id="18" name="Lower drainage costs">
            <a:extLst>
              <a:ext uri="{FF2B5EF4-FFF2-40B4-BE49-F238E27FC236}">
                <a16:creationId xmlns:a16="http://schemas.microsoft.com/office/drawing/2014/main" id="{47B6DD3D-2B94-4342-9014-6E82A5F97281}"/>
              </a:ext>
            </a:extLst>
          </p:cNvPr>
          <p:cNvSpPr>
            <a:spLocks noGrp="1"/>
          </p:cNvSpPr>
          <p:nvPr/>
        </p:nvSpPr>
        <p:spPr>
          <a:xfrm>
            <a:off x="495300" y="3933825"/>
            <a:ext cx="3810000" cy="523875"/>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Lower drainage costs</a:t>
            </a:r>
          </a:p>
        </p:txBody>
      </p:sp>
      <p:sp>
        <p:nvSpPr>
          <p:cNvPr id="19" name="Regulatory compliance">
            <a:extLst>
              <a:ext uri="{FF2B5EF4-FFF2-40B4-BE49-F238E27FC236}">
                <a16:creationId xmlns:a16="http://schemas.microsoft.com/office/drawing/2014/main" id="{81B90C2A-3173-45F9-AC02-1262F47F5727}"/>
              </a:ext>
            </a:extLst>
          </p:cNvPr>
          <p:cNvSpPr>
            <a:spLocks noGrp="1"/>
          </p:cNvSpPr>
          <p:nvPr/>
        </p:nvSpPr>
        <p:spPr>
          <a:xfrm>
            <a:off x="495300" y="4229100"/>
            <a:ext cx="3810000" cy="523875"/>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Regulatory compliance</a:t>
            </a:r>
          </a:p>
        </p:txBody>
      </p:sp>
      <p:sp>
        <p:nvSpPr>
          <p:cNvPr id="20" name="Trees on site">
            <a:extLst>
              <a:ext uri="{FF2B5EF4-FFF2-40B4-BE49-F238E27FC236}">
                <a16:creationId xmlns:a16="http://schemas.microsoft.com/office/drawing/2014/main" id="{9F100FDC-28B4-4A8B-AF0E-D7D17EA7BB4D}"/>
              </a:ext>
            </a:extLst>
          </p:cNvPr>
          <p:cNvSpPr>
            <a:spLocks noGrp="1"/>
          </p:cNvSpPr>
          <p:nvPr/>
        </p:nvSpPr>
        <p:spPr>
          <a:xfrm>
            <a:off x="4733925" y="3200400"/>
            <a:ext cx="3810000" cy="609600"/>
          </a:xfrm>
          <a:prstGeom prst="rect">
            <a:avLst/>
          </a:prstGeom>
          <a:noFill/>
          <a:ln w="0">
            <a:noFill/>
          </a:ln>
        </p:spPr>
        <p:txBody>
          <a:bodyPr wrap="square" lIns="0" tIns="0" rIns="0" bIns="0" anchor="t">
            <a:noAutofit/>
          </a:bodyPr>
          <a:lstStyle/>
          <a:p>
            <a:pPr>
              <a:defRPr sz="2100" b="0" i="0">
                <a:solidFill>
                  <a:srgbClr val="173E35"/>
                </a:solidFill>
                <a:latin typeface="Georgia"/>
                <a:ea typeface="Georgia"/>
                <a:cs typeface="Georgia"/>
              </a:defRPr>
            </a:pPr>
            <a:r>
              <a:rPr sz="2100" b="0" i="0">
                <a:solidFill>
                  <a:srgbClr val="173E35"/>
                </a:solidFill>
                <a:latin typeface="Georgia"/>
                <a:ea typeface="Georgia"/>
                <a:cs typeface="Georgia"/>
              </a:rPr>
              <a:t>Trees on site</a:t>
            </a:r>
          </a:p>
        </p:txBody>
      </p:sp>
      <p:sp>
        <p:nvSpPr>
          <p:cNvPr id="21" name="Shade and cooling">
            <a:extLst>
              <a:ext uri="{FF2B5EF4-FFF2-40B4-BE49-F238E27FC236}">
                <a16:creationId xmlns:a16="http://schemas.microsoft.com/office/drawing/2014/main" id="{76927E2A-506A-44AE-A3F2-60CAFDE4853A}"/>
              </a:ext>
            </a:extLst>
          </p:cNvPr>
          <p:cNvSpPr>
            <a:spLocks noGrp="1"/>
          </p:cNvSpPr>
          <p:nvPr/>
        </p:nvSpPr>
        <p:spPr>
          <a:xfrm>
            <a:off x="4733925" y="3638550"/>
            <a:ext cx="3810000" cy="523875"/>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Shade and cooling</a:t>
            </a:r>
          </a:p>
        </p:txBody>
      </p:sp>
      <p:sp>
        <p:nvSpPr>
          <p:cNvPr id="22" name="Staff well-being">
            <a:extLst>
              <a:ext uri="{FF2B5EF4-FFF2-40B4-BE49-F238E27FC236}">
                <a16:creationId xmlns:a16="http://schemas.microsoft.com/office/drawing/2014/main" id="{10BC2329-2EE8-43C1-86BF-D4C4FD1905B1}"/>
              </a:ext>
            </a:extLst>
          </p:cNvPr>
          <p:cNvSpPr>
            <a:spLocks noGrp="1"/>
          </p:cNvSpPr>
          <p:nvPr/>
        </p:nvSpPr>
        <p:spPr>
          <a:xfrm>
            <a:off x="4733925" y="3933825"/>
            <a:ext cx="3810000" cy="523875"/>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Staff well-being</a:t>
            </a:r>
          </a:p>
        </p:txBody>
      </p:sp>
      <p:sp>
        <p:nvSpPr>
          <p:cNvPr id="23" name="Carbon absorption">
            <a:extLst>
              <a:ext uri="{FF2B5EF4-FFF2-40B4-BE49-F238E27FC236}">
                <a16:creationId xmlns:a16="http://schemas.microsoft.com/office/drawing/2014/main" id="{DF9934BB-2D3E-472A-88B4-0C35CD6B3B83}"/>
              </a:ext>
            </a:extLst>
          </p:cNvPr>
          <p:cNvSpPr>
            <a:spLocks noGrp="1"/>
          </p:cNvSpPr>
          <p:nvPr/>
        </p:nvSpPr>
        <p:spPr>
          <a:xfrm>
            <a:off x="4733925" y="4229100"/>
            <a:ext cx="3810000" cy="523875"/>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Carbon absorption</a:t>
            </a:r>
          </a:p>
        </p:txBody>
      </p:sp>
      <p:pic>
        <p:nvPicPr>
          <p:cNvPr id="50" name="Picture 49"/>
          <p:cNvPicPr>
            <a:picLocks noChangeAspect="1"/>
          </p:cNvPicPr>
          <p:nvPr/>
        </p:nvPicPr>
        <p:blipFill>
          <a:blip r:embed="rId3"/>
          <a:stretch/>
        </p:blipFill>
        <p:spPr>
          <a:xfrm>
            <a:off x="499570" y="4829175"/>
            <a:ext cx="315310" cy="152400"/>
          </a:xfrm>
          <a:prstGeom prst="rect">
            <a:avLst/>
          </a:prstGeom>
        </p:spPr>
      </p:pic>
      <p:sp>
        <p:nvSpPr>
          <p:cNvPr id="25" name="www.newton.university">
            <a:extLst>
              <a:ext uri="{FF2B5EF4-FFF2-40B4-BE49-F238E27FC236}">
                <a16:creationId xmlns:a16="http://schemas.microsoft.com/office/drawing/2014/main" id="{034DFF2E-BCD7-4A55-AA7B-ECD91D647857}"/>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26" name="15">
            <a:extLst>
              <a:ext uri="{FF2B5EF4-FFF2-40B4-BE49-F238E27FC236}">
                <a16:creationId xmlns:a16="http://schemas.microsoft.com/office/drawing/2014/main" id="{650EB499-DEFC-4958-B349-56D35E2584A5}"/>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58665B"/>
                </a:solidFill>
                <a:latin typeface="Arial"/>
                <a:ea typeface="Arial"/>
                <a:cs typeface="Arial"/>
              </a:defRPr>
            </a:pPr>
            <a:r>
              <a:rPr sz="1125" b="0" i="0">
                <a:solidFill>
                  <a:srgbClr val="58665B"/>
                </a:solidFill>
                <a:latin typeface="Arial"/>
                <a:ea typeface="Arial"/>
                <a:cs typeface="Arial"/>
              </a:rPr>
              <a:t>15</a:t>
            </a:r>
          </a:p>
        </p:txBody>
      </p:sp>
    </p:spTree>
    <p:extLst>
      <p:ext uri="{BB962C8B-B14F-4D97-AF65-F5344CB8AC3E}">
        <p14:creationId xmlns:p14="http://schemas.microsoft.com/office/powerpoint/2010/main" val="17841592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7" name="Green Roofs as a Business Investment">
            <a:extLst>
              <a:ext uri="{FF2B5EF4-FFF2-40B4-BE49-F238E27FC236}">
                <a16:creationId xmlns:a16="http://schemas.microsoft.com/office/drawing/2014/main" id="{7A57017F-5253-488B-9C15-9E0414E6C571}"/>
              </a:ext>
            </a:extLst>
          </p:cNvPr>
          <p:cNvSpPr>
            <a:spLocks noGrp="1"/>
          </p:cNvSpPr>
          <p:nvPr/>
        </p:nvSpPr>
        <p:spPr>
          <a:xfrm>
            <a:off x="495300" y="381000"/>
            <a:ext cx="8096250" cy="952500"/>
          </a:xfrm>
          <a:prstGeom prst="rect">
            <a:avLst/>
          </a:prstGeom>
          <a:noFill/>
          <a:ln w="0">
            <a:noFill/>
          </a:ln>
        </p:spPr>
        <p:txBody>
          <a:bodyPr wrap="square" lIns="0" tIns="0" rIns="0" bIns="0" anchor="t">
            <a:noAutofit/>
          </a:bodyPr>
          <a:lstStyle/>
          <a:p>
            <a:pPr>
              <a:defRPr sz="2625" b="0" i="0">
                <a:solidFill>
                  <a:srgbClr val="173E35"/>
                </a:solidFill>
                <a:latin typeface="Georgia"/>
                <a:ea typeface="Georgia"/>
                <a:cs typeface="Georgia"/>
              </a:defRPr>
            </a:pPr>
            <a:r>
              <a:rPr sz="2625" b="0" i="0">
                <a:solidFill>
                  <a:srgbClr val="173E35"/>
                </a:solidFill>
                <a:latin typeface="Georgia"/>
                <a:ea typeface="Georgia"/>
                <a:cs typeface="Georgia"/>
              </a:rPr>
              <a:t>Green Roofs as a Business Investment</a:t>
            </a:r>
          </a:p>
        </p:txBody>
      </p:sp>
      <p:pic>
        <p:nvPicPr>
          <p:cNvPr id="8" name="Picture 7"/>
          <p:cNvPicPr>
            <a:picLocks noChangeAspect="1"/>
          </p:cNvPicPr>
          <p:nvPr/>
        </p:nvPicPr>
        <p:blipFill>
          <a:blip r:embed="rId3"/>
          <a:srcRect t="7383" b="7383"/>
          <a:stretch>
            <a:fillRect/>
          </a:stretch>
        </p:blipFill>
        <p:spPr>
          <a:xfrm>
            <a:off x="495300" y="1381125"/>
            <a:ext cx="5095875" cy="3257550"/>
          </a:xfrm>
          <a:prstGeom prst="rect">
            <a:avLst/>
          </a:prstGeom>
        </p:spPr>
      </p:pic>
      <p:sp>
        <p:nvSpPr>
          <p:cNvPr id="3" name="Green roof, Chicago — for the building owner ">
            <a:extLst>
              <a:ext uri="{FF2B5EF4-FFF2-40B4-BE49-F238E27FC236}">
                <a16:creationId xmlns:a16="http://schemas.microsoft.com/office/drawing/2014/main" id="{801CAA97-4F66-46EB-A240-CB7A35676614}"/>
              </a:ext>
            </a:extLst>
          </p:cNvPr>
          <p:cNvSpPr>
            <a:spLocks noGrp="1"/>
          </p:cNvSpPr>
          <p:nvPr/>
        </p:nvSpPr>
        <p:spPr>
          <a:xfrm>
            <a:off x="6010275" y="1809750"/>
            <a:ext cx="2638425" cy="2524125"/>
          </a:xfrm>
          <a:prstGeom prst="rect">
            <a:avLst/>
          </a:prstGeom>
          <a:noFill/>
          <a:ln w="0">
            <a:noFill/>
          </a:ln>
        </p:spPr>
        <p:txBody>
          <a:bodyPr wrap="square" lIns="0" tIns="0" rIns="0" bIns="0" anchor="t">
            <a:noAutofit/>
          </a:bodyPr>
          <a:lstStyle/>
          <a:p>
            <a:pPr>
              <a:defRPr sz="1725" b="0" i="0">
                <a:solidFill>
                  <a:srgbClr val="173E35"/>
                </a:solidFill>
                <a:latin typeface="Georgia"/>
                <a:ea typeface="Georgia"/>
                <a:cs typeface="Georgia"/>
              </a:defRPr>
            </a:pPr>
            <a:r>
              <a:rPr sz="1725" b="0" i="0">
                <a:solidFill>
                  <a:srgbClr val="173E35"/>
                </a:solidFill>
                <a:latin typeface="Georgia"/>
                <a:ea typeface="Georgia"/>
                <a:cs typeface="Georgia"/>
              </a:rPr>
              <a:t>Green roof, Chicago — for the building owner it lowers cooling costs, extends the life of the roof and reduces stormwater charges. Companies make the same case for their own offices, warehouses and factories.</a:t>
            </a:r>
          </a:p>
        </p:txBody>
      </p:sp>
      <p:pic>
        <p:nvPicPr>
          <p:cNvPr id="10" name="Picture 9"/>
          <p:cNvPicPr>
            <a:picLocks noChangeAspect="1"/>
          </p:cNvPicPr>
          <p:nvPr/>
        </p:nvPicPr>
        <p:blipFill>
          <a:blip r:embed="rId4"/>
          <a:stretch/>
        </p:blipFill>
        <p:spPr>
          <a:xfrm>
            <a:off x="499570" y="4829175"/>
            <a:ext cx="315310" cy="152400"/>
          </a:xfrm>
          <a:prstGeom prst="rect">
            <a:avLst/>
          </a:prstGeom>
        </p:spPr>
      </p:pic>
      <p:sp>
        <p:nvSpPr>
          <p:cNvPr id="5" name="www.newton.university">
            <a:extLst>
              <a:ext uri="{FF2B5EF4-FFF2-40B4-BE49-F238E27FC236}">
                <a16:creationId xmlns:a16="http://schemas.microsoft.com/office/drawing/2014/main" id="{03FD44BD-682A-4406-A0B4-0E06DC21F5F7}"/>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6" name="16">
            <a:extLst>
              <a:ext uri="{FF2B5EF4-FFF2-40B4-BE49-F238E27FC236}">
                <a16:creationId xmlns:a16="http://schemas.microsoft.com/office/drawing/2014/main" id="{A637E9AB-96BA-4FD4-8F5E-E075A45B28C7}"/>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58665B"/>
                </a:solidFill>
                <a:latin typeface="Arial"/>
                <a:ea typeface="Arial"/>
                <a:cs typeface="Arial"/>
              </a:defRPr>
            </a:pPr>
            <a:r>
              <a:rPr sz="1125" b="0" i="0">
                <a:solidFill>
                  <a:srgbClr val="58665B"/>
                </a:solidFill>
                <a:latin typeface="Arial"/>
                <a:ea typeface="Arial"/>
                <a:cs typeface="Arial"/>
              </a:rPr>
              <a:t>16</a:t>
            </a:r>
          </a:p>
        </p:txBody>
      </p:sp>
    </p:spTree>
    <p:extLst>
      <p:ext uri="{BB962C8B-B14F-4D97-AF65-F5344CB8AC3E}">
        <p14:creationId xmlns:p14="http://schemas.microsoft.com/office/powerpoint/2010/main" val="6983535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33" name="Editorial rule">
            <a:extLst>
              <a:ext uri="{FF2B5EF4-FFF2-40B4-BE49-F238E27FC236}">
                <a16:creationId xmlns:a16="http://schemas.microsoft.com/office/drawing/2014/main" id="{4599F54A-6474-47DC-B55A-D70642DA1C05}"/>
              </a:ext>
            </a:extLst>
          </p:cNvPr>
          <p:cNvSpPr>
            <a:spLocks noGrp="1"/>
          </p:cNvSpPr>
          <p:nvPr/>
        </p:nvSpPr>
        <p:spPr>
          <a:xfrm>
            <a:off x="495300" y="1066800"/>
            <a:ext cx="8153400" cy="7620"/>
          </a:xfrm>
          <a:prstGeom prst="rect">
            <a:avLst/>
          </a:prstGeom>
          <a:solidFill>
            <a:srgbClr val="B7C3B1"/>
          </a:solidFill>
          <a:ln w="0">
            <a:noFill/>
          </a:ln>
        </p:spPr>
        <p:txBody>
          <a:bodyPr/>
          <a:lstStyle/>
          <a:p>
            <a:endParaRPr lang="en-US"/>
          </a:p>
        </p:txBody>
      </p:sp>
      <p:sp>
        <p:nvSpPr>
          <p:cNvPr id="2" name="Editorial rule">
            <a:extLst>
              <a:ext uri="{FF2B5EF4-FFF2-40B4-BE49-F238E27FC236}">
                <a16:creationId xmlns:a16="http://schemas.microsoft.com/office/drawing/2014/main" id="{649CE20C-9361-4745-A95B-0C9CD13168CE}"/>
              </a:ext>
            </a:extLst>
          </p:cNvPr>
          <p:cNvSpPr>
            <a:spLocks noGrp="1"/>
          </p:cNvSpPr>
          <p:nvPr/>
        </p:nvSpPr>
        <p:spPr>
          <a:xfrm>
            <a:off x="495300" y="1052513"/>
            <a:ext cx="552450" cy="28575"/>
          </a:xfrm>
          <a:prstGeom prst="rect">
            <a:avLst/>
          </a:prstGeom>
          <a:solidFill>
            <a:srgbClr val="B56647"/>
          </a:solidFill>
          <a:ln w="0">
            <a:noFill/>
          </a:ln>
        </p:spPr>
        <p:txBody>
          <a:bodyPr/>
          <a:lstStyle/>
          <a:p>
            <a:endParaRPr lang="en-US"/>
          </a:p>
        </p:txBody>
      </p:sp>
      <p:sp>
        <p:nvSpPr>
          <p:cNvPr id="3" name="Editorial frame">
            <a:extLst>
              <a:ext uri="{FF2B5EF4-FFF2-40B4-BE49-F238E27FC236}">
                <a16:creationId xmlns:a16="http://schemas.microsoft.com/office/drawing/2014/main" id="{763996C0-1295-450D-B837-7C116CB1213A}"/>
              </a:ext>
            </a:extLst>
          </p:cNvPr>
          <p:cNvSpPr>
            <a:spLocks noGrp="1"/>
          </p:cNvSpPr>
          <p:nvPr/>
        </p:nvSpPr>
        <p:spPr>
          <a:xfrm>
            <a:off x="361950" y="1809750"/>
            <a:ext cx="2019300" cy="1533525"/>
          </a:xfrm>
          <a:prstGeom prst="rect">
            <a:avLst/>
          </a:prstGeom>
          <a:solidFill>
            <a:srgbClr val="E6ECDF"/>
          </a:solidFill>
          <a:ln w="8573">
            <a:solidFill>
              <a:srgbClr val="B7C5AB"/>
            </a:solidFill>
          </a:ln>
        </p:spPr>
        <p:txBody>
          <a:bodyPr/>
          <a:lstStyle/>
          <a:p>
            <a:endParaRPr lang="en-US"/>
          </a:p>
        </p:txBody>
      </p:sp>
      <p:sp>
        <p:nvSpPr>
          <p:cNvPr id="4" name="Editorial rule">
            <a:extLst>
              <a:ext uri="{FF2B5EF4-FFF2-40B4-BE49-F238E27FC236}">
                <a16:creationId xmlns:a16="http://schemas.microsoft.com/office/drawing/2014/main" id="{FD67FCD1-43E1-4AF1-B6AF-2FC3296CF352}"/>
              </a:ext>
            </a:extLst>
          </p:cNvPr>
          <p:cNvSpPr>
            <a:spLocks noGrp="1"/>
          </p:cNvSpPr>
          <p:nvPr/>
        </p:nvSpPr>
        <p:spPr>
          <a:xfrm>
            <a:off x="361950" y="1809750"/>
            <a:ext cx="2019300" cy="28575"/>
          </a:xfrm>
          <a:prstGeom prst="rect">
            <a:avLst/>
          </a:prstGeom>
          <a:solidFill>
            <a:srgbClr val="173E35"/>
          </a:solidFill>
          <a:ln w="0">
            <a:noFill/>
          </a:ln>
        </p:spPr>
        <p:txBody>
          <a:bodyPr/>
          <a:lstStyle/>
          <a:p>
            <a:endParaRPr lang="en-US"/>
          </a:p>
        </p:txBody>
      </p:sp>
      <p:sp>
        <p:nvSpPr>
          <p:cNvPr id="5" name="Editorial frame">
            <a:extLst>
              <a:ext uri="{FF2B5EF4-FFF2-40B4-BE49-F238E27FC236}">
                <a16:creationId xmlns:a16="http://schemas.microsoft.com/office/drawing/2014/main" id="{A30D2348-303E-436F-85E7-4A6E853ED97D}"/>
              </a:ext>
            </a:extLst>
          </p:cNvPr>
          <p:cNvSpPr>
            <a:spLocks noGrp="1"/>
          </p:cNvSpPr>
          <p:nvPr/>
        </p:nvSpPr>
        <p:spPr>
          <a:xfrm>
            <a:off x="2419350" y="1809750"/>
            <a:ext cx="2019300" cy="1533525"/>
          </a:xfrm>
          <a:prstGeom prst="rect">
            <a:avLst/>
          </a:prstGeom>
          <a:solidFill>
            <a:srgbClr val="ECEADD"/>
          </a:solidFill>
          <a:ln w="8573">
            <a:solidFill>
              <a:srgbClr val="B7C5AB"/>
            </a:solidFill>
          </a:ln>
        </p:spPr>
        <p:txBody>
          <a:bodyPr/>
          <a:lstStyle/>
          <a:p>
            <a:endParaRPr lang="en-US"/>
          </a:p>
        </p:txBody>
      </p:sp>
      <p:sp>
        <p:nvSpPr>
          <p:cNvPr id="6" name="Editorial rule">
            <a:extLst>
              <a:ext uri="{FF2B5EF4-FFF2-40B4-BE49-F238E27FC236}">
                <a16:creationId xmlns:a16="http://schemas.microsoft.com/office/drawing/2014/main" id="{49FD3F3B-A74D-449E-968C-F9961C14EEB6}"/>
              </a:ext>
            </a:extLst>
          </p:cNvPr>
          <p:cNvSpPr>
            <a:spLocks noGrp="1"/>
          </p:cNvSpPr>
          <p:nvPr/>
        </p:nvSpPr>
        <p:spPr>
          <a:xfrm>
            <a:off x="2419350" y="1809750"/>
            <a:ext cx="2019300" cy="28575"/>
          </a:xfrm>
          <a:prstGeom prst="rect">
            <a:avLst/>
          </a:prstGeom>
          <a:solidFill>
            <a:srgbClr val="A8916D"/>
          </a:solidFill>
          <a:ln w="0">
            <a:noFill/>
          </a:ln>
        </p:spPr>
        <p:txBody>
          <a:bodyPr/>
          <a:lstStyle/>
          <a:p>
            <a:endParaRPr lang="en-US"/>
          </a:p>
        </p:txBody>
      </p:sp>
      <p:sp>
        <p:nvSpPr>
          <p:cNvPr id="7" name="Editorial frame">
            <a:extLst>
              <a:ext uri="{FF2B5EF4-FFF2-40B4-BE49-F238E27FC236}">
                <a16:creationId xmlns:a16="http://schemas.microsoft.com/office/drawing/2014/main" id="{AE18352D-1430-4EC9-9992-3CD1CFA81ACB}"/>
              </a:ext>
            </a:extLst>
          </p:cNvPr>
          <p:cNvSpPr>
            <a:spLocks noGrp="1"/>
          </p:cNvSpPr>
          <p:nvPr/>
        </p:nvSpPr>
        <p:spPr>
          <a:xfrm>
            <a:off x="4476750" y="1809750"/>
            <a:ext cx="2019300" cy="1533525"/>
          </a:xfrm>
          <a:prstGeom prst="rect">
            <a:avLst/>
          </a:prstGeom>
          <a:solidFill>
            <a:srgbClr val="E6ECDF"/>
          </a:solidFill>
          <a:ln w="8573">
            <a:solidFill>
              <a:srgbClr val="B7C5AB"/>
            </a:solidFill>
          </a:ln>
        </p:spPr>
        <p:txBody>
          <a:bodyPr/>
          <a:lstStyle/>
          <a:p>
            <a:endParaRPr lang="en-US"/>
          </a:p>
        </p:txBody>
      </p:sp>
      <p:sp>
        <p:nvSpPr>
          <p:cNvPr id="8" name="Editorial rule">
            <a:extLst>
              <a:ext uri="{FF2B5EF4-FFF2-40B4-BE49-F238E27FC236}">
                <a16:creationId xmlns:a16="http://schemas.microsoft.com/office/drawing/2014/main" id="{65CEB57A-FEE7-4CD3-9DA0-2B14954DC5EB}"/>
              </a:ext>
            </a:extLst>
          </p:cNvPr>
          <p:cNvSpPr>
            <a:spLocks noGrp="1"/>
          </p:cNvSpPr>
          <p:nvPr/>
        </p:nvSpPr>
        <p:spPr>
          <a:xfrm>
            <a:off x="4476750" y="1809750"/>
            <a:ext cx="2019300" cy="28575"/>
          </a:xfrm>
          <a:prstGeom prst="rect">
            <a:avLst/>
          </a:prstGeom>
          <a:solidFill>
            <a:srgbClr val="173E35"/>
          </a:solidFill>
          <a:ln w="0">
            <a:noFill/>
          </a:ln>
        </p:spPr>
        <p:txBody>
          <a:bodyPr/>
          <a:lstStyle/>
          <a:p>
            <a:endParaRPr lang="en-US"/>
          </a:p>
        </p:txBody>
      </p:sp>
      <p:sp>
        <p:nvSpPr>
          <p:cNvPr id="9" name="Editorial frame">
            <a:extLst>
              <a:ext uri="{FF2B5EF4-FFF2-40B4-BE49-F238E27FC236}">
                <a16:creationId xmlns:a16="http://schemas.microsoft.com/office/drawing/2014/main" id="{B457A9B6-EE91-4656-8FE8-4AD85B174D59}"/>
              </a:ext>
            </a:extLst>
          </p:cNvPr>
          <p:cNvSpPr>
            <a:spLocks noGrp="1"/>
          </p:cNvSpPr>
          <p:nvPr/>
        </p:nvSpPr>
        <p:spPr>
          <a:xfrm>
            <a:off x="6534150" y="1809750"/>
            <a:ext cx="2019300" cy="1533525"/>
          </a:xfrm>
          <a:prstGeom prst="rect">
            <a:avLst/>
          </a:prstGeom>
          <a:solidFill>
            <a:srgbClr val="ECEADD"/>
          </a:solidFill>
          <a:ln w="8573">
            <a:solidFill>
              <a:srgbClr val="B7C5AB"/>
            </a:solidFill>
          </a:ln>
        </p:spPr>
        <p:txBody>
          <a:bodyPr/>
          <a:lstStyle/>
          <a:p>
            <a:endParaRPr lang="en-US"/>
          </a:p>
        </p:txBody>
      </p:sp>
      <p:sp>
        <p:nvSpPr>
          <p:cNvPr id="10" name="Editorial rule">
            <a:extLst>
              <a:ext uri="{FF2B5EF4-FFF2-40B4-BE49-F238E27FC236}">
                <a16:creationId xmlns:a16="http://schemas.microsoft.com/office/drawing/2014/main" id="{F803F847-0B32-4EDA-9FAA-720F9C6C3035}"/>
              </a:ext>
            </a:extLst>
          </p:cNvPr>
          <p:cNvSpPr>
            <a:spLocks noGrp="1"/>
          </p:cNvSpPr>
          <p:nvPr/>
        </p:nvSpPr>
        <p:spPr>
          <a:xfrm>
            <a:off x="6534150" y="1809750"/>
            <a:ext cx="2019300" cy="28575"/>
          </a:xfrm>
          <a:prstGeom prst="rect">
            <a:avLst/>
          </a:prstGeom>
          <a:solidFill>
            <a:srgbClr val="A8916D"/>
          </a:solidFill>
          <a:ln w="0">
            <a:noFill/>
          </a:ln>
        </p:spPr>
        <p:txBody>
          <a:bodyPr/>
          <a:lstStyle/>
          <a:p>
            <a:endParaRPr lang="en-US"/>
          </a:p>
        </p:txBody>
      </p:sp>
      <p:sp>
        <p:nvSpPr>
          <p:cNvPr id="11" name="Editorial frame">
            <a:extLst>
              <a:ext uri="{FF2B5EF4-FFF2-40B4-BE49-F238E27FC236}">
                <a16:creationId xmlns:a16="http://schemas.microsoft.com/office/drawing/2014/main" id="{995B0712-4E71-4981-BA6A-CDE245927DDE}"/>
              </a:ext>
            </a:extLst>
          </p:cNvPr>
          <p:cNvSpPr>
            <a:spLocks noGrp="1"/>
          </p:cNvSpPr>
          <p:nvPr/>
        </p:nvSpPr>
        <p:spPr>
          <a:xfrm>
            <a:off x="361950" y="3429000"/>
            <a:ext cx="8420100" cy="1323975"/>
          </a:xfrm>
          <a:prstGeom prst="rect">
            <a:avLst/>
          </a:prstGeom>
          <a:solidFill>
            <a:srgbClr val="EEE7D9"/>
          </a:solidFill>
          <a:ln w="8573">
            <a:solidFill>
              <a:srgbClr val="C7B499"/>
            </a:solidFill>
          </a:ln>
        </p:spPr>
        <p:txBody>
          <a:bodyPr/>
          <a:lstStyle/>
          <a:p>
            <a:endParaRPr lang="en-US"/>
          </a:p>
        </p:txBody>
      </p:sp>
      <p:sp>
        <p:nvSpPr>
          <p:cNvPr id="12" name="Natural Capital and Ecosystem Services">
            <a:extLst>
              <a:ext uri="{FF2B5EF4-FFF2-40B4-BE49-F238E27FC236}">
                <a16:creationId xmlns:a16="http://schemas.microsoft.com/office/drawing/2014/main" id="{02DA2906-23D2-4966-96E3-C7CBC81CB97E}"/>
              </a:ext>
            </a:extLst>
          </p:cNvPr>
          <p:cNvSpPr>
            <a:spLocks noGrp="1"/>
          </p:cNvSpPr>
          <p:nvPr/>
        </p:nvSpPr>
        <p:spPr>
          <a:xfrm>
            <a:off x="495300" y="381000"/>
            <a:ext cx="8096250" cy="952500"/>
          </a:xfrm>
          <a:prstGeom prst="rect">
            <a:avLst/>
          </a:prstGeom>
          <a:noFill/>
          <a:ln w="0">
            <a:noFill/>
          </a:ln>
        </p:spPr>
        <p:txBody>
          <a:bodyPr wrap="square" lIns="0" tIns="0" rIns="0" bIns="0" anchor="t">
            <a:noAutofit/>
          </a:bodyPr>
          <a:lstStyle/>
          <a:p>
            <a:pPr>
              <a:defRPr sz="2550" b="0" i="0">
                <a:solidFill>
                  <a:srgbClr val="173E35"/>
                </a:solidFill>
                <a:latin typeface="Georgia"/>
                <a:ea typeface="Georgia"/>
                <a:cs typeface="Georgia"/>
              </a:defRPr>
            </a:pPr>
            <a:r>
              <a:rPr sz="2550" b="0" i="0">
                <a:solidFill>
                  <a:srgbClr val="173E35"/>
                </a:solidFill>
                <a:latin typeface="Georgia"/>
                <a:ea typeface="Georgia"/>
                <a:cs typeface="Georgia"/>
              </a:rPr>
              <a:t>Natural Capital and Ecosystem Services</a:t>
            </a:r>
          </a:p>
        </p:txBody>
      </p:sp>
      <p:sp>
        <p:nvSpPr>
          <p:cNvPr id="13" name="Nature provides four categories of services w">
            <a:extLst>
              <a:ext uri="{FF2B5EF4-FFF2-40B4-BE49-F238E27FC236}">
                <a16:creationId xmlns:a16="http://schemas.microsoft.com/office/drawing/2014/main" id="{8DEEDC58-FAF2-47C5-96AB-62B9D268A5D6}"/>
              </a:ext>
            </a:extLst>
          </p:cNvPr>
          <p:cNvSpPr>
            <a:spLocks noGrp="1"/>
          </p:cNvSpPr>
          <p:nvPr/>
        </p:nvSpPr>
        <p:spPr>
          <a:xfrm>
            <a:off x="495300" y="1276350"/>
            <a:ext cx="8001000" cy="381000"/>
          </a:xfrm>
          <a:prstGeom prst="rect">
            <a:avLst/>
          </a:prstGeom>
          <a:noFill/>
          <a:ln w="0">
            <a:noFill/>
          </a:ln>
        </p:spPr>
        <p:txBody>
          <a:bodyPr wrap="square" lIns="0" tIns="0" rIns="0" bIns="0" anchor="t">
            <a:noAutofit/>
          </a:bodyPr>
          <a:lstStyle/>
          <a:p>
            <a:pPr>
              <a:defRPr sz="1575" b="0" i="0">
                <a:solidFill>
                  <a:srgbClr val="58665B"/>
                </a:solidFill>
                <a:latin typeface="Arial"/>
                <a:ea typeface="Arial"/>
                <a:cs typeface="Arial"/>
              </a:defRPr>
            </a:pPr>
            <a:r>
              <a:rPr sz="1575" b="0" i="0">
                <a:solidFill>
                  <a:srgbClr val="58665B"/>
                </a:solidFill>
                <a:latin typeface="Arial"/>
                <a:ea typeface="Arial"/>
                <a:cs typeface="Arial"/>
              </a:rPr>
              <a:t>Nature provides four categories of services with measurable economic value:</a:t>
            </a:r>
          </a:p>
        </p:txBody>
      </p:sp>
      <p:sp>
        <p:nvSpPr>
          <p:cNvPr id="14" name="Provisioning">
            <a:extLst>
              <a:ext uri="{FF2B5EF4-FFF2-40B4-BE49-F238E27FC236}">
                <a16:creationId xmlns:a16="http://schemas.microsoft.com/office/drawing/2014/main" id="{E013C210-36F3-4491-9F6A-2035EBC3B2D9}"/>
              </a:ext>
            </a:extLst>
          </p:cNvPr>
          <p:cNvSpPr>
            <a:spLocks noGrp="1"/>
          </p:cNvSpPr>
          <p:nvPr/>
        </p:nvSpPr>
        <p:spPr>
          <a:xfrm>
            <a:off x="495300" y="1933575"/>
            <a:ext cx="1895475" cy="609600"/>
          </a:xfrm>
          <a:prstGeom prst="rect">
            <a:avLst/>
          </a:prstGeom>
          <a:noFill/>
          <a:ln w="0">
            <a:noFill/>
          </a:ln>
        </p:spPr>
        <p:txBody>
          <a:bodyPr wrap="square" lIns="0" tIns="0" rIns="0" bIns="0" anchor="t">
            <a:noAutofit/>
          </a:bodyPr>
          <a:lstStyle/>
          <a:p>
            <a:pPr>
              <a:defRPr sz="1875" b="0" i="0">
                <a:solidFill>
                  <a:srgbClr val="173E35"/>
                </a:solidFill>
                <a:latin typeface="Georgia"/>
                <a:ea typeface="Georgia"/>
                <a:cs typeface="Georgia"/>
              </a:defRPr>
            </a:pPr>
            <a:r>
              <a:rPr sz="1875" b="0" i="0">
                <a:solidFill>
                  <a:srgbClr val="173E35"/>
                </a:solidFill>
                <a:latin typeface="Georgia"/>
                <a:ea typeface="Georgia"/>
                <a:cs typeface="Georgia"/>
              </a:rPr>
              <a:t>Provisioning</a:t>
            </a:r>
          </a:p>
        </p:txBody>
      </p:sp>
      <p:sp>
        <p:nvSpPr>
          <p:cNvPr id="15" name="Food">
            <a:extLst>
              <a:ext uri="{FF2B5EF4-FFF2-40B4-BE49-F238E27FC236}">
                <a16:creationId xmlns:a16="http://schemas.microsoft.com/office/drawing/2014/main" id="{1017243F-4C56-43A1-80BF-6E59A832D144}"/>
              </a:ext>
            </a:extLst>
          </p:cNvPr>
          <p:cNvSpPr>
            <a:spLocks noGrp="1"/>
          </p:cNvSpPr>
          <p:nvPr/>
        </p:nvSpPr>
        <p:spPr>
          <a:xfrm>
            <a:off x="495300" y="2400300"/>
            <a:ext cx="1895475" cy="500063"/>
          </a:xfrm>
          <a:prstGeom prst="rect">
            <a:avLst/>
          </a:prstGeom>
          <a:noFill/>
          <a:ln w="0">
            <a:noFill/>
          </a:ln>
        </p:spPr>
        <p:txBody>
          <a:bodyPr wrap="square" lIns="0" tIns="0" rIns="0" bIns="0" anchor="t">
            <a:noAutofit/>
          </a:bodyPr>
          <a:lstStyle/>
          <a:p>
            <a:pPr>
              <a:defRPr sz="1575" b="0" i="0">
                <a:solidFill>
                  <a:srgbClr val="173E35"/>
                </a:solidFill>
                <a:latin typeface="Arial"/>
                <a:ea typeface="Arial"/>
                <a:cs typeface="Arial"/>
              </a:defRPr>
            </a:pPr>
            <a:r>
              <a:rPr sz="1575" b="0" i="0">
                <a:solidFill>
                  <a:srgbClr val="173E35"/>
                </a:solidFill>
                <a:latin typeface="Arial"/>
                <a:ea typeface="Arial"/>
                <a:cs typeface="Arial"/>
              </a:rPr>
              <a:t>Food</a:t>
            </a:r>
          </a:p>
        </p:txBody>
      </p:sp>
      <p:sp>
        <p:nvSpPr>
          <p:cNvPr id="16" name="Water">
            <a:extLst>
              <a:ext uri="{FF2B5EF4-FFF2-40B4-BE49-F238E27FC236}">
                <a16:creationId xmlns:a16="http://schemas.microsoft.com/office/drawing/2014/main" id="{6B736865-F27D-4132-B0CF-4F4E8181C43E}"/>
              </a:ext>
            </a:extLst>
          </p:cNvPr>
          <p:cNvSpPr>
            <a:spLocks noGrp="1"/>
          </p:cNvSpPr>
          <p:nvPr/>
        </p:nvSpPr>
        <p:spPr>
          <a:xfrm>
            <a:off x="495300" y="2705100"/>
            <a:ext cx="1895475" cy="500063"/>
          </a:xfrm>
          <a:prstGeom prst="rect">
            <a:avLst/>
          </a:prstGeom>
          <a:noFill/>
          <a:ln w="0">
            <a:noFill/>
          </a:ln>
        </p:spPr>
        <p:txBody>
          <a:bodyPr wrap="square" lIns="0" tIns="0" rIns="0" bIns="0" anchor="t">
            <a:noAutofit/>
          </a:bodyPr>
          <a:lstStyle/>
          <a:p>
            <a:pPr>
              <a:defRPr sz="1575" b="0" i="0">
                <a:solidFill>
                  <a:srgbClr val="173E35"/>
                </a:solidFill>
                <a:latin typeface="Arial"/>
                <a:ea typeface="Arial"/>
                <a:cs typeface="Arial"/>
              </a:defRPr>
            </a:pPr>
            <a:r>
              <a:rPr sz="1575" b="0" i="0">
                <a:solidFill>
                  <a:srgbClr val="173E35"/>
                </a:solidFill>
                <a:latin typeface="Arial"/>
                <a:ea typeface="Arial"/>
                <a:cs typeface="Arial"/>
              </a:rPr>
              <a:t>Water</a:t>
            </a:r>
          </a:p>
        </p:txBody>
      </p:sp>
      <p:sp>
        <p:nvSpPr>
          <p:cNvPr id="17" name="Raw materials">
            <a:extLst>
              <a:ext uri="{FF2B5EF4-FFF2-40B4-BE49-F238E27FC236}">
                <a16:creationId xmlns:a16="http://schemas.microsoft.com/office/drawing/2014/main" id="{F9177DB4-72F9-4AD9-8A27-6E5E07970CC1}"/>
              </a:ext>
            </a:extLst>
          </p:cNvPr>
          <p:cNvSpPr>
            <a:spLocks noGrp="1"/>
          </p:cNvSpPr>
          <p:nvPr/>
        </p:nvSpPr>
        <p:spPr>
          <a:xfrm>
            <a:off x="495300" y="3009900"/>
            <a:ext cx="1895475" cy="500063"/>
          </a:xfrm>
          <a:prstGeom prst="rect">
            <a:avLst/>
          </a:prstGeom>
          <a:noFill/>
          <a:ln w="0">
            <a:noFill/>
          </a:ln>
        </p:spPr>
        <p:txBody>
          <a:bodyPr wrap="square" lIns="0" tIns="0" rIns="0" bIns="0" anchor="t">
            <a:noAutofit/>
          </a:bodyPr>
          <a:lstStyle/>
          <a:p>
            <a:pPr>
              <a:defRPr sz="1575" b="0" i="0">
                <a:solidFill>
                  <a:srgbClr val="173E35"/>
                </a:solidFill>
                <a:latin typeface="Arial"/>
                <a:ea typeface="Arial"/>
                <a:cs typeface="Arial"/>
              </a:defRPr>
            </a:pPr>
            <a:r>
              <a:rPr sz="1575" b="0" i="0">
                <a:solidFill>
                  <a:srgbClr val="173E35"/>
                </a:solidFill>
                <a:latin typeface="Arial"/>
                <a:ea typeface="Arial"/>
                <a:cs typeface="Arial"/>
              </a:rPr>
              <a:t>Raw materials</a:t>
            </a:r>
          </a:p>
        </p:txBody>
      </p:sp>
      <p:sp>
        <p:nvSpPr>
          <p:cNvPr id="18" name="Regulating">
            <a:extLst>
              <a:ext uri="{FF2B5EF4-FFF2-40B4-BE49-F238E27FC236}">
                <a16:creationId xmlns:a16="http://schemas.microsoft.com/office/drawing/2014/main" id="{31661820-20C3-47A0-BFD4-C2C6250C916A}"/>
              </a:ext>
            </a:extLst>
          </p:cNvPr>
          <p:cNvSpPr>
            <a:spLocks noGrp="1"/>
          </p:cNvSpPr>
          <p:nvPr/>
        </p:nvSpPr>
        <p:spPr>
          <a:xfrm>
            <a:off x="2552700" y="1933575"/>
            <a:ext cx="1895475" cy="609600"/>
          </a:xfrm>
          <a:prstGeom prst="rect">
            <a:avLst/>
          </a:prstGeom>
          <a:noFill/>
          <a:ln w="0">
            <a:noFill/>
          </a:ln>
        </p:spPr>
        <p:txBody>
          <a:bodyPr wrap="square" lIns="0" tIns="0" rIns="0" bIns="0" anchor="t">
            <a:noAutofit/>
          </a:bodyPr>
          <a:lstStyle/>
          <a:p>
            <a:pPr>
              <a:defRPr sz="1875" b="0" i="0">
                <a:solidFill>
                  <a:srgbClr val="173E35"/>
                </a:solidFill>
                <a:latin typeface="Georgia"/>
                <a:ea typeface="Georgia"/>
                <a:cs typeface="Georgia"/>
              </a:defRPr>
            </a:pPr>
            <a:r>
              <a:rPr sz="1875" b="0" i="0">
                <a:solidFill>
                  <a:srgbClr val="173E35"/>
                </a:solidFill>
                <a:latin typeface="Georgia"/>
                <a:ea typeface="Georgia"/>
                <a:cs typeface="Georgia"/>
              </a:rPr>
              <a:t>Regulating</a:t>
            </a:r>
          </a:p>
        </p:txBody>
      </p:sp>
      <p:sp>
        <p:nvSpPr>
          <p:cNvPr id="19" name="Flood control">
            <a:extLst>
              <a:ext uri="{FF2B5EF4-FFF2-40B4-BE49-F238E27FC236}">
                <a16:creationId xmlns:a16="http://schemas.microsoft.com/office/drawing/2014/main" id="{15289EDC-E1C8-4158-B2C1-339653B93384}"/>
              </a:ext>
            </a:extLst>
          </p:cNvPr>
          <p:cNvSpPr>
            <a:spLocks noGrp="1"/>
          </p:cNvSpPr>
          <p:nvPr/>
        </p:nvSpPr>
        <p:spPr>
          <a:xfrm>
            <a:off x="2552700" y="2400300"/>
            <a:ext cx="1895475" cy="500063"/>
          </a:xfrm>
          <a:prstGeom prst="rect">
            <a:avLst/>
          </a:prstGeom>
          <a:noFill/>
          <a:ln w="0">
            <a:noFill/>
          </a:ln>
        </p:spPr>
        <p:txBody>
          <a:bodyPr wrap="square" lIns="0" tIns="0" rIns="0" bIns="0" anchor="t">
            <a:noAutofit/>
          </a:bodyPr>
          <a:lstStyle/>
          <a:p>
            <a:pPr>
              <a:defRPr sz="1575" b="0" i="0">
                <a:solidFill>
                  <a:srgbClr val="173E35"/>
                </a:solidFill>
                <a:latin typeface="Arial"/>
                <a:ea typeface="Arial"/>
                <a:cs typeface="Arial"/>
              </a:defRPr>
            </a:pPr>
            <a:r>
              <a:rPr sz="1575" b="0" i="0">
                <a:solidFill>
                  <a:srgbClr val="173E35"/>
                </a:solidFill>
                <a:latin typeface="Arial"/>
                <a:ea typeface="Arial"/>
                <a:cs typeface="Arial"/>
              </a:rPr>
              <a:t>Flood control</a:t>
            </a:r>
          </a:p>
        </p:txBody>
      </p:sp>
      <p:sp>
        <p:nvSpPr>
          <p:cNvPr id="20" name="Climate regulation">
            <a:extLst>
              <a:ext uri="{FF2B5EF4-FFF2-40B4-BE49-F238E27FC236}">
                <a16:creationId xmlns:a16="http://schemas.microsoft.com/office/drawing/2014/main" id="{EA83905F-C5C9-4ABD-B11E-FA80E9808516}"/>
              </a:ext>
            </a:extLst>
          </p:cNvPr>
          <p:cNvSpPr>
            <a:spLocks noGrp="1"/>
          </p:cNvSpPr>
          <p:nvPr/>
        </p:nvSpPr>
        <p:spPr>
          <a:xfrm>
            <a:off x="2552700" y="2705100"/>
            <a:ext cx="1895475" cy="500063"/>
          </a:xfrm>
          <a:prstGeom prst="rect">
            <a:avLst/>
          </a:prstGeom>
          <a:noFill/>
          <a:ln w="0">
            <a:noFill/>
          </a:ln>
        </p:spPr>
        <p:txBody>
          <a:bodyPr wrap="square" lIns="0" tIns="0" rIns="0" bIns="0" anchor="t">
            <a:noAutofit/>
          </a:bodyPr>
          <a:lstStyle/>
          <a:p>
            <a:pPr>
              <a:defRPr sz="1575" b="0" i="0">
                <a:solidFill>
                  <a:srgbClr val="173E35"/>
                </a:solidFill>
                <a:latin typeface="Arial"/>
                <a:ea typeface="Arial"/>
                <a:cs typeface="Arial"/>
              </a:defRPr>
            </a:pPr>
            <a:r>
              <a:rPr sz="1575" b="0" i="0">
                <a:solidFill>
                  <a:srgbClr val="173E35"/>
                </a:solidFill>
                <a:latin typeface="Arial"/>
                <a:ea typeface="Arial"/>
                <a:cs typeface="Arial"/>
              </a:rPr>
              <a:t>Climate regulation</a:t>
            </a:r>
          </a:p>
        </p:txBody>
      </p:sp>
      <p:sp>
        <p:nvSpPr>
          <p:cNvPr id="21" name="Pollination">
            <a:extLst>
              <a:ext uri="{FF2B5EF4-FFF2-40B4-BE49-F238E27FC236}">
                <a16:creationId xmlns:a16="http://schemas.microsoft.com/office/drawing/2014/main" id="{8509D085-3E8E-4257-A641-6003E885F802}"/>
              </a:ext>
            </a:extLst>
          </p:cNvPr>
          <p:cNvSpPr>
            <a:spLocks noGrp="1"/>
          </p:cNvSpPr>
          <p:nvPr/>
        </p:nvSpPr>
        <p:spPr>
          <a:xfrm>
            <a:off x="2552700" y="3009900"/>
            <a:ext cx="1895475" cy="500063"/>
          </a:xfrm>
          <a:prstGeom prst="rect">
            <a:avLst/>
          </a:prstGeom>
          <a:noFill/>
          <a:ln w="0">
            <a:noFill/>
          </a:ln>
        </p:spPr>
        <p:txBody>
          <a:bodyPr wrap="square" lIns="0" tIns="0" rIns="0" bIns="0" anchor="t">
            <a:noAutofit/>
          </a:bodyPr>
          <a:lstStyle/>
          <a:p>
            <a:pPr>
              <a:defRPr sz="1575" b="0" i="0">
                <a:solidFill>
                  <a:srgbClr val="173E35"/>
                </a:solidFill>
                <a:latin typeface="Arial"/>
                <a:ea typeface="Arial"/>
                <a:cs typeface="Arial"/>
              </a:defRPr>
            </a:pPr>
            <a:r>
              <a:rPr sz="1575" b="0" i="0">
                <a:solidFill>
                  <a:srgbClr val="173E35"/>
                </a:solidFill>
                <a:latin typeface="Arial"/>
                <a:ea typeface="Arial"/>
                <a:cs typeface="Arial"/>
              </a:rPr>
              <a:t>Pollination</a:t>
            </a:r>
          </a:p>
        </p:txBody>
      </p:sp>
      <p:sp>
        <p:nvSpPr>
          <p:cNvPr id="22" name="Cultural">
            <a:extLst>
              <a:ext uri="{FF2B5EF4-FFF2-40B4-BE49-F238E27FC236}">
                <a16:creationId xmlns:a16="http://schemas.microsoft.com/office/drawing/2014/main" id="{77709022-EFC5-4B3B-8D58-C95909EACF87}"/>
              </a:ext>
            </a:extLst>
          </p:cNvPr>
          <p:cNvSpPr>
            <a:spLocks noGrp="1"/>
          </p:cNvSpPr>
          <p:nvPr/>
        </p:nvSpPr>
        <p:spPr>
          <a:xfrm>
            <a:off x="4610100" y="1933575"/>
            <a:ext cx="1895475" cy="609600"/>
          </a:xfrm>
          <a:prstGeom prst="rect">
            <a:avLst/>
          </a:prstGeom>
          <a:noFill/>
          <a:ln w="0">
            <a:noFill/>
          </a:ln>
        </p:spPr>
        <p:txBody>
          <a:bodyPr wrap="square" lIns="0" tIns="0" rIns="0" bIns="0" anchor="t">
            <a:noAutofit/>
          </a:bodyPr>
          <a:lstStyle/>
          <a:p>
            <a:pPr>
              <a:defRPr sz="1875" b="0" i="0">
                <a:solidFill>
                  <a:srgbClr val="173E35"/>
                </a:solidFill>
                <a:latin typeface="Georgia"/>
                <a:ea typeface="Georgia"/>
                <a:cs typeface="Georgia"/>
              </a:defRPr>
            </a:pPr>
            <a:r>
              <a:rPr sz="1875" b="0" i="0">
                <a:solidFill>
                  <a:srgbClr val="173E35"/>
                </a:solidFill>
                <a:latin typeface="Georgia"/>
                <a:ea typeface="Georgia"/>
                <a:cs typeface="Georgia"/>
              </a:rPr>
              <a:t>Cultural</a:t>
            </a:r>
          </a:p>
        </p:txBody>
      </p:sp>
      <p:sp>
        <p:nvSpPr>
          <p:cNvPr id="23" name="Recreation">
            <a:extLst>
              <a:ext uri="{FF2B5EF4-FFF2-40B4-BE49-F238E27FC236}">
                <a16:creationId xmlns:a16="http://schemas.microsoft.com/office/drawing/2014/main" id="{AD4500E4-F506-48AD-9BA7-426447FE5F13}"/>
              </a:ext>
            </a:extLst>
          </p:cNvPr>
          <p:cNvSpPr>
            <a:spLocks noGrp="1"/>
          </p:cNvSpPr>
          <p:nvPr/>
        </p:nvSpPr>
        <p:spPr>
          <a:xfrm>
            <a:off x="4610100" y="2400300"/>
            <a:ext cx="1895475" cy="500063"/>
          </a:xfrm>
          <a:prstGeom prst="rect">
            <a:avLst/>
          </a:prstGeom>
          <a:noFill/>
          <a:ln w="0">
            <a:noFill/>
          </a:ln>
        </p:spPr>
        <p:txBody>
          <a:bodyPr wrap="square" lIns="0" tIns="0" rIns="0" bIns="0" anchor="t">
            <a:noAutofit/>
          </a:bodyPr>
          <a:lstStyle/>
          <a:p>
            <a:pPr>
              <a:defRPr sz="1575" b="0" i="0">
                <a:solidFill>
                  <a:srgbClr val="173E35"/>
                </a:solidFill>
                <a:latin typeface="Arial"/>
                <a:ea typeface="Arial"/>
                <a:cs typeface="Arial"/>
              </a:defRPr>
            </a:pPr>
            <a:r>
              <a:rPr sz="1575" b="0" i="0">
                <a:solidFill>
                  <a:srgbClr val="173E35"/>
                </a:solidFill>
                <a:latin typeface="Arial"/>
                <a:ea typeface="Arial"/>
                <a:cs typeface="Arial"/>
              </a:rPr>
              <a:t>Recreation</a:t>
            </a:r>
          </a:p>
        </p:txBody>
      </p:sp>
      <p:sp>
        <p:nvSpPr>
          <p:cNvPr id="24" name="Tourism">
            <a:extLst>
              <a:ext uri="{FF2B5EF4-FFF2-40B4-BE49-F238E27FC236}">
                <a16:creationId xmlns:a16="http://schemas.microsoft.com/office/drawing/2014/main" id="{69ACD360-A6EB-4706-A05D-C20C54DF7855}"/>
              </a:ext>
            </a:extLst>
          </p:cNvPr>
          <p:cNvSpPr>
            <a:spLocks noGrp="1"/>
          </p:cNvSpPr>
          <p:nvPr/>
        </p:nvSpPr>
        <p:spPr>
          <a:xfrm>
            <a:off x="4610100" y="2705100"/>
            <a:ext cx="1895475" cy="500063"/>
          </a:xfrm>
          <a:prstGeom prst="rect">
            <a:avLst/>
          </a:prstGeom>
          <a:noFill/>
          <a:ln w="0">
            <a:noFill/>
          </a:ln>
        </p:spPr>
        <p:txBody>
          <a:bodyPr wrap="square" lIns="0" tIns="0" rIns="0" bIns="0" anchor="t">
            <a:noAutofit/>
          </a:bodyPr>
          <a:lstStyle/>
          <a:p>
            <a:pPr>
              <a:defRPr sz="1575" b="0" i="0">
                <a:solidFill>
                  <a:srgbClr val="173E35"/>
                </a:solidFill>
                <a:latin typeface="Arial"/>
                <a:ea typeface="Arial"/>
                <a:cs typeface="Arial"/>
              </a:defRPr>
            </a:pPr>
            <a:r>
              <a:rPr sz="1575" b="0" i="0">
                <a:solidFill>
                  <a:srgbClr val="173E35"/>
                </a:solidFill>
                <a:latin typeface="Arial"/>
                <a:ea typeface="Arial"/>
                <a:cs typeface="Arial"/>
              </a:rPr>
              <a:t>Tourism</a:t>
            </a:r>
          </a:p>
        </p:txBody>
      </p:sp>
      <p:sp>
        <p:nvSpPr>
          <p:cNvPr id="25" name="Supporting">
            <a:extLst>
              <a:ext uri="{FF2B5EF4-FFF2-40B4-BE49-F238E27FC236}">
                <a16:creationId xmlns:a16="http://schemas.microsoft.com/office/drawing/2014/main" id="{2990DF66-1613-45A8-B480-B8F0CF667C96}"/>
              </a:ext>
            </a:extLst>
          </p:cNvPr>
          <p:cNvSpPr>
            <a:spLocks noGrp="1"/>
          </p:cNvSpPr>
          <p:nvPr/>
        </p:nvSpPr>
        <p:spPr>
          <a:xfrm>
            <a:off x="6667500" y="1933575"/>
            <a:ext cx="1895475" cy="609600"/>
          </a:xfrm>
          <a:prstGeom prst="rect">
            <a:avLst/>
          </a:prstGeom>
          <a:noFill/>
          <a:ln w="0">
            <a:noFill/>
          </a:ln>
        </p:spPr>
        <p:txBody>
          <a:bodyPr wrap="square" lIns="0" tIns="0" rIns="0" bIns="0" anchor="t">
            <a:noAutofit/>
          </a:bodyPr>
          <a:lstStyle/>
          <a:p>
            <a:pPr>
              <a:defRPr sz="1875" b="0" i="0">
                <a:solidFill>
                  <a:srgbClr val="173E35"/>
                </a:solidFill>
                <a:latin typeface="Georgia"/>
                <a:ea typeface="Georgia"/>
                <a:cs typeface="Georgia"/>
              </a:defRPr>
            </a:pPr>
            <a:r>
              <a:rPr sz="1875" b="0" i="0">
                <a:solidFill>
                  <a:srgbClr val="173E35"/>
                </a:solidFill>
                <a:latin typeface="Georgia"/>
                <a:ea typeface="Georgia"/>
                <a:cs typeface="Georgia"/>
              </a:rPr>
              <a:t>Supporting</a:t>
            </a:r>
          </a:p>
        </p:txBody>
      </p:sp>
      <p:sp>
        <p:nvSpPr>
          <p:cNvPr id="26" name="Soil formation">
            <a:extLst>
              <a:ext uri="{FF2B5EF4-FFF2-40B4-BE49-F238E27FC236}">
                <a16:creationId xmlns:a16="http://schemas.microsoft.com/office/drawing/2014/main" id="{7FA97509-CA64-413A-86DA-5B243A884657}"/>
              </a:ext>
            </a:extLst>
          </p:cNvPr>
          <p:cNvSpPr>
            <a:spLocks noGrp="1"/>
          </p:cNvSpPr>
          <p:nvPr/>
        </p:nvSpPr>
        <p:spPr>
          <a:xfrm>
            <a:off x="6667500" y="2400300"/>
            <a:ext cx="1895475" cy="500063"/>
          </a:xfrm>
          <a:prstGeom prst="rect">
            <a:avLst/>
          </a:prstGeom>
          <a:noFill/>
          <a:ln w="0">
            <a:noFill/>
          </a:ln>
        </p:spPr>
        <p:txBody>
          <a:bodyPr wrap="square" lIns="0" tIns="0" rIns="0" bIns="0" anchor="t">
            <a:noAutofit/>
          </a:bodyPr>
          <a:lstStyle/>
          <a:p>
            <a:pPr>
              <a:defRPr sz="1575" b="0" i="0">
                <a:solidFill>
                  <a:srgbClr val="173E35"/>
                </a:solidFill>
                <a:latin typeface="Arial"/>
                <a:ea typeface="Arial"/>
                <a:cs typeface="Arial"/>
              </a:defRPr>
            </a:pPr>
            <a:r>
              <a:rPr sz="1575" b="0" i="0">
                <a:solidFill>
                  <a:srgbClr val="173E35"/>
                </a:solidFill>
                <a:latin typeface="Arial"/>
                <a:ea typeface="Arial"/>
                <a:cs typeface="Arial"/>
              </a:rPr>
              <a:t>Soil formation</a:t>
            </a:r>
          </a:p>
        </p:txBody>
      </p:sp>
      <p:sp>
        <p:nvSpPr>
          <p:cNvPr id="27" name="Nutrient cycling">
            <a:extLst>
              <a:ext uri="{FF2B5EF4-FFF2-40B4-BE49-F238E27FC236}">
                <a16:creationId xmlns:a16="http://schemas.microsoft.com/office/drawing/2014/main" id="{614E5246-7B6E-474D-B4B0-5EF7A4EDBED4}"/>
              </a:ext>
            </a:extLst>
          </p:cNvPr>
          <p:cNvSpPr>
            <a:spLocks noGrp="1"/>
          </p:cNvSpPr>
          <p:nvPr/>
        </p:nvSpPr>
        <p:spPr>
          <a:xfrm>
            <a:off x="6667500" y="2705100"/>
            <a:ext cx="1895475" cy="500063"/>
          </a:xfrm>
          <a:prstGeom prst="rect">
            <a:avLst/>
          </a:prstGeom>
          <a:noFill/>
          <a:ln w="0">
            <a:noFill/>
          </a:ln>
        </p:spPr>
        <p:txBody>
          <a:bodyPr wrap="square" lIns="0" tIns="0" rIns="0" bIns="0" anchor="t">
            <a:noAutofit/>
          </a:bodyPr>
          <a:lstStyle/>
          <a:p>
            <a:pPr>
              <a:defRPr sz="1575" b="0" i="0">
                <a:solidFill>
                  <a:srgbClr val="173E35"/>
                </a:solidFill>
                <a:latin typeface="Arial"/>
                <a:ea typeface="Arial"/>
                <a:cs typeface="Arial"/>
              </a:defRPr>
            </a:pPr>
            <a:r>
              <a:rPr sz="1575" b="0" i="0">
                <a:solidFill>
                  <a:srgbClr val="173E35"/>
                </a:solidFill>
                <a:latin typeface="Arial"/>
                <a:ea typeface="Arial"/>
                <a:cs typeface="Arial"/>
              </a:rPr>
              <a:t>Nutrient cycling</a:t>
            </a:r>
          </a:p>
        </p:txBody>
      </p:sp>
      <p:sp>
        <p:nvSpPr>
          <p:cNvPr id="28" name="What this means for a company">
            <a:extLst>
              <a:ext uri="{FF2B5EF4-FFF2-40B4-BE49-F238E27FC236}">
                <a16:creationId xmlns:a16="http://schemas.microsoft.com/office/drawing/2014/main" id="{F61F11E4-BCD5-4A86-9961-58CF85A461B8}"/>
              </a:ext>
            </a:extLst>
          </p:cNvPr>
          <p:cNvSpPr>
            <a:spLocks noGrp="1"/>
          </p:cNvSpPr>
          <p:nvPr/>
        </p:nvSpPr>
        <p:spPr>
          <a:xfrm>
            <a:off x="495300" y="3524250"/>
            <a:ext cx="7620000" cy="304800"/>
          </a:xfrm>
          <a:prstGeom prst="rect">
            <a:avLst/>
          </a:prstGeom>
          <a:noFill/>
          <a:ln w="0">
            <a:noFill/>
          </a:ln>
        </p:spPr>
        <p:txBody>
          <a:bodyPr wrap="square" lIns="0" tIns="0" rIns="0" bIns="0" anchor="t">
            <a:noAutofit/>
          </a:bodyPr>
          <a:lstStyle/>
          <a:p>
            <a:pPr>
              <a:defRPr sz="1650" b="0" i="0">
                <a:solidFill>
                  <a:srgbClr val="B56647"/>
                </a:solidFill>
                <a:latin typeface="Georgia"/>
                <a:ea typeface="Georgia"/>
                <a:cs typeface="Georgia"/>
              </a:defRPr>
            </a:pPr>
            <a:r>
              <a:rPr sz="1650" b="0" i="0">
                <a:solidFill>
                  <a:srgbClr val="B56647"/>
                </a:solidFill>
                <a:latin typeface="Georgia"/>
                <a:ea typeface="Georgia"/>
                <a:cs typeface="Georgia"/>
              </a:rPr>
              <a:t>What this means for a company</a:t>
            </a:r>
          </a:p>
        </p:txBody>
      </p:sp>
      <p:sp>
        <p:nvSpPr>
          <p:cNvPr id="29" name="Provisioning services are the raw materials a">
            <a:extLst>
              <a:ext uri="{FF2B5EF4-FFF2-40B4-BE49-F238E27FC236}">
                <a16:creationId xmlns:a16="http://schemas.microsoft.com/office/drawing/2014/main" id="{7EA48928-C766-4789-945F-93ACC9F77697}"/>
              </a:ext>
            </a:extLst>
          </p:cNvPr>
          <p:cNvSpPr>
            <a:spLocks noGrp="1"/>
          </p:cNvSpPr>
          <p:nvPr/>
        </p:nvSpPr>
        <p:spPr>
          <a:xfrm>
            <a:off x="495300" y="3962400"/>
            <a:ext cx="8096250" cy="742950"/>
          </a:xfrm>
          <a:prstGeom prst="rect">
            <a:avLst/>
          </a:prstGeom>
          <a:noFill/>
          <a:ln w="0">
            <a:noFill/>
          </a:ln>
        </p:spPr>
        <p:txBody>
          <a:bodyPr wrap="square" lIns="0" tIns="0" rIns="0" bIns="0" anchor="t">
            <a:noAutofit/>
          </a:bodyPr>
          <a:lstStyle/>
          <a:p>
            <a:pPr>
              <a:defRPr sz="1500" b="0" i="0">
                <a:solidFill>
                  <a:srgbClr val="173E35"/>
                </a:solidFill>
                <a:latin typeface="Arial"/>
                <a:ea typeface="Arial"/>
                <a:cs typeface="Arial"/>
              </a:defRPr>
            </a:pPr>
            <a:r>
              <a:rPr sz="1500" b="0" i="0">
                <a:solidFill>
                  <a:srgbClr val="173E35"/>
                </a:solidFill>
                <a:latin typeface="Arial"/>
                <a:ea typeface="Arial"/>
                <a:cs typeface="Arial"/>
              </a:rPr>
              <a:t>Provisioning services are the raw materials and water in its supply chain. Regulating services protect its sites from floods and heat. Cultural and supporting services underpin the reputation and licence to operate that come from protecting nature.</a:t>
            </a:r>
          </a:p>
        </p:txBody>
      </p:sp>
      <p:pic>
        <p:nvPicPr>
          <p:cNvPr id="62" name="Picture 61"/>
          <p:cNvPicPr>
            <a:picLocks noChangeAspect="1"/>
          </p:cNvPicPr>
          <p:nvPr/>
        </p:nvPicPr>
        <p:blipFill>
          <a:blip r:embed="rId3"/>
          <a:stretch/>
        </p:blipFill>
        <p:spPr>
          <a:xfrm>
            <a:off x="499570" y="4829175"/>
            <a:ext cx="315310" cy="152400"/>
          </a:xfrm>
          <a:prstGeom prst="rect">
            <a:avLst/>
          </a:prstGeom>
        </p:spPr>
      </p:pic>
      <p:sp>
        <p:nvSpPr>
          <p:cNvPr id="31" name="www.newton.university">
            <a:extLst>
              <a:ext uri="{FF2B5EF4-FFF2-40B4-BE49-F238E27FC236}">
                <a16:creationId xmlns:a16="http://schemas.microsoft.com/office/drawing/2014/main" id="{F4E7C40E-564E-4AC2-8154-4867EDFEED9A}"/>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32" name="17">
            <a:extLst>
              <a:ext uri="{FF2B5EF4-FFF2-40B4-BE49-F238E27FC236}">
                <a16:creationId xmlns:a16="http://schemas.microsoft.com/office/drawing/2014/main" id="{FF9C539C-BA26-4E02-9833-64FD72D8880F}"/>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58665B"/>
                </a:solidFill>
                <a:latin typeface="Arial"/>
                <a:ea typeface="Arial"/>
                <a:cs typeface="Arial"/>
              </a:defRPr>
            </a:pPr>
            <a:r>
              <a:rPr sz="1125" b="0" i="0">
                <a:solidFill>
                  <a:srgbClr val="58665B"/>
                </a:solidFill>
                <a:latin typeface="Arial"/>
                <a:ea typeface="Arial"/>
                <a:cs typeface="Arial"/>
              </a:rPr>
              <a:t>17</a:t>
            </a:r>
          </a:p>
        </p:txBody>
      </p:sp>
    </p:spTree>
    <p:extLst>
      <p:ext uri="{BB962C8B-B14F-4D97-AF65-F5344CB8AC3E}">
        <p14:creationId xmlns:p14="http://schemas.microsoft.com/office/powerpoint/2010/main" val="2536072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B56647"/>
        </a:solidFill>
        <a:effectLst/>
      </p:bgPr>
    </p:bg>
    <p:spTree>
      <p:nvGrpSpPr>
        <p:cNvPr id="1" name=""/>
        <p:cNvGrpSpPr/>
        <p:nvPr/>
      </p:nvGrpSpPr>
      <p:grpSpPr>
        <a:xfrm>
          <a:off x="0" y="0"/>
          <a:ext cx="0" cy="0"/>
          <a:chOff x="0" y="0"/>
          <a:chExt cx="0" cy="0"/>
        </a:xfrm>
      </p:grpSpPr>
      <p:sp>
        <p:nvSpPr>
          <p:cNvPr id="8" name="Editorial frame">
            <a:extLst>
              <a:ext uri="{FF2B5EF4-FFF2-40B4-BE49-F238E27FC236}">
                <a16:creationId xmlns:a16="http://schemas.microsoft.com/office/drawing/2014/main" id="{5F9F7B82-82F8-411E-9D7B-9991EAFC1154}"/>
              </a:ext>
            </a:extLst>
          </p:cNvPr>
          <p:cNvSpPr>
            <a:spLocks noGrp="1"/>
          </p:cNvSpPr>
          <p:nvPr/>
        </p:nvSpPr>
        <p:spPr>
          <a:xfrm>
            <a:off x="219075" y="219075"/>
            <a:ext cx="8705850" cy="4514850"/>
          </a:xfrm>
          <a:prstGeom prst="rect">
            <a:avLst/>
          </a:prstGeom>
          <a:noFill/>
          <a:ln w="8573">
            <a:solidFill>
              <a:srgbClr val="DAB698"/>
            </a:solidFill>
          </a:ln>
        </p:spPr>
        <p:txBody>
          <a:bodyPr/>
          <a:lstStyle/>
          <a:p>
            <a:endParaRPr lang="en-US"/>
          </a:p>
        </p:txBody>
      </p:sp>
      <p:sp>
        <p:nvSpPr>
          <p:cNvPr id="2" name="Editorial frame">
            <a:extLst>
              <a:ext uri="{FF2B5EF4-FFF2-40B4-BE49-F238E27FC236}">
                <a16:creationId xmlns:a16="http://schemas.microsoft.com/office/drawing/2014/main" id="{9E86F920-8956-4909-AB2B-D9B353B3DB8C}"/>
              </a:ext>
            </a:extLst>
          </p:cNvPr>
          <p:cNvSpPr>
            <a:spLocks noGrp="1"/>
          </p:cNvSpPr>
          <p:nvPr/>
        </p:nvSpPr>
        <p:spPr>
          <a:xfrm>
            <a:off x="323850" y="323850"/>
            <a:ext cx="8496300" cy="4305300"/>
          </a:xfrm>
          <a:prstGeom prst="rect">
            <a:avLst/>
          </a:prstGeom>
          <a:noFill/>
          <a:ln w="8573">
            <a:solidFill>
              <a:srgbClr val="CA9574"/>
            </a:solidFill>
          </a:ln>
        </p:spPr>
        <p:txBody>
          <a:bodyPr/>
          <a:lstStyle/>
          <a:p>
            <a:endParaRPr lang="en-US"/>
          </a:p>
        </p:txBody>
      </p:sp>
      <p:sp>
        <p:nvSpPr>
          <p:cNvPr id="3" name="Editorial rule">
            <a:extLst>
              <a:ext uri="{FF2B5EF4-FFF2-40B4-BE49-F238E27FC236}">
                <a16:creationId xmlns:a16="http://schemas.microsoft.com/office/drawing/2014/main" id="{D80D9B48-EA31-45D7-8F61-5B270BE01396}"/>
              </a:ext>
            </a:extLst>
          </p:cNvPr>
          <p:cNvSpPr>
            <a:spLocks noGrp="1"/>
          </p:cNvSpPr>
          <p:nvPr/>
        </p:nvSpPr>
        <p:spPr>
          <a:xfrm>
            <a:off x="495300" y="4105275"/>
            <a:ext cx="2886075" cy="28575"/>
          </a:xfrm>
          <a:prstGeom prst="rect">
            <a:avLst/>
          </a:prstGeom>
          <a:solidFill>
            <a:srgbClr val="F0D9C1"/>
          </a:solidFill>
          <a:ln w="0">
            <a:noFill/>
          </a:ln>
        </p:spPr>
        <p:txBody>
          <a:bodyPr/>
          <a:lstStyle/>
          <a:p>
            <a:endParaRPr lang="en-US"/>
          </a:p>
        </p:txBody>
      </p:sp>
      <p:sp>
        <p:nvSpPr>
          <p:cNvPr id="4" name="Prague&#10;Focus">
            <a:extLst>
              <a:ext uri="{FF2B5EF4-FFF2-40B4-BE49-F238E27FC236}">
                <a16:creationId xmlns:a16="http://schemas.microsoft.com/office/drawing/2014/main" id="{9F9F4A9E-46CD-4F54-AF5C-4F6EFA35B032}"/>
              </a:ext>
            </a:extLst>
          </p:cNvPr>
          <p:cNvSpPr>
            <a:spLocks noGrp="1"/>
          </p:cNvSpPr>
          <p:nvPr/>
        </p:nvSpPr>
        <p:spPr>
          <a:xfrm>
            <a:off x="495300" y="1238250"/>
            <a:ext cx="7524750" cy="2381250"/>
          </a:xfrm>
          <a:prstGeom prst="rect">
            <a:avLst/>
          </a:prstGeom>
          <a:noFill/>
          <a:ln w="0">
            <a:noFill/>
          </a:ln>
        </p:spPr>
        <p:txBody>
          <a:bodyPr wrap="square" lIns="0" tIns="0" rIns="0" bIns="0" anchor="t">
            <a:noAutofit/>
          </a:bodyPr>
          <a:lstStyle/>
          <a:p>
            <a:pPr>
              <a:defRPr sz="6600" b="0" i="0">
                <a:solidFill>
                  <a:srgbClr val="F5F2EA"/>
                </a:solidFill>
                <a:latin typeface="Georgia"/>
                <a:ea typeface="Georgia"/>
                <a:cs typeface="Georgia"/>
              </a:defRPr>
            </a:pPr>
            <a:r>
              <a:rPr sz="6600" b="0" i="0">
                <a:solidFill>
                  <a:srgbClr val="F5F2EA"/>
                </a:solidFill>
                <a:latin typeface="Georgia"/>
                <a:ea typeface="Georgia"/>
                <a:cs typeface="Georgia"/>
              </a:rPr>
              <a:t>Prague</a:t>
            </a:r>
          </a:p>
          <a:p>
            <a:pPr>
              <a:defRPr sz="6600" b="0" i="0">
                <a:solidFill>
                  <a:srgbClr val="F5F2EA"/>
                </a:solidFill>
                <a:latin typeface="Georgia"/>
                <a:ea typeface="Georgia"/>
                <a:cs typeface="Georgia"/>
              </a:defRPr>
            </a:pPr>
            <a:r>
              <a:rPr sz="6600" b="0" i="0">
                <a:solidFill>
                  <a:srgbClr val="F5F2EA"/>
                </a:solidFill>
                <a:latin typeface="Georgia"/>
                <a:ea typeface="Georgia"/>
                <a:cs typeface="Georgia"/>
              </a:rPr>
              <a:t>Focus</a:t>
            </a:r>
          </a:p>
        </p:txBody>
      </p:sp>
      <p:pic>
        <p:nvPicPr>
          <p:cNvPr id="12" name="Picture 11"/>
          <p:cNvPicPr>
            <a:picLocks noChangeAspect="1"/>
          </p:cNvPicPr>
          <p:nvPr/>
        </p:nvPicPr>
        <p:blipFill>
          <a:blip r:embed="rId3"/>
          <a:stretch/>
        </p:blipFill>
        <p:spPr>
          <a:xfrm>
            <a:off x="499570" y="4829175"/>
            <a:ext cx="315310" cy="152400"/>
          </a:xfrm>
          <a:prstGeom prst="rect">
            <a:avLst/>
          </a:prstGeom>
        </p:spPr>
      </p:pic>
      <p:sp>
        <p:nvSpPr>
          <p:cNvPr id="6" name="www.newton.university">
            <a:extLst>
              <a:ext uri="{FF2B5EF4-FFF2-40B4-BE49-F238E27FC236}">
                <a16:creationId xmlns:a16="http://schemas.microsoft.com/office/drawing/2014/main" id="{65A57066-D3D5-4BAB-90EF-9A6805865AED}"/>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C7D0C6"/>
                </a:solidFill>
                <a:latin typeface="Arial"/>
                <a:ea typeface="Arial"/>
                <a:cs typeface="Arial"/>
              </a:defRPr>
            </a:pPr>
            <a:r>
              <a:rPr sz="750" b="0" i="0">
                <a:solidFill>
                  <a:srgbClr val="C7D0C6"/>
                </a:solidFill>
                <a:latin typeface="Arial"/>
                <a:ea typeface="Arial"/>
                <a:cs typeface="Arial"/>
              </a:rPr>
              <a:t>www.newton.university</a:t>
            </a:r>
          </a:p>
        </p:txBody>
      </p:sp>
      <p:sp>
        <p:nvSpPr>
          <p:cNvPr id="7" name="18">
            <a:extLst>
              <a:ext uri="{FF2B5EF4-FFF2-40B4-BE49-F238E27FC236}">
                <a16:creationId xmlns:a16="http://schemas.microsoft.com/office/drawing/2014/main" id="{DE607F93-CA29-40BF-8812-951CF71178C3}"/>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E8EDE5"/>
                </a:solidFill>
                <a:latin typeface="Arial"/>
                <a:ea typeface="Arial"/>
                <a:cs typeface="Arial"/>
              </a:defRPr>
            </a:pPr>
            <a:r>
              <a:rPr sz="1125" b="0" i="0">
                <a:solidFill>
                  <a:srgbClr val="E8EDE5"/>
                </a:solidFill>
                <a:latin typeface="Arial"/>
                <a:ea typeface="Arial"/>
                <a:cs typeface="Arial"/>
              </a:rPr>
              <a:t>18</a:t>
            </a:r>
          </a:p>
        </p:txBody>
      </p:sp>
    </p:spTree>
    <p:extLst>
      <p:ext uri="{BB962C8B-B14F-4D97-AF65-F5344CB8AC3E}">
        <p14:creationId xmlns:p14="http://schemas.microsoft.com/office/powerpoint/2010/main" val="14415856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7" name="Prague — a City Built Around its River">
            <a:extLst>
              <a:ext uri="{FF2B5EF4-FFF2-40B4-BE49-F238E27FC236}">
                <a16:creationId xmlns:a16="http://schemas.microsoft.com/office/drawing/2014/main" id="{A640E00E-F45E-4201-8EAD-23C7DD01C168}"/>
              </a:ext>
            </a:extLst>
          </p:cNvPr>
          <p:cNvSpPr>
            <a:spLocks noGrp="1"/>
          </p:cNvSpPr>
          <p:nvPr/>
        </p:nvSpPr>
        <p:spPr>
          <a:xfrm>
            <a:off x="495300" y="381000"/>
            <a:ext cx="8096250" cy="952500"/>
          </a:xfrm>
          <a:prstGeom prst="rect">
            <a:avLst/>
          </a:prstGeom>
          <a:noFill/>
          <a:ln w="0">
            <a:noFill/>
          </a:ln>
        </p:spPr>
        <p:txBody>
          <a:bodyPr wrap="square" lIns="0" tIns="0" rIns="0" bIns="0" anchor="t">
            <a:noAutofit/>
          </a:bodyPr>
          <a:lstStyle/>
          <a:p>
            <a:pPr>
              <a:defRPr sz="2775" b="0" i="0">
                <a:solidFill>
                  <a:srgbClr val="173E35"/>
                </a:solidFill>
                <a:latin typeface="Georgia"/>
                <a:ea typeface="Georgia"/>
                <a:cs typeface="Georgia"/>
              </a:defRPr>
            </a:pPr>
            <a:r>
              <a:rPr sz="2775" b="0" i="0">
                <a:solidFill>
                  <a:srgbClr val="173E35"/>
                </a:solidFill>
                <a:latin typeface="Georgia"/>
                <a:ea typeface="Georgia"/>
                <a:cs typeface="Georgia"/>
              </a:rPr>
              <a:t>Prague — a City Built Around its River</a:t>
            </a:r>
          </a:p>
        </p:txBody>
      </p:sp>
      <p:pic>
        <p:nvPicPr>
          <p:cNvPr id="8" name="Picture 7"/>
          <p:cNvPicPr>
            <a:picLocks noChangeAspect="1"/>
          </p:cNvPicPr>
          <p:nvPr/>
        </p:nvPicPr>
        <p:blipFill>
          <a:blip r:embed="rId3"/>
          <a:stretch/>
        </p:blipFill>
        <p:spPr>
          <a:xfrm>
            <a:off x="0" y="1497806"/>
            <a:ext cx="9144000" cy="2805113"/>
          </a:xfrm>
          <a:prstGeom prst="rect">
            <a:avLst/>
          </a:prstGeom>
        </p:spPr>
      </p:pic>
      <p:sp>
        <p:nvSpPr>
          <p:cNvPr id="3" name="The Vltava River corridor: the city's blue-gr">
            <a:extLst>
              <a:ext uri="{FF2B5EF4-FFF2-40B4-BE49-F238E27FC236}">
                <a16:creationId xmlns:a16="http://schemas.microsoft.com/office/drawing/2014/main" id="{7E1E51EF-A011-463B-BE58-A80F2C525D3E}"/>
              </a:ext>
            </a:extLst>
          </p:cNvPr>
          <p:cNvSpPr>
            <a:spLocks noGrp="1"/>
          </p:cNvSpPr>
          <p:nvPr/>
        </p:nvSpPr>
        <p:spPr>
          <a:xfrm>
            <a:off x="495300" y="4429125"/>
            <a:ext cx="8048625" cy="285750"/>
          </a:xfrm>
          <a:prstGeom prst="rect">
            <a:avLst/>
          </a:prstGeom>
          <a:noFill/>
          <a:ln w="0">
            <a:noFill/>
          </a:ln>
        </p:spPr>
        <p:txBody>
          <a:bodyPr wrap="square" lIns="0" tIns="0" rIns="0" bIns="0" anchor="t">
            <a:noAutofit/>
          </a:bodyPr>
          <a:lstStyle/>
          <a:p>
            <a:pPr>
              <a:defRPr sz="1500" b="0" i="0">
                <a:solidFill>
                  <a:srgbClr val="58665B"/>
                </a:solidFill>
                <a:latin typeface="Arial"/>
                <a:ea typeface="Arial"/>
                <a:cs typeface="Arial"/>
              </a:defRPr>
            </a:pPr>
            <a:r>
              <a:rPr sz="1500" b="0" i="0">
                <a:solidFill>
                  <a:srgbClr val="58665B"/>
                </a:solidFill>
                <a:latin typeface="Arial"/>
                <a:ea typeface="Arial"/>
                <a:cs typeface="Arial"/>
              </a:rPr>
              <a:t>The Vltava River corridor: the city's blue-green spine</a:t>
            </a:r>
          </a:p>
        </p:txBody>
      </p:sp>
      <p:pic>
        <p:nvPicPr>
          <p:cNvPr id="10" name="Picture 9"/>
          <p:cNvPicPr>
            <a:picLocks noChangeAspect="1"/>
          </p:cNvPicPr>
          <p:nvPr/>
        </p:nvPicPr>
        <p:blipFill>
          <a:blip r:embed="rId4"/>
          <a:stretch/>
        </p:blipFill>
        <p:spPr>
          <a:xfrm>
            <a:off x="499570" y="4829175"/>
            <a:ext cx="315310" cy="152400"/>
          </a:xfrm>
          <a:prstGeom prst="rect">
            <a:avLst/>
          </a:prstGeom>
        </p:spPr>
      </p:pic>
      <p:sp>
        <p:nvSpPr>
          <p:cNvPr id="5" name="www.newton.university">
            <a:extLst>
              <a:ext uri="{FF2B5EF4-FFF2-40B4-BE49-F238E27FC236}">
                <a16:creationId xmlns:a16="http://schemas.microsoft.com/office/drawing/2014/main" id="{005AFE68-8F92-4219-82BF-8807D751D63D}"/>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6" name="19">
            <a:extLst>
              <a:ext uri="{FF2B5EF4-FFF2-40B4-BE49-F238E27FC236}">
                <a16:creationId xmlns:a16="http://schemas.microsoft.com/office/drawing/2014/main" id="{0EC578E1-460C-4FA3-9902-2E990E4FCB23}"/>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58665B"/>
                </a:solidFill>
                <a:latin typeface="Arial"/>
                <a:ea typeface="Arial"/>
                <a:cs typeface="Arial"/>
              </a:defRPr>
            </a:pPr>
            <a:r>
              <a:rPr sz="1125" b="0" i="0">
                <a:solidFill>
                  <a:srgbClr val="58665B"/>
                </a:solidFill>
                <a:latin typeface="Arial"/>
                <a:ea typeface="Arial"/>
                <a:cs typeface="Arial"/>
              </a:rPr>
              <a:t>19</a:t>
            </a:r>
          </a:p>
        </p:txBody>
      </p:sp>
    </p:spTree>
    <p:extLst>
      <p:ext uri="{BB962C8B-B14F-4D97-AF65-F5344CB8AC3E}">
        <p14:creationId xmlns:p14="http://schemas.microsoft.com/office/powerpoint/2010/main" val="1906648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3" name="Editorial rule">
            <a:extLst>
              <a:ext uri="{FF2B5EF4-FFF2-40B4-BE49-F238E27FC236}">
                <a16:creationId xmlns:a16="http://schemas.microsoft.com/office/drawing/2014/main" id="{D9A560E8-5F34-43C9-BA5A-7C58DB249B33}"/>
              </a:ext>
            </a:extLst>
          </p:cNvPr>
          <p:cNvSpPr>
            <a:spLocks noGrp="1"/>
          </p:cNvSpPr>
          <p:nvPr/>
        </p:nvSpPr>
        <p:spPr>
          <a:xfrm>
            <a:off x="495300" y="1066800"/>
            <a:ext cx="8153400" cy="7620"/>
          </a:xfrm>
          <a:prstGeom prst="rect">
            <a:avLst/>
          </a:prstGeom>
          <a:solidFill>
            <a:srgbClr val="B7C3B1"/>
          </a:solidFill>
          <a:ln w="0">
            <a:noFill/>
          </a:ln>
        </p:spPr>
        <p:txBody>
          <a:bodyPr/>
          <a:lstStyle/>
          <a:p>
            <a:endParaRPr lang="en-US"/>
          </a:p>
        </p:txBody>
      </p:sp>
      <p:sp>
        <p:nvSpPr>
          <p:cNvPr id="2" name="Editorial rule">
            <a:extLst>
              <a:ext uri="{FF2B5EF4-FFF2-40B4-BE49-F238E27FC236}">
                <a16:creationId xmlns:a16="http://schemas.microsoft.com/office/drawing/2014/main" id="{D0D15166-2200-44AB-8D6C-79F7026CF8AF}"/>
              </a:ext>
            </a:extLst>
          </p:cNvPr>
          <p:cNvSpPr>
            <a:spLocks noGrp="1"/>
          </p:cNvSpPr>
          <p:nvPr/>
        </p:nvSpPr>
        <p:spPr>
          <a:xfrm>
            <a:off x="495300" y="1052513"/>
            <a:ext cx="552450" cy="28575"/>
          </a:xfrm>
          <a:prstGeom prst="rect">
            <a:avLst/>
          </a:prstGeom>
          <a:solidFill>
            <a:srgbClr val="B56647"/>
          </a:solidFill>
          <a:ln w="0">
            <a:noFill/>
          </a:ln>
        </p:spPr>
        <p:txBody>
          <a:bodyPr/>
          <a:lstStyle/>
          <a:p>
            <a:endParaRPr lang="en-US"/>
          </a:p>
        </p:txBody>
      </p:sp>
      <p:sp>
        <p:nvSpPr>
          <p:cNvPr id="3" name="Editorial frame">
            <a:extLst>
              <a:ext uri="{FF2B5EF4-FFF2-40B4-BE49-F238E27FC236}">
                <a16:creationId xmlns:a16="http://schemas.microsoft.com/office/drawing/2014/main" id="{6A4BEE36-3BD1-4898-A35E-B282E1460363}"/>
              </a:ext>
            </a:extLst>
          </p:cNvPr>
          <p:cNvSpPr>
            <a:spLocks noGrp="1"/>
          </p:cNvSpPr>
          <p:nvPr/>
        </p:nvSpPr>
        <p:spPr>
          <a:xfrm>
            <a:off x="5934075" y="1781175"/>
            <a:ext cx="2847975" cy="2733675"/>
          </a:xfrm>
          <a:prstGeom prst="rect">
            <a:avLst/>
          </a:prstGeom>
          <a:solidFill>
            <a:srgbClr val="EDE5D7"/>
          </a:solidFill>
          <a:ln w="8573">
            <a:solidFill>
              <a:srgbClr val="C1AC93"/>
            </a:solidFill>
          </a:ln>
        </p:spPr>
        <p:txBody>
          <a:bodyPr/>
          <a:lstStyle/>
          <a:p>
            <a:endParaRPr lang="en-US"/>
          </a:p>
        </p:txBody>
      </p:sp>
      <p:sp>
        <p:nvSpPr>
          <p:cNvPr id="4" name="Editorial rule">
            <a:extLst>
              <a:ext uri="{FF2B5EF4-FFF2-40B4-BE49-F238E27FC236}">
                <a16:creationId xmlns:a16="http://schemas.microsoft.com/office/drawing/2014/main" id="{77993BA6-3A86-4508-83AD-34431838DC34}"/>
              </a:ext>
            </a:extLst>
          </p:cNvPr>
          <p:cNvSpPr>
            <a:spLocks noGrp="1"/>
          </p:cNvSpPr>
          <p:nvPr/>
        </p:nvSpPr>
        <p:spPr>
          <a:xfrm>
            <a:off x="5934075" y="1781175"/>
            <a:ext cx="2847975" cy="38100"/>
          </a:xfrm>
          <a:prstGeom prst="rect">
            <a:avLst/>
          </a:prstGeom>
          <a:solidFill>
            <a:srgbClr val="B56647"/>
          </a:solidFill>
          <a:ln w="0">
            <a:noFill/>
          </a:ln>
        </p:spPr>
        <p:txBody>
          <a:bodyPr/>
          <a:lstStyle/>
          <a:p>
            <a:endParaRPr lang="en-US"/>
          </a:p>
        </p:txBody>
      </p:sp>
      <p:sp>
        <p:nvSpPr>
          <p:cNvPr id="5" name="Editorial rule">
            <a:extLst>
              <a:ext uri="{FF2B5EF4-FFF2-40B4-BE49-F238E27FC236}">
                <a16:creationId xmlns:a16="http://schemas.microsoft.com/office/drawing/2014/main" id="{338135E4-C25C-4554-8CB5-F71ADEAFA433}"/>
              </a:ext>
            </a:extLst>
          </p:cNvPr>
          <p:cNvSpPr>
            <a:spLocks noGrp="1"/>
          </p:cNvSpPr>
          <p:nvPr/>
        </p:nvSpPr>
        <p:spPr>
          <a:xfrm>
            <a:off x="952500" y="2562225"/>
            <a:ext cx="4476750" cy="7620"/>
          </a:xfrm>
          <a:prstGeom prst="rect">
            <a:avLst/>
          </a:prstGeom>
          <a:solidFill>
            <a:srgbClr val="B7C3B1"/>
          </a:solidFill>
          <a:ln w="0">
            <a:noFill/>
          </a:ln>
        </p:spPr>
        <p:txBody>
          <a:bodyPr/>
          <a:lstStyle/>
          <a:p>
            <a:endParaRPr lang="en-US"/>
          </a:p>
        </p:txBody>
      </p:sp>
      <p:sp>
        <p:nvSpPr>
          <p:cNvPr id="6" name="Editorial rule">
            <a:extLst>
              <a:ext uri="{FF2B5EF4-FFF2-40B4-BE49-F238E27FC236}">
                <a16:creationId xmlns:a16="http://schemas.microsoft.com/office/drawing/2014/main" id="{96207DEF-DA66-45BB-91E6-FFC644522471}"/>
              </a:ext>
            </a:extLst>
          </p:cNvPr>
          <p:cNvSpPr>
            <a:spLocks noGrp="1"/>
          </p:cNvSpPr>
          <p:nvPr/>
        </p:nvSpPr>
        <p:spPr>
          <a:xfrm>
            <a:off x="952500" y="3209925"/>
            <a:ext cx="4476750" cy="7620"/>
          </a:xfrm>
          <a:prstGeom prst="rect">
            <a:avLst/>
          </a:prstGeom>
          <a:solidFill>
            <a:srgbClr val="B7C3B1"/>
          </a:solidFill>
          <a:ln w="0">
            <a:noFill/>
          </a:ln>
        </p:spPr>
        <p:txBody>
          <a:bodyPr/>
          <a:lstStyle/>
          <a:p>
            <a:endParaRPr lang="en-US"/>
          </a:p>
        </p:txBody>
      </p:sp>
      <p:sp>
        <p:nvSpPr>
          <p:cNvPr id="7" name="Editorial rule">
            <a:extLst>
              <a:ext uri="{FF2B5EF4-FFF2-40B4-BE49-F238E27FC236}">
                <a16:creationId xmlns:a16="http://schemas.microsoft.com/office/drawing/2014/main" id="{F852574C-BA40-4491-837A-4090AACAB8F3}"/>
              </a:ext>
            </a:extLst>
          </p:cNvPr>
          <p:cNvSpPr>
            <a:spLocks noGrp="1"/>
          </p:cNvSpPr>
          <p:nvPr/>
        </p:nvSpPr>
        <p:spPr>
          <a:xfrm>
            <a:off x="952500" y="3857625"/>
            <a:ext cx="4476750" cy="7620"/>
          </a:xfrm>
          <a:prstGeom prst="rect">
            <a:avLst/>
          </a:prstGeom>
          <a:solidFill>
            <a:srgbClr val="B7C3B1"/>
          </a:solidFill>
          <a:ln w="0">
            <a:noFill/>
          </a:ln>
        </p:spPr>
        <p:txBody>
          <a:bodyPr/>
          <a:lstStyle/>
          <a:p>
            <a:endParaRPr lang="en-US"/>
          </a:p>
        </p:txBody>
      </p:sp>
      <p:sp>
        <p:nvSpPr>
          <p:cNvPr id="8" name="Prague as a Living Laboratory">
            <a:extLst>
              <a:ext uri="{FF2B5EF4-FFF2-40B4-BE49-F238E27FC236}">
                <a16:creationId xmlns:a16="http://schemas.microsoft.com/office/drawing/2014/main" id="{23101E70-62A0-4DC3-89A6-31C0D773639F}"/>
              </a:ext>
            </a:extLst>
          </p:cNvPr>
          <p:cNvSpPr>
            <a:spLocks noGrp="1"/>
          </p:cNvSpPr>
          <p:nvPr/>
        </p:nvSpPr>
        <p:spPr>
          <a:xfrm>
            <a:off x="495300" y="381000"/>
            <a:ext cx="8096250" cy="952500"/>
          </a:xfrm>
          <a:prstGeom prst="rect">
            <a:avLst/>
          </a:prstGeom>
          <a:noFill/>
          <a:ln w="0">
            <a:noFill/>
          </a:ln>
        </p:spPr>
        <p:txBody>
          <a:bodyPr wrap="square" lIns="0" tIns="0" rIns="0" bIns="0" anchor="t">
            <a:noAutofit/>
          </a:bodyPr>
          <a:lstStyle/>
          <a:p>
            <a:pPr>
              <a:defRPr sz="2775" b="0" i="0">
                <a:solidFill>
                  <a:srgbClr val="173E35"/>
                </a:solidFill>
                <a:latin typeface="Georgia"/>
                <a:ea typeface="Georgia"/>
                <a:cs typeface="Georgia"/>
              </a:defRPr>
            </a:pPr>
            <a:r>
              <a:rPr sz="2775" b="0" i="0">
                <a:solidFill>
                  <a:srgbClr val="173E35"/>
                </a:solidFill>
                <a:latin typeface="Georgia"/>
                <a:ea typeface="Georgia"/>
                <a:cs typeface="Georgia"/>
              </a:rPr>
              <a:t>Prague as a Living Laboratory</a:t>
            </a:r>
          </a:p>
        </p:txBody>
      </p:sp>
      <p:sp>
        <p:nvSpPr>
          <p:cNvPr id="9" name="Natural assets of the city">
            <a:extLst>
              <a:ext uri="{FF2B5EF4-FFF2-40B4-BE49-F238E27FC236}">
                <a16:creationId xmlns:a16="http://schemas.microsoft.com/office/drawing/2014/main" id="{9183DA82-BC35-4E23-A68B-45F417C61F03}"/>
              </a:ext>
            </a:extLst>
          </p:cNvPr>
          <p:cNvSpPr>
            <a:spLocks noGrp="1"/>
          </p:cNvSpPr>
          <p:nvPr/>
        </p:nvSpPr>
        <p:spPr>
          <a:xfrm>
            <a:off x="495300" y="1304925"/>
            <a:ext cx="5715000" cy="333375"/>
          </a:xfrm>
          <a:prstGeom prst="rect">
            <a:avLst/>
          </a:prstGeom>
          <a:noFill/>
          <a:ln w="0">
            <a:noFill/>
          </a:ln>
        </p:spPr>
        <p:txBody>
          <a:bodyPr wrap="square" lIns="0" tIns="0" rIns="0" bIns="0" anchor="t">
            <a:noAutofit/>
          </a:bodyPr>
          <a:lstStyle/>
          <a:p>
            <a:pPr>
              <a:defRPr sz="1650" b="0" i="0">
                <a:solidFill>
                  <a:srgbClr val="58665B"/>
                </a:solidFill>
                <a:latin typeface="Arial"/>
                <a:ea typeface="Arial"/>
                <a:cs typeface="Arial"/>
              </a:defRPr>
            </a:pPr>
            <a:r>
              <a:rPr sz="1650" b="0" i="0">
                <a:solidFill>
                  <a:srgbClr val="58665B"/>
                </a:solidFill>
                <a:latin typeface="Arial"/>
                <a:ea typeface="Arial"/>
                <a:cs typeface="Arial"/>
              </a:rPr>
              <a:t>Natural assets of the city</a:t>
            </a:r>
          </a:p>
        </p:txBody>
      </p:sp>
      <p:sp>
        <p:nvSpPr>
          <p:cNvPr id="10" name="01">
            <a:extLst>
              <a:ext uri="{FF2B5EF4-FFF2-40B4-BE49-F238E27FC236}">
                <a16:creationId xmlns:a16="http://schemas.microsoft.com/office/drawing/2014/main" id="{BF284D70-B125-498A-B461-44DF48EF9063}"/>
              </a:ext>
            </a:extLst>
          </p:cNvPr>
          <p:cNvSpPr>
            <a:spLocks noGrp="1"/>
          </p:cNvSpPr>
          <p:nvPr/>
        </p:nvSpPr>
        <p:spPr>
          <a:xfrm>
            <a:off x="495300" y="1924050"/>
            <a:ext cx="381000" cy="361950"/>
          </a:xfrm>
          <a:prstGeom prst="rect">
            <a:avLst/>
          </a:prstGeom>
          <a:noFill/>
          <a:ln w="0">
            <a:noFill/>
          </a:ln>
        </p:spPr>
        <p:txBody>
          <a:bodyPr wrap="square" lIns="0" tIns="0" rIns="0" bIns="0" anchor="t">
            <a:noAutofit/>
          </a:bodyPr>
          <a:lstStyle/>
          <a:p>
            <a:pPr>
              <a:defRPr sz="1275" b="0" i="0">
                <a:solidFill>
                  <a:srgbClr val="B56647"/>
                </a:solidFill>
                <a:latin typeface="Arial"/>
                <a:ea typeface="Arial"/>
                <a:cs typeface="Arial"/>
              </a:defRPr>
            </a:pPr>
            <a:r>
              <a:rPr sz="1275" b="0" i="0">
                <a:solidFill>
                  <a:srgbClr val="B56647"/>
                </a:solidFill>
                <a:latin typeface="Arial"/>
                <a:ea typeface="Arial"/>
                <a:cs typeface="Arial"/>
              </a:rPr>
              <a:t>01</a:t>
            </a:r>
          </a:p>
        </p:txBody>
      </p:sp>
      <p:sp>
        <p:nvSpPr>
          <p:cNvPr id="11" name="Stromovka Park — historic urban park and recr">
            <a:extLst>
              <a:ext uri="{FF2B5EF4-FFF2-40B4-BE49-F238E27FC236}">
                <a16:creationId xmlns:a16="http://schemas.microsoft.com/office/drawing/2014/main" id="{B154F890-A0A5-4557-84F9-6804850EFA2A}"/>
              </a:ext>
            </a:extLst>
          </p:cNvPr>
          <p:cNvSpPr>
            <a:spLocks noGrp="1"/>
          </p:cNvSpPr>
          <p:nvPr/>
        </p:nvSpPr>
        <p:spPr>
          <a:xfrm>
            <a:off x="952500" y="1924050"/>
            <a:ext cx="4495800" cy="619125"/>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Stromovka Park — historic urban park and recreation area</a:t>
            </a:r>
          </a:p>
        </p:txBody>
      </p:sp>
      <p:sp>
        <p:nvSpPr>
          <p:cNvPr id="12" name="02">
            <a:extLst>
              <a:ext uri="{FF2B5EF4-FFF2-40B4-BE49-F238E27FC236}">
                <a16:creationId xmlns:a16="http://schemas.microsoft.com/office/drawing/2014/main" id="{3594F58F-6C9C-4C18-9985-4E749716D4B7}"/>
              </a:ext>
            </a:extLst>
          </p:cNvPr>
          <p:cNvSpPr>
            <a:spLocks noGrp="1"/>
          </p:cNvSpPr>
          <p:nvPr/>
        </p:nvSpPr>
        <p:spPr>
          <a:xfrm>
            <a:off x="495300" y="2571750"/>
            <a:ext cx="381000" cy="361950"/>
          </a:xfrm>
          <a:prstGeom prst="rect">
            <a:avLst/>
          </a:prstGeom>
          <a:noFill/>
          <a:ln w="0">
            <a:noFill/>
          </a:ln>
        </p:spPr>
        <p:txBody>
          <a:bodyPr wrap="square" lIns="0" tIns="0" rIns="0" bIns="0" anchor="t">
            <a:noAutofit/>
          </a:bodyPr>
          <a:lstStyle/>
          <a:p>
            <a:pPr>
              <a:defRPr sz="1275" b="0" i="0">
                <a:solidFill>
                  <a:srgbClr val="B56647"/>
                </a:solidFill>
                <a:latin typeface="Arial"/>
                <a:ea typeface="Arial"/>
                <a:cs typeface="Arial"/>
              </a:defRPr>
            </a:pPr>
            <a:r>
              <a:rPr sz="1275" b="0" i="0">
                <a:solidFill>
                  <a:srgbClr val="B56647"/>
                </a:solidFill>
                <a:latin typeface="Arial"/>
                <a:ea typeface="Arial"/>
                <a:cs typeface="Arial"/>
              </a:rPr>
              <a:t>02</a:t>
            </a:r>
          </a:p>
        </p:txBody>
      </p:sp>
      <p:sp>
        <p:nvSpPr>
          <p:cNvPr id="13" name="Divoká Šárka — nature reserve inside the city">
            <a:extLst>
              <a:ext uri="{FF2B5EF4-FFF2-40B4-BE49-F238E27FC236}">
                <a16:creationId xmlns:a16="http://schemas.microsoft.com/office/drawing/2014/main" id="{244E42AF-2046-448A-A7A5-1850006F53F4}"/>
              </a:ext>
            </a:extLst>
          </p:cNvPr>
          <p:cNvSpPr>
            <a:spLocks noGrp="1"/>
          </p:cNvSpPr>
          <p:nvPr/>
        </p:nvSpPr>
        <p:spPr>
          <a:xfrm>
            <a:off x="952500" y="2571750"/>
            <a:ext cx="4495800" cy="619125"/>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Divoká Šárka — nature reserve inside the city</a:t>
            </a:r>
          </a:p>
        </p:txBody>
      </p:sp>
      <p:sp>
        <p:nvSpPr>
          <p:cNvPr id="14" name="03">
            <a:extLst>
              <a:ext uri="{FF2B5EF4-FFF2-40B4-BE49-F238E27FC236}">
                <a16:creationId xmlns:a16="http://schemas.microsoft.com/office/drawing/2014/main" id="{41239A5F-ADBA-4CA8-A40B-F58A0EB7EBCF}"/>
              </a:ext>
            </a:extLst>
          </p:cNvPr>
          <p:cNvSpPr>
            <a:spLocks noGrp="1"/>
          </p:cNvSpPr>
          <p:nvPr/>
        </p:nvSpPr>
        <p:spPr>
          <a:xfrm>
            <a:off x="495300" y="3219450"/>
            <a:ext cx="381000" cy="361950"/>
          </a:xfrm>
          <a:prstGeom prst="rect">
            <a:avLst/>
          </a:prstGeom>
          <a:noFill/>
          <a:ln w="0">
            <a:noFill/>
          </a:ln>
        </p:spPr>
        <p:txBody>
          <a:bodyPr wrap="square" lIns="0" tIns="0" rIns="0" bIns="0" anchor="t">
            <a:noAutofit/>
          </a:bodyPr>
          <a:lstStyle/>
          <a:p>
            <a:pPr>
              <a:defRPr sz="1275" b="0" i="0">
                <a:solidFill>
                  <a:srgbClr val="B56647"/>
                </a:solidFill>
                <a:latin typeface="Arial"/>
                <a:ea typeface="Arial"/>
                <a:cs typeface="Arial"/>
              </a:defRPr>
            </a:pPr>
            <a:r>
              <a:rPr sz="1275" b="0" i="0">
                <a:solidFill>
                  <a:srgbClr val="B56647"/>
                </a:solidFill>
                <a:latin typeface="Arial"/>
                <a:ea typeface="Arial"/>
                <a:cs typeface="Arial"/>
              </a:rPr>
              <a:t>03</a:t>
            </a:r>
          </a:p>
        </p:txBody>
      </p:sp>
      <p:sp>
        <p:nvSpPr>
          <p:cNvPr id="15" name="Prokopské údolí — protected valley landscape">
            <a:extLst>
              <a:ext uri="{FF2B5EF4-FFF2-40B4-BE49-F238E27FC236}">
                <a16:creationId xmlns:a16="http://schemas.microsoft.com/office/drawing/2014/main" id="{FAF3BE0E-671F-4474-A38B-C47BD7B7B4FA}"/>
              </a:ext>
            </a:extLst>
          </p:cNvPr>
          <p:cNvSpPr>
            <a:spLocks noGrp="1"/>
          </p:cNvSpPr>
          <p:nvPr/>
        </p:nvSpPr>
        <p:spPr>
          <a:xfrm>
            <a:off x="952500" y="3219450"/>
            <a:ext cx="4495800" cy="619125"/>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Prokopské údolí — protected valley landscape</a:t>
            </a:r>
          </a:p>
        </p:txBody>
      </p:sp>
      <p:sp>
        <p:nvSpPr>
          <p:cNvPr id="16" name="04">
            <a:extLst>
              <a:ext uri="{FF2B5EF4-FFF2-40B4-BE49-F238E27FC236}">
                <a16:creationId xmlns:a16="http://schemas.microsoft.com/office/drawing/2014/main" id="{C361A7CD-A982-438C-B01E-213CFF4D7DA6}"/>
              </a:ext>
            </a:extLst>
          </p:cNvPr>
          <p:cNvSpPr>
            <a:spLocks noGrp="1"/>
          </p:cNvSpPr>
          <p:nvPr/>
        </p:nvSpPr>
        <p:spPr>
          <a:xfrm>
            <a:off x="495300" y="3867150"/>
            <a:ext cx="381000" cy="361950"/>
          </a:xfrm>
          <a:prstGeom prst="rect">
            <a:avLst/>
          </a:prstGeom>
          <a:noFill/>
          <a:ln w="0">
            <a:noFill/>
          </a:ln>
        </p:spPr>
        <p:txBody>
          <a:bodyPr wrap="square" lIns="0" tIns="0" rIns="0" bIns="0" anchor="t">
            <a:noAutofit/>
          </a:bodyPr>
          <a:lstStyle/>
          <a:p>
            <a:pPr>
              <a:defRPr sz="1275" b="0" i="0">
                <a:solidFill>
                  <a:srgbClr val="B56647"/>
                </a:solidFill>
                <a:latin typeface="Arial"/>
                <a:ea typeface="Arial"/>
                <a:cs typeface="Arial"/>
              </a:defRPr>
            </a:pPr>
            <a:r>
              <a:rPr sz="1275" b="0" i="0">
                <a:solidFill>
                  <a:srgbClr val="B56647"/>
                </a:solidFill>
                <a:latin typeface="Arial"/>
                <a:ea typeface="Arial"/>
                <a:cs typeface="Arial"/>
              </a:rPr>
              <a:t>04</a:t>
            </a:r>
          </a:p>
        </p:txBody>
      </p:sp>
      <p:sp>
        <p:nvSpPr>
          <p:cNvPr id="17" name="Vltava River corridor — the city's blue-green">
            <a:extLst>
              <a:ext uri="{FF2B5EF4-FFF2-40B4-BE49-F238E27FC236}">
                <a16:creationId xmlns:a16="http://schemas.microsoft.com/office/drawing/2014/main" id="{EDE7FCC1-33A4-466F-BB1D-A053C39B0622}"/>
              </a:ext>
            </a:extLst>
          </p:cNvPr>
          <p:cNvSpPr>
            <a:spLocks noGrp="1"/>
          </p:cNvSpPr>
          <p:nvPr/>
        </p:nvSpPr>
        <p:spPr>
          <a:xfrm>
            <a:off x="952500" y="3867150"/>
            <a:ext cx="4495800" cy="619125"/>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Vltava River corridor — the city's blue-green spine</a:t>
            </a:r>
          </a:p>
        </p:txBody>
      </p:sp>
      <p:sp>
        <p:nvSpPr>
          <p:cNvPr id="18" name="Discussion">
            <a:extLst>
              <a:ext uri="{FF2B5EF4-FFF2-40B4-BE49-F238E27FC236}">
                <a16:creationId xmlns:a16="http://schemas.microsoft.com/office/drawing/2014/main" id="{1CDF9410-5F57-459C-9751-DD512C2C43F6}"/>
              </a:ext>
            </a:extLst>
          </p:cNvPr>
          <p:cNvSpPr>
            <a:spLocks noGrp="1"/>
          </p:cNvSpPr>
          <p:nvPr/>
        </p:nvSpPr>
        <p:spPr>
          <a:xfrm>
            <a:off x="6124575" y="1952625"/>
            <a:ext cx="2476500" cy="285750"/>
          </a:xfrm>
          <a:prstGeom prst="rect">
            <a:avLst/>
          </a:prstGeom>
          <a:noFill/>
          <a:ln w="0">
            <a:noFill/>
          </a:ln>
        </p:spPr>
        <p:txBody>
          <a:bodyPr wrap="square" lIns="0" tIns="0" rIns="0" bIns="0" anchor="t">
            <a:noAutofit/>
          </a:bodyPr>
          <a:lstStyle/>
          <a:p>
            <a:pPr>
              <a:defRPr sz="1350" b="0" i="0">
                <a:solidFill>
                  <a:srgbClr val="B56647"/>
                </a:solidFill>
                <a:latin typeface="Arial"/>
                <a:ea typeface="Arial"/>
                <a:cs typeface="Arial"/>
              </a:defRPr>
            </a:pPr>
            <a:r>
              <a:rPr sz="1350" b="0" i="0">
                <a:solidFill>
                  <a:srgbClr val="B56647"/>
                </a:solidFill>
                <a:latin typeface="Arial"/>
                <a:ea typeface="Arial"/>
                <a:cs typeface="Arial"/>
              </a:rPr>
              <a:t>Discussion</a:t>
            </a:r>
          </a:p>
        </p:txBody>
      </p:sp>
      <p:sp>
        <p:nvSpPr>
          <p:cNvPr id="19" name="How do these areas support the city — environ">
            <a:extLst>
              <a:ext uri="{FF2B5EF4-FFF2-40B4-BE49-F238E27FC236}">
                <a16:creationId xmlns:a16="http://schemas.microsoft.com/office/drawing/2014/main" id="{E45AA964-9AE5-4E9D-8320-F315E3748168}"/>
              </a:ext>
            </a:extLst>
          </p:cNvPr>
          <p:cNvSpPr>
            <a:spLocks noGrp="1"/>
          </p:cNvSpPr>
          <p:nvPr/>
        </p:nvSpPr>
        <p:spPr>
          <a:xfrm>
            <a:off x="6124575" y="2419350"/>
            <a:ext cx="2505075" cy="1809750"/>
          </a:xfrm>
          <a:prstGeom prst="rect">
            <a:avLst/>
          </a:prstGeom>
          <a:noFill/>
          <a:ln w="0">
            <a:noFill/>
          </a:ln>
        </p:spPr>
        <p:txBody>
          <a:bodyPr wrap="square" lIns="0" tIns="0" rIns="0" bIns="0" anchor="t">
            <a:noAutofit/>
          </a:bodyPr>
          <a:lstStyle/>
          <a:p>
            <a:pPr>
              <a:defRPr sz="2175" b="0" i="0">
                <a:solidFill>
                  <a:srgbClr val="173E35"/>
                </a:solidFill>
                <a:latin typeface="Georgia"/>
                <a:ea typeface="Georgia"/>
                <a:cs typeface="Georgia"/>
              </a:defRPr>
            </a:pPr>
            <a:r>
              <a:rPr sz="2175" b="0" i="0">
                <a:solidFill>
                  <a:srgbClr val="173E35"/>
                </a:solidFill>
                <a:latin typeface="Georgia"/>
                <a:ea typeface="Georgia"/>
                <a:cs typeface="Georgia"/>
              </a:rPr>
              <a:t>How do these areas support the city — environmentally, socially, economically?</a:t>
            </a:r>
          </a:p>
        </p:txBody>
      </p:sp>
      <p:pic>
        <p:nvPicPr>
          <p:cNvPr id="42" name="Picture 41"/>
          <p:cNvPicPr>
            <a:picLocks noChangeAspect="1"/>
          </p:cNvPicPr>
          <p:nvPr/>
        </p:nvPicPr>
        <p:blipFill>
          <a:blip r:embed="rId3"/>
          <a:stretch/>
        </p:blipFill>
        <p:spPr>
          <a:xfrm>
            <a:off x="499570" y="4829175"/>
            <a:ext cx="315310" cy="152400"/>
          </a:xfrm>
          <a:prstGeom prst="rect">
            <a:avLst/>
          </a:prstGeom>
        </p:spPr>
      </p:pic>
      <p:sp>
        <p:nvSpPr>
          <p:cNvPr id="21" name="www.newton.university">
            <a:extLst>
              <a:ext uri="{FF2B5EF4-FFF2-40B4-BE49-F238E27FC236}">
                <a16:creationId xmlns:a16="http://schemas.microsoft.com/office/drawing/2014/main" id="{BC60380B-C9AA-4845-A13C-483FBDECC6BA}"/>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22" name="20">
            <a:extLst>
              <a:ext uri="{FF2B5EF4-FFF2-40B4-BE49-F238E27FC236}">
                <a16:creationId xmlns:a16="http://schemas.microsoft.com/office/drawing/2014/main" id="{E2DEDCE3-6699-45BD-B4A3-459D2C3C56E8}"/>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58665B"/>
                </a:solidFill>
                <a:latin typeface="Arial"/>
                <a:ea typeface="Arial"/>
                <a:cs typeface="Arial"/>
              </a:defRPr>
            </a:pPr>
            <a:r>
              <a:rPr sz="1125" b="0" i="0">
                <a:solidFill>
                  <a:srgbClr val="58665B"/>
                </a:solidFill>
                <a:latin typeface="Arial"/>
                <a:ea typeface="Arial"/>
                <a:cs typeface="Arial"/>
              </a:rPr>
              <a:t>20</a:t>
            </a:r>
          </a:p>
        </p:txBody>
      </p:sp>
    </p:spTree>
    <p:extLst>
      <p:ext uri="{BB962C8B-B14F-4D97-AF65-F5344CB8AC3E}">
        <p14:creationId xmlns:p14="http://schemas.microsoft.com/office/powerpoint/2010/main" val="14110807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10" name="Human–Nature Interaction">
            <a:extLst>
              <a:ext uri="{FF2B5EF4-FFF2-40B4-BE49-F238E27FC236}">
                <a16:creationId xmlns:a16="http://schemas.microsoft.com/office/drawing/2014/main" id="{CE3B9E0A-1D26-4A09-801A-D8B421EAF3CE}"/>
              </a:ext>
            </a:extLst>
          </p:cNvPr>
          <p:cNvSpPr>
            <a:spLocks noGrp="1"/>
          </p:cNvSpPr>
          <p:nvPr/>
        </p:nvSpPr>
        <p:spPr>
          <a:xfrm>
            <a:off x="495300" y="381000"/>
            <a:ext cx="8096250" cy="952500"/>
          </a:xfrm>
          <a:prstGeom prst="rect">
            <a:avLst/>
          </a:prstGeom>
          <a:noFill/>
          <a:ln w="0">
            <a:noFill/>
          </a:ln>
        </p:spPr>
        <p:txBody>
          <a:bodyPr wrap="square" lIns="0" tIns="0" rIns="0" bIns="0" anchor="t">
            <a:noAutofit/>
          </a:bodyPr>
          <a:lstStyle/>
          <a:p>
            <a:pPr>
              <a:defRPr sz="2775" b="0" i="0">
                <a:solidFill>
                  <a:srgbClr val="173E35"/>
                </a:solidFill>
                <a:latin typeface="Georgia"/>
                <a:ea typeface="Georgia"/>
                <a:cs typeface="Georgia"/>
              </a:defRPr>
            </a:pPr>
            <a:r>
              <a:rPr sz="2775" b="0" i="0">
                <a:solidFill>
                  <a:srgbClr val="173E35"/>
                </a:solidFill>
                <a:latin typeface="Georgia"/>
                <a:ea typeface="Georgia"/>
                <a:cs typeface="Georgia"/>
              </a:rPr>
              <a:t>Human–Nature Interaction</a:t>
            </a:r>
          </a:p>
        </p:txBody>
      </p:sp>
      <p:pic>
        <p:nvPicPr>
          <p:cNvPr id="11" name="Picture 10"/>
          <p:cNvPicPr>
            <a:picLocks noChangeAspect="1"/>
          </p:cNvPicPr>
          <p:nvPr/>
        </p:nvPicPr>
        <p:blipFill>
          <a:blip r:embed="rId3"/>
          <a:srcRect l="1380" r="1380"/>
          <a:stretch>
            <a:fillRect/>
          </a:stretch>
        </p:blipFill>
        <p:spPr>
          <a:xfrm>
            <a:off x="4733925" y="1362075"/>
            <a:ext cx="3914775" cy="3019425"/>
          </a:xfrm>
          <a:prstGeom prst="rect">
            <a:avLst/>
          </a:prstGeom>
        </p:spPr>
      </p:pic>
      <p:sp>
        <p:nvSpPr>
          <p:cNvPr id="3" name="Stromovka — Prague's royal park">
            <a:extLst>
              <a:ext uri="{FF2B5EF4-FFF2-40B4-BE49-F238E27FC236}">
                <a16:creationId xmlns:a16="http://schemas.microsoft.com/office/drawing/2014/main" id="{767DC331-706C-4B41-8D4C-D6B3D24A1670}"/>
              </a:ext>
            </a:extLst>
          </p:cNvPr>
          <p:cNvSpPr>
            <a:spLocks noGrp="1"/>
          </p:cNvSpPr>
          <p:nvPr/>
        </p:nvSpPr>
        <p:spPr>
          <a:xfrm>
            <a:off x="4733925" y="4486275"/>
            <a:ext cx="3914775" cy="238125"/>
          </a:xfrm>
          <a:prstGeom prst="rect">
            <a:avLst/>
          </a:prstGeom>
          <a:noFill/>
          <a:ln w="0">
            <a:noFill/>
          </a:ln>
        </p:spPr>
        <p:txBody>
          <a:bodyPr wrap="square" lIns="0" tIns="0" rIns="0" bIns="0" anchor="t">
            <a:noAutofit/>
          </a:bodyPr>
          <a:lstStyle/>
          <a:p>
            <a:pPr>
              <a:defRPr sz="1050" b="0" i="0">
                <a:solidFill>
                  <a:srgbClr val="58665B"/>
                </a:solidFill>
                <a:latin typeface="Arial"/>
                <a:ea typeface="Arial"/>
                <a:cs typeface="Arial"/>
              </a:defRPr>
            </a:pPr>
            <a:r>
              <a:rPr sz="1050" b="0" i="0">
                <a:solidFill>
                  <a:srgbClr val="58665B"/>
                </a:solidFill>
                <a:latin typeface="Arial"/>
                <a:ea typeface="Arial"/>
                <a:cs typeface="Arial"/>
              </a:rPr>
              <a:t>Stromovka — Prague's royal park</a:t>
            </a:r>
          </a:p>
        </p:txBody>
      </p:sp>
      <p:sp>
        <p:nvSpPr>
          <p:cNvPr id="4" name="Why are people attracted to green spaces?">
            <a:extLst>
              <a:ext uri="{FF2B5EF4-FFF2-40B4-BE49-F238E27FC236}">
                <a16:creationId xmlns:a16="http://schemas.microsoft.com/office/drawing/2014/main" id="{4B17C7FE-1A89-4462-9266-E9093D2AD6D9}"/>
              </a:ext>
            </a:extLst>
          </p:cNvPr>
          <p:cNvSpPr>
            <a:spLocks noGrp="1"/>
          </p:cNvSpPr>
          <p:nvPr/>
        </p:nvSpPr>
        <p:spPr>
          <a:xfrm>
            <a:off x="495300" y="1504950"/>
            <a:ext cx="3743325" cy="857250"/>
          </a:xfrm>
          <a:prstGeom prst="rect">
            <a:avLst/>
          </a:prstGeom>
          <a:noFill/>
          <a:ln w="0">
            <a:noFill/>
          </a:ln>
        </p:spPr>
        <p:txBody>
          <a:bodyPr wrap="square" lIns="0" tIns="0" rIns="0" bIns="0" anchor="t">
            <a:noAutofit/>
          </a:bodyPr>
          <a:lstStyle/>
          <a:p>
            <a:pPr>
              <a:defRPr sz="2025" b="0" i="0">
                <a:solidFill>
                  <a:srgbClr val="173E35"/>
                </a:solidFill>
                <a:latin typeface="Georgia"/>
                <a:ea typeface="Georgia"/>
                <a:cs typeface="Georgia"/>
              </a:defRPr>
            </a:pPr>
            <a:r>
              <a:rPr sz="2025" b="0" i="0">
                <a:solidFill>
                  <a:srgbClr val="173E35"/>
                </a:solidFill>
                <a:latin typeface="Georgia"/>
                <a:ea typeface="Georgia"/>
                <a:cs typeface="Georgia"/>
              </a:rPr>
              <a:t>Why are people attracted to green spaces?</a:t>
            </a:r>
          </a:p>
        </p:txBody>
      </p:sp>
      <p:sp>
        <p:nvSpPr>
          <p:cNvPr id="5" name="How do green areas affect property values?">
            <a:extLst>
              <a:ext uri="{FF2B5EF4-FFF2-40B4-BE49-F238E27FC236}">
                <a16:creationId xmlns:a16="http://schemas.microsoft.com/office/drawing/2014/main" id="{3B0A9C11-89AD-42D3-AC79-DCBB051A70F0}"/>
              </a:ext>
            </a:extLst>
          </p:cNvPr>
          <p:cNvSpPr>
            <a:spLocks noGrp="1"/>
          </p:cNvSpPr>
          <p:nvPr/>
        </p:nvSpPr>
        <p:spPr>
          <a:xfrm>
            <a:off x="495300" y="2524125"/>
            <a:ext cx="3743325" cy="857250"/>
          </a:xfrm>
          <a:prstGeom prst="rect">
            <a:avLst/>
          </a:prstGeom>
          <a:noFill/>
          <a:ln w="0">
            <a:noFill/>
          </a:ln>
        </p:spPr>
        <p:txBody>
          <a:bodyPr wrap="square" lIns="0" tIns="0" rIns="0" bIns="0" anchor="t">
            <a:noAutofit/>
          </a:bodyPr>
          <a:lstStyle/>
          <a:p>
            <a:pPr>
              <a:defRPr sz="2025" b="0" i="0">
                <a:solidFill>
                  <a:srgbClr val="173E35"/>
                </a:solidFill>
                <a:latin typeface="Georgia"/>
                <a:ea typeface="Georgia"/>
                <a:cs typeface="Georgia"/>
              </a:defRPr>
            </a:pPr>
            <a:r>
              <a:rPr sz="2025" b="0" i="0">
                <a:solidFill>
                  <a:srgbClr val="173E35"/>
                </a:solidFill>
                <a:latin typeface="Georgia"/>
                <a:ea typeface="Georgia"/>
                <a:cs typeface="Georgia"/>
              </a:rPr>
              <a:t>How do green areas affect property values?</a:t>
            </a:r>
          </a:p>
        </p:txBody>
      </p:sp>
      <p:sp>
        <p:nvSpPr>
          <p:cNvPr id="6" name="How do businesses benefit from nearby parks?">
            <a:extLst>
              <a:ext uri="{FF2B5EF4-FFF2-40B4-BE49-F238E27FC236}">
                <a16:creationId xmlns:a16="http://schemas.microsoft.com/office/drawing/2014/main" id="{902E4EC5-753B-477F-BA9B-62E9EC3F3FCA}"/>
              </a:ext>
            </a:extLst>
          </p:cNvPr>
          <p:cNvSpPr>
            <a:spLocks noGrp="1"/>
          </p:cNvSpPr>
          <p:nvPr/>
        </p:nvSpPr>
        <p:spPr>
          <a:xfrm>
            <a:off x="495300" y="3543300"/>
            <a:ext cx="3743325" cy="857250"/>
          </a:xfrm>
          <a:prstGeom prst="rect">
            <a:avLst/>
          </a:prstGeom>
          <a:noFill/>
          <a:ln w="0">
            <a:noFill/>
          </a:ln>
        </p:spPr>
        <p:txBody>
          <a:bodyPr wrap="square" lIns="0" tIns="0" rIns="0" bIns="0" anchor="t">
            <a:noAutofit/>
          </a:bodyPr>
          <a:lstStyle/>
          <a:p>
            <a:pPr>
              <a:defRPr sz="2025" b="0" i="0">
                <a:solidFill>
                  <a:srgbClr val="173E35"/>
                </a:solidFill>
                <a:latin typeface="Georgia"/>
                <a:ea typeface="Georgia"/>
                <a:cs typeface="Georgia"/>
              </a:defRPr>
            </a:pPr>
            <a:r>
              <a:rPr sz="2025" b="0" i="0">
                <a:solidFill>
                  <a:srgbClr val="173E35"/>
                </a:solidFill>
                <a:latin typeface="Georgia"/>
                <a:ea typeface="Georgia"/>
                <a:cs typeface="Georgia"/>
              </a:rPr>
              <a:t>How do businesses benefit from nearby parks?</a:t>
            </a:r>
          </a:p>
        </p:txBody>
      </p:sp>
      <p:pic>
        <p:nvPicPr>
          <p:cNvPr id="16" name="Picture 15"/>
          <p:cNvPicPr>
            <a:picLocks noChangeAspect="1"/>
          </p:cNvPicPr>
          <p:nvPr/>
        </p:nvPicPr>
        <p:blipFill>
          <a:blip r:embed="rId4"/>
          <a:stretch/>
        </p:blipFill>
        <p:spPr>
          <a:xfrm>
            <a:off x="499570" y="4829175"/>
            <a:ext cx="315310" cy="152400"/>
          </a:xfrm>
          <a:prstGeom prst="rect">
            <a:avLst/>
          </a:prstGeom>
        </p:spPr>
      </p:pic>
      <p:sp>
        <p:nvSpPr>
          <p:cNvPr id="8" name="www.newton.university">
            <a:extLst>
              <a:ext uri="{FF2B5EF4-FFF2-40B4-BE49-F238E27FC236}">
                <a16:creationId xmlns:a16="http://schemas.microsoft.com/office/drawing/2014/main" id="{95AAC3C2-0296-4C21-BDB3-DF8C75717D2E}"/>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9" name="21">
            <a:extLst>
              <a:ext uri="{FF2B5EF4-FFF2-40B4-BE49-F238E27FC236}">
                <a16:creationId xmlns:a16="http://schemas.microsoft.com/office/drawing/2014/main" id="{29F16AD4-1208-4AD1-AA9D-4AF57BF8AA4D}"/>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58665B"/>
                </a:solidFill>
                <a:latin typeface="Arial"/>
                <a:ea typeface="Arial"/>
                <a:cs typeface="Arial"/>
              </a:defRPr>
            </a:pPr>
            <a:r>
              <a:rPr sz="1125" b="0" i="0">
                <a:solidFill>
                  <a:srgbClr val="58665B"/>
                </a:solidFill>
                <a:latin typeface="Arial"/>
                <a:ea typeface="Arial"/>
                <a:cs typeface="Arial"/>
              </a:rPr>
              <a:t>21</a:t>
            </a:r>
          </a:p>
        </p:txBody>
      </p:sp>
    </p:spTree>
    <p:extLst>
      <p:ext uri="{BB962C8B-B14F-4D97-AF65-F5344CB8AC3E}">
        <p14:creationId xmlns:p14="http://schemas.microsoft.com/office/powerpoint/2010/main" val="14483568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13" name="Case Study: Singapore — City in Nature">
            <a:extLst>
              <a:ext uri="{FF2B5EF4-FFF2-40B4-BE49-F238E27FC236}">
                <a16:creationId xmlns:a16="http://schemas.microsoft.com/office/drawing/2014/main" id="{C823FBE1-6B62-4171-BC20-F2C07EC710BE}"/>
              </a:ext>
            </a:extLst>
          </p:cNvPr>
          <p:cNvSpPr>
            <a:spLocks noGrp="1"/>
          </p:cNvSpPr>
          <p:nvPr/>
        </p:nvSpPr>
        <p:spPr>
          <a:xfrm>
            <a:off x="495300" y="381000"/>
            <a:ext cx="8096250" cy="952500"/>
          </a:xfrm>
          <a:prstGeom prst="rect">
            <a:avLst/>
          </a:prstGeom>
          <a:noFill/>
          <a:ln w="0">
            <a:noFill/>
          </a:ln>
        </p:spPr>
        <p:txBody>
          <a:bodyPr wrap="square" lIns="0" tIns="0" rIns="0" bIns="0" anchor="t">
            <a:noAutofit/>
          </a:bodyPr>
          <a:lstStyle/>
          <a:p>
            <a:pPr>
              <a:defRPr sz="2625" b="0" i="0">
                <a:solidFill>
                  <a:srgbClr val="173E35"/>
                </a:solidFill>
                <a:latin typeface="Georgia"/>
                <a:ea typeface="Georgia"/>
                <a:cs typeface="Georgia"/>
              </a:defRPr>
            </a:pPr>
            <a:r>
              <a:rPr sz="2625" b="0" i="0">
                <a:solidFill>
                  <a:srgbClr val="173E35"/>
                </a:solidFill>
                <a:latin typeface="Georgia"/>
                <a:ea typeface="Georgia"/>
                <a:cs typeface="Georgia"/>
              </a:rPr>
              <a:t>Case Study: Singapore — City in Nature</a:t>
            </a:r>
          </a:p>
        </p:txBody>
      </p:sp>
      <p:pic>
        <p:nvPicPr>
          <p:cNvPr id="14" name="Picture 13"/>
          <p:cNvPicPr>
            <a:picLocks noChangeAspect="1"/>
          </p:cNvPicPr>
          <p:nvPr/>
        </p:nvPicPr>
        <p:blipFill>
          <a:blip r:embed="rId3"/>
          <a:srcRect t="62" b="62"/>
          <a:stretch>
            <a:fillRect/>
          </a:stretch>
        </p:blipFill>
        <p:spPr>
          <a:xfrm>
            <a:off x="495300" y="1485900"/>
            <a:ext cx="5086350" cy="2857500"/>
          </a:xfrm>
          <a:prstGeom prst="rect">
            <a:avLst/>
          </a:prstGeom>
        </p:spPr>
      </p:pic>
      <p:sp>
        <p:nvSpPr>
          <p:cNvPr id="3" name="Supertree Grove, Gardens by the Bay">
            <a:extLst>
              <a:ext uri="{FF2B5EF4-FFF2-40B4-BE49-F238E27FC236}">
                <a16:creationId xmlns:a16="http://schemas.microsoft.com/office/drawing/2014/main" id="{4EA53997-CDDF-4063-BBA0-5319BECEABEE}"/>
              </a:ext>
            </a:extLst>
          </p:cNvPr>
          <p:cNvSpPr>
            <a:spLocks noGrp="1"/>
          </p:cNvSpPr>
          <p:nvPr/>
        </p:nvSpPr>
        <p:spPr>
          <a:xfrm>
            <a:off x="495300" y="4476750"/>
            <a:ext cx="5086350" cy="247650"/>
          </a:xfrm>
          <a:prstGeom prst="rect">
            <a:avLst/>
          </a:prstGeom>
          <a:noFill/>
          <a:ln w="0">
            <a:noFill/>
          </a:ln>
        </p:spPr>
        <p:txBody>
          <a:bodyPr wrap="square" lIns="0" tIns="0" rIns="0" bIns="0" anchor="t">
            <a:noAutofit/>
          </a:bodyPr>
          <a:lstStyle/>
          <a:p>
            <a:pPr>
              <a:defRPr sz="1050" b="0" i="0">
                <a:solidFill>
                  <a:srgbClr val="58665B"/>
                </a:solidFill>
                <a:latin typeface="Arial"/>
                <a:ea typeface="Arial"/>
                <a:cs typeface="Arial"/>
              </a:defRPr>
            </a:pPr>
            <a:r>
              <a:rPr sz="1050" b="0" i="0">
                <a:solidFill>
                  <a:srgbClr val="58665B"/>
                </a:solidFill>
                <a:latin typeface="Arial"/>
                <a:ea typeface="Arial"/>
                <a:cs typeface="Arial"/>
              </a:rPr>
              <a:t>Supertree Grove, Gardens by the Bay</a:t>
            </a:r>
          </a:p>
        </p:txBody>
      </p:sp>
      <p:sp>
        <p:nvSpPr>
          <p:cNvPr id="4" name="Key themes">
            <a:extLst>
              <a:ext uri="{FF2B5EF4-FFF2-40B4-BE49-F238E27FC236}">
                <a16:creationId xmlns:a16="http://schemas.microsoft.com/office/drawing/2014/main" id="{B899B409-4935-4466-80CB-0CCFB1DB5724}"/>
              </a:ext>
            </a:extLst>
          </p:cNvPr>
          <p:cNvSpPr>
            <a:spLocks noGrp="1"/>
          </p:cNvSpPr>
          <p:nvPr/>
        </p:nvSpPr>
        <p:spPr>
          <a:xfrm>
            <a:off x="5991225" y="1457325"/>
            <a:ext cx="2638425" cy="361950"/>
          </a:xfrm>
          <a:prstGeom prst="rect">
            <a:avLst/>
          </a:prstGeom>
          <a:noFill/>
          <a:ln w="0">
            <a:noFill/>
          </a:ln>
        </p:spPr>
        <p:txBody>
          <a:bodyPr wrap="square" lIns="0" tIns="0" rIns="0" bIns="0" anchor="t">
            <a:noAutofit/>
          </a:bodyPr>
          <a:lstStyle/>
          <a:p>
            <a:pPr>
              <a:defRPr sz="1800" b="0" i="0">
                <a:solidFill>
                  <a:srgbClr val="173E35"/>
                </a:solidFill>
                <a:latin typeface="Georgia"/>
                <a:ea typeface="Georgia"/>
                <a:cs typeface="Georgia"/>
              </a:defRPr>
            </a:pPr>
            <a:r>
              <a:rPr sz="1800" b="0" i="0">
                <a:solidFill>
                  <a:srgbClr val="173E35"/>
                </a:solidFill>
                <a:latin typeface="Georgia"/>
                <a:ea typeface="Georgia"/>
                <a:cs typeface="Georgia"/>
              </a:rPr>
              <a:t>Key themes</a:t>
            </a:r>
          </a:p>
        </p:txBody>
      </p:sp>
      <p:sp>
        <p:nvSpPr>
          <p:cNvPr id="5" name="Urban biodiversity">
            <a:extLst>
              <a:ext uri="{FF2B5EF4-FFF2-40B4-BE49-F238E27FC236}">
                <a16:creationId xmlns:a16="http://schemas.microsoft.com/office/drawing/2014/main" id="{8416307B-6922-44B4-87EF-57FF7C6BD95F}"/>
              </a:ext>
            </a:extLst>
          </p:cNvPr>
          <p:cNvSpPr>
            <a:spLocks noGrp="1"/>
          </p:cNvSpPr>
          <p:nvPr/>
        </p:nvSpPr>
        <p:spPr>
          <a:xfrm>
            <a:off x="5991225" y="1924050"/>
            <a:ext cx="2638425" cy="609600"/>
          </a:xfrm>
          <a:prstGeom prst="rect">
            <a:avLst/>
          </a:prstGeom>
          <a:noFill/>
          <a:ln w="0">
            <a:noFill/>
          </a:ln>
        </p:spPr>
        <p:txBody>
          <a:bodyPr wrap="square" lIns="0" tIns="0" rIns="0" bIns="0" anchor="t">
            <a:noAutofit/>
          </a:bodyPr>
          <a:lstStyle/>
          <a:p>
            <a:pPr>
              <a:defRPr sz="1575" b="0" i="0">
                <a:solidFill>
                  <a:srgbClr val="173E35"/>
                </a:solidFill>
                <a:latin typeface="Arial"/>
                <a:ea typeface="Arial"/>
                <a:cs typeface="Arial"/>
              </a:defRPr>
            </a:pPr>
            <a:r>
              <a:rPr sz="1575" b="0" i="0">
                <a:solidFill>
                  <a:srgbClr val="173E35"/>
                </a:solidFill>
                <a:latin typeface="Arial"/>
                <a:ea typeface="Arial"/>
                <a:cs typeface="Arial"/>
              </a:rPr>
              <a:t>Urban biodiversity</a:t>
            </a:r>
          </a:p>
        </p:txBody>
      </p:sp>
      <p:sp>
        <p:nvSpPr>
          <p:cNvPr id="6" name="Vertical greenery and green roofs">
            <a:extLst>
              <a:ext uri="{FF2B5EF4-FFF2-40B4-BE49-F238E27FC236}">
                <a16:creationId xmlns:a16="http://schemas.microsoft.com/office/drawing/2014/main" id="{0D2AC987-9244-450C-9A2D-DD4447FBC4A3}"/>
              </a:ext>
            </a:extLst>
          </p:cNvPr>
          <p:cNvSpPr>
            <a:spLocks noGrp="1"/>
          </p:cNvSpPr>
          <p:nvPr/>
        </p:nvSpPr>
        <p:spPr>
          <a:xfrm>
            <a:off x="5991225" y="2333625"/>
            <a:ext cx="2638425" cy="609600"/>
          </a:xfrm>
          <a:prstGeom prst="rect">
            <a:avLst/>
          </a:prstGeom>
          <a:noFill/>
          <a:ln w="0">
            <a:noFill/>
          </a:ln>
        </p:spPr>
        <p:txBody>
          <a:bodyPr wrap="square" lIns="0" tIns="0" rIns="0" bIns="0" anchor="t">
            <a:noAutofit/>
          </a:bodyPr>
          <a:lstStyle/>
          <a:p>
            <a:pPr>
              <a:defRPr sz="1575" b="0" i="0">
                <a:solidFill>
                  <a:srgbClr val="173E35"/>
                </a:solidFill>
                <a:latin typeface="Arial"/>
                <a:ea typeface="Arial"/>
                <a:cs typeface="Arial"/>
              </a:defRPr>
            </a:pPr>
            <a:r>
              <a:rPr sz="1575" b="0" i="0">
                <a:solidFill>
                  <a:srgbClr val="173E35"/>
                </a:solidFill>
                <a:latin typeface="Arial"/>
                <a:ea typeface="Arial"/>
                <a:cs typeface="Arial"/>
              </a:rPr>
              <a:t>Vertical greenery and green roofs</a:t>
            </a:r>
          </a:p>
        </p:txBody>
      </p:sp>
      <p:sp>
        <p:nvSpPr>
          <p:cNvPr id="7" name="Urban resilience">
            <a:extLst>
              <a:ext uri="{FF2B5EF4-FFF2-40B4-BE49-F238E27FC236}">
                <a16:creationId xmlns:a16="http://schemas.microsoft.com/office/drawing/2014/main" id="{D7B42C08-8C7B-452C-B320-312E0C554B4D}"/>
              </a:ext>
            </a:extLst>
          </p:cNvPr>
          <p:cNvSpPr>
            <a:spLocks noGrp="1"/>
          </p:cNvSpPr>
          <p:nvPr/>
        </p:nvSpPr>
        <p:spPr>
          <a:xfrm>
            <a:off x="5991225" y="2971800"/>
            <a:ext cx="2638425" cy="609600"/>
          </a:xfrm>
          <a:prstGeom prst="rect">
            <a:avLst/>
          </a:prstGeom>
          <a:noFill/>
          <a:ln w="0">
            <a:noFill/>
          </a:ln>
        </p:spPr>
        <p:txBody>
          <a:bodyPr wrap="square" lIns="0" tIns="0" rIns="0" bIns="0" anchor="t">
            <a:noAutofit/>
          </a:bodyPr>
          <a:lstStyle/>
          <a:p>
            <a:pPr>
              <a:defRPr sz="1575" b="0" i="0">
                <a:solidFill>
                  <a:srgbClr val="173E35"/>
                </a:solidFill>
                <a:latin typeface="Arial"/>
                <a:ea typeface="Arial"/>
                <a:cs typeface="Arial"/>
              </a:defRPr>
            </a:pPr>
            <a:r>
              <a:rPr sz="1575" b="0" i="0">
                <a:solidFill>
                  <a:srgbClr val="173E35"/>
                </a:solidFill>
                <a:latin typeface="Arial"/>
                <a:ea typeface="Arial"/>
                <a:cs typeface="Arial"/>
              </a:rPr>
              <a:t>Urban resilience</a:t>
            </a:r>
          </a:p>
        </p:txBody>
      </p:sp>
      <p:sp>
        <p:nvSpPr>
          <p:cNvPr id="8" name="Lesson">
            <a:extLst>
              <a:ext uri="{FF2B5EF4-FFF2-40B4-BE49-F238E27FC236}">
                <a16:creationId xmlns:a16="http://schemas.microsoft.com/office/drawing/2014/main" id="{56F05231-EA35-48C1-AE6C-B83307141906}"/>
              </a:ext>
            </a:extLst>
          </p:cNvPr>
          <p:cNvSpPr>
            <a:spLocks noGrp="1"/>
          </p:cNvSpPr>
          <p:nvPr/>
        </p:nvSpPr>
        <p:spPr>
          <a:xfrm>
            <a:off x="5991225" y="3400425"/>
            <a:ext cx="2571750" cy="285750"/>
          </a:xfrm>
          <a:prstGeom prst="rect">
            <a:avLst/>
          </a:prstGeom>
          <a:noFill/>
          <a:ln w="0">
            <a:noFill/>
          </a:ln>
        </p:spPr>
        <p:txBody>
          <a:bodyPr wrap="square" lIns="0" tIns="0" rIns="0" bIns="0" anchor="t">
            <a:noAutofit/>
          </a:bodyPr>
          <a:lstStyle/>
          <a:p>
            <a:pPr>
              <a:defRPr sz="1500" b="0" i="0">
                <a:solidFill>
                  <a:srgbClr val="B56647"/>
                </a:solidFill>
                <a:latin typeface="Arial"/>
                <a:ea typeface="Arial"/>
                <a:cs typeface="Arial"/>
              </a:defRPr>
            </a:pPr>
            <a:r>
              <a:rPr sz="1500" b="0" i="0">
                <a:solidFill>
                  <a:srgbClr val="B56647"/>
                </a:solidFill>
                <a:latin typeface="Arial"/>
                <a:ea typeface="Arial"/>
                <a:cs typeface="Arial"/>
              </a:rPr>
              <a:t>Lesson</a:t>
            </a:r>
          </a:p>
        </p:txBody>
      </p:sp>
      <p:sp>
        <p:nvSpPr>
          <p:cNvPr id="9" name="Nature can be integrated even into very dense">
            <a:extLst>
              <a:ext uri="{FF2B5EF4-FFF2-40B4-BE49-F238E27FC236}">
                <a16:creationId xmlns:a16="http://schemas.microsoft.com/office/drawing/2014/main" id="{D34642C9-5AB7-4DEB-A673-2E40E3B7385A}"/>
              </a:ext>
            </a:extLst>
          </p:cNvPr>
          <p:cNvSpPr>
            <a:spLocks noGrp="1"/>
          </p:cNvSpPr>
          <p:nvPr/>
        </p:nvSpPr>
        <p:spPr>
          <a:xfrm>
            <a:off x="5991225" y="3800475"/>
            <a:ext cx="2600325" cy="857250"/>
          </a:xfrm>
          <a:prstGeom prst="rect">
            <a:avLst/>
          </a:prstGeom>
          <a:noFill/>
          <a:ln w="0">
            <a:noFill/>
          </a:ln>
        </p:spPr>
        <p:txBody>
          <a:bodyPr wrap="square" lIns="0" tIns="0" rIns="0" bIns="0" anchor="t">
            <a:noAutofit/>
          </a:bodyPr>
          <a:lstStyle/>
          <a:p>
            <a:pPr>
              <a:defRPr sz="1725" b="0" i="0">
                <a:solidFill>
                  <a:srgbClr val="173E35"/>
                </a:solidFill>
                <a:latin typeface="Georgia"/>
                <a:ea typeface="Georgia"/>
                <a:cs typeface="Georgia"/>
              </a:defRPr>
            </a:pPr>
            <a:r>
              <a:rPr sz="1725" b="0" i="0">
                <a:solidFill>
                  <a:srgbClr val="173E35"/>
                </a:solidFill>
                <a:latin typeface="Georgia"/>
                <a:ea typeface="Georgia"/>
                <a:cs typeface="Georgia"/>
              </a:rPr>
              <a:t>Nature can be integrated even into very dense urban environments.</a:t>
            </a:r>
          </a:p>
        </p:txBody>
      </p:sp>
      <p:pic>
        <p:nvPicPr>
          <p:cNvPr id="22" name="Picture 21"/>
          <p:cNvPicPr>
            <a:picLocks noChangeAspect="1"/>
          </p:cNvPicPr>
          <p:nvPr/>
        </p:nvPicPr>
        <p:blipFill>
          <a:blip r:embed="rId4"/>
          <a:stretch/>
        </p:blipFill>
        <p:spPr>
          <a:xfrm>
            <a:off x="499570" y="4829175"/>
            <a:ext cx="315310" cy="152400"/>
          </a:xfrm>
          <a:prstGeom prst="rect">
            <a:avLst/>
          </a:prstGeom>
        </p:spPr>
      </p:pic>
      <p:sp>
        <p:nvSpPr>
          <p:cNvPr id="11" name="www.newton.university">
            <a:extLst>
              <a:ext uri="{FF2B5EF4-FFF2-40B4-BE49-F238E27FC236}">
                <a16:creationId xmlns:a16="http://schemas.microsoft.com/office/drawing/2014/main" id="{27AB1619-B6ED-4568-997D-D2D065C7557B}"/>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12" name="22">
            <a:extLst>
              <a:ext uri="{FF2B5EF4-FFF2-40B4-BE49-F238E27FC236}">
                <a16:creationId xmlns:a16="http://schemas.microsoft.com/office/drawing/2014/main" id="{8D32CF58-8E37-452A-9BE8-8D62A62743F5}"/>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58665B"/>
                </a:solidFill>
                <a:latin typeface="Arial"/>
                <a:ea typeface="Arial"/>
                <a:cs typeface="Arial"/>
              </a:defRPr>
            </a:pPr>
            <a:r>
              <a:rPr sz="1125" b="0" i="0">
                <a:solidFill>
                  <a:srgbClr val="58665B"/>
                </a:solidFill>
                <a:latin typeface="Arial"/>
                <a:ea typeface="Arial"/>
                <a:cs typeface="Arial"/>
              </a:rPr>
              <a:t>22</a:t>
            </a:r>
          </a:p>
        </p:txBody>
      </p:sp>
    </p:spTree>
    <p:extLst>
      <p:ext uri="{BB962C8B-B14F-4D97-AF65-F5344CB8AC3E}">
        <p14:creationId xmlns:p14="http://schemas.microsoft.com/office/powerpoint/2010/main" val="21122629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B56647"/>
        </a:solidFill>
        <a:effectLst/>
      </p:bgPr>
    </p:bg>
    <p:spTree>
      <p:nvGrpSpPr>
        <p:cNvPr id="1" name=""/>
        <p:cNvGrpSpPr/>
        <p:nvPr/>
      </p:nvGrpSpPr>
      <p:grpSpPr>
        <a:xfrm>
          <a:off x="0" y="0"/>
          <a:ext cx="0" cy="0"/>
          <a:chOff x="0" y="0"/>
          <a:chExt cx="0" cy="0"/>
        </a:xfrm>
      </p:grpSpPr>
      <p:sp>
        <p:nvSpPr>
          <p:cNvPr id="16" name="Editorial rule">
            <a:extLst>
              <a:ext uri="{FF2B5EF4-FFF2-40B4-BE49-F238E27FC236}">
                <a16:creationId xmlns:a16="http://schemas.microsoft.com/office/drawing/2014/main" id="{15734078-B78A-4915-BDD4-AE302FCE06A0}"/>
              </a:ext>
            </a:extLst>
          </p:cNvPr>
          <p:cNvSpPr>
            <a:spLocks noGrp="1"/>
          </p:cNvSpPr>
          <p:nvPr/>
        </p:nvSpPr>
        <p:spPr>
          <a:xfrm>
            <a:off x="495300" y="1066800"/>
            <a:ext cx="8153400" cy="9525"/>
          </a:xfrm>
          <a:prstGeom prst="rect">
            <a:avLst/>
          </a:prstGeom>
          <a:solidFill>
            <a:srgbClr val="DBB08E"/>
          </a:solidFill>
          <a:ln w="0">
            <a:noFill/>
          </a:ln>
        </p:spPr>
        <p:txBody>
          <a:bodyPr/>
          <a:lstStyle/>
          <a:p>
            <a:endParaRPr lang="en-US"/>
          </a:p>
        </p:txBody>
      </p:sp>
      <p:sp>
        <p:nvSpPr>
          <p:cNvPr id="2" name="Editorial frame">
            <a:extLst>
              <a:ext uri="{FF2B5EF4-FFF2-40B4-BE49-F238E27FC236}">
                <a16:creationId xmlns:a16="http://schemas.microsoft.com/office/drawing/2014/main" id="{666DA05D-5810-405D-85C9-D4DA957694E2}"/>
              </a:ext>
            </a:extLst>
          </p:cNvPr>
          <p:cNvSpPr>
            <a:spLocks noGrp="1"/>
          </p:cNvSpPr>
          <p:nvPr/>
        </p:nvSpPr>
        <p:spPr>
          <a:xfrm>
            <a:off x="361950" y="1600200"/>
            <a:ext cx="8420100" cy="828675"/>
          </a:xfrm>
          <a:prstGeom prst="rect">
            <a:avLst/>
          </a:prstGeom>
          <a:noFill/>
          <a:ln w="8573">
            <a:solidFill>
              <a:srgbClr val="E8C5A6"/>
            </a:solidFill>
          </a:ln>
        </p:spPr>
        <p:txBody>
          <a:bodyPr/>
          <a:lstStyle/>
          <a:p>
            <a:endParaRPr lang="en-US"/>
          </a:p>
        </p:txBody>
      </p:sp>
      <p:sp>
        <p:nvSpPr>
          <p:cNvPr id="3" name="Editorial frame">
            <a:extLst>
              <a:ext uri="{FF2B5EF4-FFF2-40B4-BE49-F238E27FC236}">
                <a16:creationId xmlns:a16="http://schemas.microsoft.com/office/drawing/2014/main" id="{34A959B1-F61B-4480-95D4-2BB7BF2EE023}"/>
              </a:ext>
            </a:extLst>
          </p:cNvPr>
          <p:cNvSpPr>
            <a:spLocks noGrp="1"/>
          </p:cNvSpPr>
          <p:nvPr/>
        </p:nvSpPr>
        <p:spPr>
          <a:xfrm>
            <a:off x="361950" y="2524125"/>
            <a:ext cx="8420100" cy="828675"/>
          </a:xfrm>
          <a:prstGeom prst="rect">
            <a:avLst/>
          </a:prstGeom>
          <a:noFill/>
          <a:ln w="8573">
            <a:solidFill>
              <a:srgbClr val="E8C5A6"/>
            </a:solidFill>
          </a:ln>
        </p:spPr>
        <p:txBody>
          <a:bodyPr/>
          <a:lstStyle/>
          <a:p>
            <a:endParaRPr lang="en-US"/>
          </a:p>
        </p:txBody>
      </p:sp>
      <p:sp>
        <p:nvSpPr>
          <p:cNvPr id="4" name="Editorial frame">
            <a:extLst>
              <a:ext uri="{FF2B5EF4-FFF2-40B4-BE49-F238E27FC236}">
                <a16:creationId xmlns:a16="http://schemas.microsoft.com/office/drawing/2014/main" id="{976A6D6C-1307-4400-A872-3A9E2B46B6F6}"/>
              </a:ext>
            </a:extLst>
          </p:cNvPr>
          <p:cNvSpPr>
            <a:spLocks noGrp="1"/>
          </p:cNvSpPr>
          <p:nvPr/>
        </p:nvSpPr>
        <p:spPr>
          <a:xfrm>
            <a:off x="361950" y="3448050"/>
            <a:ext cx="8420100" cy="828675"/>
          </a:xfrm>
          <a:prstGeom prst="rect">
            <a:avLst/>
          </a:prstGeom>
          <a:noFill/>
          <a:ln w="8573">
            <a:solidFill>
              <a:srgbClr val="E8C5A6"/>
            </a:solidFill>
          </a:ln>
        </p:spPr>
        <p:txBody>
          <a:bodyPr/>
          <a:lstStyle/>
          <a:p>
            <a:endParaRPr lang="en-US"/>
          </a:p>
        </p:txBody>
      </p:sp>
      <p:sp>
        <p:nvSpPr>
          <p:cNvPr id="5" name="Editorial rule">
            <a:extLst>
              <a:ext uri="{FF2B5EF4-FFF2-40B4-BE49-F238E27FC236}">
                <a16:creationId xmlns:a16="http://schemas.microsoft.com/office/drawing/2014/main" id="{B9B43C41-E845-4DB0-AC08-4D873CC9E80E}"/>
              </a:ext>
            </a:extLst>
          </p:cNvPr>
          <p:cNvSpPr>
            <a:spLocks noGrp="1"/>
          </p:cNvSpPr>
          <p:nvPr/>
        </p:nvSpPr>
        <p:spPr>
          <a:xfrm>
            <a:off x="1266825" y="1600200"/>
            <a:ext cx="9525" cy="2676525"/>
          </a:xfrm>
          <a:prstGeom prst="rect">
            <a:avLst/>
          </a:prstGeom>
          <a:solidFill>
            <a:srgbClr val="E8C5A6"/>
          </a:solidFill>
          <a:ln w="0">
            <a:noFill/>
          </a:ln>
        </p:spPr>
        <p:txBody>
          <a:bodyPr/>
          <a:lstStyle/>
          <a:p>
            <a:endParaRPr lang="en-US"/>
          </a:p>
        </p:txBody>
      </p:sp>
      <p:sp>
        <p:nvSpPr>
          <p:cNvPr id="6" name="Mid-Lecture Discussion">
            <a:extLst>
              <a:ext uri="{FF2B5EF4-FFF2-40B4-BE49-F238E27FC236}">
                <a16:creationId xmlns:a16="http://schemas.microsoft.com/office/drawing/2014/main" id="{445686B2-D126-4121-937C-EE0DA0C79B56}"/>
              </a:ext>
            </a:extLst>
          </p:cNvPr>
          <p:cNvSpPr>
            <a:spLocks noGrp="1"/>
          </p:cNvSpPr>
          <p:nvPr/>
        </p:nvSpPr>
        <p:spPr>
          <a:xfrm>
            <a:off x="495300" y="381000"/>
            <a:ext cx="8096250" cy="952500"/>
          </a:xfrm>
          <a:prstGeom prst="rect">
            <a:avLst/>
          </a:prstGeom>
          <a:noFill/>
          <a:ln w="0">
            <a:noFill/>
          </a:ln>
        </p:spPr>
        <p:txBody>
          <a:bodyPr wrap="square" lIns="0" tIns="0" rIns="0" bIns="0" anchor="t">
            <a:noAutofit/>
          </a:bodyPr>
          <a:lstStyle/>
          <a:p>
            <a:pPr>
              <a:defRPr sz="2775" b="0" i="0">
                <a:solidFill>
                  <a:srgbClr val="F5F2EA"/>
                </a:solidFill>
                <a:latin typeface="Georgia"/>
                <a:ea typeface="Georgia"/>
                <a:cs typeface="Georgia"/>
              </a:defRPr>
            </a:pPr>
            <a:r>
              <a:rPr sz="2775" b="0" i="0">
                <a:solidFill>
                  <a:srgbClr val="F5F2EA"/>
                </a:solidFill>
                <a:latin typeface="Georgia"/>
                <a:ea typeface="Georgia"/>
                <a:cs typeface="Georgia"/>
              </a:rPr>
              <a:t>Mid-Lecture Discussion</a:t>
            </a:r>
          </a:p>
        </p:txBody>
      </p:sp>
      <p:sp>
        <p:nvSpPr>
          <p:cNvPr id="7" name="01">
            <a:extLst>
              <a:ext uri="{FF2B5EF4-FFF2-40B4-BE49-F238E27FC236}">
                <a16:creationId xmlns:a16="http://schemas.microsoft.com/office/drawing/2014/main" id="{865B8CC4-9B70-4158-8B36-9253EEC6F5FA}"/>
              </a:ext>
            </a:extLst>
          </p:cNvPr>
          <p:cNvSpPr>
            <a:spLocks noGrp="1"/>
          </p:cNvSpPr>
          <p:nvPr/>
        </p:nvSpPr>
        <p:spPr>
          <a:xfrm>
            <a:off x="495300" y="1743075"/>
            <a:ext cx="619125" cy="514350"/>
          </a:xfrm>
          <a:prstGeom prst="rect">
            <a:avLst/>
          </a:prstGeom>
          <a:noFill/>
          <a:ln w="0">
            <a:noFill/>
          </a:ln>
        </p:spPr>
        <p:txBody>
          <a:bodyPr wrap="square" lIns="0" tIns="0" rIns="0" bIns="0" anchor="t">
            <a:noAutofit/>
          </a:bodyPr>
          <a:lstStyle/>
          <a:p>
            <a:pPr>
              <a:defRPr sz="2250" b="0" i="0">
                <a:solidFill>
                  <a:srgbClr val="F5F2EA"/>
                </a:solidFill>
                <a:latin typeface="Georgia"/>
                <a:ea typeface="Georgia"/>
                <a:cs typeface="Georgia"/>
              </a:defRPr>
            </a:pPr>
            <a:r>
              <a:rPr sz="2250" b="0" i="0">
                <a:solidFill>
                  <a:srgbClr val="F5F2EA"/>
                </a:solidFill>
                <a:latin typeface="Georgia"/>
                <a:ea typeface="Georgia"/>
                <a:cs typeface="Georgia"/>
              </a:rPr>
              <a:t>01</a:t>
            </a:r>
          </a:p>
        </p:txBody>
      </p:sp>
      <p:sp>
        <p:nvSpPr>
          <p:cNvPr id="8" name="Is sustainability a cost or an investment?">
            <a:extLst>
              <a:ext uri="{FF2B5EF4-FFF2-40B4-BE49-F238E27FC236}">
                <a16:creationId xmlns:a16="http://schemas.microsoft.com/office/drawing/2014/main" id="{2BE9B126-C98E-4219-96A8-273FA3941110}"/>
              </a:ext>
            </a:extLst>
          </p:cNvPr>
          <p:cNvSpPr>
            <a:spLocks noGrp="1"/>
          </p:cNvSpPr>
          <p:nvPr/>
        </p:nvSpPr>
        <p:spPr>
          <a:xfrm>
            <a:off x="1428750" y="1762125"/>
            <a:ext cx="7096125" cy="695325"/>
          </a:xfrm>
          <a:prstGeom prst="rect">
            <a:avLst/>
          </a:prstGeom>
          <a:noFill/>
          <a:ln w="0">
            <a:noFill/>
          </a:ln>
        </p:spPr>
        <p:txBody>
          <a:bodyPr wrap="square" lIns="0" tIns="0" rIns="0" bIns="0" anchor="t">
            <a:noAutofit/>
          </a:bodyPr>
          <a:lstStyle/>
          <a:p>
            <a:pPr>
              <a:defRPr sz="2400" b="0" i="0">
                <a:solidFill>
                  <a:srgbClr val="F5F2EA"/>
                </a:solidFill>
                <a:latin typeface="Georgia"/>
                <a:ea typeface="Georgia"/>
                <a:cs typeface="Georgia"/>
              </a:defRPr>
            </a:pPr>
            <a:r>
              <a:rPr sz="2400" b="0" i="0">
                <a:solidFill>
                  <a:srgbClr val="F5F2EA"/>
                </a:solidFill>
                <a:latin typeface="Georgia"/>
                <a:ea typeface="Georgia"/>
                <a:cs typeface="Georgia"/>
              </a:rPr>
              <a:t>Is sustainability a cost or an investment?</a:t>
            </a:r>
          </a:p>
        </p:txBody>
      </p:sp>
      <p:sp>
        <p:nvSpPr>
          <p:cNvPr id="9" name="02">
            <a:extLst>
              <a:ext uri="{FF2B5EF4-FFF2-40B4-BE49-F238E27FC236}">
                <a16:creationId xmlns:a16="http://schemas.microsoft.com/office/drawing/2014/main" id="{20563B93-7797-47E7-B3C5-72B8DA21BE6E}"/>
              </a:ext>
            </a:extLst>
          </p:cNvPr>
          <p:cNvSpPr>
            <a:spLocks noGrp="1"/>
          </p:cNvSpPr>
          <p:nvPr/>
        </p:nvSpPr>
        <p:spPr>
          <a:xfrm>
            <a:off x="495300" y="2667000"/>
            <a:ext cx="619125" cy="514350"/>
          </a:xfrm>
          <a:prstGeom prst="rect">
            <a:avLst/>
          </a:prstGeom>
          <a:noFill/>
          <a:ln w="0">
            <a:noFill/>
          </a:ln>
        </p:spPr>
        <p:txBody>
          <a:bodyPr wrap="square" lIns="0" tIns="0" rIns="0" bIns="0" anchor="t">
            <a:noAutofit/>
          </a:bodyPr>
          <a:lstStyle/>
          <a:p>
            <a:pPr>
              <a:defRPr sz="2250" b="0" i="0">
                <a:solidFill>
                  <a:srgbClr val="F5F2EA"/>
                </a:solidFill>
                <a:latin typeface="Georgia"/>
                <a:ea typeface="Georgia"/>
                <a:cs typeface="Georgia"/>
              </a:defRPr>
            </a:pPr>
            <a:r>
              <a:rPr sz="2250" b="0" i="0">
                <a:solidFill>
                  <a:srgbClr val="F5F2EA"/>
                </a:solidFill>
                <a:latin typeface="Georgia"/>
                <a:ea typeface="Georgia"/>
                <a:cs typeface="Georgia"/>
              </a:rPr>
              <a:t>02</a:t>
            </a:r>
          </a:p>
        </p:txBody>
      </p:sp>
      <p:sp>
        <p:nvSpPr>
          <p:cNvPr id="10" name="Why should business managers understand ecolo">
            <a:extLst>
              <a:ext uri="{FF2B5EF4-FFF2-40B4-BE49-F238E27FC236}">
                <a16:creationId xmlns:a16="http://schemas.microsoft.com/office/drawing/2014/main" id="{86F50C6A-2D83-4814-BAF0-D1D6C4EAFBD8}"/>
              </a:ext>
            </a:extLst>
          </p:cNvPr>
          <p:cNvSpPr>
            <a:spLocks noGrp="1"/>
          </p:cNvSpPr>
          <p:nvPr/>
        </p:nvSpPr>
        <p:spPr>
          <a:xfrm>
            <a:off x="1428750" y="2686050"/>
            <a:ext cx="7096125" cy="695325"/>
          </a:xfrm>
          <a:prstGeom prst="rect">
            <a:avLst/>
          </a:prstGeom>
          <a:noFill/>
          <a:ln w="0">
            <a:noFill/>
          </a:ln>
        </p:spPr>
        <p:txBody>
          <a:bodyPr wrap="square" lIns="0" tIns="0" rIns="0" bIns="0" anchor="t">
            <a:noAutofit/>
          </a:bodyPr>
          <a:lstStyle/>
          <a:p>
            <a:pPr>
              <a:defRPr sz="2400" b="0" i="0">
                <a:solidFill>
                  <a:srgbClr val="F5F2EA"/>
                </a:solidFill>
                <a:latin typeface="Georgia"/>
                <a:ea typeface="Georgia"/>
                <a:cs typeface="Georgia"/>
              </a:defRPr>
            </a:pPr>
            <a:r>
              <a:rPr sz="2400" b="0" i="0">
                <a:solidFill>
                  <a:srgbClr val="F5F2EA"/>
                </a:solidFill>
                <a:latin typeface="Georgia"/>
                <a:ea typeface="Georgia"/>
                <a:cs typeface="Georgia"/>
              </a:rPr>
              <a:t>Why should business managers understand ecology?</a:t>
            </a:r>
          </a:p>
        </p:txBody>
      </p:sp>
      <p:sp>
        <p:nvSpPr>
          <p:cNvPr id="11" name="03">
            <a:extLst>
              <a:ext uri="{FF2B5EF4-FFF2-40B4-BE49-F238E27FC236}">
                <a16:creationId xmlns:a16="http://schemas.microsoft.com/office/drawing/2014/main" id="{545D092D-A24B-4EC0-9C51-2469AF3C453E}"/>
              </a:ext>
            </a:extLst>
          </p:cNvPr>
          <p:cNvSpPr>
            <a:spLocks noGrp="1"/>
          </p:cNvSpPr>
          <p:nvPr/>
        </p:nvSpPr>
        <p:spPr>
          <a:xfrm>
            <a:off x="495300" y="3590925"/>
            <a:ext cx="619125" cy="514350"/>
          </a:xfrm>
          <a:prstGeom prst="rect">
            <a:avLst/>
          </a:prstGeom>
          <a:noFill/>
          <a:ln w="0">
            <a:noFill/>
          </a:ln>
        </p:spPr>
        <p:txBody>
          <a:bodyPr wrap="square" lIns="0" tIns="0" rIns="0" bIns="0" anchor="t">
            <a:noAutofit/>
          </a:bodyPr>
          <a:lstStyle/>
          <a:p>
            <a:pPr>
              <a:defRPr sz="2250" b="0" i="0">
                <a:solidFill>
                  <a:srgbClr val="F5F2EA"/>
                </a:solidFill>
                <a:latin typeface="Georgia"/>
                <a:ea typeface="Georgia"/>
                <a:cs typeface="Georgia"/>
              </a:defRPr>
            </a:pPr>
            <a:r>
              <a:rPr sz="2250" b="0" i="0">
                <a:solidFill>
                  <a:srgbClr val="F5F2EA"/>
                </a:solidFill>
                <a:latin typeface="Georgia"/>
                <a:ea typeface="Georgia"/>
                <a:cs typeface="Georgia"/>
              </a:rPr>
              <a:t>03</a:t>
            </a:r>
          </a:p>
        </p:txBody>
      </p:sp>
      <p:sp>
        <p:nvSpPr>
          <p:cNvPr id="12" name="Could Prague become a greener city?">
            <a:extLst>
              <a:ext uri="{FF2B5EF4-FFF2-40B4-BE49-F238E27FC236}">
                <a16:creationId xmlns:a16="http://schemas.microsoft.com/office/drawing/2014/main" id="{34BDCC8F-EDA4-47B7-A605-24E6760F5823}"/>
              </a:ext>
            </a:extLst>
          </p:cNvPr>
          <p:cNvSpPr>
            <a:spLocks noGrp="1"/>
          </p:cNvSpPr>
          <p:nvPr/>
        </p:nvSpPr>
        <p:spPr>
          <a:xfrm>
            <a:off x="1428750" y="3609975"/>
            <a:ext cx="7096125" cy="695325"/>
          </a:xfrm>
          <a:prstGeom prst="rect">
            <a:avLst/>
          </a:prstGeom>
          <a:noFill/>
          <a:ln w="0">
            <a:noFill/>
          </a:ln>
        </p:spPr>
        <p:txBody>
          <a:bodyPr wrap="square" lIns="0" tIns="0" rIns="0" bIns="0" anchor="t">
            <a:noAutofit/>
          </a:bodyPr>
          <a:lstStyle/>
          <a:p>
            <a:pPr>
              <a:defRPr sz="2400" b="0" i="0">
                <a:solidFill>
                  <a:srgbClr val="F5F2EA"/>
                </a:solidFill>
                <a:latin typeface="Georgia"/>
                <a:ea typeface="Georgia"/>
                <a:cs typeface="Georgia"/>
              </a:defRPr>
            </a:pPr>
            <a:r>
              <a:rPr sz="2400" b="0" i="0">
                <a:solidFill>
                  <a:srgbClr val="F5F2EA"/>
                </a:solidFill>
                <a:latin typeface="Georgia"/>
                <a:ea typeface="Georgia"/>
                <a:cs typeface="Georgia"/>
              </a:rPr>
              <a:t>Could Prague become a greener city?</a:t>
            </a:r>
          </a:p>
        </p:txBody>
      </p:sp>
      <p:pic>
        <p:nvPicPr>
          <p:cNvPr id="28" name="Picture 27"/>
          <p:cNvPicPr>
            <a:picLocks noChangeAspect="1"/>
          </p:cNvPicPr>
          <p:nvPr/>
        </p:nvPicPr>
        <p:blipFill>
          <a:blip r:embed="rId3"/>
          <a:stretch/>
        </p:blipFill>
        <p:spPr>
          <a:xfrm>
            <a:off x="499570" y="4829175"/>
            <a:ext cx="315310" cy="152400"/>
          </a:xfrm>
          <a:prstGeom prst="rect">
            <a:avLst/>
          </a:prstGeom>
        </p:spPr>
      </p:pic>
      <p:sp>
        <p:nvSpPr>
          <p:cNvPr id="14" name="www.newton.university">
            <a:extLst>
              <a:ext uri="{FF2B5EF4-FFF2-40B4-BE49-F238E27FC236}">
                <a16:creationId xmlns:a16="http://schemas.microsoft.com/office/drawing/2014/main" id="{83671E69-BC61-4C26-82E4-586052E34154}"/>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C7D0C6"/>
                </a:solidFill>
                <a:latin typeface="Arial"/>
                <a:ea typeface="Arial"/>
                <a:cs typeface="Arial"/>
              </a:defRPr>
            </a:pPr>
            <a:r>
              <a:rPr sz="750" b="0" i="0">
                <a:solidFill>
                  <a:srgbClr val="C7D0C6"/>
                </a:solidFill>
                <a:latin typeface="Arial"/>
                <a:ea typeface="Arial"/>
                <a:cs typeface="Arial"/>
              </a:rPr>
              <a:t>www.newton.university</a:t>
            </a:r>
          </a:p>
        </p:txBody>
      </p:sp>
      <p:sp>
        <p:nvSpPr>
          <p:cNvPr id="15" name="23">
            <a:extLst>
              <a:ext uri="{FF2B5EF4-FFF2-40B4-BE49-F238E27FC236}">
                <a16:creationId xmlns:a16="http://schemas.microsoft.com/office/drawing/2014/main" id="{946D114B-FD0C-4388-9FAF-085452D99632}"/>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E8EDE5"/>
                </a:solidFill>
                <a:latin typeface="Arial"/>
                <a:ea typeface="Arial"/>
                <a:cs typeface="Arial"/>
              </a:defRPr>
            </a:pPr>
            <a:r>
              <a:rPr sz="1125" b="0" i="0">
                <a:solidFill>
                  <a:srgbClr val="E8EDE5"/>
                </a:solidFill>
                <a:latin typeface="Arial"/>
                <a:ea typeface="Arial"/>
                <a:cs typeface="Arial"/>
              </a:rPr>
              <a:t>23</a:t>
            </a:r>
          </a:p>
        </p:txBody>
      </p:sp>
    </p:spTree>
    <p:extLst>
      <p:ext uri="{BB962C8B-B14F-4D97-AF65-F5344CB8AC3E}">
        <p14:creationId xmlns:p14="http://schemas.microsoft.com/office/powerpoint/2010/main" val="3785276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DDE5D8"/>
        </a:solidFill>
        <a:effectLst/>
      </p:bgPr>
    </p:bg>
    <p:spTree>
      <p:nvGrpSpPr>
        <p:cNvPr id="1" name=""/>
        <p:cNvGrpSpPr/>
        <p:nvPr/>
      </p:nvGrpSpPr>
      <p:grpSpPr>
        <a:xfrm>
          <a:off x="0" y="0"/>
          <a:ext cx="0" cy="0"/>
          <a:chOff x="0" y="0"/>
          <a:chExt cx="0" cy="0"/>
        </a:xfrm>
      </p:grpSpPr>
      <p:sp>
        <p:nvSpPr>
          <p:cNvPr id="9" name="Editorial frame">
            <a:extLst>
              <a:ext uri="{FF2B5EF4-FFF2-40B4-BE49-F238E27FC236}">
                <a16:creationId xmlns:a16="http://schemas.microsoft.com/office/drawing/2014/main" id="{BCF2B7B9-ECE8-4D37-9BD4-F1C0E65933E2}"/>
              </a:ext>
            </a:extLst>
          </p:cNvPr>
          <p:cNvSpPr>
            <a:spLocks noGrp="1"/>
          </p:cNvSpPr>
          <p:nvPr/>
        </p:nvSpPr>
        <p:spPr>
          <a:xfrm>
            <a:off x="219075" y="219075"/>
            <a:ext cx="8705850" cy="4514850"/>
          </a:xfrm>
          <a:prstGeom prst="rect">
            <a:avLst/>
          </a:prstGeom>
          <a:noFill/>
          <a:ln w="8573">
            <a:solidFill>
              <a:srgbClr val="7D9378"/>
            </a:solidFill>
          </a:ln>
        </p:spPr>
        <p:txBody>
          <a:bodyPr/>
          <a:lstStyle/>
          <a:p>
            <a:endParaRPr lang="en-US"/>
          </a:p>
        </p:txBody>
      </p:sp>
      <p:sp>
        <p:nvSpPr>
          <p:cNvPr id="2" name="Editorial frame">
            <a:extLst>
              <a:ext uri="{FF2B5EF4-FFF2-40B4-BE49-F238E27FC236}">
                <a16:creationId xmlns:a16="http://schemas.microsoft.com/office/drawing/2014/main" id="{461BBDC3-8AA1-467E-BC3E-F6ACC4F5725A}"/>
              </a:ext>
            </a:extLst>
          </p:cNvPr>
          <p:cNvSpPr>
            <a:spLocks noGrp="1"/>
          </p:cNvSpPr>
          <p:nvPr/>
        </p:nvSpPr>
        <p:spPr>
          <a:xfrm>
            <a:off x="304800" y="304800"/>
            <a:ext cx="8534400" cy="4343400"/>
          </a:xfrm>
          <a:prstGeom prst="rect">
            <a:avLst/>
          </a:prstGeom>
          <a:noFill/>
          <a:ln w="8573">
            <a:solidFill>
              <a:srgbClr val="B6C3AA"/>
            </a:solidFill>
          </a:ln>
        </p:spPr>
        <p:txBody>
          <a:bodyPr/>
          <a:lstStyle/>
          <a:p>
            <a:endParaRPr lang="en-US"/>
          </a:p>
        </p:txBody>
      </p:sp>
      <p:sp>
        <p:nvSpPr>
          <p:cNvPr id="3" name="Editorial rule">
            <a:extLst>
              <a:ext uri="{FF2B5EF4-FFF2-40B4-BE49-F238E27FC236}">
                <a16:creationId xmlns:a16="http://schemas.microsoft.com/office/drawing/2014/main" id="{36BDFC9B-A661-47AB-A446-7ABADD45DF10}"/>
              </a:ext>
            </a:extLst>
          </p:cNvPr>
          <p:cNvSpPr>
            <a:spLocks noGrp="1"/>
          </p:cNvSpPr>
          <p:nvPr/>
        </p:nvSpPr>
        <p:spPr>
          <a:xfrm>
            <a:off x="495300" y="2809875"/>
            <a:ext cx="1619250" cy="28575"/>
          </a:xfrm>
          <a:prstGeom prst="rect">
            <a:avLst/>
          </a:prstGeom>
          <a:solidFill>
            <a:srgbClr val="173E35"/>
          </a:solidFill>
          <a:ln w="0">
            <a:noFill/>
          </a:ln>
        </p:spPr>
        <p:txBody>
          <a:bodyPr/>
          <a:lstStyle/>
          <a:p>
            <a:endParaRPr lang="en-US"/>
          </a:p>
        </p:txBody>
      </p:sp>
      <p:sp>
        <p:nvSpPr>
          <p:cNvPr id="4" name="Break">
            <a:extLst>
              <a:ext uri="{FF2B5EF4-FFF2-40B4-BE49-F238E27FC236}">
                <a16:creationId xmlns:a16="http://schemas.microsoft.com/office/drawing/2014/main" id="{54A9C794-597B-493F-8ACC-269B3C73D00C}"/>
              </a:ext>
            </a:extLst>
          </p:cNvPr>
          <p:cNvSpPr>
            <a:spLocks noGrp="1"/>
          </p:cNvSpPr>
          <p:nvPr/>
        </p:nvSpPr>
        <p:spPr>
          <a:xfrm>
            <a:off x="495300" y="952500"/>
            <a:ext cx="7143750" cy="1476375"/>
          </a:xfrm>
          <a:prstGeom prst="rect">
            <a:avLst/>
          </a:prstGeom>
          <a:noFill/>
          <a:ln w="0">
            <a:noFill/>
          </a:ln>
        </p:spPr>
        <p:txBody>
          <a:bodyPr wrap="square" lIns="0" tIns="0" rIns="0" bIns="0" anchor="t">
            <a:noAutofit/>
          </a:bodyPr>
          <a:lstStyle/>
          <a:p>
            <a:pPr>
              <a:defRPr sz="7950" b="0" i="0">
                <a:solidFill>
                  <a:srgbClr val="173E35"/>
                </a:solidFill>
                <a:latin typeface="Georgia"/>
                <a:ea typeface="Georgia"/>
                <a:cs typeface="Georgia"/>
              </a:defRPr>
            </a:pPr>
            <a:r>
              <a:rPr sz="7950" b="0" i="0">
                <a:solidFill>
                  <a:srgbClr val="173E35"/>
                </a:solidFill>
                <a:latin typeface="Georgia"/>
                <a:ea typeface="Georgia"/>
                <a:cs typeface="Georgia"/>
              </a:rPr>
              <a:t>Break</a:t>
            </a:r>
          </a:p>
        </p:txBody>
      </p:sp>
      <p:sp>
        <p:nvSpPr>
          <p:cNvPr id="5" name="Second half — Environmental Challenges, Urban">
            <a:extLst>
              <a:ext uri="{FF2B5EF4-FFF2-40B4-BE49-F238E27FC236}">
                <a16:creationId xmlns:a16="http://schemas.microsoft.com/office/drawing/2014/main" id="{AF5F4AAF-1994-4E2E-B4AB-1BEBA50484C5}"/>
              </a:ext>
            </a:extLst>
          </p:cNvPr>
          <p:cNvSpPr>
            <a:spLocks noGrp="1"/>
          </p:cNvSpPr>
          <p:nvPr/>
        </p:nvSpPr>
        <p:spPr>
          <a:xfrm>
            <a:off x="523875" y="3190875"/>
            <a:ext cx="6572250" cy="1047750"/>
          </a:xfrm>
          <a:prstGeom prst="rect">
            <a:avLst/>
          </a:prstGeom>
          <a:noFill/>
          <a:ln w="0">
            <a:noFill/>
          </a:ln>
        </p:spPr>
        <p:txBody>
          <a:bodyPr wrap="square" lIns="0" tIns="0" rIns="0" bIns="0" anchor="t">
            <a:noAutofit/>
          </a:bodyPr>
          <a:lstStyle/>
          <a:p>
            <a:pPr>
              <a:defRPr sz="2175" b="0" i="0">
                <a:solidFill>
                  <a:srgbClr val="173E35"/>
                </a:solidFill>
                <a:latin typeface="Arial"/>
                <a:ea typeface="Arial"/>
                <a:cs typeface="Arial"/>
              </a:defRPr>
            </a:pPr>
            <a:r>
              <a:rPr sz="2175" b="0" i="0">
                <a:solidFill>
                  <a:srgbClr val="173E35"/>
                </a:solidFill>
                <a:latin typeface="Arial"/>
                <a:ea typeface="Arial"/>
                <a:cs typeface="Arial"/>
              </a:rPr>
              <a:t>Second half — Environmental Challenges, Urban Expansion and Green Infrastructure</a:t>
            </a:r>
          </a:p>
        </p:txBody>
      </p:sp>
      <p:pic>
        <p:nvPicPr>
          <p:cNvPr id="14" name="Picture 13"/>
          <p:cNvPicPr>
            <a:picLocks noChangeAspect="1"/>
          </p:cNvPicPr>
          <p:nvPr/>
        </p:nvPicPr>
        <p:blipFill>
          <a:blip r:embed="rId3"/>
          <a:stretch/>
        </p:blipFill>
        <p:spPr>
          <a:xfrm>
            <a:off x="499570" y="4829175"/>
            <a:ext cx="315310" cy="152400"/>
          </a:xfrm>
          <a:prstGeom prst="rect">
            <a:avLst/>
          </a:prstGeom>
        </p:spPr>
      </p:pic>
      <p:sp>
        <p:nvSpPr>
          <p:cNvPr id="7" name="www.newton.university">
            <a:extLst>
              <a:ext uri="{FF2B5EF4-FFF2-40B4-BE49-F238E27FC236}">
                <a16:creationId xmlns:a16="http://schemas.microsoft.com/office/drawing/2014/main" id="{2B14ECF6-86E8-4C63-8F25-5BC8BBB4F447}"/>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8" name="24">
            <a:extLst>
              <a:ext uri="{FF2B5EF4-FFF2-40B4-BE49-F238E27FC236}">
                <a16:creationId xmlns:a16="http://schemas.microsoft.com/office/drawing/2014/main" id="{95E7C8BA-525B-4936-9CA0-725A7882DD05}"/>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58665B"/>
                </a:solidFill>
                <a:latin typeface="Arial"/>
                <a:ea typeface="Arial"/>
                <a:cs typeface="Arial"/>
              </a:defRPr>
            </a:pPr>
            <a:r>
              <a:rPr sz="1125" b="0" i="0">
                <a:solidFill>
                  <a:srgbClr val="58665B"/>
                </a:solidFill>
                <a:latin typeface="Arial"/>
                <a:ea typeface="Arial"/>
                <a:cs typeface="Arial"/>
              </a:rPr>
              <a:t>24</a:t>
            </a:r>
          </a:p>
        </p:txBody>
      </p:sp>
    </p:spTree>
    <p:extLst>
      <p:ext uri="{BB962C8B-B14F-4D97-AF65-F5344CB8AC3E}">
        <p14:creationId xmlns:p14="http://schemas.microsoft.com/office/powerpoint/2010/main" val="13019810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203C45"/>
        </a:solidFill>
        <a:effectLst/>
      </p:bgPr>
    </p:bg>
    <p:spTree>
      <p:nvGrpSpPr>
        <p:cNvPr id="1" name=""/>
        <p:cNvGrpSpPr/>
        <p:nvPr/>
      </p:nvGrpSpPr>
      <p:grpSpPr>
        <a:xfrm>
          <a:off x="0" y="0"/>
          <a:ext cx="0" cy="0"/>
          <a:chOff x="0" y="0"/>
          <a:chExt cx="0" cy="0"/>
        </a:xfrm>
      </p:grpSpPr>
      <p:sp>
        <p:nvSpPr>
          <p:cNvPr id="10" name="Editorial frame">
            <a:extLst>
              <a:ext uri="{FF2B5EF4-FFF2-40B4-BE49-F238E27FC236}">
                <a16:creationId xmlns:a16="http://schemas.microsoft.com/office/drawing/2014/main" id="{7C76D1C9-9F21-4FC6-8E2D-ED8CE218E59B}"/>
              </a:ext>
            </a:extLst>
          </p:cNvPr>
          <p:cNvSpPr>
            <a:spLocks noGrp="1"/>
          </p:cNvSpPr>
          <p:nvPr/>
        </p:nvSpPr>
        <p:spPr>
          <a:xfrm>
            <a:off x="219075" y="219075"/>
            <a:ext cx="8705850" cy="4514850"/>
          </a:xfrm>
          <a:prstGeom prst="rect">
            <a:avLst/>
          </a:prstGeom>
          <a:noFill/>
          <a:ln w="8573">
            <a:solidFill>
              <a:srgbClr val="68868B"/>
            </a:solidFill>
          </a:ln>
        </p:spPr>
        <p:txBody>
          <a:bodyPr/>
          <a:lstStyle/>
          <a:p>
            <a:endParaRPr lang="en-US"/>
          </a:p>
        </p:txBody>
      </p:sp>
      <p:sp>
        <p:nvSpPr>
          <p:cNvPr id="2" name="Editorial rule">
            <a:extLst>
              <a:ext uri="{FF2B5EF4-FFF2-40B4-BE49-F238E27FC236}">
                <a16:creationId xmlns:a16="http://schemas.microsoft.com/office/drawing/2014/main" id="{A7E63B33-65C0-4296-B84E-A6D2D81BEED7}"/>
              </a:ext>
            </a:extLst>
          </p:cNvPr>
          <p:cNvSpPr>
            <a:spLocks noGrp="1"/>
          </p:cNvSpPr>
          <p:nvPr/>
        </p:nvSpPr>
        <p:spPr>
          <a:xfrm>
            <a:off x="495300" y="1323975"/>
            <a:ext cx="1704975" cy="19050"/>
          </a:xfrm>
          <a:prstGeom prst="rect">
            <a:avLst/>
          </a:prstGeom>
          <a:solidFill>
            <a:srgbClr val="BAC8BA"/>
          </a:solidFill>
          <a:ln w="0">
            <a:noFill/>
          </a:ln>
        </p:spPr>
        <p:txBody>
          <a:bodyPr/>
          <a:lstStyle/>
          <a:p>
            <a:endParaRPr lang="en-US"/>
          </a:p>
        </p:txBody>
      </p:sp>
      <p:sp>
        <p:nvSpPr>
          <p:cNvPr id="3" name="Editorial frame">
            <a:extLst>
              <a:ext uri="{FF2B5EF4-FFF2-40B4-BE49-F238E27FC236}">
                <a16:creationId xmlns:a16="http://schemas.microsoft.com/office/drawing/2014/main" id="{BCAF462E-32DE-4529-89F9-8FDEA1CF419F}"/>
              </a:ext>
            </a:extLst>
          </p:cNvPr>
          <p:cNvSpPr>
            <a:spLocks noGrp="1"/>
          </p:cNvSpPr>
          <p:nvPr/>
        </p:nvSpPr>
        <p:spPr>
          <a:xfrm>
            <a:off x="6858000" y="3067050"/>
            <a:ext cx="1790700" cy="1438275"/>
          </a:xfrm>
          <a:prstGeom prst="rect">
            <a:avLst/>
          </a:prstGeom>
          <a:noFill/>
          <a:ln w="8573">
            <a:solidFill>
              <a:srgbClr val="68868B"/>
            </a:solidFill>
          </a:ln>
        </p:spPr>
        <p:txBody>
          <a:bodyPr/>
          <a:lstStyle/>
          <a:p>
            <a:endParaRPr lang="en-US"/>
          </a:p>
        </p:txBody>
      </p:sp>
      <p:sp>
        <p:nvSpPr>
          <p:cNvPr id="4" name="Part 4">
            <a:extLst>
              <a:ext uri="{FF2B5EF4-FFF2-40B4-BE49-F238E27FC236}">
                <a16:creationId xmlns:a16="http://schemas.microsoft.com/office/drawing/2014/main" id="{01BF143B-1C0C-4EFD-8303-DB7F912A621A}"/>
              </a:ext>
            </a:extLst>
          </p:cNvPr>
          <p:cNvSpPr>
            <a:spLocks noGrp="1"/>
          </p:cNvSpPr>
          <p:nvPr/>
        </p:nvSpPr>
        <p:spPr>
          <a:xfrm>
            <a:off x="495300" y="838200"/>
            <a:ext cx="4762500" cy="285750"/>
          </a:xfrm>
          <a:prstGeom prst="rect">
            <a:avLst/>
          </a:prstGeom>
          <a:noFill/>
          <a:ln w="0">
            <a:noFill/>
          </a:ln>
        </p:spPr>
        <p:txBody>
          <a:bodyPr wrap="square" lIns="0" tIns="0" rIns="0" bIns="0" anchor="t">
            <a:noAutofit/>
          </a:bodyPr>
          <a:lstStyle/>
          <a:p>
            <a:pPr>
              <a:defRPr sz="1500" b="0" i="0">
                <a:solidFill>
                  <a:srgbClr val="C7D0C6"/>
                </a:solidFill>
                <a:latin typeface="Arial"/>
                <a:ea typeface="Arial"/>
                <a:cs typeface="Arial"/>
              </a:defRPr>
            </a:pPr>
            <a:r>
              <a:rPr sz="1500" b="0" i="0">
                <a:solidFill>
                  <a:srgbClr val="C7D0C6"/>
                </a:solidFill>
                <a:latin typeface="Arial"/>
                <a:ea typeface="Arial"/>
                <a:cs typeface="Arial"/>
              </a:rPr>
              <a:t>Part 4</a:t>
            </a:r>
          </a:p>
        </p:txBody>
      </p:sp>
      <p:sp>
        <p:nvSpPr>
          <p:cNvPr id="5" name="Planetary&#10;Challenges">
            <a:extLst>
              <a:ext uri="{FF2B5EF4-FFF2-40B4-BE49-F238E27FC236}">
                <a16:creationId xmlns:a16="http://schemas.microsoft.com/office/drawing/2014/main" id="{F6A92C77-3E04-4322-967F-C79A8D62CDE2}"/>
              </a:ext>
            </a:extLst>
          </p:cNvPr>
          <p:cNvSpPr>
            <a:spLocks noGrp="1"/>
          </p:cNvSpPr>
          <p:nvPr/>
        </p:nvSpPr>
        <p:spPr>
          <a:xfrm>
            <a:off x="495300" y="1762125"/>
            <a:ext cx="6000750" cy="1714500"/>
          </a:xfrm>
          <a:prstGeom prst="rect">
            <a:avLst/>
          </a:prstGeom>
          <a:noFill/>
          <a:ln w="0">
            <a:noFill/>
          </a:ln>
        </p:spPr>
        <p:txBody>
          <a:bodyPr wrap="square" lIns="0" tIns="0" rIns="0" bIns="0" anchor="t">
            <a:noAutofit/>
          </a:bodyPr>
          <a:lstStyle/>
          <a:p>
            <a:pPr>
              <a:defRPr sz="4350" b="0" i="0">
                <a:solidFill>
                  <a:srgbClr val="F5F2EA"/>
                </a:solidFill>
                <a:latin typeface="Georgia"/>
                <a:ea typeface="Georgia"/>
                <a:cs typeface="Georgia"/>
              </a:defRPr>
            </a:pPr>
            <a:r>
              <a:rPr sz="4350" b="0" i="0">
                <a:solidFill>
                  <a:srgbClr val="F5F2EA"/>
                </a:solidFill>
                <a:latin typeface="Georgia"/>
                <a:ea typeface="Georgia"/>
                <a:cs typeface="Georgia"/>
              </a:rPr>
              <a:t>Planetary</a:t>
            </a:r>
          </a:p>
          <a:p>
            <a:pPr>
              <a:defRPr sz="4350" b="0" i="0">
                <a:solidFill>
                  <a:srgbClr val="F5F2EA"/>
                </a:solidFill>
                <a:latin typeface="Georgia"/>
                <a:ea typeface="Georgia"/>
                <a:cs typeface="Georgia"/>
              </a:defRPr>
            </a:pPr>
            <a:r>
              <a:rPr sz="4350" b="0" i="0">
                <a:solidFill>
                  <a:srgbClr val="F5F2EA"/>
                </a:solidFill>
                <a:latin typeface="Georgia"/>
                <a:ea typeface="Georgia"/>
                <a:cs typeface="Georgia"/>
              </a:rPr>
              <a:t>Challenges</a:t>
            </a:r>
          </a:p>
        </p:txBody>
      </p:sp>
      <p:sp>
        <p:nvSpPr>
          <p:cNvPr id="6" name="04">
            <a:extLst>
              <a:ext uri="{FF2B5EF4-FFF2-40B4-BE49-F238E27FC236}">
                <a16:creationId xmlns:a16="http://schemas.microsoft.com/office/drawing/2014/main" id="{42CF252E-3984-46DC-B7FD-AFC30264F448}"/>
              </a:ext>
            </a:extLst>
          </p:cNvPr>
          <p:cNvSpPr>
            <a:spLocks noGrp="1"/>
          </p:cNvSpPr>
          <p:nvPr/>
        </p:nvSpPr>
        <p:spPr>
          <a:xfrm>
            <a:off x="7029450" y="3200400"/>
            <a:ext cx="1524000" cy="1304925"/>
          </a:xfrm>
          <a:prstGeom prst="rect">
            <a:avLst/>
          </a:prstGeom>
          <a:noFill/>
          <a:ln w="0">
            <a:noFill/>
          </a:ln>
        </p:spPr>
        <p:txBody>
          <a:bodyPr wrap="square" lIns="0" tIns="0" rIns="0" bIns="0" anchor="t">
            <a:noAutofit/>
          </a:bodyPr>
          <a:lstStyle/>
          <a:p>
            <a:pPr>
              <a:defRPr sz="8025" b="0" i="0">
                <a:solidFill>
                  <a:srgbClr val="789291"/>
                </a:solidFill>
                <a:latin typeface="Georgia"/>
                <a:ea typeface="Georgia"/>
                <a:cs typeface="Georgia"/>
              </a:defRPr>
            </a:pPr>
            <a:r>
              <a:rPr sz="8025" b="0" i="0">
                <a:solidFill>
                  <a:srgbClr val="789291"/>
                </a:solidFill>
                <a:latin typeface="Georgia"/>
                <a:ea typeface="Georgia"/>
                <a:cs typeface="Georgia"/>
              </a:rPr>
              <a:t>04</a:t>
            </a:r>
          </a:p>
        </p:txBody>
      </p:sp>
      <p:pic>
        <p:nvPicPr>
          <p:cNvPr id="16" name="Picture 15"/>
          <p:cNvPicPr>
            <a:picLocks noChangeAspect="1"/>
          </p:cNvPicPr>
          <p:nvPr/>
        </p:nvPicPr>
        <p:blipFill>
          <a:blip r:embed="rId3"/>
          <a:stretch/>
        </p:blipFill>
        <p:spPr>
          <a:xfrm>
            <a:off x="499570" y="4829175"/>
            <a:ext cx="315310" cy="152400"/>
          </a:xfrm>
          <a:prstGeom prst="rect">
            <a:avLst/>
          </a:prstGeom>
        </p:spPr>
      </p:pic>
      <p:sp>
        <p:nvSpPr>
          <p:cNvPr id="8" name="www.newton.university">
            <a:extLst>
              <a:ext uri="{FF2B5EF4-FFF2-40B4-BE49-F238E27FC236}">
                <a16:creationId xmlns:a16="http://schemas.microsoft.com/office/drawing/2014/main" id="{1F112222-AAC8-47AE-BBBF-916E36E1960F}"/>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C7D0C6"/>
                </a:solidFill>
                <a:latin typeface="Arial"/>
                <a:ea typeface="Arial"/>
                <a:cs typeface="Arial"/>
              </a:defRPr>
            </a:pPr>
            <a:r>
              <a:rPr sz="750" b="0" i="0">
                <a:solidFill>
                  <a:srgbClr val="C7D0C6"/>
                </a:solidFill>
                <a:latin typeface="Arial"/>
                <a:ea typeface="Arial"/>
                <a:cs typeface="Arial"/>
              </a:rPr>
              <a:t>www.newton.university</a:t>
            </a:r>
          </a:p>
        </p:txBody>
      </p:sp>
      <p:sp>
        <p:nvSpPr>
          <p:cNvPr id="9" name="25">
            <a:extLst>
              <a:ext uri="{FF2B5EF4-FFF2-40B4-BE49-F238E27FC236}">
                <a16:creationId xmlns:a16="http://schemas.microsoft.com/office/drawing/2014/main" id="{CB843A66-9EF8-4D3A-A804-55ACDFC14838}"/>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E8EDE5"/>
                </a:solidFill>
                <a:latin typeface="Arial"/>
                <a:ea typeface="Arial"/>
                <a:cs typeface="Arial"/>
              </a:defRPr>
            </a:pPr>
            <a:r>
              <a:rPr sz="1125" b="0" i="0">
                <a:solidFill>
                  <a:srgbClr val="E8EDE5"/>
                </a:solidFill>
                <a:latin typeface="Arial"/>
                <a:ea typeface="Arial"/>
                <a:cs typeface="Arial"/>
              </a:rPr>
              <a:t>25</a:t>
            </a:r>
          </a:p>
        </p:txBody>
      </p:sp>
    </p:spTree>
    <p:extLst>
      <p:ext uri="{BB962C8B-B14F-4D97-AF65-F5344CB8AC3E}">
        <p14:creationId xmlns:p14="http://schemas.microsoft.com/office/powerpoint/2010/main" val="6500275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4" name="Editorial rule">
            <a:extLst>
              <a:ext uri="{FF2B5EF4-FFF2-40B4-BE49-F238E27FC236}">
                <a16:creationId xmlns:a16="http://schemas.microsoft.com/office/drawing/2014/main" id="{204E1237-7344-4AC9-89E7-5FB7BD423F80}"/>
              </a:ext>
            </a:extLst>
          </p:cNvPr>
          <p:cNvSpPr>
            <a:spLocks noGrp="1"/>
          </p:cNvSpPr>
          <p:nvPr/>
        </p:nvSpPr>
        <p:spPr>
          <a:xfrm>
            <a:off x="495300" y="1066800"/>
            <a:ext cx="8153400" cy="7620"/>
          </a:xfrm>
          <a:prstGeom prst="rect">
            <a:avLst/>
          </a:prstGeom>
          <a:solidFill>
            <a:srgbClr val="B7C3B1"/>
          </a:solidFill>
          <a:ln w="0">
            <a:noFill/>
          </a:ln>
        </p:spPr>
        <p:txBody>
          <a:bodyPr/>
          <a:lstStyle/>
          <a:p>
            <a:endParaRPr lang="en-US"/>
          </a:p>
        </p:txBody>
      </p:sp>
      <p:sp>
        <p:nvSpPr>
          <p:cNvPr id="2" name="Editorial rule">
            <a:extLst>
              <a:ext uri="{FF2B5EF4-FFF2-40B4-BE49-F238E27FC236}">
                <a16:creationId xmlns:a16="http://schemas.microsoft.com/office/drawing/2014/main" id="{1587A897-FEC2-4EBE-81E2-4E94F70347AC}"/>
              </a:ext>
            </a:extLst>
          </p:cNvPr>
          <p:cNvSpPr>
            <a:spLocks noGrp="1"/>
          </p:cNvSpPr>
          <p:nvPr/>
        </p:nvSpPr>
        <p:spPr>
          <a:xfrm>
            <a:off x="495300" y="1052513"/>
            <a:ext cx="552450" cy="28575"/>
          </a:xfrm>
          <a:prstGeom prst="rect">
            <a:avLst/>
          </a:prstGeom>
          <a:solidFill>
            <a:srgbClr val="B56647"/>
          </a:solidFill>
          <a:ln w="0">
            <a:noFill/>
          </a:ln>
        </p:spPr>
        <p:txBody>
          <a:bodyPr/>
          <a:lstStyle/>
          <a:p>
            <a:endParaRPr lang="en-US"/>
          </a:p>
        </p:txBody>
      </p:sp>
      <p:sp>
        <p:nvSpPr>
          <p:cNvPr id="3" name="Editorial frame">
            <a:extLst>
              <a:ext uri="{FF2B5EF4-FFF2-40B4-BE49-F238E27FC236}">
                <a16:creationId xmlns:a16="http://schemas.microsoft.com/office/drawing/2014/main" id="{F29A41BE-AF77-4884-9DB5-B9E81AB62905}"/>
              </a:ext>
            </a:extLst>
          </p:cNvPr>
          <p:cNvSpPr>
            <a:spLocks noGrp="1"/>
          </p:cNvSpPr>
          <p:nvPr/>
        </p:nvSpPr>
        <p:spPr>
          <a:xfrm>
            <a:off x="361950" y="1790700"/>
            <a:ext cx="5048250" cy="2714625"/>
          </a:xfrm>
          <a:prstGeom prst="rect">
            <a:avLst/>
          </a:prstGeom>
          <a:noFill/>
          <a:ln w="8573">
            <a:solidFill>
              <a:srgbClr val="B7C5AB"/>
            </a:solidFill>
          </a:ln>
        </p:spPr>
        <p:txBody>
          <a:bodyPr/>
          <a:lstStyle/>
          <a:p>
            <a:endParaRPr lang="en-US"/>
          </a:p>
        </p:txBody>
      </p:sp>
      <p:sp>
        <p:nvSpPr>
          <p:cNvPr id="4" name="Editorial rule">
            <a:extLst>
              <a:ext uri="{FF2B5EF4-FFF2-40B4-BE49-F238E27FC236}">
                <a16:creationId xmlns:a16="http://schemas.microsoft.com/office/drawing/2014/main" id="{AC7CE413-742A-4B6C-9C22-6E4859B5B8F0}"/>
              </a:ext>
            </a:extLst>
          </p:cNvPr>
          <p:cNvSpPr>
            <a:spLocks noGrp="1"/>
          </p:cNvSpPr>
          <p:nvPr/>
        </p:nvSpPr>
        <p:spPr>
          <a:xfrm>
            <a:off x="361950" y="1790700"/>
            <a:ext cx="47625" cy="2714625"/>
          </a:xfrm>
          <a:prstGeom prst="rect">
            <a:avLst/>
          </a:prstGeom>
          <a:solidFill>
            <a:srgbClr val="173E35"/>
          </a:solidFill>
          <a:ln w="0">
            <a:noFill/>
          </a:ln>
        </p:spPr>
        <p:txBody>
          <a:bodyPr/>
          <a:lstStyle/>
          <a:p>
            <a:endParaRPr lang="en-US"/>
          </a:p>
        </p:txBody>
      </p:sp>
      <p:sp>
        <p:nvSpPr>
          <p:cNvPr id="5" name="Editorial frame">
            <a:extLst>
              <a:ext uri="{FF2B5EF4-FFF2-40B4-BE49-F238E27FC236}">
                <a16:creationId xmlns:a16="http://schemas.microsoft.com/office/drawing/2014/main" id="{19A5EDDF-8B86-4222-B5E7-0D70E71EFC65}"/>
              </a:ext>
            </a:extLst>
          </p:cNvPr>
          <p:cNvSpPr>
            <a:spLocks noGrp="1"/>
          </p:cNvSpPr>
          <p:nvPr/>
        </p:nvSpPr>
        <p:spPr>
          <a:xfrm>
            <a:off x="5772150" y="1790700"/>
            <a:ext cx="3009900" cy="2714625"/>
          </a:xfrm>
          <a:prstGeom prst="rect">
            <a:avLst/>
          </a:prstGeom>
          <a:solidFill>
            <a:srgbClr val="ECE4D6"/>
          </a:solidFill>
          <a:ln w="8573">
            <a:solidFill>
              <a:srgbClr val="C2AE95"/>
            </a:solidFill>
          </a:ln>
        </p:spPr>
        <p:txBody>
          <a:bodyPr/>
          <a:lstStyle/>
          <a:p>
            <a:endParaRPr lang="en-US"/>
          </a:p>
        </p:txBody>
      </p:sp>
      <p:sp>
        <p:nvSpPr>
          <p:cNvPr id="6" name="Editorial rule">
            <a:extLst>
              <a:ext uri="{FF2B5EF4-FFF2-40B4-BE49-F238E27FC236}">
                <a16:creationId xmlns:a16="http://schemas.microsoft.com/office/drawing/2014/main" id="{256907DB-456E-43B0-A254-7A448643E301}"/>
              </a:ext>
            </a:extLst>
          </p:cNvPr>
          <p:cNvSpPr>
            <a:spLocks noGrp="1"/>
          </p:cNvSpPr>
          <p:nvPr/>
        </p:nvSpPr>
        <p:spPr>
          <a:xfrm>
            <a:off x="5772150" y="1790700"/>
            <a:ext cx="3009900" cy="38100"/>
          </a:xfrm>
          <a:prstGeom prst="rect">
            <a:avLst/>
          </a:prstGeom>
          <a:solidFill>
            <a:srgbClr val="B56647"/>
          </a:solidFill>
          <a:ln w="0">
            <a:noFill/>
          </a:ln>
        </p:spPr>
        <p:txBody>
          <a:bodyPr/>
          <a:lstStyle/>
          <a:p>
            <a:endParaRPr lang="en-US"/>
          </a:p>
        </p:txBody>
      </p:sp>
      <p:sp>
        <p:nvSpPr>
          <p:cNvPr id="7" name="The Planetary Boundaries Framework">
            <a:extLst>
              <a:ext uri="{FF2B5EF4-FFF2-40B4-BE49-F238E27FC236}">
                <a16:creationId xmlns:a16="http://schemas.microsoft.com/office/drawing/2014/main" id="{C89E59D4-9588-4D55-98E4-159124A21172}"/>
              </a:ext>
            </a:extLst>
          </p:cNvPr>
          <p:cNvSpPr>
            <a:spLocks noGrp="1"/>
          </p:cNvSpPr>
          <p:nvPr/>
        </p:nvSpPr>
        <p:spPr>
          <a:xfrm>
            <a:off x="495300" y="381000"/>
            <a:ext cx="8096250" cy="952500"/>
          </a:xfrm>
          <a:prstGeom prst="rect">
            <a:avLst/>
          </a:prstGeom>
          <a:noFill/>
          <a:ln w="0">
            <a:noFill/>
          </a:ln>
        </p:spPr>
        <p:txBody>
          <a:bodyPr wrap="square" lIns="0" tIns="0" rIns="0" bIns="0" anchor="t">
            <a:noAutofit/>
          </a:bodyPr>
          <a:lstStyle/>
          <a:p>
            <a:pPr>
              <a:defRPr sz="2625" b="0" i="0">
                <a:solidFill>
                  <a:srgbClr val="173E35"/>
                </a:solidFill>
                <a:latin typeface="Georgia"/>
                <a:ea typeface="Georgia"/>
                <a:cs typeface="Georgia"/>
              </a:defRPr>
            </a:pPr>
            <a:r>
              <a:rPr sz="2625" b="0" i="0">
                <a:solidFill>
                  <a:srgbClr val="173E35"/>
                </a:solidFill>
                <a:latin typeface="Georgia"/>
                <a:ea typeface="Georgia"/>
                <a:cs typeface="Georgia"/>
              </a:rPr>
              <a:t>The Planetary Boundaries Framework</a:t>
            </a:r>
          </a:p>
        </p:txBody>
      </p:sp>
      <p:sp>
        <p:nvSpPr>
          <p:cNvPr id="8" name="Key boundaries under pressure">
            <a:extLst>
              <a:ext uri="{FF2B5EF4-FFF2-40B4-BE49-F238E27FC236}">
                <a16:creationId xmlns:a16="http://schemas.microsoft.com/office/drawing/2014/main" id="{DCB1B3BF-F4E2-4B9E-92C3-3908679F72CF}"/>
              </a:ext>
            </a:extLst>
          </p:cNvPr>
          <p:cNvSpPr>
            <a:spLocks noGrp="1"/>
          </p:cNvSpPr>
          <p:nvPr/>
        </p:nvSpPr>
        <p:spPr>
          <a:xfrm>
            <a:off x="495300" y="1362075"/>
            <a:ext cx="5334000" cy="314325"/>
          </a:xfrm>
          <a:prstGeom prst="rect">
            <a:avLst/>
          </a:prstGeom>
          <a:noFill/>
          <a:ln w="0">
            <a:noFill/>
          </a:ln>
        </p:spPr>
        <p:txBody>
          <a:bodyPr wrap="square" lIns="0" tIns="0" rIns="0" bIns="0" anchor="t">
            <a:noAutofit/>
          </a:bodyPr>
          <a:lstStyle/>
          <a:p>
            <a:pPr>
              <a:defRPr sz="1650" b="0" i="0">
                <a:solidFill>
                  <a:srgbClr val="58665B"/>
                </a:solidFill>
                <a:latin typeface="Arial"/>
                <a:ea typeface="Arial"/>
                <a:cs typeface="Arial"/>
              </a:defRPr>
            </a:pPr>
            <a:r>
              <a:rPr sz="1650" b="0" i="0">
                <a:solidFill>
                  <a:srgbClr val="58665B"/>
                </a:solidFill>
                <a:latin typeface="Arial"/>
                <a:ea typeface="Arial"/>
                <a:cs typeface="Arial"/>
              </a:rPr>
              <a:t>Key boundaries under pressure</a:t>
            </a:r>
          </a:p>
        </p:txBody>
      </p:sp>
      <p:sp>
        <p:nvSpPr>
          <p:cNvPr id="9" name="01">
            <a:extLst>
              <a:ext uri="{FF2B5EF4-FFF2-40B4-BE49-F238E27FC236}">
                <a16:creationId xmlns:a16="http://schemas.microsoft.com/office/drawing/2014/main" id="{4A67515C-DA5D-4EC3-B594-02D0E8AA2CFE}"/>
              </a:ext>
            </a:extLst>
          </p:cNvPr>
          <p:cNvSpPr>
            <a:spLocks noGrp="1"/>
          </p:cNvSpPr>
          <p:nvPr/>
        </p:nvSpPr>
        <p:spPr>
          <a:xfrm>
            <a:off x="495300" y="1933575"/>
            <a:ext cx="381000" cy="361950"/>
          </a:xfrm>
          <a:prstGeom prst="rect">
            <a:avLst/>
          </a:prstGeom>
          <a:noFill/>
          <a:ln w="0">
            <a:noFill/>
          </a:ln>
        </p:spPr>
        <p:txBody>
          <a:bodyPr wrap="square" lIns="0" tIns="0" rIns="0" bIns="0" anchor="t">
            <a:noAutofit/>
          </a:bodyPr>
          <a:lstStyle/>
          <a:p>
            <a:pPr>
              <a:defRPr sz="1275" b="0" i="0">
                <a:solidFill>
                  <a:srgbClr val="B56647"/>
                </a:solidFill>
                <a:latin typeface="Arial"/>
                <a:ea typeface="Arial"/>
                <a:cs typeface="Arial"/>
              </a:defRPr>
            </a:pPr>
            <a:r>
              <a:rPr sz="1275" b="0" i="0">
                <a:solidFill>
                  <a:srgbClr val="B56647"/>
                </a:solidFill>
                <a:latin typeface="Arial"/>
                <a:ea typeface="Arial"/>
                <a:cs typeface="Arial"/>
              </a:rPr>
              <a:t>01</a:t>
            </a:r>
          </a:p>
        </p:txBody>
      </p:sp>
      <p:sp>
        <p:nvSpPr>
          <p:cNvPr id="10" name="Climate change">
            <a:extLst>
              <a:ext uri="{FF2B5EF4-FFF2-40B4-BE49-F238E27FC236}">
                <a16:creationId xmlns:a16="http://schemas.microsoft.com/office/drawing/2014/main" id="{FC5EE5BB-B2C9-489E-A937-FB2A545A9BEE}"/>
              </a:ext>
            </a:extLst>
          </p:cNvPr>
          <p:cNvSpPr>
            <a:spLocks noGrp="1"/>
          </p:cNvSpPr>
          <p:nvPr/>
        </p:nvSpPr>
        <p:spPr>
          <a:xfrm>
            <a:off x="952500" y="1933575"/>
            <a:ext cx="4210050" cy="619125"/>
          </a:xfrm>
          <a:prstGeom prst="rect">
            <a:avLst/>
          </a:prstGeom>
          <a:noFill/>
          <a:ln w="0">
            <a:noFill/>
          </a:ln>
        </p:spPr>
        <p:txBody>
          <a:bodyPr wrap="square" lIns="0" tIns="0" rIns="0" bIns="0" anchor="t">
            <a:noAutofit/>
          </a:bodyPr>
          <a:lstStyle/>
          <a:p>
            <a:pPr>
              <a:defRPr sz="1950" b="0" i="0">
                <a:solidFill>
                  <a:srgbClr val="173E35"/>
                </a:solidFill>
                <a:latin typeface="Arial"/>
                <a:ea typeface="Arial"/>
                <a:cs typeface="Arial"/>
              </a:defRPr>
            </a:pPr>
            <a:r>
              <a:rPr sz="1950" b="0" i="0">
                <a:solidFill>
                  <a:srgbClr val="173E35"/>
                </a:solidFill>
                <a:latin typeface="Arial"/>
                <a:ea typeface="Arial"/>
                <a:cs typeface="Arial"/>
              </a:rPr>
              <a:t>Climate change</a:t>
            </a:r>
          </a:p>
        </p:txBody>
      </p:sp>
      <p:sp>
        <p:nvSpPr>
          <p:cNvPr id="11" name="02">
            <a:extLst>
              <a:ext uri="{FF2B5EF4-FFF2-40B4-BE49-F238E27FC236}">
                <a16:creationId xmlns:a16="http://schemas.microsoft.com/office/drawing/2014/main" id="{2A54F22D-B16A-4432-8A1E-D91C5FEA9CBA}"/>
              </a:ext>
            </a:extLst>
          </p:cNvPr>
          <p:cNvSpPr>
            <a:spLocks noGrp="1"/>
          </p:cNvSpPr>
          <p:nvPr/>
        </p:nvSpPr>
        <p:spPr>
          <a:xfrm>
            <a:off x="495300" y="2400300"/>
            <a:ext cx="381000" cy="361950"/>
          </a:xfrm>
          <a:prstGeom prst="rect">
            <a:avLst/>
          </a:prstGeom>
          <a:noFill/>
          <a:ln w="0">
            <a:noFill/>
          </a:ln>
        </p:spPr>
        <p:txBody>
          <a:bodyPr wrap="square" lIns="0" tIns="0" rIns="0" bIns="0" anchor="t">
            <a:noAutofit/>
          </a:bodyPr>
          <a:lstStyle/>
          <a:p>
            <a:pPr>
              <a:defRPr sz="1275" b="0" i="0">
                <a:solidFill>
                  <a:srgbClr val="B56647"/>
                </a:solidFill>
                <a:latin typeface="Arial"/>
                <a:ea typeface="Arial"/>
                <a:cs typeface="Arial"/>
              </a:defRPr>
            </a:pPr>
            <a:r>
              <a:rPr sz="1275" b="0" i="0">
                <a:solidFill>
                  <a:srgbClr val="B56647"/>
                </a:solidFill>
                <a:latin typeface="Arial"/>
                <a:ea typeface="Arial"/>
                <a:cs typeface="Arial"/>
              </a:rPr>
              <a:t>02</a:t>
            </a:r>
          </a:p>
        </p:txBody>
      </p:sp>
      <p:sp>
        <p:nvSpPr>
          <p:cNvPr id="12" name="Biodiversity loss">
            <a:extLst>
              <a:ext uri="{FF2B5EF4-FFF2-40B4-BE49-F238E27FC236}">
                <a16:creationId xmlns:a16="http://schemas.microsoft.com/office/drawing/2014/main" id="{0AEDD581-D2C7-4203-9596-E79396BCD83B}"/>
              </a:ext>
            </a:extLst>
          </p:cNvPr>
          <p:cNvSpPr>
            <a:spLocks noGrp="1"/>
          </p:cNvSpPr>
          <p:nvPr/>
        </p:nvSpPr>
        <p:spPr>
          <a:xfrm>
            <a:off x="952500" y="2400300"/>
            <a:ext cx="4210050" cy="619125"/>
          </a:xfrm>
          <a:prstGeom prst="rect">
            <a:avLst/>
          </a:prstGeom>
          <a:noFill/>
          <a:ln w="0">
            <a:noFill/>
          </a:ln>
        </p:spPr>
        <p:txBody>
          <a:bodyPr wrap="square" lIns="0" tIns="0" rIns="0" bIns="0" anchor="t">
            <a:noAutofit/>
          </a:bodyPr>
          <a:lstStyle/>
          <a:p>
            <a:pPr>
              <a:defRPr sz="1950" b="0" i="0">
                <a:solidFill>
                  <a:srgbClr val="173E35"/>
                </a:solidFill>
                <a:latin typeface="Arial"/>
                <a:ea typeface="Arial"/>
                <a:cs typeface="Arial"/>
              </a:defRPr>
            </a:pPr>
            <a:r>
              <a:rPr sz="1950" b="0" i="0">
                <a:solidFill>
                  <a:srgbClr val="173E35"/>
                </a:solidFill>
                <a:latin typeface="Arial"/>
                <a:ea typeface="Arial"/>
                <a:cs typeface="Arial"/>
              </a:rPr>
              <a:t>Biodiversity loss</a:t>
            </a:r>
          </a:p>
        </p:txBody>
      </p:sp>
      <p:sp>
        <p:nvSpPr>
          <p:cNvPr id="13" name="03">
            <a:extLst>
              <a:ext uri="{FF2B5EF4-FFF2-40B4-BE49-F238E27FC236}">
                <a16:creationId xmlns:a16="http://schemas.microsoft.com/office/drawing/2014/main" id="{C6678E02-B172-47FA-9793-2DC6B9D80AD4}"/>
              </a:ext>
            </a:extLst>
          </p:cNvPr>
          <p:cNvSpPr>
            <a:spLocks noGrp="1"/>
          </p:cNvSpPr>
          <p:nvPr/>
        </p:nvSpPr>
        <p:spPr>
          <a:xfrm>
            <a:off x="495300" y="2867025"/>
            <a:ext cx="381000" cy="361950"/>
          </a:xfrm>
          <a:prstGeom prst="rect">
            <a:avLst/>
          </a:prstGeom>
          <a:noFill/>
          <a:ln w="0">
            <a:noFill/>
          </a:ln>
        </p:spPr>
        <p:txBody>
          <a:bodyPr wrap="square" lIns="0" tIns="0" rIns="0" bIns="0" anchor="t">
            <a:noAutofit/>
          </a:bodyPr>
          <a:lstStyle/>
          <a:p>
            <a:pPr>
              <a:defRPr sz="1275" b="0" i="0">
                <a:solidFill>
                  <a:srgbClr val="B56647"/>
                </a:solidFill>
                <a:latin typeface="Arial"/>
                <a:ea typeface="Arial"/>
                <a:cs typeface="Arial"/>
              </a:defRPr>
            </a:pPr>
            <a:r>
              <a:rPr sz="1275" b="0" i="0">
                <a:solidFill>
                  <a:srgbClr val="B56647"/>
                </a:solidFill>
                <a:latin typeface="Arial"/>
                <a:ea typeface="Arial"/>
                <a:cs typeface="Arial"/>
              </a:rPr>
              <a:t>03</a:t>
            </a:r>
          </a:p>
        </p:txBody>
      </p:sp>
      <p:sp>
        <p:nvSpPr>
          <p:cNvPr id="14" name="Freshwater use">
            <a:extLst>
              <a:ext uri="{FF2B5EF4-FFF2-40B4-BE49-F238E27FC236}">
                <a16:creationId xmlns:a16="http://schemas.microsoft.com/office/drawing/2014/main" id="{07999C9E-9192-4751-A63F-EDB93EB90DBD}"/>
              </a:ext>
            </a:extLst>
          </p:cNvPr>
          <p:cNvSpPr>
            <a:spLocks noGrp="1"/>
          </p:cNvSpPr>
          <p:nvPr/>
        </p:nvSpPr>
        <p:spPr>
          <a:xfrm>
            <a:off x="952500" y="2867025"/>
            <a:ext cx="4210050" cy="619125"/>
          </a:xfrm>
          <a:prstGeom prst="rect">
            <a:avLst/>
          </a:prstGeom>
          <a:noFill/>
          <a:ln w="0">
            <a:noFill/>
          </a:ln>
        </p:spPr>
        <p:txBody>
          <a:bodyPr wrap="square" lIns="0" tIns="0" rIns="0" bIns="0" anchor="t">
            <a:noAutofit/>
          </a:bodyPr>
          <a:lstStyle/>
          <a:p>
            <a:pPr>
              <a:defRPr sz="1950" b="0" i="0">
                <a:solidFill>
                  <a:srgbClr val="173E35"/>
                </a:solidFill>
                <a:latin typeface="Arial"/>
                <a:ea typeface="Arial"/>
                <a:cs typeface="Arial"/>
              </a:defRPr>
            </a:pPr>
            <a:r>
              <a:rPr sz="1950" b="0" i="0">
                <a:solidFill>
                  <a:srgbClr val="173E35"/>
                </a:solidFill>
                <a:latin typeface="Arial"/>
                <a:ea typeface="Arial"/>
                <a:cs typeface="Arial"/>
              </a:rPr>
              <a:t>Freshwater use</a:t>
            </a:r>
          </a:p>
        </p:txBody>
      </p:sp>
      <p:sp>
        <p:nvSpPr>
          <p:cNvPr id="15" name="04">
            <a:extLst>
              <a:ext uri="{FF2B5EF4-FFF2-40B4-BE49-F238E27FC236}">
                <a16:creationId xmlns:a16="http://schemas.microsoft.com/office/drawing/2014/main" id="{101ADC14-6DCB-41EC-B192-470A3757CBD3}"/>
              </a:ext>
            </a:extLst>
          </p:cNvPr>
          <p:cNvSpPr>
            <a:spLocks noGrp="1"/>
          </p:cNvSpPr>
          <p:nvPr/>
        </p:nvSpPr>
        <p:spPr>
          <a:xfrm>
            <a:off x="495300" y="3333750"/>
            <a:ext cx="381000" cy="361950"/>
          </a:xfrm>
          <a:prstGeom prst="rect">
            <a:avLst/>
          </a:prstGeom>
          <a:noFill/>
          <a:ln w="0">
            <a:noFill/>
          </a:ln>
        </p:spPr>
        <p:txBody>
          <a:bodyPr wrap="square" lIns="0" tIns="0" rIns="0" bIns="0" anchor="t">
            <a:noAutofit/>
          </a:bodyPr>
          <a:lstStyle/>
          <a:p>
            <a:pPr>
              <a:defRPr sz="1275" b="0" i="0">
                <a:solidFill>
                  <a:srgbClr val="B56647"/>
                </a:solidFill>
                <a:latin typeface="Arial"/>
                <a:ea typeface="Arial"/>
                <a:cs typeface="Arial"/>
              </a:defRPr>
            </a:pPr>
            <a:r>
              <a:rPr sz="1275" b="0" i="0">
                <a:solidFill>
                  <a:srgbClr val="B56647"/>
                </a:solidFill>
                <a:latin typeface="Arial"/>
                <a:ea typeface="Arial"/>
                <a:cs typeface="Arial"/>
              </a:rPr>
              <a:t>04</a:t>
            </a:r>
          </a:p>
        </p:txBody>
      </p:sp>
      <p:sp>
        <p:nvSpPr>
          <p:cNvPr id="16" name="Land-system change">
            <a:extLst>
              <a:ext uri="{FF2B5EF4-FFF2-40B4-BE49-F238E27FC236}">
                <a16:creationId xmlns:a16="http://schemas.microsoft.com/office/drawing/2014/main" id="{BD954B9C-7641-4252-AAA5-122F48875A50}"/>
              </a:ext>
            </a:extLst>
          </p:cNvPr>
          <p:cNvSpPr>
            <a:spLocks noGrp="1"/>
          </p:cNvSpPr>
          <p:nvPr/>
        </p:nvSpPr>
        <p:spPr>
          <a:xfrm>
            <a:off x="952500" y="3333750"/>
            <a:ext cx="4210050" cy="619125"/>
          </a:xfrm>
          <a:prstGeom prst="rect">
            <a:avLst/>
          </a:prstGeom>
          <a:noFill/>
          <a:ln w="0">
            <a:noFill/>
          </a:ln>
        </p:spPr>
        <p:txBody>
          <a:bodyPr wrap="square" lIns="0" tIns="0" rIns="0" bIns="0" anchor="t">
            <a:noAutofit/>
          </a:bodyPr>
          <a:lstStyle/>
          <a:p>
            <a:pPr>
              <a:defRPr sz="1950" b="0" i="0">
                <a:solidFill>
                  <a:srgbClr val="173E35"/>
                </a:solidFill>
                <a:latin typeface="Arial"/>
                <a:ea typeface="Arial"/>
                <a:cs typeface="Arial"/>
              </a:defRPr>
            </a:pPr>
            <a:r>
              <a:rPr sz="1950" b="0" i="0">
                <a:solidFill>
                  <a:srgbClr val="173E35"/>
                </a:solidFill>
                <a:latin typeface="Arial"/>
                <a:ea typeface="Arial"/>
                <a:cs typeface="Arial"/>
              </a:rPr>
              <a:t>Land-system change</a:t>
            </a:r>
          </a:p>
        </p:txBody>
      </p:sp>
      <p:sp>
        <p:nvSpPr>
          <p:cNvPr id="17" name="05">
            <a:extLst>
              <a:ext uri="{FF2B5EF4-FFF2-40B4-BE49-F238E27FC236}">
                <a16:creationId xmlns:a16="http://schemas.microsoft.com/office/drawing/2014/main" id="{42C090E3-4074-4F49-AA66-01526FD3E098}"/>
              </a:ext>
            </a:extLst>
          </p:cNvPr>
          <p:cNvSpPr>
            <a:spLocks noGrp="1"/>
          </p:cNvSpPr>
          <p:nvPr/>
        </p:nvSpPr>
        <p:spPr>
          <a:xfrm>
            <a:off x="495300" y="3800475"/>
            <a:ext cx="381000" cy="361950"/>
          </a:xfrm>
          <a:prstGeom prst="rect">
            <a:avLst/>
          </a:prstGeom>
          <a:noFill/>
          <a:ln w="0">
            <a:noFill/>
          </a:ln>
        </p:spPr>
        <p:txBody>
          <a:bodyPr wrap="square" lIns="0" tIns="0" rIns="0" bIns="0" anchor="t">
            <a:noAutofit/>
          </a:bodyPr>
          <a:lstStyle/>
          <a:p>
            <a:pPr>
              <a:defRPr sz="1275" b="0" i="0">
                <a:solidFill>
                  <a:srgbClr val="B56647"/>
                </a:solidFill>
                <a:latin typeface="Arial"/>
                <a:ea typeface="Arial"/>
                <a:cs typeface="Arial"/>
              </a:defRPr>
            </a:pPr>
            <a:r>
              <a:rPr sz="1275" b="0" i="0">
                <a:solidFill>
                  <a:srgbClr val="B56647"/>
                </a:solidFill>
                <a:latin typeface="Arial"/>
                <a:ea typeface="Arial"/>
                <a:cs typeface="Arial"/>
              </a:rPr>
              <a:t>05</a:t>
            </a:r>
          </a:p>
        </p:txBody>
      </p:sp>
      <p:sp>
        <p:nvSpPr>
          <p:cNvPr id="18" name="Pollution (novel entities)">
            <a:extLst>
              <a:ext uri="{FF2B5EF4-FFF2-40B4-BE49-F238E27FC236}">
                <a16:creationId xmlns:a16="http://schemas.microsoft.com/office/drawing/2014/main" id="{588809F0-E300-4A05-A49A-88A2D440F51A}"/>
              </a:ext>
            </a:extLst>
          </p:cNvPr>
          <p:cNvSpPr>
            <a:spLocks noGrp="1"/>
          </p:cNvSpPr>
          <p:nvPr/>
        </p:nvSpPr>
        <p:spPr>
          <a:xfrm>
            <a:off x="952500" y="3800475"/>
            <a:ext cx="4210050" cy="619125"/>
          </a:xfrm>
          <a:prstGeom prst="rect">
            <a:avLst/>
          </a:prstGeom>
          <a:noFill/>
          <a:ln w="0">
            <a:noFill/>
          </a:ln>
        </p:spPr>
        <p:txBody>
          <a:bodyPr wrap="square" lIns="0" tIns="0" rIns="0" bIns="0" anchor="t">
            <a:noAutofit/>
          </a:bodyPr>
          <a:lstStyle/>
          <a:p>
            <a:pPr>
              <a:defRPr sz="1950" b="0" i="0">
                <a:solidFill>
                  <a:srgbClr val="173E35"/>
                </a:solidFill>
                <a:latin typeface="Arial"/>
                <a:ea typeface="Arial"/>
                <a:cs typeface="Arial"/>
              </a:defRPr>
            </a:pPr>
            <a:r>
              <a:rPr sz="1950" b="0" i="0">
                <a:solidFill>
                  <a:srgbClr val="173E35"/>
                </a:solidFill>
                <a:latin typeface="Arial"/>
                <a:ea typeface="Arial"/>
                <a:cs typeface="Arial"/>
              </a:rPr>
              <a:t>Pollution (novel entities)</a:t>
            </a:r>
          </a:p>
        </p:txBody>
      </p:sp>
      <p:sp>
        <p:nvSpPr>
          <p:cNvPr id="19" name="Discussion">
            <a:extLst>
              <a:ext uri="{FF2B5EF4-FFF2-40B4-BE49-F238E27FC236}">
                <a16:creationId xmlns:a16="http://schemas.microsoft.com/office/drawing/2014/main" id="{F0F82920-DA3A-4762-8215-9777D65EA515}"/>
              </a:ext>
            </a:extLst>
          </p:cNvPr>
          <p:cNvSpPr>
            <a:spLocks noGrp="1"/>
          </p:cNvSpPr>
          <p:nvPr/>
        </p:nvSpPr>
        <p:spPr>
          <a:xfrm>
            <a:off x="5972175" y="1962150"/>
            <a:ext cx="2667000" cy="285750"/>
          </a:xfrm>
          <a:prstGeom prst="rect">
            <a:avLst/>
          </a:prstGeom>
          <a:noFill/>
          <a:ln w="0">
            <a:noFill/>
          </a:ln>
        </p:spPr>
        <p:txBody>
          <a:bodyPr wrap="square" lIns="0" tIns="0" rIns="0" bIns="0" anchor="t">
            <a:noAutofit/>
          </a:bodyPr>
          <a:lstStyle/>
          <a:p>
            <a:pPr>
              <a:defRPr sz="1425" b="0" i="0">
                <a:solidFill>
                  <a:srgbClr val="B56647"/>
                </a:solidFill>
                <a:latin typeface="Arial"/>
                <a:ea typeface="Arial"/>
                <a:cs typeface="Arial"/>
              </a:defRPr>
            </a:pPr>
            <a:r>
              <a:rPr sz="1425" b="0" i="0">
                <a:solidFill>
                  <a:srgbClr val="B56647"/>
                </a:solidFill>
                <a:latin typeface="Arial"/>
                <a:ea typeface="Arial"/>
                <a:cs typeface="Arial"/>
              </a:rPr>
              <a:t>Discussion</a:t>
            </a:r>
          </a:p>
        </p:txBody>
      </p:sp>
      <p:sp>
        <p:nvSpPr>
          <p:cNvPr id="20" name="What happens when planetary boundaries are ex">
            <a:extLst>
              <a:ext uri="{FF2B5EF4-FFF2-40B4-BE49-F238E27FC236}">
                <a16:creationId xmlns:a16="http://schemas.microsoft.com/office/drawing/2014/main" id="{B7B64E05-277F-4D86-8529-9275B297C876}"/>
              </a:ext>
            </a:extLst>
          </p:cNvPr>
          <p:cNvSpPr>
            <a:spLocks noGrp="1"/>
          </p:cNvSpPr>
          <p:nvPr/>
        </p:nvSpPr>
        <p:spPr>
          <a:xfrm>
            <a:off x="5972175" y="2447925"/>
            <a:ext cx="2657475" cy="1724025"/>
          </a:xfrm>
          <a:prstGeom prst="rect">
            <a:avLst/>
          </a:prstGeom>
          <a:noFill/>
          <a:ln w="0">
            <a:noFill/>
          </a:ln>
        </p:spPr>
        <p:txBody>
          <a:bodyPr wrap="square" lIns="0" tIns="0" rIns="0" bIns="0" anchor="t">
            <a:noAutofit/>
          </a:bodyPr>
          <a:lstStyle/>
          <a:p>
            <a:pPr>
              <a:defRPr sz="2400" b="0" i="0">
                <a:solidFill>
                  <a:srgbClr val="173E35"/>
                </a:solidFill>
                <a:latin typeface="Georgia"/>
                <a:ea typeface="Georgia"/>
                <a:cs typeface="Georgia"/>
              </a:defRPr>
            </a:pPr>
            <a:r>
              <a:rPr sz="2400" b="0" i="0">
                <a:solidFill>
                  <a:srgbClr val="173E35"/>
                </a:solidFill>
                <a:latin typeface="Georgia"/>
                <a:ea typeface="Georgia"/>
                <a:cs typeface="Georgia"/>
              </a:rPr>
              <a:t>What happens when planetary boundaries are exceeded?</a:t>
            </a:r>
          </a:p>
        </p:txBody>
      </p:sp>
      <p:pic>
        <p:nvPicPr>
          <p:cNvPr id="44" name="Picture 43"/>
          <p:cNvPicPr>
            <a:picLocks noChangeAspect="1"/>
          </p:cNvPicPr>
          <p:nvPr/>
        </p:nvPicPr>
        <p:blipFill>
          <a:blip r:embed="rId3"/>
          <a:stretch/>
        </p:blipFill>
        <p:spPr>
          <a:xfrm>
            <a:off x="499570" y="4829175"/>
            <a:ext cx="315310" cy="152400"/>
          </a:xfrm>
          <a:prstGeom prst="rect">
            <a:avLst/>
          </a:prstGeom>
        </p:spPr>
      </p:pic>
      <p:sp>
        <p:nvSpPr>
          <p:cNvPr id="22" name="www.newton.university">
            <a:extLst>
              <a:ext uri="{FF2B5EF4-FFF2-40B4-BE49-F238E27FC236}">
                <a16:creationId xmlns:a16="http://schemas.microsoft.com/office/drawing/2014/main" id="{AFF9AA7E-8359-4D0A-9F98-B6D58EA4295D}"/>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23" name="26">
            <a:extLst>
              <a:ext uri="{FF2B5EF4-FFF2-40B4-BE49-F238E27FC236}">
                <a16:creationId xmlns:a16="http://schemas.microsoft.com/office/drawing/2014/main" id="{E178C88C-98E2-463B-B302-FE957A5E3726}"/>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58665B"/>
                </a:solidFill>
                <a:latin typeface="Arial"/>
                <a:ea typeface="Arial"/>
                <a:cs typeface="Arial"/>
              </a:defRPr>
            </a:pPr>
            <a:r>
              <a:rPr sz="1125" b="0" i="0">
                <a:solidFill>
                  <a:srgbClr val="58665B"/>
                </a:solidFill>
                <a:latin typeface="Arial"/>
                <a:ea typeface="Arial"/>
                <a:cs typeface="Arial"/>
              </a:rPr>
              <a:t>26</a:t>
            </a:r>
          </a:p>
        </p:txBody>
      </p:sp>
    </p:spTree>
    <p:extLst>
      <p:ext uri="{BB962C8B-B14F-4D97-AF65-F5344CB8AC3E}">
        <p14:creationId xmlns:p14="http://schemas.microsoft.com/office/powerpoint/2010/main" val="14211173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19" name="Editorial rule">
            <a:extLst>
              <a:ext uri="{FF2B5EF4-FFF2-40B4-BE49-F238E27FC236}">
                <a16:creationId xmlns:a16="http://schemas.microsoft.com/office/drawing/2014/main" id="{0D9090EA-D958-4DA1-A23D-34164B869EF3}"/>
              </a:ext>
            </a:extLst>
          </p:cNvPr>
          <p:cNvSpPr>
            <a:spLocks noGrp="1"/>
          </p:cNvSpPr>
          <p:nvPr/>
        </p:nvSpPr>
        <p:spPr>
          <a:xfrm>
            <a:off x="495300" y="1066800"/>
            <a:ext cx="8153400" cy="7620"/>
          </a:xfrm>
          <a:prstGeom prst="rect">
            <a:avLst/>
          </a:prstGeom>
          <a:solidFill>
            <a:srgbClr val="B7C3B1"/>
          </a:solidFill>
          <a:ln w="0">
            <a:noFill/>
          </a:ln>
        </p:spPr>
        <p:txBody>
          <a:bodyPr/>
          <a:lstStyle/>
          <a:p>
            <a:endParaRPr lang="en-US"/>
          </a:p>
        </p:txBody>
      </p:sp>
      <p:sp>
        <p:nvSpPr>
          <p:cNvPr id="2" name="Editorial rule">
            <a:extLst>
              <a:ext uri="{FF2B5EF4-FFF2-40B4-BE49-F238E27FC236}">
                <a16:creationId xmlns:a16="http://schemas.microsoft.com/office/drawing/2014/main" id="{D3F4E40F-08EE-4901-805F-210DBEFE1749}"/>
              </a:ext>
            </a:extLst>
          </p:cNvPr>
          <p:cNvSpPr>
            <a:spLocks noGrp="1"/>
          </p:cNvSpPr>
          <p:nvPr/>
        </p:nvSpPr>
        <p:spPr>
          <a:xfrm>
            <a:off x="495300" y="1052513"/>
            <a:ext cx="552450" cy="28575"/>
          </a:xfrm>
          <a:prstGeom prst="rect">
            <a:avLst/>
          </a:prstGeom>
          <a:solidFill>
            <a:srgbClr val="B56647"/>
          </a:solidFill>
          <a:ln w="0">
            <a:noFill/>
          </a:ln>
        </p:spPr>
        <p:txBody>
          <a:bodyPr/>
          <a:lstStyle/>
          <a:p>
            <a:endParaRPr lang="en-US"/>
          </a:p>
        </p:txBody>
      </p:sp>
      <p:sp>
        <p:nvSpPr>
          <p:cNvPr id="3" name="Editorial frame">
            <a:extLst>
              <a:ext uri="{FF2B5EF4-FFF2-40B4-BE49-F238E27FC236}">
                <a16:creationId xmlns:a16="http://schemas.microsoft.com/office/drawing/2014/main" id="{BBA1D9D1-88ED-4E79-9C0C-4DA7AC6E4B97}"/>
              </a:ext>
            </a:extLst>
          </p:cNvPr>
          <p:cNvSpPr>
            <a:spLocks noGrp="1"/>
          </p:cNvSpPr>
          <p:nvPr/>
        </p:nvSpPr>
        <p:spPr>
          <a:xfrm>
            <a:off x="361950" y="1571625"/>
            <a:ext cx="4048125" cy="3028950"/>
          </a:xfrm>
          <a:prstGeom prst="rect">
            <a:avLst/>
          </a:prstGeom>
          <a:solidFill>
            <a:srgbClr val="EAE9DF"/>
          </a:solidFill>
          <a:ln w="8573">
            <a:solidFill>
              <a:srgbClr val="BAC4B4"/>
            </a:solidFill>
          </a:ln>
        </p:spPr>
        <p:txBody>
          <a:bodyPr/>
          <a:lstStyle/>
          <a:p>
            <a:endParaRPr lang="en-US"/>
          </a:p>
        </p:txBody>
      </p:sp>
      <p:sp>
        <p:nvSpPr>
          <p:cNvPr id="4" name="Editorial frame">
            <a:extLst>
              <a:ext uri="{FF2B5EF4-FFF2-40B4-BE49-F238E27FC236}">
                <a16:creationId xmlns:a16="http://schemas.microsoft.com/office/drawing/2014/main" id="{741B9FC9-04A0-42AE-9A36-A560D8AEA18E}"/>
              </a:ext>
            </a:extLst>
          </p:cNvPr>
          <p:cNvSpPr>
            <a:spLocks noGrp="1"/>
          </p:cNvSpPr>
          <p:nvPr/>
        </p:nvSpPr>
        <p:spPr>
          <a:xfrm>
            <a:off x="4810125" y="1571625"/>
            <a:ext cx="3971925" cy="3028950"/>
          </a:xfrm>
          <a:prstGeom prst="rect">
            <a:avLst/>
          </a:prstGeom>
          <a:solidFill>
            <a:srgbClr val="F0E3D8"/>
          </a:solidFill>
          <a:ln w="8573">
            <a:solidFill>
              <a:srgbClr val="CEB198"/>
            </a:solidFill>
          </a:ln>
        </p:spPr>
        <p:txBody>
          <a:bodyPr/>
          <a:lstStyle/>
          <a:p>
            <a:endParaRPr lang="en-US"/>
          </a:p>
        </p:txBody>
      </p:sp>
      <p:sp>
        <p:nvSpPr>
          <p:cNvPr id="5" name="Editorial rule">
            <a:extLst>
              <a:ext uri="{FF2B5EF4-FFF2-40B4-BE49-F238E27FC236}">
                <a16:creationId xmlns:a16="http://schemas.microsoft.com/office/drawing/2014/main" id="{2C192938-7F68-489E-8211-F8E72F10C094}"/>
              </a:ext>
            </a:extLst>
          </p:cNvPr>
          <p:cNvSpPr>
            <a:spLocks noGrp="1"/>
          </p:cNvSpPr>
          <p:nvPr/>
        </p:nvSpPr>
        <p:spPr>
          <a:xfrm>
            <a:off x="361950" y="1571625"/>
            <a:ext cx="4048125" cy="38100"/>
          </a:xfrm>
          <a:prstGeom prst="rect">
            <a:avLst/>
          </a:prstGeom>
          <a:solidFill>
            <a:srgbClr val="173E35"/>
          </a:solidFill>
          <a:ln w="0">
            <a:noFill/>
          </a:ln>
        </p:spPr>
        <p:txBody>
          <a:bodyPr/>
          <a:lstStyle/>
          <a:p>
            <a:endParaRPr lang="en-US"/>
          </a:p>
        </p:txBody>
      </p:sp>
      <p:sp>
        <p:nvSpPr>
          <p:cNvPr id="6" name="Editorial rule">
            <a:extLst>
              <a:ext uri="{FF2B5EF4-FFF2-40B4-BE49-F238E27FC236}">
                <a16:creationId xmlns:a16="http://schemas.microsoft.com/office/drawing/2014/main" id="{E16F3D9D-828C-438F-9357-5D2F0A465BAA}"/>
              </a:ext>
            </a:extLst>
          </p:cNvPr>
          <p:cNvSpPr>
            <a:spLocks noGrp="1"/>
          </p:cNvSpPr>
          <p:nvPr/>
        </p:nvSpPr>
        <p:spPr>
          <a:xfrm>
            <a:off x="4810125" y="1571625"/>
            <a:ext cx="3971925" cy="38100"/>
          </a:xfrm>
          <a:prstGeom prst="rect">
            <a:avLst/>
          </a:prstGeom>
          <a:solidFill>
            <a:srgbClr val="B56647"/>
          </a:solidFill>
          <a:ln w="0">
            <a:noFill/>
          </a:ln>
        </p:spPr>
        <p:txBody>
          <a:bodyPr/>
          <a:lstStyle/>
          <a:p>
            <a:endParaRPr lang="en-US"/>
          </a:p>
        </p:txBody>
      </p:sp>
      <p:sp>
        <p:nvSpPr>
          <p:cNvPr id="7" name="Climate Change">
            <a:extLst>
              <a:ext uri="{FF2B5EF4-FFF2-40B4-BE49-F238E27FC236}">
                <a16:creationId xmlns:a16="http://schemas.microsoft.com/office/drawing/2014/main" id="{58E1E1DE-AF57-4CB5-AB8E-21DA24CEC07E}"/>
              </a:ext>
            </a:extLst>
          </p:cNvPr>
          <p:cNvSpPr>
            <a:spLocks noGrp="1"/>
          </p:cNvSpPr>
          <p:nvPr/>
        </p:nvSpPr>
        <p:spPr>
          <a:xfrm>
            <a:off x="495300" y="381000"/>
            <a:ext cx="8096250" cy="952500"/>
          </a:xfrm>
          <a:prstGeom prst="rect">
            <a:avLst/>
          </a:prstGeom>
          <a:noFill/>
          <a:ln w="0">
            <a:noFill/>
          </a:ln>
        </p:spPr>
        <p:txBody>
          <a:bodyPr wrap="square" lIns="0" tIns="0" rIns="0" bIns="0" anchor="t">
            <a:noAutofit/>
          </a:bodyPr>
          <a:lstStyle/>
          <a:p>
            <a:pPr>
              <a:defRPr sz="2775" b="0" i="0">
                <a:solidFill>
                  <a:srgbClr val="173E35"/>
                </a:solidFill>
                <a:latin typeface="Georgia"/>
                <a:ea typeface="Georgia"/>
                <a:cs typeface="Georgia"/>
              </a:defRPr>
            </a:pPr>
            <a:r>
              <a:rPr sz="2775" b="0" i="0">
                <a:solidFill>
                  <a:srgbClr val="173E35"/>
                </a:solidFill>
                <a:latin typeface="Georgia"/>
                <a:ea typeface="Georgia"/>
                <a:cs typeface="Georgia"/>
              </a:rPr>
              <a:t>Climate Change</a:t>
            </a:r>
          </a:p>
        </p:txBody>
      </p:sp>
      <p:sp>
        <p:nvSpPr>
          <p:cNvPr id="8" name="Causes">
            <a:extLst>
              <a:ext uri="{FF2B5EF4-FFF2-40B4-BE49-F238E27FC236}">
                <a16:creationId xmlns:a16="http://schemas.microsoft.com/office/drawing/2014/main" id="{D62E5CE4-A481-4D4D-8E5F-5A2F918FED74}"/>
              </a:ext>
            </a:extLst>
          </p:cNvPr>
          <p:cNvSpPr>
            <a:spLocks noGrp="1"/>
          </p:cNvSpPr>
          <p:nvPr/>
        </p:nvSpPr>
        <p:spPr>
          <a:xfrm>
            <a:off x="495300" y="1724025"/>
            <a:ext cx="3714750" cy="609600"/>
          </a:xfrm>
          <a:prstGeom prst="rect">
            <a:avLst/>
          </a:prstGeom>
          <a:noFill/>
          <a:ln w="0">
            <a:noFill/>
          </a:ln>
        </p:spPr>
        <p:txBody>
          <a:bodyPr wrap="square" lIns="0" tIns="0" rIns="0" bIns="0" anchor="t">
            <a:noAutofit/>
          </a:bodyPr>
          <a:lstStyle/>
          <a:p>
            <a:pPr>
              <a:defRPr sz="2775" b="0" i="0">
                <a:solidFill>
                  <a:srgbClr val="173E35"/>
                </a:solidFill>
                <a:latin typeface="Georgia"/>
                <a:ea typeface="Georgia"/>
                <a:cs typeface="Georgia"/>
              </a:defRPr>
            </a:pPr>
            <a:r>
              <a:rPr sz="2775" b="0" i="0">
                <a:solidFill>
                  <a:srgbClr val="173E35"/>
                </a:solidFill>
                <a:latin typeface="Georgia"/>
                <a:ea typeface="Georgia"/>
                <a:cs typeface="Georgia"/>
              </a:rPr>
              <a:t>Causes</a:t>
            </a:r>
          </a:p>
        </p:txBody>
      </p:sp>
      <p:sp>
        <p:nvSpPr>
          <p:cNvPr id="9" name="Fossil fuel combustion">
            <a:extLst>
              <a:ext uri="{FF2B5EF4-FFF2-40B4-BE49-F238E27FC236}">
                <a16:creationId xmlns:a16="http://schemas.microsoft.com/office/drawing/2014/main" id="{AD5E5E4C-6B6B-42BE-A12B-9E65B8AD9483}"/>
              </a:ext>
            </a:extLst>
          </p:cNvPr>
          <p:cNvSpPr>
            <a:spLocks noGrp="1"/>
          </p:cNvSpPr>
          <p:nvPr/>
        </p:nvSpPr>
        <p:spPr>
          <a:xfrm>
            <a:off x="495300" y="2495550"/>
            <a:ext cx="3714750" cy="642938"/>
          </a:xfrm>
          <a:prstGeom prst="rect">
            <a:avLst/>
          </a:prstGeom>
          <a:noFill/>
          <a:ln w="0">
            <a:noFill/>
          </a:ln>
        </p:spPr>
        <p:txBody>
          <a:bodyPr wrap="square" lIns="0" tIns="0" rIns="0" bIns="0" anchor="t">
            <a:noAutofit/>
          </a:bodyPr>
          <a:lstStyle/>
          <a:p>
            <a:pPr>
              <a:defRPr sz="2025" b="0" i="0">
                <a:solidFill>
                  <a:srgbClr val="173E35"/>
                </a:solidFill>
                <a:latin typeface="Arial"/>
                <a:ea typeface="Arial"/>
                <a:cs typeface="Arial"/>
              </a:defRPr>
            </a:pPr>
            <a:r>
              <a:rPr sz="2025" b="0" i="0">
                <a:solidFill>
                  <a:srgbClr val="173E35"/>
                </a:solidFill>
                <a:latin typeface="Arial"/>
                <a:ea typeface="Arial"/>
                <a:cs typeface="Arial"/>
              </a:rPr>
              <a:t>Fossil fuel combustion</a:t>
            </a:r>
          </a:p>
        </p:txBody>
      </p:sp>
      <p:sp>
        <p:nvSpPr>
          <p:cNvPr id="10" name="Deforestation">
            <a:extLst>
              <a:ext uri="{FF2B5EF4-FFF2-40B4-BE49-F238E27FC236}">
                <a16:creationId xmlns:a16="http://schemas.microsoft.com/office/drawing/2014/main" id="{E1EA9A76-D3D6-45DA-B84E-98E8FEB44936}"/>
              </a:ext>
            </a:extLst>
          </p:cNvPr>
          <p:cNvSpPr>
            <a:spLocks noGrp="1"/>
          </p:cNvSpPr>
          <p:nvPr/>
        </p:nvSpPr>
        <p:spPr>
          <a:xfrm>
            <a:off x="495300" y="3067050"/>
            <a:ext cx="3714750" cy="642938"/>
          </a:xfrm>
          <a:prstGeom prst="rect">
            <a:avLst/>
          </a:prstGeom>
          <a:noFill/>
          <a:ln w="0">
            <a:noFill/>
          </a:ln>
        </p:spPr>
        <p:txBody>
          <a:bodyPr wrap="square" lIns="0" tIns="0" rIns="0" bIns="0" anchor="t">
            <a:noAutofit/>
          </a:bodyPr>
          <a:lstStyle/>
          <a:p>
            <a:pPr>
              <a:defRPr sz="2025" b="0" i="0">
                <a:solidFill>
                  <a:srgbClr val="173E35"/>
                </a:solidFill>
                <a:latin typeface="Arial"/>
                <a:ea typeface="Arial"/>
                <a:cs typeface="Arial"/>
              </a:defRPr>
            </a:pPr>
            <a:r>
              <a:rPr sz="2025" b="0" i="0">
                <a:solidFill>
                  <a:srgbClr val="173E35"/>
                </a:solidFill>
                <a:latin typeface="Arial"/>
                <a:ea typeface="Arial"/>
                <a:cs typeface="Arial"/>
              </a:rPr>
              <a:t>Deforestation</a:t>
            </a:r>
          </a:p>
        </p:txBody>
      </p:sp>
      <p:sp>
        <p:nvSpPr>
          <p:cNvPr id="11" name="Industrialization">
            <a:extLst>
              <a:ext uri="{FF2B5EF4-FFF2-40B4-BE49-F238E27FC236}">
                <a16:creationId xmlns:a16="http://schemas.microsoft.com/office/drawing/2014/main" id="{3D00978F-CDCD-433B-BAF4-2EE00F1F3E0F}"/>
              </a:ext>
            </a:extLst>
          </p:cNvPr>
          <p:cNvSpPr>
            <a:spLocks noGrp="1"/>
          </p:cNvSpPr>
          <p:nvPr/>
        </p:nvSpPr>
        <p:spPr>
          <a:xfrm>
            <a:off x="495300" y="3638550"/>
            <a:ext cx="3714750" cy="642938"/>
          </a:xfrm>
          <a:prstGeom prst="rect">
            <a:avLst/>
          </a:prstGeom>
          <a:noFill/>
          <a:ln w="0">
            <a:noFill/>
          </a:ln>
        </p:spPr>
        <p:txBody>
          <a:bodyPr wrap="square" lIns="0" tIns="0" rIns="0" bIns="0" anchor="t">
            <a:noAutofit/>
          </a:bodyPr>
          <a:lstStyle/>
          <a:p>
            <a:pPr>
              <a:defRPr sz="2025" b="0" i="0">
                <a:solidFill>
                  <a:srgbClr val="173E35"/>
                </a:solidFill>
                <a:latin typeface="Arial"/>
                <a:ea typeface="Arial"/>
                <a:cs typeface="Arial"/>
              </a:defRPr>
            </a:pPr>
            <a:r>
              <a:rPr sz="2025" b="0" i="0">
                <a:solidFill>
                  <a:srgbClr val="173E35"/>
                </a:solidFill>
                <a:latin typeface="Arial"/>
                <a:ea typeface="Arial"/>
                <a:cs typeface="Arial"/>
              </a:rPr>
              <a:t>Industrialization</a:t>
            </a:r>
          </a:p>
        </p:txBody>
      </p:sp>
      <p:sp>
        <p:nvSpPr>
          <p:cNvPr id="12" name="Consequences">
            <a:extLst>
              <a:ext uri="{FF2B5EF4-FFF2-40B4-BE49-F238E27FC236}">
                <a16:creationId xmlns:a16="http://schemas.microsoft.com/office/drawing/2014/main" id="{808C6266-432D-480A-A5B6-53D1EEA3BB2A}"/>
              </a:ext>
            </a:extLst>
          </p:cNvPr>
          <p:cNvSpPr>
            <a:spLocks noGrp="1"/>
          </p:cNvSpPr>
          <p:nvPr/>
        </p:nvSpPr>
        <p:spPr>
          <a:xfrm>
            <a:off x="5000625" y="1724025"/>
            <a:ext cx="3609975" cy="609600"/>
          </a:xfrm>
          <a:prstGeom prst="rect">
            <a:avLst/>
          </a:prstGeom>
          <a:noFill/>
          <a:ln w="0">
            <a:noFill/>
          </a:ln>
        </p:spPr>
        <p:txBody>
          <a:bodyPr wrap="square" lIns="0" tIns="0" rIns="0" bIns="0" anchor="t">
            <a:noAutofit/>
          </a:bodyPr>
          <a:lstStyle/>
          <a:p>
            <a:pPr>
              <a:defRPr sz="2775" b="0" i="0">
                <a:solidFill>
                  <a:srgbClr val="B56647"/>
                </a:solidFill>
                <a:latin typeface="Georgia"/>
                <a:ea typeface="Georgia"/>
                <a:cs typeface="Georgia"/>
              </a:defRPr>
            </a:pPr>
            <a:r>
              <a:rPr sz="2775" b="0" i="0">
                <a:solidFill>
                  <a:srgbClr val="B56647"/>
                </a:solidFill>
                <a:latin typeface="Georgia"/>
                <a:ea typeface="Georgia"/>
                <a:cs typeface="Georgia"/>
              </a:rPr>
              <a:t>Consequences</a:t>
            </a:r>
          </a:p>
        </p:txBody>
      </p:sp>
      <p:sp>
        <p:nvSpPr>
          <p:cNvPr id="13" name="Extreme heat">
            <a:extLst>
              <a:ext uri="{FF2B5EF4-FFF2-40B4-BE49-F238E27FC236}">
                <a16:creationId xmlns:a16="http://schemas.microsoft.com/office/drawing/2014/main" id="{88350083-1E20-47B9-8EA2-EF5391027BCF}"/>
              </a:ext>
            </a:extLst>
          </p:cNvPr>
          <p:cNvSpPr>
            <a:spLocks noGrp="1"/>
          </p:cNvSpPr>
          <p:nvPr/>
        </p:nvSpPr>
        <p:spPr>
          <a:xfrm>
            <a:off x="5000625" y="2495550"/>
            <a:ext cx="3609975" cy="642938"/>
          </a:xfrm>
          <a:prstGeom prst="rect">
            <a:avLst/>
          </a:prstGeom>
          <a:noFill/>
          <a:ln w="0">
            <a:noFill/>
          </a:ln>
        </p:spPr>
        <p:txBody>
          <a:bodyPr wrap="square" lIns="0" tIns="0" rIns="0" bIns="0" anchor="t">
            <a:noAutofit/>
          </a:bodyPr>
          <a:lstStyle/>
          <a:p>
            <a:pPr>
              <a:defRPr sz="2025" b="0" i="0">
                <a:solidFill>
                  <a:srgbClr val="173E35"/>
                </a:solidFill>
                <a:latin typeface="Arial"/>
                <a:ea typeface="Arial"/>
                <a:cs typeface="Arial"/>
              </a:defRPr>
            </a:pPr>
            <a:r>
              <a:rPr sz="2025" b="0" i="0">
                <a:solidFill>
                  <a:srgbClr val="173E35"/>
                </a:solidFill>
                <a:latin typeface="Arial"/>
                <a:ea typeface="Arial"/>
                <a:cs typeface="Arial"/>
              </a:rPr>
              <a:t>Extreme heat</a:t>
            </a:r>
          </a:p>
        </p:txBody>
      </p:sp>
      <p:sp>
        <p:nvSpPr>
          <p:cNvPr id="14" name="Floods">
            <a:extLst>
              <a:ext uri="{FF2B5EF4-FFF2-40B4-BE49-F238E27FC236}">
                <a16:creationId xmlns:a16="http://schemas.microsoft.com/office/drawing/2014/main" id="{26693540-DE5F-4CFB-86C5-3539EC22BA40}"/>
              </a:ext>
            </a:extLst>
          </p:cNvPr>
          <p:cNvSpPr>
            <a:spLocks noGrp="1"/>
          </p:cNvSpPr>
          <p:nvPr/>
        </p:nvSpPr>
        <p:spPr>
          <a:xfrm>
            <a:off x="5000625" y="3067050"/>
            <a:ext cx="3609975" cy="642938"/>
          </a:xfrm>
          <a:prstGeom prst="rect">
            <a:avLst/>
          </a:prstGeom>
          <a:noFill/>
          <a:ln w="0">
            <a:noFill/>
          </a:ln>
        </p:spPr>
        <p:txBody>
          <a:bodyPr wrap="square" lIns="0" tIns="0" rIns="0" bIns="0" anchor="t">
            <a:noAutofit/>
          </a:bodyPr>
          <a:lstStyle/>
          <a:p>
            <a:pPr>
              <a:defRPr sz="2025" b="0" i="0">
                <a:solidFill>
                  <a:srgbClr val="173E35"/>
                </a:solidFill>
                <a:latin typeface="Arial"/>
                <a:ea typeface="Arial"/>
                <a:cs typeface="Arial"/>
              </a:defRPr>
            </a:pPr>
            <a:r>
              <a:rPr sz="2025" b="0" i="0">
                <a:solidFill>
                  <a:srgbClr val="173E35"/>
                </a:solidFill>
                <a:latin typeface="Arial"/>
                <a:ea typeface="Arial"/>
                <a:cs typeface="Arial"/>
              </a:rPr>
              <a:t>Floods</a:t>
            </a:r>
          </a:p>
        </p:txBody>
      </p:sp>
      <p:sp>
        <p:nvSpPr>
          <p:cNvPr id="15" name="Droughts">
            <a:extLst>
              <a:ext uri="{FF2B5EF4-FFF2-40B4-BE49-F238E27FC236}">
                <a16:creationId xmlns:a16="http://schemas.microsoft.com/office/drawing/2014/main" id="{43DF1818-6158-4A27-9B38-1E172F2814AD}"/>
              </a:ext>
            </a:extLst>
          </p:cNvPr>
          <p:cNvSpPr>
            <a:spLocks noGrp="1"/>
          </p:cNvSpPr>
          <p:nvPr/>
        </p:nvSpPr>
        <p:spPr>
          <a:xfrm>
            <a:off x="5000625" y="3638550"/>
            <a:ext cx="3609975" cy="642938"/>
          </a:xfrm>
          <a:prstGeom prst="rect">
            <a:avLst/>
          </a:prstGeom>
          <a:noFill/>
          <a:ln w="0">
            <a:noFill/>
          </a:ln>
        </p:spPr>
        <p:txBody>
          <a:bodyPr wrap="square" lIns="0" tIns="0" rIns="0" bIns="0" anchor="t">
            <a:noAutofit/>
          </a:bodyPr>
          <a:lstStyle/>
          <a:p>
            <a:pPr>
              <a:defRPr sz="2025" b="0" i="0">
                <a:solidFill>
                  <a:srgbClr val="173E35"/>
                </a:solidFill>
                <a:latin typeface="Arial"/>
                <a:ea typeface="Arial"/>
                <a:cs typeface="Arial"/>
              </a:defRPr>
            </a:pPr>
            <a:r>
              <a:rPr sz="2025" b="0" i="0">
                <a:solidFill>
                  <a:srgbClr val="173E35"/>
                </a:solidFill>
                <a:latin typeface="Arial"/>
                <a:ea typeface="Arial"/>
                <a:cs typeface="Arial"/>
              </a:rPr>
              <a:t>Droughts</a:t>
            </a:r>
          </a:p>
        </p:txBody>
      </p:sp>
      <p:pic>
        <p:nvPicPr>
          <p:cNvPr id="34" name="Picture 33"/>
          <p:cNvPicPr>
            <a:picLocks noChangeAspect="1"/>
          </p:cNvPicPr>
          <p:nvPr/>
        </p:nvPicPr>
        <p:blipFill>
          <a:blip r:embed="rId3"/>
          <a:stretch/>
        </p:blipFill>
        <p:spPr>
          <a:xfrm>
            <a:off x="499570" y="4829175"/>
            <a:ext cx="315310" cy="152400"/>
          </a:xfrm>
          <a:prstGeom prst="rect">
            <a:avLst/>
          </a:prstGeom>
        </p:spPr>
      </p:pic>
      <p:sp>
        <p:nvSpPr>
          <p:cNvPr id="17" name="www.newton.university">
            <a:extLst>
              <a:ext uri="{FF2B5EF4-FFF2-40B4-BE49-F238E27FC236}">
                <a16:creationId xmlns:a16="http://schemas.microsoft.com/office/drawing/2014/main" id="{CF7196D8-B0C2-451D-9EAF-4564118AEFE8}"/>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18" name="27">
            <a:extLst>
              <a:ext uri="{FF2B5EF4-FFF2-40B4-BE49-F238E27FC236}">
                <a16:creationId xmlns:a16="http://schemas.microsoft.com/office/drawing/2014/main" id="{9332579B-4317-466D-A65B-5F4CF3E2FBA6}"/>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58665B"/>
                </a:solidFill>
                <a:latin typeface="Arial"/>
                <a:ea typeface="Arial"/>
                <a:cs typeface="Arial"/>
              </a:defRPr>
            </a:pPr>
            <a:r>
              <a:rPr sz="1125" b="0" i="0">
                <a:solidFill>
                  <a:srgbClr val="58665B"/>
                </a:solidFill>
                <a:latin typeface="Arial"/>
                <a:ea typeface="Arial"/>
                <a:cs typeface="Arial"/>
              </a:rPr>
              <a:t>27</a:t>
            </a:r>
          </a:p>
        </p:txBody>
      </p:sp>
    </p:spTree>
    <p:extLst>
      <p:ext uri="{BB962C8B-B14F-4D97-AF65-F5344CB8AC3E}">
        <p14:creationId xmlns:p14="http://schemas.microsoft.com/office/powerpoint/2010/main" val="11880146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7" name="Drought: a Growing European Risk">
            <a:extLst>
              <a:ext uri="{FF2B5EF4-FFF2-40B4-BE49-F238E27FC236}">
                <a16:creationId xmlns:a16="http://schemas.microsoft.com/office/drawing/2014/main" id="{671F2153-29BC-4957-8E10-FF419206ADE7}"/>
              </a:ext>
            </a:extLst>
          </p:cNvPr>
          <p:cNvSpPr>
            <a:spLocks noGrp="1"/>
          </p:cNvSpPr>
          <p:nvPr/>
        </p:nvSpPr>
        <p:spPr>
          <a:xfrm>
            <a:off x="495300" y="381000"/>
            <a:ext cx="8096250" cy="952500"/>
          </a:xfrm>
          <a:prstGeom prst="rect">
            <a:avLst/>
          </a:prstGeom>
          <a:noFill/>
          <a:ln w="0">
            <a:noFill/>
          </a:ln>
        </p:spPr>
        <p:txBody>
          <a:bodyPr wrap="square" lIns="0" tIns="0" rIns="0" bIns="0" anchor="t">
            <a:noAutofit/>
          </a:bodyPr>
          <a:lstStyle/>
          <a:p>
            <a:pPr>
              <a:defRPr sz="2775" b="0" i="0">
                <a:solidFill>
                  <a:srgbClr val="173E35"/>
                </a:solidFill>
                <a:latin typeface="Georgia"/>
                <a:ea typeface="Georgia"/>
                <a:cs typeface="Georgia"/>
              </a:defRPr>
            </a:pPr>
            <a:r>
              <a:rPr sz="2775" b="0" i="0">
                <a:solidFill>
                  <a:srgbClr val="173E35"/>
                </a:solidFill>
                <a:latin typeface="Georgia"/>
                <a:ea typeface="Georgia"/>
                <a:cs typeface="Georgia"/>
              </a:rPr>
              <a:t>Drought: a Growing European Risk</a:t>
            </a:r>
          </a:p>
        </p:txBody>
      </p:sp>
      <p:pic>
        <p:nvPicPr>
          <p:cNvPr id="8" name="Picture 7"/>
          <p:cNvPicPr>
            <a:picLocks noChangeAspect="1"/>
          </p:cNvPicPr>
          <p:nvPr/>
        </p:nvPicPr>
        <p:blipFill>
          <a:blip r:embed="rId3"/>
          <a:srcRect t="24352" b="24352"/>
          <a:stretch>
            <a:fillRect/>
          </a:stretch>
        </p:blipFill>
        <p:spPr>
          <a:xfrm>
            <a:off x="495300" y="1323975"/>
            <a:ext cx="8153400" cy="3067050"/>
          </a:xfrm>
          <a:prstGeom prst="rect">
            <a:avLst/>
          </a:prstGeom>
        </p:spPr>
      </p:pic>
      <p:sp>
        <p:nvSpPr>
          <p:cNvPr id="3" name="Illustrative drought photograph: Spruce Run R">
            <a:extLst>
              <a:ext uri="{FF2B5EF4-FFF2-40B4-BE49-F238E27FC236}">
                <a16:creationId xmlns:a16="http://schemas.microsoft.com/office/drawing/2014/main" id="{A44C151D-7533-4CD7-9C09-39E22AE2E154}"/>
              </a:ext>
            </a:extLst>
          </p:cNvPr>
          <p:cNvSpPr>
            <a:spLocks noGrp="1"/>
          </p:cNvSpPr>
          <p:nvPr/>
        </p:nvSpPr>
        <p:spPr>
          <a:xfrm>
            <a:off x="495300" y="4467225"/>
            <a:ext cx="8096250" cy="276225"/>
          </a:xfrm>
          <a:prstGeom prst="rect">
            <a:avLst/>
          </a:prstGeom>
          <a:noFill/>
          <a:ln w="0">
            <a:noFill/>
          </a:ln>
        </p:spPr>
        <p:txBody>
          <a:bodyPr wrap="square" lIns="0" tIns="0" rIns="0" bIns="0" anchor="t">
            <a:noAutofit/>
          </a:bodyPr>
          <a:lstStyle/>
          <a:p>
            <a:pPr>
              <a:defRPr sz="1125" b="0" i="0">
                <a:solidFill>
                  <a:srgbClr val="58665B"/>
                </a:solidFill>
                <a:latin typeface="Arial"/>
                <a:ea typeface="Arial"/>
                <a:cs typeface="Arial"/>
              </a:defRPr>
            </a:pPr>
            <a:r>
              <a:rPr sz="1125" b="0" i="0">
                <a:solidFill>
                  <a:srgbClr val="58665B"/>
                </a:solidFill>
                <a:latin typeface="Arial"/>
                <a:ea typeface="Arial"/>
                <a:cs typeface="Arial"/>
              </a:rPr>
              <a:t>Illustrative drought photograph: Spruce Run Reservoir, New Jersey, November 2024.</a:t>
            </a:r>
          </a:p>
        </p:txBody>
      </p:sp>
      <p:pic>
        <p:nvPicPr>
          <p:cNvPr id="10" name="Picture 9"/>
          <p:cNvPicPr>
            <a:picLocks noChangeAspect="1"/>
          </p:cNvPicPr>
          <p:nvPr/>
        </p:nvPicPr>
        <p:blipFill>
          <a:blip r:embed="rId4"/>
          <a:stretch/>
        </p:blipFill>
        <p:spPr>
          <a:xfrm>
            <a:off x="499570" y="4829175"/>
            <a:ext cx="315310" cy="152400"/>
          </a:xfrm>
          <a:prstGeom prst="rect">
            <a:avLst/>
          </a:prstGeom>
        </p:spPr>
      </p:pic>
      <p:sp>
        <p:nvSpPr>
          <p:cNvPr id="5" name="www.newton.university">
            <a:extLst>
              <a:ext uri="{FF2B5EF4-FFF2-40B4-BE49-F238E27FC236}">
                <a16:creationId xmlns:a16="http://schemas.microsoft.com/office/drawing/2014/main" id="{92FE6020-CF35-44C6-AF62-CD8D4C681BAE}"/>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6" name="28">
            <a:extLst>
              <a:ext uri="{FF2B5EF4-FFF2-40B4-BE49-F238E27FC236}">
                <a16:creationId xmlns:a16="http://schemas.microsoft.com/office/drawing/2014/main" id="{E5C7BBC9-ABD3-4A9E-BCC8-0AB5EC8DF235}"/>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58665B"/>
                </a:solidFill>
                <a:latin typeface="Arial"/>
                <a:ea typeface="Arial"/>
                <a:cs typeface="Arial"/>
              </a:defRPr>
            </a:pPr>
            <a:r>
              <a:rPr sz="1125" b="0" i="0">
                <a:solidFill>
                  <a:srgbClr val="58665B"/>
                </a:solidFill>
                <a:latin typeface="Arial"/>
                <a:ea typeface="Arial"/>
                <a:cs typeface="Arial"/>
              </a:rPr>
              <a:t>28</a:t>
            </a:r>
          </a:p>
        </p:txBody>
      </p:sp>
    </p:spTree>
    <p:extLst>
      <p:ext uri="{BB962C8B-B14F-4D97-AF65-F5344CB8AC3E}">
        <p14:creationId xmlns:p14="http://schemas.microsoft.com/office/powerpoint/2010/main" val="7909535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32E29"/>
        </a:solidFill>
        <a:effectLst/>
      </p:bgPr>
    </p:bg>
    <p:spTree>
      <p:nvGrpSpPr>
        <p:cNvPr id="1" name=""/>
        <p:cNvGrpSpPr/>
        <p:nvPr/>
      </p:nvGrpSpPr>
      <p:grpSpPr>
        <a:xfrm>
          <a:off x="0" y="0"/>
          <a:ext cx="0" cy="0"/>
          <a:chOff x="0" y="0"/>
          <a:chExt cx="0" cy="0"/>
        </a:xfrm>
      </p:grpSpPr>
      <p:sp>
        <p:nvSpPr>
          <p:cNvPr id="18" name="Editorial rule">
            <a:extLst>
              <a:ext uri="{FF2B5EF4-FFF2-40B4-BE49-F238E27FC236}">
                <a16:creationId xmlns:a16="http://schemas.microsoft.com/office/drawing/2014/main" id="{6B502E87-00FF-42AF-A51A-35200A208198}"/>
              </a:ext>
            </a:extLst>
          </p:cNvPr>
          <p:cNvSpPr>
            <a:spLocks noGrp="1"/>
          </p:cNvSpPr>
          <p:nvPr/>
        </p:nvSpPr>
        <p:spPr>
          <a:xfrm>
            <a:off x="495300" y="1066800"/>
            <a:ext cx="8153400" cy="9525"/>
          </a:xfrm>
          <a:prstGeom prst="rect">
            <a:avLst/>
          </a:prstGeom>
          <a:solidFill>
            <a:srgbClr val="678775"/>
          </a:solidFill>
          <a:ln w="0">
            <a:noFill/>
          </a:ln>
        </p:spPr>
        <p:txBody>
          <a:bodyPr/>
          <a:lstStyle/>
          <a:p>
            <a:endParaRPr lang="en-US"/>
          </a:p>
        </p:txBody>
      </p:sp>
      <p:sp>
        <p:nvSpPr>
          <p:cNvPr id="2" name="Editorial frame">
            <a:extLst>
              <a:ext uri="{FF2B5EF4-FFF2-40B4-BE49-F238E27FC236}">
                <a16:creationId xmlns:a16="http://schemas.microsoft.com/office/drawing/2014/main" id="{AE3E5F93-8FCC-48F0-86A3-048F60A5862D}"/>
              </a:ext>
            </a:extLst>
          </p:cNvPr>
          <p:cNvSpPr>
            <a:spLocks noGrp="1"/>
          </p:cNvSpPr>
          <p:nvPr/>
        </p:nvSpPr>
        <p:spPr>
          <a:xfrm>
            <a:off x="361950" y="1581150"/>
            <a:ext cx="4048125" cy="3048000"/>
          </a:xfrm>
          <a:prstGeom prst="rect">
            <a:avLst/>
          </a:prstGeom>
          <a:solidFill>
            <a:srgbClr val="1B3B31"/>
          </a:solidFill>
          <a:ln w="8573">
            <a:solidFill>
              <a:srgbClr val="65856E"/>
            </a:solidFill>
          </a:ln>
        </p:spPr>
        <p:txBody>
          <a:bodyPr/>
          <a:lstStyle/>
          <a:p>
            <a:endParaRPr lang="en-US"/>
          </a:p>
        </p:txBody>
      </p:sp>
      <p:sp>
        <p:nvSpPr>
          <p:cNvPr id="3" name="Editorial frame">
            <a:extLst>
              <a:ext uri="{FF2B5EF4-FFF2-40B4-BE49-F238E27FC236}">
                <a16:creationId xmlns:a16="http://schemas.microsoft.com/office/drawing/2014/main" id="{1E50C52A-8E6E-49DA-BD8A-CDDF94B8F6CB}"/>
              </a:ext>
            </a:extLst>
          </p:cNvPr>
          <p:cNvSpPr>
            <a:spLocks noGrp="1"/>
          </p:cNvSpPr>
          <p:nvPr/>
        </p:nvSpPr>
        <p:spPr>
          <a:xfrm>
            <a:off x="4810125" y="1581150"/>
            <a:ext cx="3971925" cy="3048000"/>
          </a:xfrm>
          <a:prstGeom prst="rect">
            <a:avLst/>
          </a:prstGeom>
          <a:solidFill>
            <a:srgbClr val="284639"/>
          </a:solidFill>
          <a:ln w="8573">
            <a:solidFill>
              <a:srgbClr val="8CA089"/>
            </a:solidFill>
          </a:ln>
        </p:spPr>
        <p:txBody>
          <a:bodyPr/>
          <a:lstStyle/>
          <a:p>
            <a:endParaRPr lang="en-US"/>
          </a:p>
        </p:txBody>
      </p:sp>
      <p:sp>
        <p:nvSpPr>
          <p:cNvPr id="4" name="The Biodiversity Crisis">
            <a:extLst>
              <a:ext uri="{FF2B5EF4-FFF2-40B4-BE49-F238E27FC236}">
                <a16:creationId xmlns:a16="http://schemas.microsoft.com/office/drawing/2014/main" id="{0309927B-C74B-4FEB-9096-4D84964D1CF4}"/>
              </a:ext>
            </a:extLst>
          </p:cNvPr>
          <p:cNvSpPr>
            <a:spLocks noGrp="1"/>
          </p:cNvSpPr>
          <p:nvPr/>
        </p:nvSpPr>
        <p:spPr>
          <a:xfrm>
            <a:off x="495300" y="381000"/>
            <a:ext cx="8096250" cy="952500"/>
          </a:xfrm>
          <a:prstGeom prst="rect">
            <a:avLst/>
          </a:prstGeom>
          <a:noFill/>
          <a:ln w="0">
            <a:noFill/>
          </a:ln>
        </p:spPr>
        <p:txBody>
          <a:bodyPr wrap="square" lIns="0" tIns="0" rIns="0" bIns="0" anchor="t">
            <a:noAutofit/>
          </a:bodyPr>
          <a:lstStyle/>
          <a:p>
            <a:pPr>
              <a:defRPr sz="2775" b="0" i="0">
                <a:solidFill>
                  <a:srgbClr val="F5F2EA"/>
                </a:solidFill>
                <a:latin typeface="Georgia"/>
                <a:ea typeface="Georgia"/>
                <a:cs typeface="Georgia"/>
              </a:defRPr>
            </a:pPr>
            <a:r>
              <a:rPr sz="2775" b="0" i="0">
                <a:solidFill>
                  <a:srgbClr val="F5F2EA"/>
                </a:solidFill>
                <a:latin typeface="Georgia"/>
                <a:ea typeface="Georgia"/>
                <a:cs typeface="Georgia"/>
              </a:rPr>
              <a:t>The Biodiversity Crisis</a:t>
            </a:r>
          </a:p>
        </p:txBody>
      </p:sp>
      <p:sp>
        <p:nvSpPr>
          <p:cNvPr id="5" name="Current pressures">
            <a:extLst>
              <a:ext uri="{FF2B5EF4-FFF2-40B4-BE49-F238E27FC236}">
                <a16:creationId xmlns:a16="http://schemas.microsoft.com/office/drawing/2014/main" id="{107C1D32-80BA-4DE7-83DF-9B504109E6A6}"/>
              </a:ext>
            </a:extLst>
          </p:cNvPr>
          <p:cNvSpPr>
            <a:spLocks noGrp="1"/>
          </p:cNvSpPr>
          <p:nvPr/>
        </p:nvSpPr>
        <p:spPr>
          <a:xfrm>
            <a:off x="495300" y="1714500"/>
            <a:ext cx="3714750" cy="609600"/>
          </a:xfrm>
          <a:prstGeom prst="rect">
            <a:avLst/>
          </a:prstGeom>
          <a:noFill/>
          <a:ln w="0">
            <a:noFill/>
          </a:ln>
        </p:spPr>
        <p:txBody>
          <a:bodyPr wrap="square" lIns="0" tIns="0" rIns="0" bIns="0" anchor="t">
            <a:noAutofit/>
          </a:bodyPr>
          <a:lstStyle/>
          <a:p>
            <a:pPr>
              <a:defRPr sz="2250" b="0" i="0">
                <a:solidFill>
                  <a:srgbClr val="F5F2EA"/>
                </a:solidFill>
                <a:latin typeface="Georgia"/>
                <a:ea typeface="Georgia"/>
                <a:cs typeface="Georgia"/>
              </a:defRPr>
            </a:pPr>
            <a:r>
              <a:rPr sz="2250" b="0" i="0">
                <a:solidFill>
                  <a:srgbClr val="F5F2EA"/>
                </a:solidFill>
                <a:latin typeface="Georgia"/>
                <a:ea typeface="Georgia"/>
                <a:cs typeface="Georgia"/>
              </a:rPr>
              <a:t>Current pressures</a:t>
            </a:r>
          </a:p>
        </p:txBody>
      </p:sp>
      <p:sp>
        <p:nvSpPr>
          <p:cNvPr id="6" name="Habitat destruction">
            <a:extLst>
              <a:ext uri="{FF2B5EF4-FFF2-40B4-BE49-F238E27FC236}">
                <a16:creationId xmlns:a16="http://schemas.microsoft.com/office/drawing/2014/main" id="{2AEA41EF-BAF2-4EEF-AD77-DF6E614834F2}"/>
              </a:ext>
            </a:extLst>
          </p:cNvPr>
          <p:cNvSpPr>
            <a:spLocks noGrp="1"/>
          </p:cNvSpPr>
          <p:nvPr/>
        </p:nvSpPr>
        <p:spPr>
          <a:xfrm>
            <a:off x="495300" y="2476500"/>
            <a:ext cx="3714750" cy="595313"/>
          </a:xfrm>
          <a:prstGeom prst="rect">
            <a:avLst/>
          </a:prstGeom>
          <a:noFill/>
          <a:ln w="0">
            <a:noFill/>
          </a:ln>
        </p:spPr>
        <p:txBody>
          <a:bodyPr wrap="square" lIns="0" tIns="0" rIns="0" bIns="0" anchor="t">
            <a:noAutofit/>
          </a:bodyPr>
          <a:lstStyle/>
          <a:p>
            <a:pPr>
              <a:defRPr sz="1875" b="0" i="0">
                <a:solidFill>
                  <a:srgbClr val="D3DCCF"/>
                </a:solidFill>
                <a:latin typeface="Arial"/>
                <a:ea typeface="Arial"/>
                <a:cs typeface="Arial"/>
              </a:defRPr>
            </a:pPr>
            <a:r>
              <a:rPr sz="1875" b="0" i="0">
                <a:solidFill>
                  <a:srgbClr val="D3DCCF"/>
                </a:solidFill>
                <a:latin typeface="Arial"/>
                <a:ea typeface="Arial"/>
                <a:cs typeface="Arial"/>
              </a:rPr>
              <a:t>Habitat destruction</a:t>
            </a:r>
          </a:p>
        </p:txBody>
      </p:sp>
      <p:sp>
        <p:nvSpPr>
          <p:cNvPr id="7" name="Urban expansion">
            <a:extLst>
              <a:ext uri="{FF2B5EF4-FFF2-40B4-BE49-F238E27FC236}">
                <a16:creationId xmlns:a16="http://schemas.microsoft.com/office/drawing/2014/main" id="{D99C82DB-EF7C-466A-B73A-BE976D2E3CD2}"/>
              </a:ext>
            </a:extLst>
          </p:cNvPr>
          <p:cNvSpPr>
            <a:spLocks noGrp="1"/>
          </p:cNvSpPr>
          <p:nvPr/>
        </p:nvSpPr>
        <p:spPr>
          <a:xfrm>
            <a:off x="495300" y="2952750"/>
            <a:ext cx="3714750" cy="595313"/>
          </a:xfrm>
          <a:prstGeom prst="rect">
            <a:avLst/>
          </a:prstGeom>
          <a:noFill/>
          <a:ln w="0">
            <a:noFill/>
          </a:ln>
        </p:spPr>
        <p:txBody>
          <a:bodyPr wrap="square" lIns="0" tIns="0" rIns="0" bIns="0" anchor="t">
            <a:noAutofit/>
          </a:bodyPr>
          <a:lstStyle/>
          <a:p>
            <a:pPr>
              <a:defRPr sz="1875" b="0" i="0">
                <a:solidFill>
                  <a:srgbClr val="D3DCCF"/>
                </a:solidFill>
                <a:latin typeface="Arial"/>
                <a:ea typeface="Arial"/>
                <a:cs typeface="Arial"/>
              </a:defRPr>
            </a:pPr>
            <a:r>
              <a:rPr sz="1875" b="0" i="0">
                <a:solidFill>
                  <a:srgbClr val="D3DCCF"/>
                </a:solidFill>
                <a:latin typeface="Arial"/>
                <a:ea typeface="Arial"/>
                <a:cs typeface="Arial"/>
              </a:rPr>
              <a:t>Urban expansion</a:t>
            </a:r>
          </a:p>
        </p:txBody>
      </p:sp>
      <p:sp>
        <p:nvSpPr>
          <p:cNvPr id="8" name="Pollution">
            <a:extLst>
              <a:ext uri="{FF2B5EF4-FFF2-40B4-BE49-F238E27FC236}">
                <a16:creationId xmlns:a16="http://schemas.microsoft.com/office/drawing/2014/main" id="{18D19536-63D0-47A1-807A-6667ABD2A0D9}"/>
              </a:ext>
            </a:extLst>
          </p:cNvPr>
          <p:cNvSpPr>
            <a:spLocks noGrp="1"/>
          </p:cNvSpPr>
          <p:nvPr/>
        </p:nvSpPr>
        <p:spPr>
          <a:xfrm>
            <a:off x="495300" y="3429000"/>
            <a:ext cx="3714750" cy="595313"/>
          </a:xfrm>
          <a:prstGeom prst="rect">
            <a:avLst/>
          </a:prstGeom>
          <a:noFill/>
          <a:ln w="0">
            <a:noFill/>
          </a:ln>
        </p:spPr>
        <p:txBody>
          <a:bodyPr wrap="square" lIns="0" tIns="0" rIns="0" bIns="0" anchor="t">
            <a:noAutofit/>
          </a:bodyPr>
          <a:lstStyle/>
          <a:p>
            <a:pPr>
              <a:defRPr sz="1875" b="0" i="0">
                <a:solidFill>
                  <a:srgbClr val="D3DCCF"/>
                </a:solidFill>
                <a:latin typeface="Arial"/>
                <a:ea typeface="Arial"/>
                <a:cs typeface="Arial"/>
              </a:defRPr>
            </a:pPr>
            <a:r>
              <a:rPr sz="1875" b="0" i="0">
                <a:solidFill>
                  <a:srgbClr val="D3DCCF"/>
                </a:solidFill>
                <a:latin typeface="Arial"/>
                <a:ea typeface="Arial"/>
                <a:cs typeface="Arial"/>
              </a:rPr>
              <a:t>Pollution</a:t>
            </a:r>
          </a:p>
        </p:txBody>
      </p:sp>
      <p:sp>
        <p:nvSpPr>
          <p:cNvPr id="9" name="Invasive species">
            <a:extLst>
              <a:ext uri="{FF2B5EF4-FFF2-40B4-BE49-F238E27FC236}">
                <a16:creationId xmlns:a16="http://schemas.microsoft.com/office/drawing/2014/main" id="{5A36D76B-1E31-4C42-A391-6C881F1217E0}"/>
              </a:ext>
            </a:extLst>
          </p:cNvPr>
          <p:cNvSpPr>
            <a:spLocks noGrp="1"/>
          </p:cNvSpPr>
          <p:nvPr/>
        </p:nvSpPr>
        <p:spPr>
          <a:xfrm>
            <a:off x="495300" y="3905250"/>
            <a:ext cx="3714750" cy="595313"/>
          </a:xfrm>
          <a:prstGeom prst="rect">
            <a:avLst/>
          </a:prstGeom>
          <a:noFill/>
          <a:ln w="0">
            <a:noFill/>
          </a:ln>
        </p:spPr>
        <p:txBody>
          <a:bodyPr wrap="square" lIns="0" tIns="0" rIns="0" bIns="0" anchor="t">
            <a:noAutofit/>
          </a:bodyPr>
          <a:lstStyle/>
          <a:p>
            <a:pPr>
              <a:defRPr sz="1875" b="0" i="0">
                <a:solidFill>
                  <a:srgbClr val="D3DCCF"/>
                </a:solidFill>
                <a:latin typeface="Arial"/>
                <a:ea typeface="Arial"/>
                <a:cs typeface="Arial"/>
              </a:defRPr>
            </a:pPr>
            <a:r>
              <a:rPr sz="1875" b="0" i="0">
                <a:solidFill>
                  <a:srgbClr val="D3DCCF"/>
                </a:solidFill>
                <a:latin typeface="Arial"/>
                <a:ea typeface="Arial"/>
                <a:cs typeface="Arial"/>
              </a:rPr>
              <a:t>Invasive species</a:t>
            </a:r>
          </a:p>
        </p:txBody>
      </p:sp>
      <p:sp>
        <p:nvSpPr>
          <p:cNvPr id="10" name="Why biodiversity matters">
            <a:extLst>
              <a:ext uri="{FF2B5EF4-FFF2-40B4-BE49-F238E27FC236}">
                <a16:creationId xmlns:a16="http://schemas.microsoft.com/office/drawing/2014/main" id="{11F47E65-C5CC-441A-BA75-4EC6BF12645F}"/>
              </a:ext>
            </a:extLst>
          </p:cNvPr>
          <p:cNvSpPr>
            <a:spLocks noGrp="1"/>
          </p:cNvSpPr>
          <p:nvPr/>
        </p:nvSpPr>
        <p:spPr>
          <a:xfrm>
            <a:off x="5000625" y="1714500"/>
            <a:ext cx="3619500" cy="609600"/>
          </a:xfrm>
          <a:prstGeom prst="rect">
            <a:avLst/>
          </a:prstGeom>
          <a:noFill/>
          <a:ln w="0">
            <a:noFill/>
          </a:ln>
        </p:spPr>
        <p:txBody>
          <a:bodyPr wrap="square" lIns="0" tIns="0" rIns="0" bIns="0" anchor="t">
            <a:noAutofit/>
          </a:bodyPr>
          <a:lstStyle/>
          <a:p>
            <a:pPr>
              <a:defRPr sz="2250" b="0" i="0">
                <a:solidFill>
                  <a:srgbClr val="E2B797"/>
                </a:solidFill>
                <a:latin typeface="Georgia"/>
                <a:ea typeface="Georgia"/>
                <a:cs typeface="Georgia"/>
              </a:defRPr>
            </a:pPr>
            <a:r>
              <a:rPr sz="2250" b="0" i="0">
                <a:solidFill>
                  <a:srgbClr val="E2B797"/>
                </a:solidFill>
                <a:latin typeface="Georgia"/>
                <a:ea typeface="Georgia"/>
                <a:cs typeface="Georgia"/>
              </a:rPr>
              <a:t>Why biodiversity matters</a:t>
            </a:r>
          </a:p>
        </p:txBody>
      </p:sp>
      <p:sp>
        <p:nvSpPr>
          <p:cNvPr id="11" name="Food production">
            <a:extLst>
              <a:ext uri="{FF2B5EF4-FFF2-40B4-BE49-F238E27FC236}">
                <a16:creationId xmlns:a16="http://schemas.microsoft.com/office/drawing/2014/main" id="{93ECB094-4266-414C-878D-3CE7A4F8746E}"/>
              </a:ext>
            </a:extLst>
          </p:cNvPr>
          <p:cNvSpPr>
            <a:spLocks noGrp="1"/>
          </p:cNvSpPr>
          <p:nvPr/>
        </p:nvSpPr>
        <p:spPr>
          <a:xfrm>
            <a:off x="5000625" y="2476500"/>
            <a:ext cx="3619500" cy="595313"/>
          </a:xfrm>
          <a:prstGeom prst="rect">
            <a:avLst/>
          </a:prstGeom>
          <a:noFill/>
          <a:ln w="0">
            <a:noFill/>
          </a:ln>
        </p:spPr>
        <p:txBody>
          <a:bodyPr wrap="square" lIns="0" tIns="0" rIns="0" bIns="0" anchor="t">
            <a:noAutofit/>
          </a:bodyPr>
          <a:lstStyle/>
          <a:p>
            <a:pPr>
              <a:defRPr sz="1875" b="0" i="0">
                <a:solidFill>
                  <a:srgbClr val="F5F2EA"/>
                </a:solidFill>
                <a:latin typeface="Arial"/>
                <a:ea typeface="Arial"/>
                <a:cs typeface="Arial"/>
              </a:defRPr>
            </a:pPr>
            <a:r>
              <a:rPr sz="1875" b="0" i="0">
                <a:solidFill>
                  <a:srgbClr val="F5F2EA"/>
                </a:solidFill>
                <a:latin typeface="Arial"/>
                <a:ea typeface="Arial"/>
                <a:cs typeface="Arial"/>
              </a:rPr>
              <a:t>Food production</a:t>
            </a:r>
          </a:p>
        </p:txBody>
      </p:sp>
      <p:sp>
        <p:nvSpPr>
          <p:cNvPr id="12" name="Water regulation">
            <a:extLst>
              <a:ext uri="{FF2B5EF4-FFF2-40B4-BE49-F238E27FC236}">
                <a16:creationId xmlns:a16="http://schemas.microsoft.com/office/drawing/2014/main" id="{5FBB70EE-4F00-4CBA-8535-7E022D2DACE9}"/>
              </a:ext>
            </a:extLst>
          </p:cNvPr>
          <p:cNvSpPr>
            <a:spLocks noGrp="1"/>
          </p:cNvSpPr>
          <p:nvPr/>
        </p:nvSpPr>
        <p:spPr>
          <a:xfrm>
            <a:off x="5000625" y="2952750"/>
            <a:ext cx="3619500" cy="595313"/>
          </a:xfrm>
          <a:prstGeom prst="rect">
            <a:avLst/>
          </a:prstGeom>
          <a:noFill/>
          <a:ln w="0">
            <a:noFill/>
          </a:ln>
        </p:spPr>
        <p:txBody>
          <a:bodyPr wrap="square" lIns="0" tIns="0" rIns="0" bIns="0" anchor="t">
            <a:noAutofit/>
          </a:bodyPr>
          <a:lstStyle/>
          <a:p>
            <a:pPr>
              <a:defRPr sz="1875" b="0" i="0">
                <a:solidFill>
                  <a:srgbClr val="F5F2EA"/>
                </a:solidFill>
                <a:latin typeface="Arial"/>
                <a:ea typeface="Arial"/>
                <a:cs typeface="Arial"/>
              </a:defRPr>
            </a:pPr>
            <a:r>
              <a:rPr sz="1875" b="0" i="0">
                <a:solidFill>
                  <a:srgbClr val="F5F2EA"/>
                </a:solidFill>
                <a:latin typeface="Arial"/>
                <a:ea typeface="Arial"/>
                <a:cs typeface="Arial"/>
              </a:rPr>
              <a:t>Water regulation</a:t>
            </a:r>
          </a:p>
        </p:txBody>
      </p:sp>
      <p:sp>
        <p:nvSpPr>
          <p:cNvPr id="13" name="Pollination">
            <a:extLst>
              <a:ext uri="{FF2B5EF4-FFF2-40B4-BE49-F238E27FC236}">
                <a16:creationId xmlns:a16="http://schemas.microsoft.com/office/drawing/2014/main" id="{2F52BD66-17EE-481E-BD41-F0FDCF7602AB}"/>
              </a:ext>
            </a:extLst>
          </p:cNvPr>
          <p:cNvSpPr>
            <a:spLocks noGrp="1"/>
          </p:cNvSpPr>
          <p:nvPr/>
        </p:nvSpPr>
        <p:spPr>
          <a:xfrm>
            <a:off x="5000625" y="3429000"/>
            <a:ext cx="3619500" cy="595313"/>
          </a:xfrm>
          <a:prstGeom prst="rect">
            <a:avLst/>
          </a:prstGeom>
          <a:noFill/>
          <a:ln w="0">
            <a:noFill/>
          </a:ln>
        </p:spPr>
        <p:txBody>
          <a:bodyPr wrap="square" lIns="0" tIns="0" rIns="0" bIns="0" anchor="t">
            <a:noAutofit/>
          </a:bodyPr>
          <a:lstStyle/>
          <a:p>
            <a:pPr>
              <a:defRPr sz="1875" b="0" i="0">
                <a:solidFill>
                  <a:srgbClr val="F5F2EA"/>
                </a:solidFill>
                <a:latin typeface="Arial"/>
                <a:ea typeface="Arial"/>
                <a:cs typeface="Arial"/>
              </a:defRPr>
            </a:pPr>
            <a:r>
              <a:rPr sz="1875" b="0" i="0">
                <a:solidFill>
                  <a:srgbClr val="F5F2EA"/>
                </a:solidFill>
                <a:latin typeface="Arial"/>
                <a:ea typeface="Arial"/>
                <a:cs typeface="Arial"/>
              </a:rPr>
              <a:t>Pollination</a:t>
            </a:r>
          </a:p>
        </p:txBody>
      </p:sp>
      <p:sp>
        <p:nvSpPr>
          <p:cNvPr id="14" name="Climate stability">
            <a:extLst>
              <a:ext uri="{FF2B5EF4-FFF2-40B4-BE49-F238E27FC236}">
                <a16:creationId xmlns:a16="http://schemas.microsoft.com/office/drawing/2014/main" id="{51D48C7B-4710-45F8-9145-87CB587503B7}"/>
              </a:ext>
            </a:extLst>
          </p:cNvPr>
          <p:cNvSpPr>
            <a:spLocks noGrp="1"/>
          </p:cNvSpPr>
          <p:nvPr/>
        </p:nvSpPr>
        <p:spPr>
          <a:xfrm>
            <a:off x="5000625" y="3905250"/>
            <a:ext cx="3619500" cy="595313"/>
          </a:xfrm>
          <a:prstGeom prst="rect">
            <a:avLst/>
          </a:prstGeom>
          <a:noFill/>
          <a:ln w="0">
            <a:noFill/>
          </a:ln>
        </p:spPr>
        <p:txBody>
          <a:bodyPr wrap="square" lIns="0" tIns="0" rIns="0" bIns="0" anchor="t">
            <a:noAutofit/>
          </a:bodyPr>
          <a:lstStyle/>
          <a:p>
            <a:pPr>
              <a:defRPr sz="1875" b="0" i="0">
                <a:solidFill>
                  <a:srgbClr val="F5F2EA"/>
                </a:solidFill>
                <a:latin typeface="Arial"/>
                <a:ea typeface="Arial"/>
                <a:cs typeface="Arial"/>
              </a:defRPr>
            </a:pPr>
            <a:r>
              <a:rPr sz="1875" b="0" i="0">
                <a:solidFill>
                  <a:srgbClr val="F5F2EA"/>
                </a:solidFill>
                <a:latin typeface="Arial"/>
                <a:ea typeface="Arial"/>
                <a:cs typeface="Arial"/>
              </a:rPr>
              <a:t>Climate stability</a:t>
            </a:r>
          </a:p>
        </p:txBody>
      </p:sp>
      <p:pic>
        <p:nvPicPr>
          <p:cNvPr id="32" name="Picture 31"/>
          <p:cNvPicPr>
            <a:picLocks noChangeAspect="1"/>
          </p:cNvPicPr>
          <p:nvPr/>
        </p:nvPicPr>
        <p:blipFill>
          <a:blip r:embed="rId3"/>
          <a:stretch/>
        </p:blipFill>
        <p:spPr>
          <a:xfrm>
            <a:off x="499570" y="4829175"/>
            <a:ext cx="315310" cy="152400"/>
          </a:xfrm>
          <a:prstGeom prst="rect">
            <a:avLst/>
          </a:prstGeom>
        </p:spPr>
      </p:pic>
      <p:sp>
        <p:nvSpPr>
          <p:cNvPr id="16" name="www.newton.university">
            <a:extLst>
              <a:ext uri="{FF2B5EF4-FFF2-40B4-BE49-F238E27FC236}">
                <a16:creationId xmlns:a16="http://schemas.microsoft.com/office/drawing/2014/main" id="{F3041F95-4369-46C9-9D0B-50FEF9979787}"/>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C7D0C6"/>
                </a:solidFill>
                <a:latin typeface="Arial"/>
                <a:ea typeface="Arial"/>
                <a:cs typeface="Arial"/>
              </a:defRPr>
            </a:pPr>
            <a:r>
              <a:rPr sz="750" b="0" i="0">
                <a:solidFill>
                  <a:srgbClr val="C7D0C6"/>
                </a:solidFill>
                <a:latin typeface="Arial"/>
                <a:ea typeface="Arial"/>
                <a:cs typeface="Arial"/>
              </a:rPr>
              <a:t>www.newton.university</a:t>
            </a:r>
          </a:p>
        </p:txBody>
      </p:sp>
      <p:sp>
        <p:nvSpPr>
          <p:cNvPr id="17" name="29">
            <a:extLst>
              <a:ext uri="{FF2B5EF4-FFF2-40B4-BE49-F238E27FC236}">
                <a16:creationId xmlns:a16="http://schemas.microsoft.com/office/drawing/2014/main" id="{FB4C79A0-60B8-4B23-93A1-00864F80F802}"/>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E8EDE5"/>
                </a:solidFill>
                <a:latin typeface="Arial"/>
                <a:ea typeface="Arial"/>
                <a:cs typeface="Arial"/>
              </a:defRPr>
            </a:pPr>
            <a:r>
              <a:rPr sz="1125" b="0" i="0">
                <a:solidFill>
                  <a:srgbClr val="E8EDE5"/>
                </a:solidFill>
                <a:latin typeface="Arial"/>
                <a:ea typeface="Arial"/>
                <a:cs typeface="Arial"/>
              </a:rPr>
              <a:t>29</a:t>
            </a:r>
          </a:p>
        </p:txBody>
      </p:sp>
    </p:spTree>
    <p:extLst>
      <p:ext uri="{BB962C8B-B14F-4D97-AF65-F5344CB8AC3E}">
        <p14:creationId xmlns:p14="http://schemas.microsoft.com/office/powerpoint/2010/main" val="2622207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7" name="Land-Use Change Seen from Above">
            <a:extLst>
              <a:ext uri="{FF2B5EF4-FFF2-40B4-BE49-F238E27FC236}">
                <a16:creationId xmlns:a16="http://schemas.microsoft.com/office/drawing/2014/main" id="{20B58FE1-8269-4B7D-82C5-A06AFC40FD8D}"/>
              </a:ext>
            </a:extLst>
          </p:cNvPr>
          <p:cNvSpPr>
            <a:spLocks noGrp="1"/>
          </p:cNvSpPr>
          <p:nvPr/>
        </p:nvSpPr>
        <p:spPr>
          <a:xfrm>
            <a:off x="495300" y="381000"/>
            <a:ext cx="8096250" cy="952500"/>
          </a:xfrm>
          <a:prstGeom prst="rect">
            <a:avLst/>
          </a:prstGeom>
          <a:noFill/>
          <a:ln w="0">
            <a:noFill/>
          </a:ln>
        </p:spPr>
        <p:txBody>
          <a:bodyPr wrap="square" lIns="0" tIns="0" rIns="0" bIns="0" anchor="t">
            <a:noAutofit/>
          </a:bodyPr>
          <a:lstStyle/>
          <a:p>
            <a:pPr>
              <a:defRPr sz="2775" b="0" i="0">
                <a:solidFill>
                  <a:srgbClr val="173E35"/>
                </a:solidFill>
                <a:latin typeface="Georgia"/>
                <a:ea typeface="Georgia"/>
                <a:cs typeface="Georgia"/>
              </a:defRPr>
            </a:pPr>
            <a:r>
              <a:rPr sz="2775" b="0" i="0">
                <a:solidFill>
                  <a:srgbClr val="173E35"/>
                </a:solidFill>
                <a:latin typeface="Georgia"/>
                <a:ea typeface="Georgia"/>
                <a:cs typeface="Georgia"/>
              </a:rPr>
              <a:t>Land-Use Change Seen from Above</a:t>
            </a:r>
          </a:p>
        </p:txBody>
      </p:sp>
      <p:pic>
        <p:nvPicPr>
          <p:cNvPr id="8" name="Picture 7"/>
          <p:cNvPicPr>
            <a:picLocks noChangeAspect="1"/>
          </p:cNvPicPr>
          <p:nvPr/>
        </p:nvPicPr>
        <p:blipFill>
          <a:blip r:embed="rId3"/>
          <a:srcRect t="21787" b="21787"/>
          <a:stretch>
            <a:fillRect/>
          </a:stretch>
        </p:blipFill>
        <p:spPr>
          <a:xfrm>
            <a:off x="495300" y="1323975"/>
            <a:ext cx="8153400" cy="3067050"/>
          </a:xfrm>
          <a:prstGeom prst="rect">
            <a:avLst/>
          </a:prstGeom>
        </p:spPr>
      </p:pic>
      <p:sp>
        <p:nvSpPr>
          <p:cNvPr id="3" name="Satellite view of deforestation — land-system">
            <a:extLst>
              <a:ext uri="{FF2B5EF4-FFF2-40B4-BE49-F238E27FC236}">
                <a16:creationId xmlns:a16="http://schemas.microsoft.com/office/drawing/2014/main" id="{F1074479-8933-4B7D-B451-8E2A5F099261}"/>
              </a:ext>
            </a:extLst>
          </p:cNvPr>
          <p:cNvSpPr>
            <a:spLocks noGrp="1"/>
          </p:cNvSpPr>
          <p:nvPr/>
        </p:nvSpPr>
        <p:spPr>
          <a:xfrm>
            <a:off x="495300" y="4467225"/>
            <a:ext cx="8096250" cy="276225"/>
          </a:xfrm>
          <a:prstGeom prst="rect">
            <a:avLst/>
          </a:prstGeom>
          <a:noFill/>
          <a:ln w="0">
            <a:noFill/>
          </a:ln>
        </p:spPr>
        <p:txBody>
          <a:bodyPr wrap="square" lIns="0" tIns="0" rIns="0" bIns="0" anchor="t">
            <a:noAutofit/>
          </a:bodyPr>
          <a:lstStyle/>
          <a:p>
            <a:pPr>
              <a:defRPr sz="1125" b="0" i="0">
                <a:solidFill>
                  <a:srgbClr val="58665B"/>
                </a:solidFill>
                <a:latin typeface="Arial"/>
                <a:ea typeface="Arial"/>
                <a:cs typeface="Arial"/>
              </a:defRPr>
            </a:pPr>
            <a:r>
              <a:rPr sz="1125" b="0" i="0">
                <a:solidFill>
                  <a:srgbClr val="58665B"/>
                </a:solidFill>
                <a:latin typeface="Arial"/>
                <a:ea typeface="Arial"/>
                <a:cs typeface="Arial"/>
              </a:rPr>
              <a:t>Satellite view of deforestation — land-system change is a planetary boundary under pressure</a:t>
            </a:r>
          </a:p>
        </p:txBody>
      </p:sp>
      <p:pic>
        <p:nvPicPr>
          <p:cNvPr id="10" name="Picture 9"/>
          <p:cNvPicPr>
            <a:picLocks noChangeAspect="1"/>
          </p:cNvPicPr>
          <p:nvPr/>
        </p:nvPicPr>
        <p:blipFill>
          <a:blip r:embed="rId4"/>
          <a:stretch/>
        </p:blipFill>
        <p:spPr>
          <a:xfrm>
            <a:off x="499570" y="4829175"/>
            <a:ext cx="315310" cy="152400"/>
          </a:xfrm>
          <a:prstGeom prst="rect">
            <a:avLst/>
          </a:prstGeom>
        </p:spPr>
      </p:pic>
      <p:sp>
        <p:nvSpPr>
          <p:cNvPr id="5" name="www.newton.university">
            <a:extLst>
              <a:ext uri="{FF2B5EF4-FFF2-40B4-BE49-F238E27FC236}">
                <a16:creationId xmlns:a16="http://schemas.microsoft.com/office/drawing/2014/main" id="{A03DE883-0BB8-44C7-A478-E0227870FB67}"/>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6" name="30">
            <a:extLst>
              <a:ext uri="{FF2B5EF4-FFF2-40B4-BE49-F238E27FC236}">
                <a16:creationId xmlns:a16="http://schemas.microsoft.com/office/drawing/2014/main" id="{B941B20D-FB1B-4BEA-85E9-DD6A5CAD52CE}"/>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58665B"/>
                </a:solidFill>
                <a:latin typeface="Arial"/>
                <a:ea typeface="Arial"/>
                <a:cs typeface="Arial"/>
              </a:defRPr>
            </a:pPr>
            <a:r>
              <a:rPr sz="1125" b="0" i="0">
                <a:solidFill>
                  <a:srgbClr val="58665B"/>
                </a:solidFill>
                <a:latin typeface="Arial"/>
                <a:ea typeface="Arial"/>
                <a:cs typeface="Arial"/>
              </a:rPr>
              <a:t>30</a:t>
            </a:r>
          </a:p>
        </p:txBody>
      </p:sp>
    </p:spTree>
    <p:extLst>
      <p:ext uri="{BB962C8B-B14F-4D97-AF65-F5344CB8AC3E}">
        <p14:creationId xmlns:p14="http://schemas.microsoft.com/office/powerpoint/2010/main" val="8572467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0E9DA"/>
        </a:solidFill>
        <a:effectLst/>
      </p:bgPr>
    </p:bg>
    <p:spTree>
      <p:nvGrpSpPr>
        <p:cNvPr id="1" name=""/>
        <p:cNvGrpSpPr/>
        <p:nvPr/>
      </p:nvGrpSpPr>
      <p:grpSpPr>
        <a:xfrm>
          <a:off x="0" y="0"/>
          <a:ext cx="0" cy="0"/>
          <a:chOff x="0" y="0"/>
          <a:chExt cx="0" cy="0"/>
        </a:xfrm>
      </p:grpSpPr>
      <p:sp>
        <p:nvSpPr>
          <p:cNvPr id="10" name="Editorial frame">
            <a:extLst>
              <a:ext uri="{FF2B5EF4-FFF2-40B4-BE49-F238E27FC236}">
                <a16:creationId xmlns:a16="http://schemas.microsoft.com/office/drawing/2014/main" id="{77DA6A01-DF7F-4C49-BC65-BEDC95580E99}"/>
              </a:ext>
            </a:extLst>
          </p:cNvPr>
          <p:cNvSpPr>
            <a:spLocks noGrp="1"/>
          </p:cNvSpPr>
          <p:nvPr/>
        </p:nvSpPr>
        <p:spPr>
          <a:xfrm>
            <a:off x="219075" y="219075"/>
            <a:ext cx="8705850" cy="4514850"/>
          </a:xfrm>
          <a:prstGeom prst="rect">
            <a:avLst/>
          </a:prstGeom>
          <a:noFill/>
          <a:ln w="8573">
            <a:solidFill>
              <a:srgbClr val="B4A388"/>
            </a:solidFill>
          </a:ln>
        </p:spPr>
        <p:txBody>
          <a:bodyPr/>
          <a:lstStyle/>
          <a:p>
            <a:endParaRPr lang="en-US"/>
          </a:p>
        </p:txBody>
      </p:sp>
      <p:sp>
        <p:nvSpPr>
          <p:cNvPr id="2" name="Editorial rule">
            <a:extLst>
              <a:ext uri="{FF2B5EF4-FFF2-40B4-BE49-F238E27FC236}">
                <a16:creationId xmlns:a16="http://schemas.microsoft.com/office/drawing/2014/main" id="{AC0F82EA-D57A-449D-9B54-7129F0E1DB5A}"/>
              </a:ext>
            </a:extLst>
          </p:cNvPr>
          <p:cNvSpPr>
            <a:spLocks noGrp="1"/>
          </p:cNvSpPr>
          <p:nvPr/>
        </p:nvSpPr>
        <p:spPr>
          <a:xfrm>
            <a:off x="219075" y="219075"/>
            <a:ext cx="76200" cy="4514850"/>
          </a:xfrm>
          <a:prstGeom prst="rect">
            <a:avLst/>
          </a:prstGeom>
          <a:solidFill>
            <a:srgbClr val="B56647"/>
          </a:solidFill>
          <a:ln w="0">
            <a:noFill/>
          </a:ln>
        </p:spPr>
        <p:txBody>
          <a:bodyPr/>
          <a:lstStyle/>
          <a:p>
            <a:endParaRPr lang="en-US"/>
          </a:p>
        </p:txBody>
      </p:sp>
      <p:sp>
        <p:nvSpPr>
          <p:cNvPr id="3" name="Editorial rule">
            <a:extLst>
              <a:ext uri="{FF2B5EF4-FFF2-40B4-BE49-F238E27FC236}">
                <a16:creationId xmlns:a16="http://schemas.microsoft.com/office/drawing/2014/main" id="{85E4080D-FFE0-4A63-9CE4-B7E484988F7C}"/>
              </a:ext>
            </a:extLst>
          </p:cNvPr>
          <p:cNvSpPr>
            <a:spLocks noGrp="1"/>
          </p:cNvSpPr>
          <p:nvPr/>
        </p:nvSpPr>
        <p:spPr>
          <a:xfrm>
            <a:off x="495300" y="4162425"/>
            <a:ext cx="5867400" cy="10478"/>
          </a:xfrm>
          <a:prstGeom prst="rect">
            <a:avLst/>
          </a:prstGeom>
          <a:solidFill>
            <a:srgbClr val="B4A388"/>
          </a:solidFill>
          <a:ln w="0">
            <a:noFill/>
          </a:ln>
        </p:spPr>
        <p:txBody>
          <a:bodyPr/>
          <a:lstStyle/>
          <a:p>
            <a:endParaRPr lang="en-US"/>
          </a:p>
        </p:txBody>
      </p:sp>
      <p:sp>
        <p:nvSpPr>
          <p:cNvPr id="4" name="Part 5">
            <a:extLst>
              <a:ext uri="{FF2B5EF4-FFF2-40B4-BE49-F238E27FC236}">
                <a16:creationId xmlns:a16="http://schemas.microsoft.com/office/drawing/2014/main" id="{CEF4ABC7-9D60-4DB3-8328-DCAD66109C3C}"/>
              </a:ext>
            </a:extLst>
          </p:cNvPr>
          <p:cNvSpPr>
            <a:spLocks noGrp="1"/>
          </p:cNvSpPr>
          <p:nvPr/>
        </p:nvSpPr>
        <p:spPr>
          <a:xfrm>
            <a:off x="495300" y="685800"/>
            <a:ext cx="4762500" cy="285750"/>
          </a:xfrm>
          <a:prstGeom prst="rect">
            <a:avLst/>
          </a:prstGeom>
          <a:noFill/>
          <a:ln w="0">
            <a:noFill/>
          </a:ln>
        </p:spPr>
        <p:txBody>
          <a:bodyPr wrap="square" lIns="0" tIns="0" rIns="0" bIns="0" anchor="t">
            <a:noAutofit/>
          </a:bodyPr>
          <a:lstStyle/>
          <a:p>
            <a:pPr>
              <a:defRPr sz="1500" b="0" i="0">
                <a:solidFill>
                  <a:srgbClr val="58665B"/>
                </a:solidFill>
                <a:latin typeface="Arial"/>
                <a:ea typeface="Arial"/>
                <a:cs typeface="Arial"/>
              </a:defRPr>
            </a:pPr>
            <a:r>
              <a:rPr sz="1500" b="0" i="0">
                <a:solidFill>
                  <a:srgbClr val="58665B"/>
                </a:solidFill>
                <a:latin typeface="Arial"/>
                <a:ea typeface="Arial"/>
                <a:cs typeface="Arial"/>
              </a:rPr>
              <a:t>Part 5</a:t>
            </a:r>
          </a:p>
        </p:txBody>
      </p:sp>
      <p:sp>
        <p:nvSpPr>
          <p:cNvPr id="5" name="Urban Development&#10;and Nature">
            <a:extLst>
              <a:ext uri="{FF2B5EF4-FFF2-40B4-BE49-F238E27FC236}">
                <a16:creationId xmlns:a16="http://schemas.microsoft.com/office/drawing/2014/main" id="{2373A267-6467-49C6-81B9-031E7C94593F}"/>
              </a:ext>
            </a:extLst>
          </p:cNvPr>
          <p:cNvSpPr>
            <a:spLocks noGrp="1"/>
          </p:cNvSpPr>
          <p:nvPr/>
        </p:nvSpPr>
        <p:spPr>
          <a:xfrm>
            <a:off x="495300" y="1809750"/>
            <a:ext cx="7381875" cy="1809750"/>
          </a:xfrm>
          <a:prstGeom prst="rect">
            <a:avLst/>
          </a:prstGeom>
          <a:noFill/>
          <a:ln w="0">
            <a:noFill/>
          </a:ln>
        </p:spPr>
        <p:txBody>
          <a:bodyPr wrap="square" lIns="0" tIns="0" rIns="0" bIns="0" anchor="t">
            <a:noAutofit/>
          </a:bodyPr>
          <a:lstStyle/>
          <a:p>
            <a:pPr>
              <a:defRPr sz="4125" b="0" i="0">
                <a:solidFill>
                  <a:srgbClr val="173E35"/>
                </a:solidFill>
                <a:latin typeface="Georgia"/>
                <a:ea typeface="Georgia"/>
                <a:cs typeface="Georgia"/>
              </a:defRPr>
            </a:pPr>
            <a:r>
              <a:rPr sz="4125" b="0" i="0">
                <a:solidFill>
                  <a:srgbClr val="173E35"/>
                </a:solidFill>
                <a:latin typeface="Georgia"/>
                <a:ea typeface="Georgia"/>
                <a:cs typeface="Georgia"/>
              </a:rPr>
              <a:t>Urban Development</a:t>
            </a:r>
          </a:p>
          <a:p>
            <a:pPr>
              <a:defRPr sz="4125" b="0" i="0">
                <a:solidFill>
                  <a:srgbClr val="173E35"/>
                </a:solidFill>
                <a:latin typeface="Georgia"/>
                <a:ea typeface="Georgia"/>
                <a:cs typeface="Georgia"/>
              </a:defRPr>
            </a:pPr>
            <a:r>
              <a:rPr sz="4125" b="0" i="0">
                <a:solidFill>
                  <a:srgbClr val="173E35"/>
                </a:solidFill>
                <a:latin typeface="Georgia"/>
                <a:ea typeface="Georgia"/>
                <a:cs typeface="Georgia"/>
              </a:rPr>
              <a:t>and Nature</a:t>
            </a:r>
          </a:p>
        </p:txBody>
      </p:sp>
      <p:sp>
        <p:nvSpPr>
          <p:cNvPr id="6" name="05">
            <a:extLst>
              <a:ext uri="{FF2B5EF4-FFF2-40B4-BE49-F238E27FC236}">
                <a16:creationId xmlns:a16="http://schemas.microsoft.com/office/drawing/2014/main" id="{2D7D85E4-3118-49B8-AC23-67A95D1E6F78}"/>
              </a:ext>
            </a:extLst>
          </p:cNvPr>
          <p:cNvSpPr>
            <a:spLocks noGrp="1"/>
          </p:cNvSpPr>
          <p:nvPr/>
        </p:nvSpPr>
        <p:spPr>
          <a:xfrm>
            <a:off x="7096125" y="3333750"/>
            <a:ext cx="1666875" cy="1190625"/>
          </a:xfrm>
          <a:prstGeom prst="rect">
            <a:avLst/>
          </a:prstGeom>
          <a:noFill/>
          <a:ln w="0">
            <a:noFill/>
          </a:ln>
        </p:spPr>
        <p:txBody>
          <a:bodyPr wrap="square" lIns="0" tIns="0" rIns="0" bIns="0" anchor="t">
            <a:noAutofit/>
          </a:bodyPr>
          <a:lstStyle/>
          <a:p>
            <a:pPr>
              <a:defRPr sz="7650" b="0" i="0">
                <a:solidFill>
                  <a:srgbClr val="BDAD93"/>
                </a:solidFill>
                <a:latin typeface="Georgia"/>
                <a:ea typeface="Georgia"/>
                <a:cs typeface="Georgia"/>
              </a:defRPr>
            </a:pPr>
            <a:r>
              <a:rPr sz="7650" b="0" i="0">
                <a:solidFill>
                  <a:srgbClr val="BDAD93"/>
                </a:solidFill>
                <a:latin typeface="Georgia"/>
                <a:ea typeface="Georgia"/>
                <a:cs typeface="Georgia"/>
              </a:rPr>
              <a:t>05</a:t>
            </a:r>
          </a:p>
        </p:txBody>
      </p:sp>
      <p:pic>
        <p:nvPicPr>
          <p:cNvPr id="16" name="Picture 15"/>
          <p:cNvPicPr>
            <a:picLocks noChangeAspect="1"/>
          </p:cNvPicPr>
          <p:nvPr/>
        </p:nvPicPr>
        <p:blipFill>
          <a:blip r:embed="rId3"/>
          <a:stretch/>
        </p:blipFill>
        <p:spPr>
          <a:xfrm>
            <a:off x="499570" y="4829175"/>
            <a:ext cx="315310" cy="152400"/>
          </a:xfrm>
          <a:prstGeom prst="rect">
            <a:avLst/>
          </a:prstGeom>
        </p:spPr>
      </p:pic>
      <p:sp>
        <p:nvSpPr>
          <p:cNvPr id="8" name="www.newton.university">
            <a:extLst>
              <a:ext uri="{FF2B5EF4-FFF2-40B4-BE49-F238E27FC236}">
                <a16:creationId xmlns:a16="http://schemas.microsoft.com/office/drawing/2014/main" id="{09D67E06-2798-47A7-BF3D-67A9A9E3EBAF}"/>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9" name="31">
            <a:extLst>
              <a:ext uri="{FF2B5EF4-FFF2-40B4-BE49-F238E27FC236}">
                <a16:creationId xmlns:a16="http://schemas.microsoft.com/office/drawing/2014/main" id="{7B146861-1621-4975-8DE8-DA6ED444BE77}"/>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58665B"/>
                </a:solidFill>
                <a:latin typeface="Arial"/>
                <a:ea typeface="Arial"/>
                <a:cs typeface="Arial"/>
              </a:defRPr>
            </a:pPr>
            <a:r>
              <a:rPr sz="1125" b="0" i="0">
                <a:solidFill>
                  <a:srgbClr val="58665B"/>
                </a:solidFill>
                <a:latin typeface="Arial"/>
                <a:ea typeface="Arial"/>
                <a:cs typeface="Arial"/>
              </a:rPr>
              <a:t>31</a:t>
            </a:r>
          </a:p>
        </p:txBody>
      </p:sp>
    </p:spTree>
    <p:extLst>
      <p:ext uri="{BB962C8B-B14F-4D97-AF65-F5344CB8AC3E}">
        <p14:creationId xmlns:p14="http://schemas.microsoft.com/office/powerpoint/2010/main" val="7621847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17" name="Editorial rule">
            <a:extLst>
              <a:ext uri="{FF2B5EF4-FFF2-40B4-BE49-F238E27FC236}">
                <a16:creationId xmlns:a16="http://schemas.microsoft.com/office/drawing/2014/main" id="{0154E3DD-B17C-4970-9B56-C470C1332371}"/>
              </a:ext>
            </a:extLst>
          </p:cNvPr>
          <p:cNvSpPr>
            <a:spLocks noGrp="1"/>
          </p:cNvSpPr>
          <p:nvPr/>
        </p:nvSpPr>
        <p:spPr>
          <a:xfrm>
            <a:off x="495300" y="1066800"/>
            <a:ext cx="8153400" cy="7620"/>
          </a:xfrm>
          <a:prstGeom prst="rect">
            <a:avLst/>
          </a:prstGeom>
          <a:solidFill>
            <a:srgbClr val="B7C3B1"/>
          </a:solidFill>
          <a:ln w="0">
            <a:noFill/>
          </a:ln>
        </p:spPr>
        <p:txBody>
          <a:bodyPr/>
          <a:lstStyle/>
          <a:p>
            <a:endParaRPr lang="en-US"/>
          </a:p>
        </p:txBody>
      </p:sp>
      <p:sp>
        <p:nvSpPr>
          <p:cNvPr id="2" name="Editorial rule">
            <a:extLst>
              <a:ext uri="{FF2B5EF4-FFF2-40B4-BE49-F238E27FC236}">
                <a16:creationId xmlns:a16="http://schemas.microsoft.com/office/drawing/2014/main" id="{08E25382-A9CF-447F-BF65-7FAED6AA9AA3}"/>
              </a:ext>
            </a:extLst>
          </p:cNvPr>
          <p:cNvSpPr>
            <a:spLocks noGrp="1"/>
          </p:cNvSpPr>
          <p:nvPr/>
        </p:nvSpPr>
        <p:spPr>
          <a:xfrm>
            <a:off x="495300" y="1052513"/>
            <a:ext cx="552450" cy="28575"/>
          </a:xfrm>
          <a:prstGeom prst="rect">
            <a:avLst/>
          </a:prstGeom>
          <a:solidFill>
            <a:srgbClr val="B56647"/>
          </a:solidFill>
          <a:ln w="0">
            <a:noFill/>
          </a:ln>
        </p:spPr>
        <p:txBody>
          <a:bodyPr/>
          <a:lstStyle/>
          <a:p>
            <a:endParaRPr lang="en-US"/>
          </a:p>
        </p:txBody>
      </p:sp>
      <p:sp>
        <p:nvSpPr>
          <p:cNvPr id="3" name="Editorial frame">
            <a:extLst>
              <a:ext uri="{FF2B5EF4-FFF2-40B4-BE49-F238E27FC236}">
                <a16:creationId xmlns:a16="http://schemas.microsoft.com/office/drawing/2014/main" id="{47E60E72-2DE2-4397-B890-3C23395A6421}"/>
              </a:ext>
            </a:extLst>
          </p:cNvPr>
          <p:cNvSpPr>
            <a:spLocks noGrp="1"/>
          </p:cNvSpPr>
          <p:nvPr/>
        </p:nvSpPr>
        <p:spPr>
          <a:xfrm>
            <a:off x="5314950" y="1581150"/>
            <a:ext cx="3467100" cy="3038475"/>
          </a:xfrm>
          <a:prstGeom prst="rect">
            <a:avLst/>
          </a:prstGeom>
          <a:solidFill>
            <a:srgbClr val="E4EBD9"/>
          </a:solidFill>
          <a:ln w="8573">
            <a:solidFill>
              <a:srgbClr val="ADBDA4"/>
            </a:solidFill>
          </a:ln>
        </p:spPr>
        <p:txBody>
          <a:bodyPr/>
          <a:lstStyle/>
          <a:p>
            <a:endParaRPr lang="en-US"/>
          </a:p>
        </p:txBody>
      </p:sp>
      <p:sp>
        <p:nvSpPr>
          <p:cNvPr id="4" name="Editorial rule">
            <a:extLst>
              <a:ext uri="{FF2B5EF4-FFF2-40B4-BE49-F238E27FC236}">
                <a16:creationId xmlns:a16="http://schemas.microsoft.com/office/drawing/2014/main" id="{99A47B79-D985-4727-AC6A-556D9EC30E00}"/>
              </a:ext>
            </a:extLst>
          </p:cNvPr>
          <p:cNvSpPr>
            <a:spLocks noGrp="1"/>
          </p:cNvSpPr>
          <p:nvPr/>
        </p:nvSpPr>
        <p:spPr>
          <a:xfrm>
            <a:off x="5314950" y="1581150"/>
            <a:ext cx="3467100" cy="38100"/>
          </a:xfrm>
          <a:prstGeom prst="rect">
            <a:avLst/>
          </a:prstGeom>
          <a:solidFill>
            <a:srgbClr val="173E35"/>
          </a:solidFill>
          <a:ln w="0">
            <a:noFill/>
          </a:ln>
        </p:spPr>
        <p:txBody>
          <a:bodyPr/>
          <a:lstStyle/>
          <a:p>
            <a:endParaRPr lang="en-US"/>
          </a:p>
        </p:txBody>
      </p:sp>
      <p:sp>
        <p:nvSpPr>
          <p:cNvPr id="5" name="Editorial rule">
            <a:extLst>
              <a:ext uri="{FF2B5EF4-FFF2-40B4-BE49-F238E27FC236}">
                <a16:creationId xmlns:a16="http://schemas.microsoft.com/office/drawing/2014/main" id="{FC398664-F04C-45EE-ACEE-759E2CF0B758}"/>
              </a:ext>
            </a:extLst>
          </p:cNvPr>
          <p:cNvSpPr>
            <a:spLocks noGrp="1"/>
          </p:cNvSpPr>
          <p:nvPr/>
        </p:nvSpPr>
        <p:spPr>
          <a:xfrm>
            <a:off x="361950" y="1885950"/>
            <a:ext cx="38100" cy="1476375"/>
          </a:xfrm>
          <a:prstGeom prst="rect">
            <a:avLst/>
          </a:prstGeom>
          <a:solidFill>
            <a:srgbClr val="B56647"/>
          </a:solidFill>
          <a:ln w="0">
            <a:noFill/>
          </a:ln>
        </p:spPr>
        <p:txBody>
          <a:bodyPr/>
          <a:lstStyle/>
          <a:p>
            <a:endParaRPr lang="en-US"/>
          </a:p>
        </p:txBody>
      </p:sp>
      <p:sp>
        <p:nvSpPr>
          <p:cNvPr id="6" name="Urbanization Trends">
            <a:extLst>
              <a:ext uri="{FF2B5EF4-FFF2-40B4-BE49-F238E27FC236}">
                <a16:creationId xmlns:a16="http://schemas.microsoft.com/office/drawing/2014/main" id="{9A0A50F0-3718-43E6-AA4C-6AE7B9B1F6EA}"/>
              </a:ext>
            </a:extLst>
          </p:cNvPr>
          <p:cNvSpPr>
            <a:spLocks noGrp="1"/>
          </p:cNvSpPr>
          <p:nvPr/>
        </p:nvSpPr>
        <p:spPr>
          <a:xfrm>
            <a:off x="495300" y="381000"/>
            <a:ext cx="8096250" cy="952500"/>
          </a:xfrm>
          <a:prstGeom prst="rect">
            <a:avLst/>
          </a:prstGeom>
          <a:noFill/>
          <a:ln w="0">
            <a:noFill/>
          </a:ln>
        </p:spPr>
        <p:txBody>
          <a:bodyPr wrap="square" lIns="0" tIns="0" rIns="0" bIns="0" anchor="t">
            <a:noAutofit/>
          </a:bodyPr>
          <a:lstStyle/>
          <a:p>
            <a:pPr>
              <a:defRPr sz="2775" b="0" i="0">
                <a:solidFill>
                  <a:srgbClr val="173E35"/>
                </a:solidFill>
                <a:latin typeface="Georgia"/>
                <a:ea typeface="Georgia"/>
                <a:cs typeface="Georgia"/>
              </a:defRPr>
            </a:pPr>
            <a:r>
              <a:rPr sz="2775" b="0" i="0">
                <a:solidFill>
                  <a:srgbClr val="173E35"/>
                </a:solidFill>
                <a:latin typeface="Georgia"/>
                <a:ea typeface="Georgia"/>
                <a:cs typeface="Georgia"/>
              </a:rPr>
              <a:t>Urbanization Trends</a:t>
            </a:r>
          </a:p>
        </p:txBody>
      </p:sp>
      <p:sp>
        <p:nvSpPr>
          <p:cNvPr id="7" name="Global reality">
            <a:extLst>
              <a:ext uri="{FF2B5EF4-FFF2-40B4-BE49-F238E27FC236}">
                <a16:creationId xmlns:a16="http://schemas.microsoft.com/office/drawing/2014/main" id="{31488044-5C7C-4496-AF53-95BA2B48540B}"/>
              </a:ext>
            </a:extLst>
          </p:cNvPr>
          <p:cNvSpPr>
            <a:spLocks noGrp="1"/>
          </p:cNvSpPr>
          <p:nvPr/>
        </p:nvSpPr>
        <p:spPr>
          <a:xfrm>
            <a:off x="495300" y="1400175"/>
            <a:ext cx="4229100" cy="285750"/>
          </a:xfrm>
          <a:prstGeom prst="rect">
            <a:avLst/>
          </a:prstGeom>
          <a:noFill/>
          <a:ln w="0">
            <a:noFill/>
          </a:ln>
        </p:spPr>
        <p:txBody>
          <a:bodyPr wrap="square" lIns="0" tIns="0" rIns="0" bIns="0" anchor="t">
            <a:noAutofit/>
          </a:bodyPr>
          <a:lstStyle/>
          <a:p>
            <a:pPr>
              <a:defRPr sz="1500" b="0" i="0">
                <a:solidFill>
                  <a:srgbClr val="B56647"/>
                </a:solidFill>
                <a:latin typeface="Arial"/>
                <a:ea typeface="Arial"/>
                <a:cs typeface="Arial"/>
              </a:defRPr>
            </a:pPr>
            <a:r>
              <a:rPr sz="1500" b="0" i="0">
                <a:solidFill>
                  <a:srgbClr val="B56647"/>
                </a:solidFill>
                <a:latin typeface="Arial"/>
                <a:ea typeface="Arial"/>
                <a:cs typeface="Arial"/>
              </a:rPr>
              <a:t>Global reality</a:t>
            </a:r>
          </a:p>
        </p:txBody>
      </p:sp>
      <p:sp>
        <p:nvSpPr>
          <p:cNvPr id="8" name="More than half of humanity now lives in citie">
            <a:extLst>
              <a:ext uri="{FF2B5EF4-FFF2-40B4-BE49-F238E27FC236}">
                <a16:creationId xmlns:a16="http://schemas.microsoft.com/office/drawing/2014/main" id="{75EEA928-A23F-4EE1-9986-ED4A41FA5FA7}"/>
              </a:ext>
            </a:extLst>
          </p:cNvPr>
          <p:cNvSpPr>
            <a:spLocks noGrp="1"/>
          </p:cNvSpPr>
          <p:nvPr/>
        </p:nvSpPr>
        <p:spPr>
          <a:xfrm>
            <a:off x="495300" y="1943100"/>
            <a:ext cx="4333875" cy="1381125"/>
          </a:xfrm>
          <a:prstGeom prst="rect">
            <a:avLst/>
          </a:prstGeom>
          <a:noFill/>
          <a:ln w="0">
            <a:noFill/>
          </a:ln>
        </p:spPr>
        <p:txBody>
          <a:bodyPr wrap="square" lIns="0" tIns="0" rIns="0" bIns="0" anchor="t">
            <a:noAutofit/>
          </a:bodyPr>
          <a:lstStyle/>
          <a:p>
            <a:pPr>
              <a:defRPr sz="2925" b="0" i="0">
                <a:solidFill>
                  <a:srgbClr val="173E35"/>
                </a:solidFill>
                <a:latin typeface="Georgia"/>
                <a:ea typeface="Georgia"/>
                <a:cs typeface="Georgia"/>
              </a:defRPr>
            </a:pPr>
            <a:r>
              <a:rPr sz="2925" b="0" i="0">
                <a:solidFill>
                  <a:srgbClr val="173E35"/>
                </a:solidFill>
                <a:latin typeface="Georgia"/>
                <a:ea typeface="Georgia"/>
                <a:cs typeface="Georgia"/>
              </a:rPr>
              <a:t>More than half of humanity now lives in cities.</a:t>
            </a:r>
          </a:p>
        </p:txBody>
      </p:sp>
      <p:sp>
        <p:nvSpPr>
          <p:cNvPr id="9" name="Future population growth will occur mainly in">
            <a:extLst>
              <a:ext uri="{FF2B5EF4-FFF2-40B4-BE49-F238E27FC236}">
                <a16:creationId xmlns:a16="http://schemas.microsoft.com/office/drawing/2014/main" id="{BF4B33D6-1387-4A07-B354-DD4822E3B5A6}"/>
              </a:ext>
            </a:extLst>
          </p:cNvPr>
          <p:cNvSpPr>
            <a:spLocks noGrp="1"/>
          </p:cNvSpPr>
          <p:nvPr/>
        </p:nvSpPr>
        <p:spPr>
          <a:xfrm>
            <a:off x="495300" y="3571875"/>
            <a:ext cx="4286250" cy="857250"/>
          </a:xfrm>
          <a:prstGeom prst="rect">
            <a:avLst/>
          </a:prstGeom>
          <a:noFill/>
          <a:ln w="0">
            <a:noFill/>
          </a:ln>
        </p:spPr>
        <p:txBody>
          <a:bodyPr wrap="square" lIns="0" tIns="0" rIns="0" bIns="0" anchor="t">
            <a:noAutofit/>
          </a:bodyPr>
          <a:lstStyle/>
          <a:p>
            <a:pPr>
              <a:defRPr sz="1800" b="0" i="0">
                <a:solidFill>
                  <a:srgbClr val="173E35"/>
                </a:solidFill>
                <a:latin typeface="Arial"/>
                <a:ea typeface="Arial"/>
                <a:cs typeface="Arial"/>
              </a:defRPr>
            </a:pPr>
            <a:r>
              <a:rPr sz="1800" b="0" i="0">
                <a:solidFill>
                  <a:srgbClr val="173E35"/>
                </a:solidFill>
                <a:latin typeface="Arial"/>
                <a:ea typeface="Arial"/>
                <a:cs typeface="Arial"/>
              </a:rPr>
              <a:t>Future population growth will occur mainly in urban areas.</a:t>
            </a:r>
          </a:p>
        </p:txBody>
      </p:sp>
      <p:sp>
        <p:nvSpPr>
          <p:cNvPr id="10" name="Resulting challenges">
            <a:extLst>
              <a:ext uri="{FF2B5EF4-FFF2-40B4-BE49-F238E27FC236}">
                <a16:creationId xmlns:a16="http://schemas.microsoft.com/office/drawing/2014/main" id="{391ECE35-C7EC-45A0-AEDE-98CF47148C0A}"/>
              </a:ext>
            </a:extLst>
          </p:cNvPr>
          <p:cNvSpPr>
            <a:spLocks noGrp="1"/>
          </p:cNvSpPr>
          <p:nvPr/>
        </p:nvSpPr>
        <p:spPr>
          <a:xfrm>
            <a:off x="5524500" y="1771650"/>
            <a:ext cx="3076575" cy="609600"/>
          </a:xfrm>
          <a:prstGeom prst="rect">
            <a:avLst/>
          </a:prstGeom>
          <a:noFill/>
          <a:ln w="0">
            <a:noFill/>
          </a:ln>
        </p:spPr>
        <p:txBody>
          <a:bodyPr wrap="square" lIns="0" tIns="0" rIns="0" bIns="0" anchor="t">
            <a:noAutofit/>
          </a:bodyPr>
          <a:lstStyle/>
          <a:p>
            <a:pPr>
              <a:defRPr sz="2250" b="0" i="0">
                <a:solidFill>
                  <a:srgbClr val="173E35"/>
                </a:solidFill>
                <a:latin typeface="Georgia"/>
                <a:ea typeface="Georgia"/>
                <a:cs typeface="Georgia"/>
              </a:defRPr>
            </a:pPr>
            <a:r>
              <a:rPr sz="2250" b="0" i="0">
                <a:solidFill>
                  <a:srgbClr val="173E35"/>
                </a:solidFill>
                <a:latin typeface="Georgia"/>
                <a:ea typeface="Georgia"/>
                <a:cs typeface="Georgia"/>
              </a:rPr>
              <a:t>Resulting challenges</a:t>
            </a:r>
          </a:p>
        </p:txBody>
      </p:sp>
      <p:sp>
        <p:nvSpPr>
          <p:cNvPr id="11" name="Housing demand">
            <a:extLst>
              <a:ext uri="{FF2B5EF4-FFF2-40B4-BE49-F238E27FC236}">
                <a16:creationId xmlns:a16="http://schemas.microsoft.com/office/drawing/2014/main" id="{E01ABB13-2C63-4E9F-9752-6DEE04B02C80}"/>
              </a:ext>
            </a:extLst>
          </p:cNvPr>
          <p:cNvSpPr>
            <a:spLocks noGrp="1"/>
          </p:cNvSpPr>
          <p:nvPr/>
        </p:nvSpPr>
        <p:spPr>
          <a:xfrm>
            <a:off x="5524500" y="2781300"/>
            <a:ext cx="3076575" cy="595313"/>
          </a:xfrm>
          <a:prstGeom prst="rect">
            <a:avLst/>
          </a:prstGeom>
          <a:noFill/>
          <a:ln w="0">
            <a:noFill/>
          </a:ln>
        </p:spPr>
        <p:txBody>
          <a:bodyPr wrap="square" lIns="0" tIns="0" rIns="0" bIns="0" anchor="t">
            <a:noAutofit/>
          </a:bodyPr>
          <a:lstStyle/>
          <a:p>
            <a:pPr>
              <a:defRPr sz="1875" b="0" i="0">
                <a:solidFill>
                  <a:srgbClr val="173E35"/>
                </a:solidFill>
                <a:latin typeface="Arial"/>
                <a:ea typeface="Arial"/>
                <a:cs typeface="Arial"/>
              </a:defRPr>
            </a:pPr>
            <a:r>
              <a:rPr sz="1875" b="0" i="0">
                <a:solidFill>
                  <a:srgbClr val="173E35"/>
                </a:solidFill>
                <a:latin typeface="Arial"/>
                <a:ea typeface="Arial"/>
                <a:cs typeface="Arial"/>
              </a:rPr>
              <a:t>Housing demand</a:t>
            </a:r>
          </a:p>
        </p:txBody>
      </p:sp>
      <p:sp>
        <p:nvSpPr>
          <p:cNvPr id="12" name="Transportation pressure">
            <a:extLst>
              <a:ext uri="{FF2B5EF4-FFF2-40B4-BE49-F238E27FC236}">
                <a16:creationId xmlns:a16="http://schemas.microsoft.com/office/drawing/2014/main" id="{9F71CF5A-08BB-4DA0-98C1-310BA74C754B}"/>
              </a:ext>
            </a:extLst>
          </p:cNvPr>
          <p:cNvSpPr>
            <a:spLocks noGrp="1"/>
          </p:cNvSpPr>
          <p:nvPr/>
        </p:nvSpPr>
        <p:spPr>
          <a:xfrm>
            <a:off x="5524500" y="3295650"/>
            <a:ext cx="3076575" cy="595313"/>
          </a:xfrm>
          <a:prstGeom prst="rect">
            <a:avLst/>
          </a:prstGeom>
          <a:noFill/>
          <a:ln w="0">
            <a:noFill/>
          </a:ln>
        </p:spPr>
        <p:txBody>
          <a:bodyPr wrap="square" lIns="0" tIns="0" rIns="0" bIns="0" anchor="t">
            <a:noAutofit/>
          </a:bodyPr>
          <a:lstStyle/>
          <a:p>
            <a:pPr>
              <a:defRPr sz="1875" b="0" i="0">
                <a:solidFill>
                  <a:srgbClr val="173E35"/>
                </a:solidFill>
                <a:latin typeface="Arial"/>
                <a:ea typeface="Arial"/>
                <a:cs typeface="Arial"/>
              </a:defRPr>
            </a:pPr>
            <a:r>
              <a:rPr sz="1875" b="0" i="0">
                <a:solidFill>
                  <a:srgbClr val="173E35"/>
                </a:solidFill>
                <a:latin typeface="Arial"/>
                <a:ea typeface="Arial"/>
                <a:cs typeface="Arial"/>
              </a:rPr>
              <a:t>Transportation pressure</a:t>
            </a:r>
          </a:p>
        </p:txBody>
      </p:sp>
      <p:sp>
        <p:nvSpPr>
          <p:cNvPr id="13" name="Reduction of green space">
            <a:extLst>
              <a:ext uri="{FF2B5EF4-FFF2-40B4-BE49-F238E27FC236}">
                <a16:creationId xmlns:a16="http://schemas.microsoft.com/office/drawing/2014/main" id="{C4692097-BD4A-439E-8494-1C057635E335}"/>
              </a:ext>
            </a:extLst>
          </p:cNvPr>
          <p:cNvSpPr>
            <a:spLocks noGrp="1"/>
          </p:cNvSpPr>
          <p:nvPr/>
        </p:nvSpPr>
        <p:spPr>
          <a:xfrm>
            <a:off x="5524500" y="3810000"/>
            <a:ext cx="3076575" cy="595313"/>
          </a:xfrm>
          <a:prstGeom prst="rect">
            <a:avLst/>
          </a:prstGeom>
          <a:noFill/>
          <a:ln w="0">
            <a:noFill/>
          </a:ln>
        </p:spPr>
        <p:txBody>
          <a:bodyPr wrap="square" lIns="0" tIns="0" rIns="0" bIns="0" anchor="t">
            <a:noAutofit/>
          </a:bodyPr>
          <a:lstStyle/>
          <a:p>
            <a:pPr>
              <a:defRPr sz="1875" b="0" i="0">
                <a:solidFill>
                  <a:srgbClr val="173E35"/>
                </a:solidFill>
                <a:latin typeface="Arial"/>
                <a:ea typeface="Arial"/>
                <a:cs typeface="Arial"/>
              </a:defRPr>
            </a:pPr>
            <a:r>
              <a:rPr sz="1875" b="0" i="0">
                <a:solidFill>
                  <a:srgbClr val="173E35"/>
                </a:solidFill>
                <a:latin typeface="Arial"/>
                <a:ea typeface="Arial"/>
                <a:cs typeface="Arial"/>
              </a:rPr>
              <a:t>Reduction of green space</a:t>
            </a:r>
          </a:p>
        </p:txBody>
      </p:sp>
      <p:pic>
        <p:nvPicPr>
          <p:cNvPr id="30" name="Picture 29"/>
          <p:cNvPicPr>
            <a:picLocks noChangeAspect="1"/>
          </p:cNvPicPr>
          <p:nvPr/>
        </p:nvPicPr>
        <p:blipFill>
          <a:blip r:embed="rId3"/>
          <a:stretch/>
        </p:blipFill>
        <p:spPr>
          <a:xfrm>
            <a:off x="499570" y="4829175"/>
            <a:ext cx="315310" cy="152400"/>
          </a:xfrm>
          <a:prstGeom prst="rect">
            <a:avLst/>
          </a:prstGeom>
        </p:spPr>
      </p:pic>
      <p:sp>
        <p:nvSpPr>
          <p:cNvPr id="15" name="www.newton.university">
            <a:extLst>
              <a:ext uri="{FF2B5EF4-FFF2-40B4-BE49-F238E27FC236}">
                <a16:creationId xmlns:a16="http://schemas.microsoft.com/office/drawing/2014/main" id="{9C0274CA-8338-486D-ABB7-169A23A17C19}"/>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16" name="32">
            <a:extLst>
              <a:ext uri="{FF2B5EF4-FFF2-40B4-BE49-F238E27FC236}">
                <a16:creationId xmlns:a16="http://schemas.microsoft.com/office/drawing/2014/main" id="{98431265-D0D5-492D-8E58-CFEA1B6B29B9}"/>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58665B"/>
                </a:solidFill>
                <a:latin typeface="Arial"/>
                <a:ea typeface="Arial"/>
                <a:cs typeface="Arial"/>
              </a:defRPr>
            </a:pPr>
            <a:r>
              <a:rPr sz="1125" b="0" i="0">
                <a:solidFill>
                  <a:srgbClr val="58665B"/>
                </a:solidFill>
                <a:latin typeface="Arial"/>
                <a:ea typeface="Arial"/>
                <a:cs typeface="Arial"/>
              </a:rPr>
              <a:t>32</a:t>
            </a:r>
          </a:p>
        </p:txBody>
      </p:sp>
    </p:spTree>
    <p:extLst>
      <p:ext uri="{BB962C8B-B14F-4D97-AF65-F5344CB8AC3E}">
        <p14:creationId xmlns:p14="http://schemas.microsoft.com/office/powerpoint/2010/main" val="19412251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11" name="Urban Heat Islands">
            <a:extLst>
              <a:ext uri="{FF2B5EF4-FFF2-40B4-BE49-F238E27FC236}">
                <a16:creationId xmlns:a16="http://schemas.microsoft.com/office/drawing/2014/main" id="{FEB0CC74-0A51-4FBA-874A-657F695F504A}"/>
              </a:ext>
            </a:extLst>
          </p:cNvPr>
          <p:cNvSpPr>
            <a:spLocks noGrp="1"/>
          </p:cNvSpPr>
          <p:nvPr/>
        </p:nvSpPr>
        <p:spPr>
          <a:xfrm>
            <a:off x="495300" y="381000"/>
            <a:ext cx="8096250" cy="952500"/>
          </a:xfrm>
          <a:prstGeom prst="rect">
            <a:avLst/>
          </a:prstGeom>
          <a:noFill/>
          <a:ln w="0">
            <a:noFill/>
          </a:ln>
        </p:spPr>
        <p:txBody>
          <a:bodyPr wrap="square" lIns="0" tIns="0" rIns="0" bIns="0" anchor="t">
            <a:noAutofit/>
          </a:bodyPr>
          <a:lstStyle/>
          <a:p>
            <a:pPr>
              <a:defRPr sz="2775" b="0" i="0">
                <a:solidFill>
                  <a:srgbClr val="173E35"/>
                </a:solidFill>
                <a:latin typeface="Georgia"/>
                <a:ea typeface="Georgia"/>
                <a:cs typeface="Georgia"/>
              </a:defRPr>
            </a:pPr>
            <a:r>
              <a:rPr sz="2775" b="0" i="0">
                <a:solidFill>
                  <a:srgbClr val="173E35"/>
                </a:solidFill>
                <a:latin typeface="Georgia"/>
                <a:ea typeface="Georgia"/>
                <a:cs typeface="Georgia"/>
              </a:rPr>
              <a:t>Urban Heat Islands</a:t>
            </a:r>
          </a:p>
        </p:txBody>
      </p:sp>
      <p:pic>
        <p:nvPicPr>
          <p:cNvPr id="12" name="Picture 11"/>
          <p:cNvPicPr>
            <a:picLocks noChangeAspect="1"/>
          </p:cNvPicPr>
          <p:nvPr/>
        </p:nvPicPr>
        <p:blipFill>
          <a:blip r:embed="rId3"/>
          <a:stretch/>
        </p:blipFill>
        <p:spPr>
          <a:xfrm>
            <a:off x="4667250" y="1529566"/>
            <a:ext cx="3981450" cy="1455718"/>
          </a:xfrm>
          <a:prstGeom prst="rect">
            <a:avLst/>
          </a:prstGeom>
        </p:spPr>
      </p:pic>
      <p:sp>
        <p:nvSpPr>
          <p:cNvPr id="3" name="Dense, sealed surfaces trap heat and pollutio">
            <a:extLst>
              <a:ext uri="{FF2B5EF4-FFF2-40B4-BE49-F238E27FC236}">
                <a16:creationId xmlns:a16="http://schemas.microsoft.com/office/drawing/2014/main" id="{5EBB18A3-613D-4E1A-A943-51946F9EA507}"/>
              </a:ext>
            </a:extLst>
          </p:cNvPr>
          <p:cNvSpPr>
            <a:spLocks noGrp="1"/>
          </p:cNvSpPr>
          <p:nvPr/>
        </p:nvSpPr>
        <p:spPr>
          <a:xfrm>
            <a:off x="4667250" y="3257550"/>
            <a:ext cx="3943350" cy="352425"/>
          </a:xfrm>
          <a:prstGeom prst="rect">
            <a:avLst/>
          </a:prstGeom>
          <a:noFill/>
          <a:ln w="0">
            <a:noFill/>
          </a:ln>
        </p:spPr>
        <p:txBody>
          <a:bodyPr wrap="square" lIns="0" tIns="0" rIns="0" bIns="0" anchor="t">
            <a:noAutofit/>
          </a:bodyPr>
          <a:lstStyle/>
          <a:p>
            <a:pPr>
              <a:defRPr sz="1200" b="0" i="0">
                <a:solidFill>
                  <a:srgbClr val="58665B"/>
                </a:solidFill>
                <a:latin typeface="Arial"/>
                <a:ea typeface="Arial"/>
                <a:cs typeface="Arial"/>
              </a:defRPr>
            </a:pPr>
            <a:r>
              <a:rPr sz="1200" b="0" i="0">
                <a:solidFill>
                  <a:srgbClr val="58665B"/>
                </a:solidFill>
                <a:latin typeface="Arial"/>
                <a:ea typeface="Arial"/>
                <a:cs typeface="Arial"/>
              </a:rPr>
              <a:t>Dense, sealed surfaces trap heat and pollution</a:t>
            </a:r>
          </a:p>
        </p:txBody>
      </p:sp>
      <p:sp>
        <p:nvSpPr>
          <p:cNvPr id="4" name="Definition">
            <a:extLst>
              <a:ext uri="{FF2B5EF4-FFF2-40B4-BE49-F238E27FC236}">
                <a16:creationId xmlns:a16="http://schemas.microsoft.com/office/drawing/2014/main" id="{3031F824-B77F-4753-A52B-07C7F21A131E}"/>
              </a:ext>
            </a:extLst>
          </p:cNvPr>
          <p:cNvSpPr>
            <a:spLocks noGrp="1"/>
          </p:cNvSpPr>
          <p:nvPr/>
        </p:nvSpPr>
        <p:spPr>
          <a:xfrm>
            <a:off x="495300" y="1428750"/>
            <a:ext cx="3752850" cy="285750"/>
          </a:xfrm>
          <a:prstGeom prst="rect">
            <a:avLst/>
          </a:prstGeom>
          <a:noFill/>
          <a:ln w="0">
            <a:noFill/>
          </a:ln>
        </p:spPr>
        <p:txBody>
          <a:bodyPr wrap="square" lIns="0" tIns="0" rIns="0" bIns="0" anchor="t">
            <a:noAutofit/>
          </a:bodyPr>
          <a:lstStyle/>
          <a:p>
            <a:pPr>
              <a:defRPr sz="1500" b="0" i="0">
                <a:solidFill>
                  <a:srgbClr val="B56647"/>
                </a:solidFill>
                <a:latin typeface="Arial"/>
                <a:ea typeface="Arial"/>
                <a:cs typeface="Arial"/>
              </a:defRPr>
            </a:pPr>
            <a:r>
              <a:rPr sz="1500" b="0" i="0">
                <a:solidFill>
                  <a:srgbClr val="B56647"/>
                </a:solidFill>
                <a:latin typeface="Arial"/>
                <a:ea typeface="Arial"/>
                <a:cs typeface="Arial"/>
              </a:rPr>
              <a:t>Definition</a:t>
            </a:r>
          </a:p>
        </p:txBody>
      </p:sp>
      <p:sp>
        <p:nvSpPr>
          <p:cNvPr id="5" name="Cities become significantly hotter than their">
            <a:extLst>
              <a:ext uri="{FF2B5EF4-FFF2-40B4-BE49-F238E27FC236}">
                <a16:creationId xmlns:a16="http://schemas.microsoft.com/office/drawing/2014/main" id="{02485B13-2B1A-4BC0-9627-4BFFF7465DED}"/>
              </a:ext>
            </a:extLst>
          </p:cNvPr>
          <p:cNvSpPr>
            <a:spLocks noGrp="1"/>
          </p:cNvSpPr>
          <p:nvPr/>
        </p:nvSpPr>
        <p:spPr>
          <a:xfrm>
            <a:off x="495300" y="1857375"/>
            <a:ext cx="3714750" cy="1200150"/>
          </a:xfrm>
          <a:prstGeom prst="rect">
            <a:avLst/>
          </a:prstGeom>
          <a:noFill/>
          <a:ln w="0">
            <a:noFill/>
          </a:ln>
        </p:spPr>
        <p:txBody>
          <a:bodyPr wrap="square" lIns="0" tIns="0" rIns="0" bIns="0" anchor="t">
            <a:noAutofit/>
          </a:bodyPr>
          <a:lstStyle/>
          <a:p>
            <a:pPr>
              <a:defRPr sz="2550" b="0" i="0">
                <a:solidFill>
                  <a:srgbClr val="173E35"/>
                </a:solidFill>
                <a:latin typeface="Georgia"/>
                <a:ea typeface="Georgia"/>
                <a:cs typeface="Georgia"/>
              </a:defRPr>
            </a:pPr>
            <a:r>
              <a:rPr sz="2550" b="0" i="0">
                <a:solidFill>
                  <a:srgbClr val="173E35"/>
                </a:solidFill>
                <a:latin typeface="Georgia"/>
                <a:ea typeface="Georgia"/>
                <a:cs typeface="Georgia"/>
              </a:rPr>
              <a:t>Cities become significantly hotter than their surroundings.</a:t>
            </a:r>
          </a:p>
        </p:txBody>
      </p:sp>
      <p:sp>
        <p:nvSpPr>
          <p:cNvPr id="6" name="Main causes">
            <a:extLst>
              <a:ext uri="{FF2B5EF4-FFF2-40B4-BE49-F238E27FC236}">
                <a16:creationId xmlns:a16="http://schemas.microsoft.com/office/drawing/2014/main" id="{2B783639-C7B6-471C-B71E-E25B3F84D28E}"/>
              </a:ext>
            </a:extLst>
          </p:cNvPr>
          <p:cNvSpPr>
            <a:spLocks noGrp="1"/>
          </p:cNvSpPr>
          <p:nvPr/>
        </p:nvSpPr>
        <p:spPr>
          <a:xfrm>
            <a:off x="495300" y="3400425"/>
            <a:ext cx="3733800" cy="285750"/>
          </a:xfrm>
          <a:prstGeom prst="rect">
            <a:avLst/>
          </a:prstGeom>
          <a:noFill/>
          <a:ln w="0">
            <a:noFill/>
          </a:ln>
        </p:spPr>
        <p:txBody>
          <a:bodyPr wrap="square" lIns="0" tIns="0" rIns="0" bIns="0" anchor="t">
            <a:noAutofit/>
          </a:bodyPr>
          <a:lstStyle/>
          <a:p>
            <a:pPr>
              <a:defRPr sz="1575" b="0" i="0">
                <a:solidFill>
                  <a:srgbClr val="B56647"/>
                </a:solidFill>
                <a:latin typeface="Arial"/>
                <a:ea typeface="Arial"/>
                <a:cs typeface="Arial"/>
              </a:defRPr>
            </a:pPr>
            <a:r>
              <a:rPr sz="1575" b="0" i="0">
                <a:solidFill>
                  <a:srgbClr val="B56647"/>
                </a:solidFill>
                <a:latin typeface="Arial"/>
                <a:ea typeface="Arial"/>
                <a:cs typeface="Arial"/>
              </a:rPr>
              <a:t>Main causes</a:t>
            </a:r>
          </a:p>
        </p:txBody>
      </p:sp>
      <p:sp>
        <p:nvSpPr>
          <p:cNvPr id="7" name="Asphalt and concrete surfaces absorbing heat&#10;">
            <a:extLst>
              <a:ext uri="{FF2B5EF4-FFF2-40B4-BE49-F238E27FC236}">
                <a16:creationId xmlns:a16="http://schemas.microsoft.com/office/drawing/2014/main" id="{3CBAF294-3D57-423E-BBC6-B83CA436DB6C}"/>
              </a:ext>
            </a:extLst>
          </p:cNvPr>
          <p:cNvSpPr>
            <a:spLocks noGrp="1"/>
          </p:cNvSpPr>
          <p:nvPr/>
        </p:nvSpPr>
        <p:spPr>
          <a:xfrm>
            <a:off x="495300" y="3800475"/>
            <a:ext cx="8058150" cy="933450"/>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Asphalt and concrete surfaces absorbing heat</a:t>
            </a:r>
          </a:p>
          <a:p>
            <a:pPr>
              <a:defRPr sz="1650" b="0" i="0">
                <a:solidFill>
                  <a:srgbClr val="173E35"/>
                </a:solidFill>
                <a:latin typeface="Arial"/>
                <a:ea typeface="Arial"/>
                <a:cs typeface="Arial"/>
              </a:defRPr>
            </a:pPr>
            <a:r>
              <a:rPr sz="1650" b="0" i="0">
                <a:solidFill>
                  <a:srgbClr val="173E35"/>
                </a:solidFill>
                <a:latin typeface="Arial"/>
                <a:ea typeface="Arial"/>
                <a:cs typeface="Arial"/>
              </a:rPr>
              <a:t>Lack of vegetation and shade</a:t>
            </a:r>
          </a:p>
          <a:p>
            <a:pPr>
              <a:defRPr sz="1650" b="0" i="0">
                <a:solidFill>
                  <a:srgbClr val="173E35"/>
                </a:solidFill>
                <a:latin typeface="Arial"/>
                <a:ea typeface="Arial"/>
                <a:cs typeface="Arial"/>
              </a:defRPr>
            </a:pPr>
            <a:r>
              <a:rPr sz="1650" b="0" i="0">
                <a:solidFill>
                  <a:srgbClr val="173E35"/>
                </a:solidFill>
                <a:latin typeface="Arial"/>
                <a:ea typeface="Arial"/>
                <a:cs typeface="Arial"/>
              </a:rPr>
              <a:t>Waste heat from buildings and traffic</a:t>
            </a:r>
          </a:p>
        </p:txBody>
      </p:sp>
      <p:pic>
        <p:nvPicPr>
          <p:cNvPr id="18" name="Picture 17"/>
          <p:cNvPicPr>
            <a:picLocks noChangeAspect="1"/>
          </p:cNvPicPr>
          <p:nvPr/>
        </p:nvPicPr>
        <p:blipFill>
          <a:blip r:embed="rId4"/>
          <a:stretch/>
        </p:blipFill>
        <p:spPr>
          <a:xfrm>
            <a:off x="499570" y="4829175"/>
            <a:ext cx="315310" cy="152400"/>
          </a:xfrm>
          <a:prstGeom prst="rect">
            <a:avLst/>
          </a:prstGeom>
        </p:spPr>
      </p:pic>
      <p:sp>
        <p:nvSpPr>
          <p:cNvPr id="9" name="www.newton.university">
            <a:extLst>
              <a:ext uri="{FF2B5EF4-FFF2-40B4-BE49-F238E27FC236}">
                <a16:creationId xmlns:a16="http://schemas.microsoft.com/office/drawing/2014/main" id="{5244BE18-414F-44DE-9479-F2F01625D50E}"/>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10" name="33">
            <a:extLst>
              <a:ext uri="{FF2B5EF4-FFF2-40B4-BE49-F238E27FC236}">
                <a16:creationId xmlns:a16="http://schemas.microsoft.com/office/drawing/2014/main" id="{55CAA5F8-4EDC-4818-9884-F745E1556438}"/>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58665B"/>
                </a:solidFill>
                <a:latin typeface="Arial"/>
                <a:ea typeface="Arial"/>
                <a:cs typeface="Arial"/>
              </a:defRPr>
            </a:pPr>
            <a:r>
              <a:rPr sz="1125" b="0" i="0">
                <a:solidFill>
                  <a:srgbClr val="58665B"/>
                </a:solidFill>
                <a:latin typeface="Arial"/>
                <a:ea typeface="Arial"/>
                <a:cs typeface="Arial"/>
              </a:rPr>
              <a:t>33</a:t>
            </a:r>
          </a:p>
        </p:txBody>
      </p:sp>
    </p:spTree>
    <p:extLst>
      <p:ext uri="{BB962C8B-B14F-4D97-AF65-F5344CB8AC3E}">
        <p14:creationId xmlns:p14="http://schemas.microsoft.com/office/powerpoint/2010/main" val="21088021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18" name="Editorial rule">
            <a:extLst>
              <a:ext uri="{FF2B5EF4-FFF2-40B4-BE49-F238E27FC236}">
                <a16:creationId xmlns:a16="http://schemas.microsoft.com/office/drawing/2014/main" id="{8A048EC0-18B0-4D07-8088-671204DBF074}"/>
              </a:ext>
            </a:extLst>
          </p:cNvPr>
          <p:cNvSpPr>
            <a:spLocks noGrp="1"/>
          </p:cNvSpPr>
          <p:nvPr/>
        </p:nvSpPr>
        <p:spPr>
          <a:xfrm>
            <a:off x="495300" y="1066800"/>
            <a:ext cx="8153400" cy="7620"/>
          </a:xfrm>
          <a:prstGeom prst="rect">
            <a:avLst/>
          </a:prstGeom>
          <a:solidFill>
            <a:srgbClr val="B7C3B1"/>
          </a:solidFill>
          <a:ln w="0">
            <a:noFill/>
          </a:ln>
        </p:spPr>
        <p:txBody>
          <a:bodyPr/>
          <a:lstStyle/>
          <a:p>
            <a:endParaRPr lang="en-US"/>
          </a:p>
        </p:txBody>
      </p:sp>
      <p:sp>
        <p:nvSpPr>
          <p:cNvPr id="2" name="Editorial rule">
            <a:extLst>
              <a:ext uri="{FF2B5EF4-FFF2-40B4-BE49-F238E27FC236}">
                <a16:creationId xmlns:a16="http://schemas.microsoft.com/office/drawing/2014/main" id="{321C3389-E973-4979-B3BE-99F57E1820D5}"/>
              </a:ext>
            </a:extLst>
          </p:cNvPr>
          <p:cNvSpPr>
            <a:spLocks noGrp="1"/>
          </p:cNvSpPr>
          <p:nvPr/>
        </p:nvSpPr>
        <p:spPr>
          <a:xfrm>
            <a:off x="495300" y="1052513"/>
            <a:ext cx="552450" cy="28575"/>
          </a:xfrm>
          <a:prstGeom prst="rect">
            <a:avLst/>
          </a:prstGeom>
          <a:solidFill>
            <a:srgbClr val="B56647"/>
          </a:solidFill>
          <a:ln w="0">
            <a:noFill/>
          </a:ln>
        </p:spPr>
        <p:txBody>
          <a:bodyPr/>
          <a:lstStyle/>
          <a:p>
            <a:endParaRPr lang="en-US"/>
          </a:p>
        </p:txBody>
      </p:sp>
      <p:sp>
        <p:nvSpPr>
          <p:cNvPr id="3" name="Editorial frame">
            <a:extLst>
              <a:ext uri="{FF2B5EF4-FFF2-40B4-BE49-F238E27FC236}">
                <a16:creationId xmlns:a16="http://schemas.microsoft.com/office/drawing/2014/main" id="{D8CB2578-10A2-4A23-A2E7-6EB12A9704EF}"/>
              </a:ext>
            </a:extLst>
          </p:cNvPr>
          <p:cNvSpPr>
            <a:spLocks noGrp="1"/>
          </p:cNvSpPr>
          <p:nvPr/>
        </p:nvSpPr>
        <p:spPr>
          <a:xfrm>
            <a:off x="361950" y="1971675"/>
            <a:ext cx="4048125" cy="2667000"/>
          </a:xfrm>
          <a:prstGeom prst="rect">
            <a:avLst/>
          </a:prstGeom>
          <a:solidFill>
            <a:srgbClr val="E0E9D6"/>
          </a:solidFill>
          <a:ln w="8573">
            <a:solidFill>
              <a:srgbClr val="A9BB98"/>
            </a:solidFill>
          </a:ln>
        </p:spPr>
        <p:txBody>
          <a:bodyPr/>
          <a:lstStyle/>
          <a:p>
            <a:endParaRPr lang="en-US"/>
          </a:p>
        </p:txBody>
      </p:sp>
      <p:sp>
        <p:nvSpPr>
          <p:cNvPr id="4" name="Editorial frame">
            <a:extLst>
              <a:ext uri="{FF2B5EF4-FFF2-40B4-BE49-F238E27FC236}">
                <a16:creationId xmlns:a16="http://schemas.microsoft.com/office/drawing/2014/main" id="{046A230B-0431-48B8-BC36-20D4523C3FF0}"/>
              </a:ext>
            </a:extLst>
          </p:cNvPr>
          <p:cNvSpPr>
            <a:spLocks noGrp="1"/>
          </p:cNvSpPr>
          <p:nvPr/>
        </p:nvSpPr>
        <p:spPr>
          <a:xfrm>
            <a:off x="4810125" y="1971675"/>
            <a:ext cx="3971925" cy="2667000"/>
          </a:xfrm>
          <a:prstGeom prst="rect">
            <a:avLst/>
          </a:prstGeom>
          <a:solidFill>
            <a:srgbClr val="EFE2D6"/>
          </a:solidFill>
          <a:ln w="8573">
            <a:solidFill>
              <a:srgbClr val="C6AC94"/>
            </a:solidFill>
          </a:ln>
        </p:spPr>
        <p:txBody>
          <a:bodyPr/>
          <a:lstStyle/>
          <a:p>
            <a:endParaRPr lang="en-US"/>
          </a:p>
        </p:txBody>
      </p:sp>
      <p:sp>
        <p:nvSpPr>
          <p:cNvPr id="5" name="Prague Example: Green vs Dense Urban Areas">
            <a:extLst>
              <a:ext uri="{FF2B5EF4-FFF2-40B4-BE49-F238E27FC236}">
                <a16:creationId xmlns:a16="http://schemas.microsoft.com/office/drawing/2014/main" id="{996EA40B-11AA-4705-8158-D747C9AA0E47}"/>
              </a:ext>
            </a:extLst>
          </p:cNvPr>
          <p:cNvSpPr>
            <a:spLocks noGrp="1"/>
          </p:cNvSpPr>
          <p:nvPr/>
        </p:nvSpPr>
        <p:spPr>
          <a:xfrm>
            <a:off x="495300" y="381000"/>
            <a:ext cx="8096250" cy="952500"/>
          </a:xfrm>
          <a:prstGeom prst="rect">
            <a:avLst/>
          </a:prstGeom>
          <a:noFill/>
          <a:ln w="0">
            <a:noFill/>
          </a:ln>
        </p:spPr>
        <p:txBody>
          <a:bodyPr wrap="square" lIns="0" tIns="0" rIns="0" bIns="0" anchor="t">
            <a:noAutofit/>
          </a:bodyPr>
          <a:lstStyle/>
          <a:p>
            <a:pPr>
              <a:defRPr sz="2475" b="0" i="0">
                <a:solidFill>
                  <a:srgbClr val="173E35"/>
                </a:solidFill>
                <a:latin typeface="Georgia"/>
                <a:ea typeface="Georgia"/>
                <a:cs typeface="Georgia"/>
              </a:defRPr>
            </a:pPr>
            <a:r>
              <a:rPr sz="2475" b="0" i="0">
                <a:solidFill>
                  <a:srgbClr val="173E35"/>
                </a:solidFill>
                <a:latin typeface="Georgia"/>
                <a:ea typeface="Georgia"/>
                <a:cs typeface="Georgia"/>
              </a:rPr>
              <a:t>Prague Example: Green vs Dense Urban Areas</a:t>
            </a:r>
          </a:p>
        </p:txBody>
      </p:sp>
      <p:sp>
        <p:nvSpPr>
          <p:cNvPr id="6" name="Discussion: how does vegetation affect temper">
            <a:extLst>
              <a:ext uri="{FF2B5EF4-FFF2-40B4-BE49-F238E27FC236}">
                <a16:creationId xmlns:a16="http://schemas.microsoft.com/office/drawing/2014/main" id="{5600A672-340B-4120-9304-A1326B2726F7}"/>
              </a:ext>
            </a:extLst>
          </p:cNvPr>
          <p:cNvSpPr>
            <a:spLocks noGrp="1"/>
          </p:cNvSpPr>
          <p:nvPr/>
        </p:nvSpPr>
        <p:spPr>
          <a:xfrm>
            <a:off x="495300" y="1266825"/>
            <a:ext cx="8048625" cy="523875"/>
          </a:xfrm>
          <a:prstGeom prst="rect">
            <a:avLst/>
          </a:prstGeom>
          <a:noFill/>
          <a:ln w="0">
            <a:noFill/>
          </a:ln>
        </p:spPr>
        <p:txBody>
          <a:bodyPr wrap="square" lIns="0" tIns="0" rIns="0" bIns="0" anchor="t">
            <a:noAutofit/>
          </a:bodyPr>
          <a:lstStyle/>
          <a:p>
            <a:pPr>
              <a:defRPr sz="1725" b="0" i="0">
                <a:solidFill>
                  <a:srgbClr val="58665B"/>
                </a:solidFill>
                <a:latin typeface="Arial"/>
                <a:ea typeface="Arial"/>
                <a:cs typeface="Arial"/>
              </a:defRPr>
            </a:pPr>
            <a:r>
              <a:rPr sz="1725" b="0" i="0">
                <a:solidFill>
                  <a:srgbClr val="58665B"/>
                </a:solidFill>
                <a:latin typeface="Arial"/>
                <a:ea typeface="Arial"/>
                <a:cs typeface="Arial"/>
              </a:rPr>
              <a:t>Discussion: how does vegetation affect temperature in the city?</a:t>
            </a:r>
          </a:p>
        </p:txBody>
      </p:sp>
      <p:sp>
        <p:nvSpPr>
          <p:cNvPr id="7" name="Historic green area">
            <a:extLst>
              <a:ext uri="{FF2B5EF4-FFF2-40B4-BE49-F238E27FC236}">
                <a16:creationId xmlns:a16="http://schemas.microsoft.com/office/drawing/2014/main" id="{92F14861-4CE5-4B4C-BF70-FE16886F4B31}"/>
              </a:ext>
            </a:extLst>
          </p:cNvPr>
          <p:cNvSpPr>
            <a:spLocks noGrp="1"/>
          </p:cNvSpPr>
          <p:nvPr/>
        </p:nvSpPr>
        <p:spPr>
          <a:xfrm>
            <a:off x="495300" y="2124075"/>
            <a:ext cx="3676650" cy="609600"/>
          </a:xfrm>
          <a:prstGeom prst="rect">
            <a:avLst/>
          </a:prstGeom>
          <a:noFill/>
          <a:ln w="0">
            <a:noFill/>
          </a:ln>
        </p:spPr>
        <p:txBody>
          <a:bodyPr wrap="square" lIns="0" tIns="0" rIns="0" bIns="0" anchor="t">
            <a:noAutofit/>
          </a:bodyPr>
          <a:lstStyle/>
          <a:p>
            <a:pPr>
              <a:defRPr sz="2325" b="0" i="0">
                <a:solidFill>
                  <a:srgbClr val="173E35"/>
                </a:solidFill>
                <a:latin typeface="Georgia"/>
                <a:ea typeface="Georgia"/>
                <a:cs typeface="Georgia"/>
              </a:defRPr>
            </a:pPr>
            <a:r>
              <a:rPr sz="2325" b="0" i="0">
                <a:solidFill>
                  <a:srgbClr val="173E35"/>
                </a:solidFill>
                <a:latin typeface="Georgia"/>
                <a:ea typeface="Georgia"/>
                <a:cs typeface="Georgia"/>
              </a:rPr>
              <a:t>Historic green area</a:t>
            </a:r>
          </a:p>
        </p:txBody>
      </p:sp>
      <p:sp>
        <p:nvSpPr>
          <p:cNvPr id="8" name="Stromovka Park">
            <a:extLst>
              <a:ext uri="{FF2B5EF4-FFF2-40B4-BE49-F238E27FC236}">
                <a16:creationId xmlns:a16="http://schemas.microsoft.com/office/drawing/2014/main" id="{66C703DE-2E3B-4258-9C42-3BDE44061D12}"/>
              </a:ext>
            </a:extLst>
          </p:cNvPr>
          <p:cNvSpPr>
            <a:spLocks noGrp="1"/>
          </p:cNvSpPr>
          <p:nvPr/>
        </p:nvSpPr>
        <p:spPr>
          <a:xfrm>
            <a:off x="495300" y="2876550"/>
            <a:ext cx="3676650" cy="595313"/>
          </a:xfrm>
          <a:prstGeom prst="rect">
            <a:avLst/>
          </a:prstGeom>
          <a:noFill/>
          <a:ln w="0">
            <a:noFill/>
          </a:ln>
        </p:spPr>
        <p:txBody>
          <a:bodyPr wrap="square" lIns="0" tIns="0" rIns="0" bIns="0" anchor="t">
            <a:noAutofit/>
          </a:bodyPr>
          <a:lstStyle/>
          <a:p>
            <a:pPr>
              <a:defRPr sz="1875" b="0" i="0">
                <a:solidFill>
                  <a:srgbClr val="173E35"/>
                </a:solidFill>
                <a:latin typeface="Arial"/>
                <a:ea typeface="Arial"/>
                <a:cs typeface="Arial"/>
              </a:defRPr>
            </a:pPr>
            <a:r>
              <a:rPr sz="1875" b="0" i="0">
                <a:solidFill>
                  <a:srgbClr val="173E35"/>
                </a:solidFill>
                <a:latin typeface="Arial"/>
                <a:ea typeface="Arial"/>
                <a:cs typeface="Arial"/>
              </a:rPr>
              <a:t>Stromovka Park</a:t>
            </a:r>
          </a:p>
        </p:txBody>
      </p:sp>
      <p:sp>
        <p:nvSpPr>
          <p:cNvPr id="9" name="Tree canopy and water features">
            <a:extLst>
              <a:ext uri="{FF2B5EF4-FFF2-40B4-BE49-F238E27FC236}">
                <a16:creationId xmlns:a16="http://schemas.microsoft.com/office/drawing/2014/main" id="{9B700B90-90A6-43F8-8897-105087A7D3BF}"/>
              </a:ext>
            </a:extLst>
          </p:cNvPr>
          <p:cNvSpPr>
            <a:spLocks noGrp="1"/>
          </p:cNvSpPr>
          <p:nvPr/>
        </p:nvSpPr>
        <p:spPr>
          <a:xfrm>
            <a:off x="495300" y="3400425"/>
            <a:ext cx="3676650" cy="595313"/>
          </a:xfrm>
          <a:prstGeom prst="rect">
            <a:avLst/>
          </a:prstGeom>
          <a:noFill/>
          <a:ln w="0">
            <a:noFill/>
          </a:ln>
        </p:spPr>
        <p:txBody>
          <a:bodyPr wrap="square" lIns="0" tIns="0" rIns="0" bIns="0" anchor="t">
            <a:noAutofit/>
          </a:bodyPr>
          <a:lstStyle/>
          <a:p>
            <a:pPr>
              <a:defRPr sz="1875" b="0" i="0">
                <a:solidFill>
                  <a:srgbClr val="173E35"/>
                </a:solidFill>
                <a:latin typeface="Arial"/>
                <a:ea typeface="Arial"/>
                <a:cs typeface="Arial"/>
              </a:defRPr>
            </a:pPr>
            <a:r>
              <a:rPr sz="1875" b="0" i="0">
                <a:solidFill>
                  <a:srgbClr val="173E35"/>
                </a:solidFill>
                <a:latin typeface="Arial"/>
                <a:ea typeface="Arial"/>
                <a:cs typeface="Arial"/>
              </a:rPr>
              <a:t>Tree canopy and water features</a:t>
            </a:r>
          </a:p>
        </p:txBody>
      </p:sp>
      <p:sp>
        <p:nvSpPr>
          <p:cNvPr id="10" name="Noticeably cooler microclimate">
            <a:extLst>
              <a:ext uri="{FF2B5EF4-FFF2-40B4-BE49-F238E27FC236}">
                <a16:creationId xmlns:a16="http://schemas.microsoft.com/office/drawing/2014/main" id="{BFF86B1D-C423-4A32-A51D-BD55D22249FB}"/>
              </a:ext>
            </a:extLst>
          </p:cNvPr>
          <p:cNvSpPr>
            <a:spLocks noGrp="1"/>
          </p:cNvSpPr>
          <p:nvPr/>
        </p:nvSpPr>
        <p:spPr>
          <a:xfrm>
            <a:off x="495300" y="3924300"/>
            <a:ext cx="3676650" cy="595313"/>
          </a:xfrm>
          <a:prstGeom prst="rect">
            <a:avLst/>
          </a:prstGeom>
          <a:noFill/>
          <a:ln w="0">
            <a:noFill/>
          </a:ln>
        </p:spPr>
        <p:txBody>
          <a:bodyPr wrap="square" lIns="0" tIns="0" rIns="0" bIns="0" anchor="t">
            <a:noAutofit/>
          </a:bodyPr>
          <a:lstStyle/>
          <a:p>
            <a:pPr>
              <a:defRPr sz="1875" b="0" i="0">
                <a:solidFill>
                  <a:srgbClr val="173E35"/>
                </a:solidFill>
                <a:latin typeface="Arial"/>
                <a:ea typeface="Arial"/>
                <a:cs typeface="Arial"/>
              </a:defRPr>
            </a:pPr>
            <a:r>
              <a:rPr sz="1875" b="0" i="0">
                <a:solidFill>
                  <a:srgbClr val="173E35"/>
                </a:solidFill>
                <a:latin typeface="Arial"/>
                <a:ea typeface="Arial"/>
                <a:cs typeface="Arial"/>
              </a:rPr>
              <a:t>Noticeably cooler microclimate</a:t>
            </a:r>
          </a:p>
        </p:txBody>
      </p:sp>
      <p:sp>
        <p:nvSpPr>
          <p:cNvPr id="11" name="Dense urban area">
            <a:extLst>
              <a:ext uri="{FF2B5EF4-FFF2-40B4-BE49-F238E27FC236}">
                <a16:creationId xmlns:a16="http://schemas.microsoft.com/office/drawing/2014/main" id="{6B59816C-B983-4C44-B0B6-EF647810857A}"/>
              </a:ext>
            </a:extLst>
          </p:cNvPr>
          <p:cNvSpPr>
            <a:spLocks noGrp="1"/>
          </p:cNvSpPr>
          <p:nvPr/>
        </p:nvSpPr>
        <p:spPr>
          <a:xfrm>
            <a:off x="4953000" y="2124075"/>
            <a:ext cx="3695700" cy="609600"/>
          </a:xfrm>
          <a:prstGeom prst="rect">
            <a:avLst/>
          </a:prstGeom>
          <a:noFill/>
          <a:ln w="0">
            <a:noFill/>
          </a:ln>
        </p:spPr>
        <p:txBody>
          <a:bodyPr wrap="square" lIns="0" tIns="0" rIns="0" bIns="0" anchor="t">
            <a:noAutofit/>
          </a:bodyPr>
          <a:lstStyle/>
          <a:p>
            <a:pPr>
              <a:defRPr sz="2325" b="0" i="0">
                <a:solidFill>
                  <a:srgbClr val="B56647"/>
                </a:solidFill>
                <a:latin typeface="Georgia"/>
                <a:ea typeface="Georgia"/>
                <a:cs typeface="Georgia"/>
              </a:defRPr>
            </a:pPr>
            <a:r>
              <a:rPr sz="2325" b="0" i="0">
                <a:solidFill>
                  <a:srgbClr val="B56647"/>
                </a:solidFill>
                <a:latin typeface="Georgia"/>
                <a:ea typeface="Georgia"/>
                <a:cs typeface="Georgia"/>
              </a:rPr>
              <a:t>Dense urban area</a:t>
            </a:r>
          </a:p>
        </p:txBody>
      </p:sp>
      <p:sp>
        <p:nvSpPr>
          <p:cNvPr id="12" name="Prague city centre">
            <a:extLst>
              <a:ext uri="{FF2B5EF4-FFF2-40B4-BE49-F238E27FC236}">
                <a16:creationId xmlns:a16="http://schemas.microsoft.com/office/drawing/2014/main" id="{00F9390F-B2E5-4838-AE9B-431CEA17B0F7}"/>
              </a:ext>
            </a:extLst>
          </p:cNvPr>
          <p:cNvSpPr>
            <a:spLocks noGrp="1"/>
          </p:cNvSpPr>
          <p:nvPr/>
        </p:nvSpPr>
        <p:spPr>
          <a:xfrm>
            <a:off x="4953000" y="2876550"/>
            <a:ext cx="3695700" cy="595313"/>
          </a:xfrm>
          <a:prstGeom prst="rect">
            <a:avLst/>
          </a:prstGeom>
          <a:noFill/>
          <a:ln w="0">
            <a:noFill/>
          </a:ln>
        </p:spPr>
        <p:txBody>
          <a:bodyPr wrap="square" lIns="0" tIns="0" rIns="0" bIns="0" anchor="t">
            <a:noAutofit/>
          </a:bodyPr>
          <a:lstStyle/>
          <a:p>
            <a:pPr>
              <a:defRPr sz="1875" b="0" i="0">
                <a:solidFill>
                  <a:srgbClr val="173E35"/>
                </a:solidFill>
                <a:latin typeface="Arial"/>
                <a:ea typeface="Arial"/>
                <a:cs typeface="Arial"/>
              </a:defRPr>
            </a:pPr>
            <a:r>
              <a:rPr sz="1875" b="0" i="0">
                <a:solidFill>
                  <a:srgbClr val="173E35"/>
                </a:solidFill>
                <a:latin typeface="Arial"/>
                <a:ea typeface="Arial"/>
                <a:cs typeface="Arial"/>
              </a:rPr>
              <a:t>Prague city centre</a:t>
            </a:r>
          </a:p>
        </p:txBody>
      </p:sp>
      <p:sp>
        <p:nvSpPr>
          <p:cNvPr id="13" name="Sealed surfaces, little vegetation">
            <a:extLst>
              <a:ext uri="{FF2B5EF4-FFF2-40B4-BE49-F238E27FC236}">
                <a16:creationId xmlns:a16="http://schemas.microsoft.com/office/drawing/2014/main" id="{A1B534CE-431C-49DA-A06D-3FC124ADA6B2}"/>
              </a:ext>
            </a:extLst>
          </p:cNvPr>
          <p:cNvSpPr>
            <a:spLocks noGrp="1"/>
          </p:cNvSpPr>
          <p:nvPr/>
        </p:nvSpPr>
        <p:spPr>
          <a:xfrm>
            <a:off x="4953000" y="3400425"/>
            <a:ext cx="3695700" cy="595313"/>
          </a:xfrm>
          <a:prstGeom prst="rect">
            <a:avLst/>
          </a:prstGeom>
          <a:noFill/>
          <a:ln w="0">
            <a:noFill/>
          </a:ln>
        </p:spPr>
        <p:txBody>
          <a:bodyPr wrap="square" lIns="0" tIns="0" rIns="0" bIns="0" anchor="t">
            <a:noAutofit/>
          </a:bodyPr>
          <a:lstStyle/>
          <a:p>
            <a:pPr>
              <a:defRPr sz="1875" b="0" i="0">
                <a:solidFill>
                  <a:srgbClr val="173E35"/>
                </a:solidFill>
                <a:latin typeface="Arial"/>
                <a:ea typeface="Arial"/>
                <a:cs typeface="Arial"/>
              </a:defRPr>
            </a:pPr>
            <a:r>
              <a:rPr sz="1875" b="0" i="0">
                <a:solidFill>
                  <a:srgbClr val="173E35"/>
                </a:solidFill>
                <a:latin typeface="Arial"/>
                <a:ea typeface="Arial"/>
                <a:cs typeface="Arial"/>
              </a:rPr>
              <a:t>Sealed surfaces, little vegetation</a:t>
            </a:r>
          </a:p>
        </p:txBody>
      </p:sp>
      <p:sp>
        <p:nvSpPr>
          <p:cNvPr id="14" name="Strong heat-island effect">
            <a:extLst>
              <a:ext uri="{FF2B5EF4-FFF2-40B4-BE49-F238E27FC236}">
                <a16:creationId xmlns:a16="http://schemas.microsoft.com/office/drawing/2014/main" id="{8965CE45-852A-49B7-8820-6735EFD1AAEF}"/>
              </a:ext>
            </a:extLst>
          </p:cNvPr>
          <p:cNvSpPr>
            <a:spLocks noGrp="1"/>
          </p:cNvSpPr>
          <p:nvPr/>
        </p:nvSpPr>
        <p:spPr>
          <a:xfrm>
            <a:off x="4953000" y="3924300"/>
            <a:ext cx="3695700" cy="595313"/>
          </a:xfrm>
          <a:prstGeom prst="rect">
            <a:avLst/>
          </a:prstGeom>
          <a:noFill/>
          <a:ln w="0">
            <a:noFill/>
          </a:ln>
        </p:spPr>
        <p:txBody>
          <a:bodyPr wrap="square" lIns="0" tIns="0" rIns="0" bIns="0" anchor="t">
            <a:noAutofit/>
          </a:bodyPr>
          <a:lstStyle/>
          <a:p>
            <a:pPr>
              <a:defRPr sz="1875" b="0" i="0">
                <a:solidFill>
                  <a:srgbClr val="173E35"/>
                </a:solidFill>
                <a:latin typeface="Arial"/>
                <a:ea typeface="Arial"/>
                <a:cs typeface="Arial"/>
              </a:defRPr>
            </a:pPr>
            <a:r>
              <a:rPr sz="1875" b="0" i="0">
                <a:solidFill>
                  <a:srgbClr val="173E35"/>
                </a:solidFill>
                <a:latin typeface="Arial"/>
                <a:ea typeface="Arial"/>
                <a:cs typeface="Arial"/>
              </a:rPr>
              <a:t>Strong heat-island effect</a:t>
            </a:r>
          </a:p>
        </p:txBody>
      </p:sp>
      <p:pic>
        <p:nvPicPr>
          <p:cNvPr id="32" name="Picture 31"/>
          <p:cNvPicPr>
            <a:picLocks noChangeAspect="1"/>
          </p:cNvPicPr>
          <p:nvPr/>
        </p:nvPicPr>
        <p:blipFill>
          <a:blip r:embed="rId3"/>
          <a:stretch/>
        </p:blipFill>
        <p:spPr>
          <a:xfrm>
            <a:off x="499570" y="4829175"/>
            <a:ext cx="315310" cy="152400"/>
          </a:xfrm>
          <a:prstGeom prst="rect">
            <a:avLst/>
          </a:prstGeom>
        </p:spPr>
      </p:pic>
      <p:sp>
        <p:nvSpPr>
          <p:cNvPr id="16" name="www.newton.university">
            <a:extLst>
              <a:ext uri="{FF2B5EF4-FFF2-40B4-BE49-F238E27FC236}">
                <a16:creationId xmlns:a16="http://schemas.microsoft.com/office/drawing/2014/main" id="{357B1759-60F1-4C30-9459-AAD68A70C809}"/>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17" name="34">
            <a:extLst>
              <a:ext uri="{FF2B5EF4-FFF2-40B4-BE49-F238E27FC236}">
                <a16:creationId xmlns:a16="http://schemas.microsoft.com/office/drawing/2014/main" id="{8271FD93-F3D0-4FDB-A926-AEBDF09DA2EC}"/>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58665B"/>
                </a:solidFill>
                <a:latin typeface="Arial"/>
                <a:ea typeface="Arial"/>
                <a:cs typeface="Arial"/>
              </a:defRPr>
            </a:pPr>
            <a:r>
              <a:rPr sz="1125" b="0" i="0">
                <a:solidFill>
                  <a:srgbClr val="58665B"/>
                </a:solidFill>
                <a:latin typeface="Arial"/>
                <a:ea typeface="Arial"/>
                <a:cs typeface="Arial"/>
              </a:rPr>
              <a:t>34</a:t>
            </a:r>
          </a:p>
        </p:txBody>
      </p:sp>
    </p:spTree>
    <p:extLst>
      <p:ext uri="{BB962C8B-B14F-4D97-AF65-F5344CB8AC3E}">
        <p14:creationId xmlns:p14="http://schemas.microsoft.com/office/powerpoint/2010/main" val="1686848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73E35"/>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t="3368" b="3368"/>
          <a:stretch>
            <a:fillRect/>
          </a:stretch>
        </p:blipFill>
        <p:spPr>
          <a:xfrm>
            <a:off x="5467350" y="0"/>
            <a:ext cx="3676650" cy="5143500"/>
          </a:xfrm>
          <a:prstGeom prst="rect">
            <a:avLst/>
          </a:prstGeom>
        </p:spPr>
      </p:pic>
      <p:sp>
        <p:nvSpPr>
          <p:cNvPr id="2" name="Part 6">
            <a:extLst>
              <a:ext uri="{FF2B5EF4-FFF2-40B4-BE49-F238E27FC236}">
                <a16:creationId xmlns:a16="http://schemas.microsoft.com/office/drawing/2014/main" id="{94E5636D-C3EC-4811-97FA-579738FE9D6E}"/>
              </a:ext>
            </a:extLst>
          </p:cNvPr>
          <p:cNvSpPr>
            <a:spLocks noGrp="1"/>
          </p:cNvSpPr>
          <p:nvPr/>
        </p:nvSpPr>
        <p:spPr>
          <a:xfrm>
            <a:off x="495300" y="666750"/>
            <a:ext cx="3810000" cy="285750"/>
          </a:xfrm>
          <a:prstGeom prst="rect">
            <a:avLst/>
          </a:prstGeom>
          <a:noFill/>
          <a:ln w="0">
            <a:noFill/>
          </a:ln>
        </p:spPr>
        <p:txBody>
          <a:bodyPr wrap="square" lIns="0" tIns="0" rIns="0" bIns="0" anchor="t">
            <a:noAutofit/>
          </a:bodyPr>
          <a:lstStyle/>
          <a:p>
            <a:pPr>
              <a:defRPr sz="1500" b="0" i="0">
                <a:solidFill>
                  <a:srgbClr val="C7D0C6"/>
                </a:solidFill>
                <a:latin typeface="Arial"/>
                <a:ea typeface="Arial"/>
                <a:cs typeface="Arial"/>
              </a:defRPr>
            </a:pPr>
            <a:r>
              <a:rPr sz="1500" b="0" i="0">
                <a:solidFill>
                  <a:srgbClr val="C7D0C6"/>
                </a:solidFill>
                <a:latin typeface="Arial"/>
                <a:ea typeface="Arial"/>
                <a:cs typeface="Arial"/>
              </a:rPr>
              <a:t>Part 6</a:t>
            </a:r>
          </a:p>
        </p:txBody>
      </p:sp>
      <p:sp>
        <p:nvSpPr>
          <p:cNvPr id="3" name="Green Infrastructure&#10;as a Solution">
            <a:extLst>
              <a:ext uri="{FF2B5EF4-FFF2-40B4-BE49-F238E27FC236}">
                <a16:creationId xmlns:a16="http://schemas.microsoft.com/office/drawing/2014/main" id="{B212A6CE-8A5D-449D-9B06-FD3CFB00D679}"/>
              </a:ext>
            </a:extLst>
          </p:cNvPr>
          <p:cNvSpPr>
            <a:spLocks noGrp="1"/>
          </p:cNvSpPr>
          <p:nvPr/>
        </p:nvSpPr>
        <p:spPr>
          <a:xfrm>
            <a:off x="495300" y="1857375"/>
            <a:ext cx="4686300" cy="2190750"/>
          </a:xfrm>
          <a:prstGeom prst="rect">
            <a:avLst/>
          </a:prstGeom>
          <a:noFill/>
          <a:ln w="0">
            <a:noFill/>
          </a:ln>
        </p:spPr>
        <p:txBody>
          <a:bodyPr wrap="square" lIns="0" tIns="0" rIns="0" bIns="0" anchor="t">
            <a:noAutofit/>
          </a:bodyPr>
          <a:lstStyle/>
          <a:p>
            <a:pPr>
              <a:defRPr sz="3600" b="0" i="0">
                <a:solidFill>
                  <a:srgbClr val="F5F2EA"/>
                </a:solidFill>
                <a:latin typeface="Georgia"/>
                <a:ea typeface="Georgia"/>
                <a:cs typeface="Georgia"/>
              </a:defRPr>
            </a:pPr>
            <a:r>
              <a:rPr sz="3600" b="0" i="0">
                <a:solidFill>
                  <a:srgbClr val="F5F2EA"/>
                </a:solidFill>
                <a:latin typeface="Georgia"/>
                <a:ea typeface="Georgia"/>
                <a:cs typeface="Georgia"/>
              </a:rPr>
              <a:t>Green Infrastructure</a:t>
            </a:r>
          </a:p>
          <a:p>
            <a:pPr>
              <a:defRPr sz="3600" b="0" i="0">
                <a:solidFill>
                  <a:srgbClr val="F5F2EA"/>
                </a:solidFill>
                <a:latin typeface="Georgia"/>
                <a:ea typeface="Georgia"/>
                <a:cs typeface="Georgia"/>
              </a:defRPr>
            </a:pPr>
            <a:r>
              <a:rPr sz="3600" b="0" i="0">
                <a:solidFill>
                  <a:srgbClr val="F5F2EA"/>
                </a:solidFill>
                <a:latin typeface="Georgia"/>
                <a:ea typeface="Georgia"/>
                <a:cs typeface="Georgia"/>
              </a:rPr>
              <a:t>as a Solution</a:t>
            </a:r>
          </a:p>
        </p:txBody>
      </p:sp>
      <p:pic>
        <p:nvPicPr>
          <p:cNvPr id="10" name="Picture 9"/>
          <p:cNvPicPr>
            <a:picLocks noChangeAspect="1"/>
          </p:cNvPicPr>
          <p:nvPr/>
        </p:nvPicPr>
        <p:blipFill>
          <a:blip r:embed="rId4"/>
          <a:stretch/>
        </p:blipFill>
        <p:spPr>
          <a:xfrm>
            <a:off x="499570" y="4829175"/>
            <a:ext cx="315310" cy="152400"/>
          </a:xfrm>
          <a:prstGeom prst="rect">
            <a:avLst/>
          </a:prstGeom>
        </p:spPr>
      </p:pic>
      <p:sp>
        <p:nvSpPr>
          <p:cNvPr id="5" name="www.newton.university">
            <a:extLst>
              <a:ext uri="{FF2B5EF4-FFF2-40B4-BE49-F238E27FC236}">
                <a16:creationId xmlns:a16="http://schemas.microsoft.com/office/drawing/2014/main" id="{A768BA2F-E90C-4804-A7DC-6516B92B7200}"/>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C7D0C6"/>
                </a:solidFill>
                <a:latin typeface="Arial"/>
                <a:ea typeface="Arial"/>
                <a:cs typeface="Arial"/>
              </a:defRPr>
            </a:pPr>
            <a:r>
              <a:rPr sz="750" b="0" i="0">
                <a:solidFill>
                  <a:srgbClr val="C7D0C6"/>
                </a:solidFill>
                <a:latin typeface="Arial"/>
                <a:ea typeface="Arial"/>
                <a:cs typeface="Arial"/>
              </a:rPr>
              <a:t>www.newton.university</a:t>
            </a:r>
          </a:p>
        </p:txBody>
      </p:sp>
      <p:sp>
        <p:nvSpPr>
          <p:cNvPr id="6" name="35">
            <a:extLst>
              <a:ext uri="{FF2B5EF4-FFF2-40B4-BE49-F238E27FC236}">
                <a16:creationId xmlns:a16="http://schemas.microsoft.com/office/drawing/2014/main" id="{81691F06-1E0D-4DC8-A256-5B2BE18A3064}"/>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E8EDE5"/>
                </a:solidFill>
                <a:latin typeface="Arial"/>
                <a:ea typeface="Arial"/>
                <a:cs typeface="Arial"/>
              </a:defRPr>
            </a:pPr>
            <a:r>
              <a:rPr sz="1125" b="0" i="0">
                <a:solidFill>
                  <a:srgbClr val="E8EDE5"/>
                </a:solidFill>
                <a:latin typeface="Arial"/>
                <a:ea typeface="Arial"/>
                <a:cs typeface="Arial"/>
              </a:rPr>
              <a:t>35</a:t>
            </a:r>
          </a:p>
        </p:txBody>
      </p:sp>
    </p:spTree>
    <p:extLst>
      <p:ext uri="{BB962C8B-B14F-4D97-AF65-F5344CB8AC3E}">
        <p14:creationId xmlns:p14="http://schemas.microsoft.com/office/powerpoint/2010/main" val="718466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13" name="Nature-Based Solutions">
            <a:extLst>
              <a:ext uri="{FF2B5EF4-FFF2-40B4-BE49-F238E27FC236}">
                <a16:creationId xmlns:a16="http://schemas.microsoft.com/office/drawing/2014/main" id="{B205EB66-253D-4F62-B880-079ACF2168D0}"/>
              </a:ext>
            </a:extLst>
          </p:cNvPr>
          <p:cNvSpPr>
            <a:spLocks noGrp="1"/>
          </p:cNvSpPr>
          <p:nvPr/>
        </p:nvSpPr>
        <p:spPr>
          <a:xfrm>
            <a:off x="495300" y="381000"/>
            <a:ext cx="8096250" cy="952500"/>
          </a:xfrm>
          <a:prstGeom prst="rect">
            <a:avLst/>
          </a:prstGeom>
          <a:noFill/>
          <a:ln w="0">
            <a:noFill/>
          </a:ln>
        </p:spPr>
        <p:txBody>
          <a:bodyPr wrap="square" lIns="0" tIns="0" rIns="0" bIns="0" anchor="t">
            <a:noAutofit/>
          </a:bodyPr>
          <a:lstStyle/>
          <a:p>
            <a:pPr>
              <a:defRPr sz="2775" b="0" i="0">
                <a:solidFill>
                  <a:srgbClr val="173E35"/>
                </a:solidFill>
                <a:latin typeface="Georgia"/>
                <a:ea typeface="Georgia"/>
                <a:cs typeface="Georgia"/>
              </a:defRPr>
            </a:pPr>
            <a:r>
              <a:rPr sz="2775" b="0" i="0">
                <a:solidFill>
                  <a:srgbClr val="173E35"/>
                </a:solidFill>
                <a:latin typeface="Georgia"/>
                <a:ea typeface="Georgia"/>
                <a:cs typeface="Georgia"/>
              </a:rPr>
              <a:t>Nature-Based Solutions</a:t>
            </a:r>
          </a:p>
        </p:txBody>
      </p:sp>
      <p:pic>
        <p:nvPicPr>
          <p:cNvPr id="14" name="Picture 13"/>
          <p:cNvPicPr>
            <a:picLocks noChangeAspect="1"/>
          </p:cNvPicPr>
          <p:nvPr/>
        </p:nvPicPr>
        <p:blipFill>
          <a:blip r:embed="rId3"/>
          <a:srcRect t="2273" b="2273"/>
          <a:stretch>
            <a:fillRect/>
          </a:stretch>
        </p:blipFill>
        <p:spPr>
          <a:xfrm>
            <a:off x="495300" y="1485900"/>
            <a:ext cx="4714875" cy="3000375"/>
          </a:xfrm>
          <a:prstGeom prst="rect">
            <a:avLst/>
          </a:prstGeom>
        </p:spPr>
      </p:pic>
      <p:sp>
        <p:nvSpPr>
          <p:cNvPr id="3" name="Urban parks cool and connect the city">
            <a:extLst>
              <a:ext uri="{FF2B5EF4-FFF2-40B4-BE49-F238E27FC236}">
                <a16:creationId xmlns:a16="http://schemas.microsoft.com/office/drawing/2014/main" id="{84D276DD-CEA2-4231-86BB-493C625997B8}"/>
              </a:ext>
            </a:extLst>
          </p:cNvPr>
          <p:cNvSpPr>
            <a:spLocks noGrp="1"/>
          </p:cNvSpPr>
          <p:nvPr/>
        </p:nvSpPr>
        <p:spPr>
          <a:xfrm>
            <a:off x="495300" y="4572000"/>
            <a:ext cx="4714875" cy="219075"/>
          </a:xfrm>
          <a:prstGeom prst="rect">
            <a:avLst/>
          </a:prstGeom>
          <a:noFill/>
          <a:ln w="0">
            <a:noFill/>
          </a:ln>
        </p:spPr>
        <p:txBody>
          <a:bodyPr wrap="square" lIns="0" tIns="0" rIns="0" bIns="0" anchor="t">
            <a:noAutofit/>
          </a:bodyPr>
          <a:lstStyle/>
          <a:p>
            <a:pPr>
              <a:defRPr sz="1050" b="0" i="0">
                <a:solidFill>
                  <a:srgbClr val="58665B"/>
                </a:solidFill>
                <a:latin typeface="Arial"/>
                <a:ea typeface="Arial"/>
                <a:cs typeface="Arial"/>
              </a:defRPr>
            </a:pPr>
            <a:r>
              <a:rPr sz="1050" b="0" i="0">
                <a:solidFill>
                  <a:srgbClr val="58665B"/>
                </a:solidFill>
                <a:latin typeface="Arial"/>
                <a:ea typeface="Arial"/>
                <a:cs typeface="Arial"/>
              </a:rPr>
              <a:t>Urban parks cool and connect the city</a:t>
            </a:r>
          </a:p>
        </p:txBody>
      </p:sp>
      <p:sp>
        <p:nvSpPr>
          <p:cNvPr id="4" name="Definition">
            <a:extLst>
              <a:ext uri="{FF2B5EF4-FFF2-40B4-BE49-F238E27FC236}">
                <a16:creationId xmlns:a16="http://schemas.microsoft.com/office/drawing/2014/main" id="{51F55241-2039-40FC-960D-9FE05B0B59A7}"/>
              </a:ext>
            </a:extLst>
          </p:cNvPr>
          <p:cNvSpPr>
            <a:spLocks noGrp="1"/>
          </p:cNvSpPr>
          <p:nvPr/>
        </p:nvSpPr>
        <p:spPr>
          <a:xfrm>
            <a:off x="5629275" y="1438275"/>
            <a:ext cx="2971800" cy="285750"/>
          </a:xfrm>
          <a:prstGeom prst="rect">
            <a:avLst/>
          </a:prstGeom>
          <a:noFill/>
          <a:ln w="0">
            <a:noFill/>
          </a:ln>
        </p:spPr>
        <p:txBody>
          <a:bodyPr wrap="square" lIns="0" tIns="0" rIns="0" bIns="0" anchor="t">
            <a:noAutofit/>
          </a:bodyPr>
          <a:lstStyle/>
          <a:p>
            <a:pPr>
              <a:defRPr sz="1425" b="0" i="0">
                <a:solidFill>
                  <a:srgbClr val="B56647"/>
                </a:solidFill>
                <a:latin typeface="Arial"/>
                <a:ea typeface="Arial"/>
                <a:cs typeface="Arial"/>
              </a:defRPr>
            </a:pPr>
            <a:r>
              <a:rPr sz="1425" b="0" i="0">
                <a:solidFill>
                  <a:srgbClr val="B56647"/>
                </a:solidFill>
                <a:latin typeface="Arial"/>
                <a:ea typeface="Arial"/>
                <a:cs typeface="Arial"/>
              </a:rPr>
              <a:t>Definition</a:t>
            </a:r>
          </a:p>
        </p:txBody>
      </p:sp>
      <p:sp>
        <p:nvSpPr>
          <p:cNvPr id="5" name="Infrastructure inspired by, and working with,">
            <a:extLst>
              <a:ext uri="{FF2B5EF4-FFF2-40B4-BE49-F238E27FC236}">
                <a16:creationId xmlns:a16="http://schemas.microsoft.com/office/drawing/2014/main" id="{2496424A-7ECA-430F-8FEF-B339CD9017B2}"/>
              </a:ext>
            </a:extLst>
          </p:cNvPr>
          <p:cNvSpPr>
            <a:spLocks noGrp="1"/>
          </p:cNvSpPr>
          <p:nvPr/>
        </p:nvSpPr>
        <p:spPr>
          <a:xfrm>
            <a:off x="5629275" y="1847850"/>
            <a:ext cx="2990850" cy="1209675"/>
          </a:xfrm>
          <a:prstGeom prst="rect">
            <a:avLst/>
          </a:prstGeom>
          <a:noFill/>
          <a:ln w="0">
            <a:noFill/>
          </a:ln>
        </p:spPr>
        <p:txBody>
          <a:bodyPr wrap="square" lIns="0" tIns="0" rIns="0" bIns="0" anchor="t">
            <a:noAutofit/>
          </a:bodyPr>
          <a:lstStyle/>
          <a:p>
            <a:pPr>
              <a:defRPr sz="2100" b="0" i="0">
                <a:solidFill>
                  <a:srgbClr val="173E35"/>
                </a:solidFill>
                <a:latin typeface="Georgia"/>
                <a:ea typeface="Georgia"/>
                <a:cs typeface="Georgia"/>
              </a:defRPr>
            </a:pPr>
            <a:r>
              <a:rPr sz="2100" b="0" i="0">
                <a:solidFill>
                  <a:srgbClr val="173E35"/>
                </a:solidFill>
                <a:latin typeface="Georgia"/>
                <a:ea typeface="Georgia"/>
                <a:cs typeface="Georgia"/>
              </a:rPr>
              <a:t>Infrastructure inspired by, and working with, natural processes.</a:t>
            </a:r>
          </a:p>
        </p:txBody>
      </p:sp>
      <p:sp>
        <p:nvSpPr>
          <p:cNvPr id="6" name="Examples">
            <a:extLst>
              <a:ext uri="{FF2B5EF4-FFF2-40B4-BE49-F238E27FC236}">
                <a16:creationId xmlns:a16="http://schemas.microsoft.com/office/drawing/2014/main" id="{1FF420B5-18E1-4DF6-BA3F-3637092C0630}"/>
              </a:ext>
            </a:extLst>
          </p:cNvPr>
          <p:cNvSpPr>
            <a:spLocks noGrp="1"/>
          </p:cNvSpPr>
          <p:nvPr/>
        </p:nvSpPr>
        <p:spPr>
          <a:xfrm>
            <a:off x="5629275" y="3295650"/>
            <a:ext cx="2981325" cy="609600"/>
          </a:xfrm>
          <a:prstGeom prst="rect">
            <a:avLst/>
          </a:prstGeom>
          <a:noFill/>
          <a:ln w="0">
            <a:noFill/>
          </a:ln>
        </p:spPr>
        <p:txBody>
          <a:bodyPr wrap="square" lIns="0" tIns="0" rIns="0" bIns="0" anchor="t">
            <a:noAutofit/>
          </a:bodyPr>
          <a:lstStyle/>
          <a:p>
            <a:pPr>
              <a:defRPr sz="1725" b="0" i="0">
                <a:solidFill>
                  <a:srgbClr val="173E35"/>
                </a:solidFill>
                <a:latin typeface="Georgia"/>
                <a:ea typeface="Georgia"/>
                <a:cs typeface="Georgia"/>
              </a:defRPr>
            </a:pPr>
            <a:r>
              <a:rPr sz="1725" b="0" i="0">
                <a:solidFill>
                  <a:srgbClr val="173E35"/>
                </a:solidFill>
                <a:latin typeface="Georgia"/>
                <a:ea typeface="Georgia"/>
                <a:cs typeface="Georgia"/>
              </a:rPr>
              <a:t>Examples</a:t>
            </a:r>
          </a:p>
        </p:txBody>
      </p:sp>
      <p:sp>
        <p:nvSpPr>
          <p:cNvPr id="7" name="Urban forests">
            <a:extLst>
              <a:ext uri="{FF2B5EF4-FFF2-40B4-BE49-F238E27FC236}">
                <a16:creationId xmlns:a16="http://schemas.microsoft.com/office/drawing/2014/main" id="{3727ECAD-3E14-4F98-9EF6-5A21F4B39F7D}"/>
              </a:ext>
            </a:extLst>
          </p:cNvPr>
          <p:cNvSpPr>
            <a:spLocks noGrp="1"/>
          </p:cNvSpPr>
          <p:nvPr/>
        </p:nvSpPr>
        <p:spPr>
          <a:xfrm>
            <a:off x="5629275" y="3724275"/>
            <a:ext cx="2981325" cy="523875"/>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Urban forests</a:t>
            </a:r>
          </a:p>
        </p:txBody>
      </p:sp>
      <p:sp>
        <p:nvSpPr>
          <p:cNvPr id="8" name="Green roofs">
            <a:extLst>
              <a:ext uri="{FF2B5EF4-FFF2-40B4-BE49-F238E27FC236}">
                <a16:creationId xmlns:a16="http://schemas.microsoft.com/office/drawing/2014/main" id="{4D657B8D-BAD9-4ABD-A23E-2690EBBF602D}"/>
              </a:ext>
            </a:extLst>
          </p:cNvPr>
          <p:cNvSpPr>
            <a:spLocks noGrp="1"/>
          </p:cNvSpPr>
          <p:nvPr/>
        </p:nvSpPr>
        <p:spPr>
          <a:xfrm>
            <a:off x="5629275" y="4038600"/>
            <a:ext cx="2981325" cy="523875"/>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Green roofs</a:t>
            </a:r>
          </a:p>
        </p:txBody>
      </p:sp>
      <p:sp>
        <p:nvSpPr>
          <p:cNvPr id="9" name="Wetlands">
            <a:extLst>
              <a:ext uri="{FF2B5EF4-FFF2-40B4-BE49-F238E27FC236}">
                <a16:creationId xmlns:a16="http://schemas.microsoft.com/office/drawing/2014/main" id="{E74D08B8-EA49-4C3E-B874-37A8CF8CF85A}"/>
              </a:ext>
            </a:extLst>
          </p:cNvPr>
          <p:cNvSpPr>
            <a:spLocks noGrp="1"/>
          </p:cNvSpPr>
          <p:nvPr/>
        </p:nvSpPr>
        <p:spPr>
          <a:xfrm>
            <a:off x="5629275" y="4352925"/>
            <a:ext cx="2981325" cy="523875"/>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Wetlands</a:t>
            </a:r>
          </a:p>
        </p:txBody>
      </p:sp>
      <p:pic>
        <p:nvPicPr>
          <p:cNvPr id="22" name="Picture 21"/>
          <p:cNvPicPr>
            <a:picLocks noChangeAspect="1"/>
          </p:cNvPicPr>
          <p:nvPr/>
        </p:nvPicPr>
        <p:blipFill>
          <a:blip r:embed="rId4"/>
          <a:stretch/>
        </p:blipFill>
        <p:spPr>
          <a:xfrm>
            <a:off x="499570" y="4829175"/>
            <a:ext cx="315310" cy="152400"/>
          </a:xfrm>
          <a:prstGeom prst="rect">
            <a:avLst/>
          </a:prstGeom>
        </p:spPr>
      </p:pic>
      <p:sp>
        <p:nvSpPr>
          <p:cNvPr id="11" name="www.newton.university">
            <a:extLst>
              <a:ext uri="{FF2B5EF4-FFF2-40B4-BE49-F238E27FC236}">
                <a16:creationId xmlns:a16="http://schemas.microsoft.com/office/drawing/2014/main" id="{BF61A19C-9ED6-42FA-B50C-5E9BB4164E41}"/>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12" name="36">
            <a:extLst>
              <a:ext uri="{FF2B5EF4-FFF2-40B4-BE49-F238E27FC236}">
                <a16:creationId xmlns:a16="http://schemas.microsoft.com/office/drawing/2014/main" id="{076190AE-C1BC-4437-9920-F4D201D71002}"/>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58665B"/>
                </a:solidFill>
                <a:latin typeface="Arial"/>
                <a:ea typeface="Arial"/>
                <a:cs typeface="Arial"/>
              </a:defRPr>
            </a:pPr>
            <a:r>
              <a:rPr sz="1125" b="0" i="0">
                <a:solidFill>
                  <a:srgbClr val="58665B"/>
                </a:solidFill>
                <a:latin typeface="Arial"/>
                <a:ea typeface="Arial"/>
                <a:cs typeface="Arial"/>
              </a:rPr>
              <a:t>36</a:t>
            </a:r>
          </a:p>
        </p:txBody>
      </p:sp>
    </p:spTree>
    <p:extLst>
      <p:ext uri="{BB962C8B-B14F-4D97-AF65-F5344CB8AC3E}">
        <p14:creationId xmlns:p14="http://schemas.microsoft.com/office/powerpoint/2010/main" val="10695686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1" name="Editorial rule">
            <a:extLst>
              <a:ext uri="{FF2B5EF4-FFF2-40B4-BE49-F238E27FC236}">
                <a16:creationId xmlns:a16="http://schemas.microsoft.com/office/drawing/2014/main" id="{05D01BD5-DDEB-4AAA-AE32-1DCD06763562}"/>
              </a:ext>
            </a:extLst>
          </p:cNvPr>
          <p:cNvSpPr>
            <a:spLocks noGrp="1"/>
          </p:cNvSpPr>
          <p:nvPr/>
        </p:nvSpPr>
        <p:spPr>
          <a:xfrm>
            <a:off x="495300" y="1066800"/>
            <a:ext cx="8153400" cy="7620"/>
          </a:xfrm>
          <a:prstGeom prst="rect">
            <a:avLst/>
          </a:prstGeom>
          <a:solidFill>
            <a:srgbClr val="B7C3B1"/>
          </a:solidFill>
          <a:ln w="0">
            <a:noFill/>
          </a:ln>
        </p:spPr>
        <p:txBody>
          <a:bodyPr/>
          <a:lstStyle/>
          <a:p>
            <a:endParaRPr lang="en-US"/>
          </a:p>
        </p:txBody>
      </p:sp>
      <p:sp>
        <p:nvSpPr>
          <p:cNvPr id="2" name="Editorial rule">
            <a:extLst>
              <a:ext uri="{FF2B5EF4-FFF2-40B4-BE49-F238E27FC236}">
                <a16:creationId xmlns:a16="http://schemas.microsoft.com/office/drawing/2014/main" id="{02791B51-6414-49D7-B44F-1EEE9BF93995}"/>
              </a:ext>
            </a:extLst>
          </p:cNvPr>
          <p:cNvSpPr>
            <a:spLocks noGrp="1"/>
          </p:cNvSpPr>
          <p:nvPr/>
        </p:nvSpPr>
        <p:spPr>
          <a:xfrm>
            <a:off x="495300" y="1052513"/>
            <a:ext cx="552450" cy="28575"/>
          </a:xfrm>
          <a:prstGeom prst="rect">
            <a:avLst/>
          </a:prstGeom>
          <a:solidFill>
            <a:srgbClr val="B56647"/>
          </a:solidFill>
          <a:ln w="0">
            <a:noFill/>
          </a:ln>
        </p:spPr>
        <p:txBody>
          <a:bodyPr/>
          <a:lstStyle/>
          <a:p>
            <a:endParaRPr lang="en-US"/>
          </a:p>
        </p:txBody>
      </p:sp>
      <p:sp>
        <p:nvSpPr>
          <p:cNvPr id="3" name="Editorial frame">
            <a:extLst>
              <a:ext uri="{FF2B5EF4-FFF2-40B4-BE49-F238E27FC236}">
                <a16:creationId xmlns:a16="http://schemas.microsoft.com/office/drawing/2014/main" id="{4542307E-4579-44A7-A350-44798D21C112}"/>
              </a:ext>
            </a:extLst>
          </p:cNvPr>
          <p:cNvSpPr>
            <a:spLocks noGrp="1"/>
          </p:cNvSpPr>
          <p:nvPr/>
        </p:nvSpPr>
        <p:spPr>
          <a:xfrm>
            <a:off x="361950" y="1581150"/>
            <a:ext cx="4048125" cy="3057525"/>
          </a:xfrm>
          <a:prstGeom prst="rect">
            <a:avLst/>
          </a:prstGeom>
          <a:solidFill>
            <a:srgbClr val="E7E7DE"/>
          </a:solidFill>
          <a:ln w="8573">
            <a:solidFill>
              <a:srgbClr val="ADB7AA"/>
            </a:solidFill>
          </a:ln>
        </p:spPr>
        <p:txBody>
          <a:bodyPr/>
          <a:lstStyle/>
          <a:p>
            <a:endParaRPr lang="en-US"/>
          </a:p>
        </p:txBody>
      </p:sp>
      <p:sp>
        <p:nvSpPr>
          <p:cNvPr id="4" name="Editorial frame">
            <a:extLst>
              <a:ext uri="{FF2B5EF4-FFF2-40B4-BE49-F238E27FC236}">
                <a16:creationId xmlns:a16="http://schemas.microsoft.com/office/drawing/2014/main" id="{EC55E752-272D-41D3-B60D-34A115D67EC9}"/>
              </a:ext>
            </a:extLst>
          </p:cNvPr>
          <p:cNvSpPr>
            <a:spLocks noGrp="1"/>
          </p:cNvSpPr>
          <p:nvPr/>
        </p:nvSpPr>
        <p:spPr>
          <a:xfrm>
            <a:off x="4810125" y="1581150"/>
            <a:ext cx="3971925" cy="3057525"/>
          </a:xfrm>
          <a:prstGeom prst="rect">
            <a:avLst/>
          </a:prstGeom>
          <a:solidFill>
            <a:srgbClr val="E0EAD5"/>
          </a:solidFill>
          <a:ln w="8573">
            <a:solidFill>
              <a:srgbClr val="9CAF8A"/>
            </a:solidFill>
          </a:ln>
        </p:spPr>
        <p:txBody>
          <a:bodyPr/>
          <a:lstStyle/>
          <a:p>
            <a:endParaRPr lang="en-US"/>
          </a:p>
        </p:txBody>
      </p:sp>
      <p:sp>
        <p:nvSpPr>
          <p:cNvPr id="5" name="Editorial rule">
            <a:extLst>
              <a:ext uri="{FF2B5EF4-FFF2-40B4-BE49-F238E27FC236}">
                <a16:creationId xmlns:a16="http://schemas.microsoft.com/office/drawing/2014/main" id="{11781C09-86AB-4200-989A-5BEB6EF6C63D}"/>
              </a:ext>
            </a:extLst>
          </p:cNvPr>
          <p:cNvSpPr>
            <a:spLocks noGrp="1"/>
          </p:cNvSpPr>
          <p:nvPr/>
        </p:nvSpPr>
        <p:spPr>
          <a:xfrm>
            <a:off x="361950" y="1581150"/>
            <a:ext cx="4048125" cy="38100"/>
          </a:xfrm>
          <a:prstGeom prst="rect">
            <a:avLst/>
          </a:prstGeom>
          <a:solidFill>
            <a:srgbClr val="929D8F"/>
          </a:solidFill>
          <a:ln w="0">
            <a:noFill/>
          </a:ln>
        </p:spPr>
        <p:txBody>
          <a:bodyPr/>
          <a:lstStyle/>
          <a:p>
            <a:endParaRPr lang="en-US"/>
          </a:p>
        </p:txBody>
      </p:sp>
      <p:sp>
        <p:nvSpPr>
          <p:cNvPr id="6" name="Editorial rule">
            <a:extLst>
              <a:ext uri="{FF2B5EF4-FFF2-40B4-BE49-F238E27FC236}">
                <a16:creationId xmlns:a16="http://schemas.microsoft.com/office/drawing/2014/main" id="{CD5D8583-66C9-4BDC-8BD5-BAA5E41B46F6}"/>
              </a:ext>
            </a:extLst>
          </p:cNvPr>
          <p:cNvSpPr>
            <a:spLocks noGrp="1"/>
          </p:cNvSpPr>
          <p:nvPr/>
        </p:nvSpPr>
        <p:spPr>
          <a:xfrm>
            <a:off x="4810125" y="1581150"/>
            <a:ext cx="3971925" cy="38100"/>
          </a:xfrm>
          <a:prstGeom prst="rect">
            <a:avLst/>
          </a:prstGeom>
          <a:solidFill>
            <a:srgbClr val="173E35"/>
          </a:solidFill>
          <a:ln w="0">
            <a:noFill/>
          </a:ln>
        </p:spPr>
        <p:txBody>
          <a:bodyPr/>
          <a:lstStyle/>
          <a:p>
            <a:endParaRPr lang="en-US"/>
          </a:p>
        </p:txBody>
      </p:sp>
      <p:sp>
        <p:nvSpPr>
          <p:cNvPr id="7" name="Flood Management: Grey vs Green">
            <a:extLst>
              <a:ext uri="{FF2B5EF4-FFF2-40B4-BE49-F238E27FC236}">
                <a16:creationId xmlns:a16="http://schemas.microsoft.com/office/drawing/2014/main" id="{3DCF38C6-E9DA-4CB2-B61A-4F4D6529563C}"/>
              </a:ext>
            </a:extLst>
          </p:cNvPr>
          <p:cNvSpPr>
            <a:spLocks noGrp="1"/>
          </p:cNvSpPr>
          <p:nvPr/>
        </p:nvSpPr>
        <p:spPr>
          <a:xfrm>
            <a:off x="495300" y="381000"/>
            <a:ext cx="8096250" cy="952500"/>
          </a:xfrm>
          <a:prstGeom prst="rect">
            <a:avLst/>
          </a:prstGeom>
          <a:noFill/>
          <a:ln w="0">
            <a:noFill/>
          </a:ln>
        </p:spPr>
        <p:txBody>
          <a:bodyPr wrap="square" lIns="0" tIns="0" rIns="0" bIns="0" anchor="t">
            <a:noAutofit/>
          </a:bodyPr>
          <a:lstStyle/>
          <a:p>
            <a:pPr>
              <a:defRPr sz="2625" b="0" i="0">
                <a:solidFill>
                  <a:srgbClr val="173E35"/>
                </a:solidFill>
                <a:latin typeface="Georgia"/>
                <a:ea typeface="Georgia"/>
                <a:cs typeface="Georgia"/>
              </a:defRPr>
            </a:pPr>
            <a:r>
              <a:rPr sz="2625" b="0" i="0">
                <a:solidFill>
                  <a:srgbClr val="173E35"/>
                </a:solidFill>
                <a:latin typeface="Georgia"/>
                <a:ea typeface="Georgia"/>
                <a:cs typeface="Georgia"/>
              </a:rPr>
              <a:t>Flood Management: Grey vs Green</a:t>
            </a:r>
          </a:p>
        </p:txBody>
      </p:sp>
      <p:sp>
        <p:nvSpPr>
          <p:cNvPr id="8" name="Traditional infrastructure">
            <a:extLst>
              <a:ext uri="{FF2B5EF4-FFF2-40B4-BE49-F238E27FC236}">
                <a16:creationId xmlns:a16="http://schemas.microsoft.com/office/drawing/2014/main" id="{C73C8E86-E499-401F-AECB-8DFBBC75CEB4}"/>
              </a:ext>
            </a:extLst>
          </p:cNvPr>
          <p:cNvSpPr>
            <a:spLocks noGrp="1"/>
          </p:cNvSpPr>
          <p:nvPr/>
        </p:nvSpPr>
        <p:spPr>
          <a:xfrm>
            <a:off x="495300" y="1743075"/>
            <a:ext cx="3705225" cy="609600"/>
          </a:xfrm>
          <a:prstGeom prst="rect">
            <a:avLst/>
          </a:prstGeom>
          <a:noFill/>
          <a:ln w="0">
            <a:noFill/>
          </a:ln>
        </p:spPr>
        <p:txBody>
          <a:bodyPr wrap="square" lIns="0" tIns="0" rIns="0" bIns="0" anchor="t">
            <a:noAutofit/>
          </a:bodyPr>
          <a:lstStyle/>
          <a:p>
            <a:pPr>
              <a:defRPr sz="2175" b="0" i="0">
                <a:solidFill>
                  <a:srgbClr val="58665B"/>
                </a:solidFill>
                <a:latin typeface="Georgia"/>
                <a:ea typeface="Georgia"/>
                <a:cs typeface="Georgia"/>
              </a:defRPr>
            </a:pPr>
            <a:r>
              <a:rPr sz="2175" b="0" i="0">
                <a:solidFill>
                  <a:srgbClr val="58665B"/>
                </a:solidFill>
                <a:latin typeface="Georgia"/>
                <a:ea typeface="Georgia"/>
                <a:cs typeface="Georgia"/>
              </a:rPr>
              <a:t>Traditional infrastructure</a:t>
            </a:r>
          </a:p>
        </p:txBody>
      </p:sp>
      <p:sp>
        <p:nvSpPr>
          <p:cNvPr id="9" name="Pipes">
            <a:extLst>
              <a:ext uri="{FF2B5EF4-FFF2-40B4-BE49-F238E27FC236}">
                <a16:creationId xmlns:a16="http://schemas.microsoft.com/office/drawing/2014/main" id="{EB76F75C-E680-471C-B54E-8C4EC78FA2B1}"/>
              </a:ext>
            </a:extLst>
          </p:cNvPr>
          <p:cNvSpPr>
            <a:spLocks noGrp="1"/>
          </p:cNvSpPr>
          <p:nvPr/>
        </p:nvSpPr>
        <p:spPr>
          <a:xfrm>
            <a:off x="495300" y="2590800"/>
            <a:ext cx="3705225" cy="595313"/>
          </a:xfrm>
          <a:prstGeom prst="rect">
            <a:avLst/>
          </a:prstGeom>
          <a:noFill/>
          <a:ln w="0">
            <a:noFill/>
          </a:ln>
        </p:spPr>
        <p:txBody>
          <a:bodyPr wrap="square" lIns="0" tIns="0" rIns="0" bIns="0" anchor="t">
            <a:noAutofit/>
          </a:bodyPr>
          <a:lstStyle/>
          <a:p>
            <a:pPr>
              <a:defRPr sz="1875" b="0" i="0">
                <a:solidFill>
                  <a:srgbClr val="173E35"/>
                </a:solidFill>
                <a:latin typeface="Arial"/>
                <a:ea typeface="Arial"/>
                <a:cs typeface="Arial"/>
              </a:defRPr>
            </a:pPr>
            <a:r>
              <a:rPr sz="1875" b="0" i="0">
                <a:solidFill>
                  <a:srgbClr val="173E35"/>
                </a:solidFill>
                <a:latin typeface="Arial"/>
                <a:ea typeface="Arial"/>
                <a:cs typeface="Arial"/>
              </a:rPr>
              <a:t>Pipes</a:t>
            </a:r>
          </a:p>
        </p:txBody>
      </p:sp>
      <p:sp>
        <p:nvSpPr>
          <p:cNvPr id="10" name="Concrete channels">
            <a:extLst>
              <a:ext uri="{FF2B5EF4-FFF2-40B4-BE49-F238E27FC236}">
                <a16:creationId xmlns:a16="http://schemas.microsoft.com/office/drawing/2014/main" id="{56770F63-8B29-4B06-94A9-AC4BB63223F2}"/>
              </a:ext>
            </a:extLst>
          </p:cNvPr>
          <p:cNvSpPr>
            <a:spLocks noGrp="1"/>
          </p:cNvSpPr>
          <p:nvPr/>
        </p:nvSpPr>
        <p:spPr>
          <a:xfrm>
            <a:off x="495300" y="3009900"/>
            <a:ext cx="3705225" cy="595313"/>
          </a:xfrm>
          <a:prstGeom prst="rect">
            <a:avLst/>
          </a:prstGeom>
          <a:noFill/>
          <a:ln w="0">
            <a:noFill/>
          </a:ln>
        </p:spPr>
        <p:txBody>
          <a:bodyPr wrap="square" lIns="0" tIns="0" rIns="0" bIns="0" anchor="t">
            <a:noAutofit/>
          </a:bodyPr>
          <a:lstStyle/>
          <a:p>
            <a:pPr>
              <a:defRPr sz="1875" b="0" i="0">
                <a:solidFill>
                  <a:srgbClr val="173E35"/>
                </a:solidFill>
                <a:latin typeface="Arial"/>
                <a:ea typeface="Arial"/>
                <a:cs typeface="Arial"/>
              </a:defRPr>
            </a:pPr>
            <a:r>
              <a:rPr sz="1875" b="0" i="0">
                <a:solidFill>
                  <a:srgbClr val="173E35"/>
                </a:solidFill>
                <a:latin typeface="Arial"/>
                <a:ea typeface="Arial"/>
                <a:cs typeface="Arial"/>
              </a:rPr>
              <a:t>Concrete channels</a:t>
            </a:r>
          </a:p>
        </p:txBody>
      </p:sp>
      <p:sp>
        <p:nvSpPr>
          <p:cNvPr id="11" name="Single purpose">
            <a:extLst>
              <a:ext uri="{FF2B5EF4-FFF2-40B4-BE49-F238E27FC236}">
                <a16:creationId xmlns:a16="http://schemas.microsoft.com/office/drawing/2014/main" id="{F000481D-B279-4E38-8B65-0B1A8E170C1F}"/>
              </a:ext>
            </a:extLst>
          </p:cNvPr>
          <p:cNvSpPr>
            <a:spLocks noGrp="1"/>
          </p:cNvSpPr>
          <p:nvPr/>
        </p:nvSpPr>
        <p:spPr>
          <a:xfrm>
            <a:off x="495300" y="3429000"/>
            <a:ext cx="3705225" cy="595313"/>
          </a:xfrm>
          <a:prstGeom prst="rect">
            <a:avLst/>
          </a:prstGeom>
          <a:noFill/>
          <a:ln w="0">
            <a:noFill/>
          </a:ln>
        </p:spPr>
        <p:txBody>
          <a:bodyPr wrap="square" lIns="0" tIns="0" rIns="0" bIns="0" anchor="t">
            <a:noAutofit/>
          </a:bodyPr>
          <a:lstStyle/>
          <a:p>
            <a:pPr>
              <a:defRPr sz="1875" b="0" i="0">
                <a:solidFill>
                  <a:srgbClr val="173E35"/>
                </a:solidFill>
                <a:latin typeface="Arial"/>
                <a:ea typeface="Arial"/>
                <a:cs typeface="Arial"/>
              </a:defRPr>
            </a:pPr>
            <a:r>
              <a:rPr sz="1875" b="0" i="0">
                <a:solidFill>
                  <a:srgbClr val="173E35"/>
                </a:solidFill>
                <a:latin typeface="Arial"/>
                <a:ea typeface="Arial"/>
                <a:cs typeface="Arial"/>
              </a:rPr>
              <a:t>Single purpose</a:t>
            </a:r>
          </a:p>
        </p:txBody>
      </p:sp>
      <p:sp>
        <p:nvSpPr>
          <p:cNvPr id="12" name="High maintenance cost">
            <a:extLst>
              <a:ext uri="{FF2B5EF4-FFF2-40B4-BE49-F238E27FC236}">
                <a16:creationId xmlns:a16="http://schemas.microsoft.com/office/drawing/2014/main" id="{60A43360-8850-4972-A401-948CC61C576A}"/>
              </a:ext>
            </a:extLst>
          </p:cNvPr>
          <p:cNvSpPr>
            <a:spLocks noGrp="1"/>
          </p:cNvSpPr>
          <p:nvPr/>
        </p:nvSpPr>
        <p:spPr>
          <a:xfrm>
            <a:off x="495300" y="3848100"/>
            <a:ext cx="3705225" cy="595313"/>
          </a:xfrm>
          <a:prstGeom prst="rect">
            <a:avLst/>
          </a:prstGeom>
          <a:noFill/>
          <a:ln w="0">
            <a:noFill/>
          </a:ln>
        </p:spPr>
        <p:txBody>
          <a:bodyPr wrap="square" lIns="0" tIns="0" rIns="0" bIns="0" anchor="t">
            <a:noAutofit/>
          </a:bodyPr>
          <a:lstStyle/>
          <a:p>
            <a:pPr>
              <a:defRPr sz="1875" b="0" i="0">
                <a:solidFill>
                  <a:srgbClr val="173E35"/>
                </a:solidFill>
                <a:latin typeface="Arial"/>
                <a:ea typeface="Arial"/>
                <a:cs typeface="Arial"/>
              </a:defRPr>
            </a:pPr>
            <a:r>
              <a:rPr sz="1875" b="0" i="0">
                <a:solidFill>
                  <a:srgbClr val="173E35"/>
                </a:solidFill>
                <a:latin typeface="Arial"/>
                <a:ea typeface="Arial"/>
                <a:cs typeface="Arial"/>
              </a:rPr>
              <a:t>High maintenance cost</a:t>
            </a:r>
          </a:p>
        </p:txBody>
      </p:sp>
      <p:sp>
        <p:nvSpPr>
          <p:cNvPr id="13" name="Green infrastructure">
            <a:extLst>
              <a:ext uri="{FF2B5EF4-FFF2-40B4-BE49-F238E27FC236}">
                <a16:creationId xmlns:a16="http://schemas.microsoft.com/office/drawing/2014/main" id="{53708663-F7A9-462F-9025-6D21AEF9C7E5}"/>
              </a:ext>
            </a:extLst>
          </p:cNvPr>
          <p:cNvSpPr>
            <a:spLocks noGrp="1"/>
          </p:cNvSpPr>
          <p:nvPr/>
        </p:nvSpPr>
        <p:spPr>
          <a:xfrm>
            <a:off x="4953000" y="1743075"/>
            <a:ext cx="3695700" cy="609600"/>
          </a:xfrm>
          <a:prstGeom prst="rect">
            <a:avLst/>
          </a:prstGeom>
          <a:noFill/>
          <a:ln w="0">
            <a:noFill/>
          </a:ln>
        </p:spPr>
        <p:txBody>
          <a:bodyPr wrap="square" lIns="0" tIns="0" rIns="0" bIns="0" anchor="t">
            <a:noAutofit/>
          </a:bodyPr>
          <a:lstStyle/>
          <a:p>
            <a:pPr>
              <a:defRPr sz="2175" b="0" i="0">
                <a:solidFill>
                  <a:srgbClr val="173E35"/>
                </a:solidFill>
                <a:latin typeface="Georgia"/>
                <a:ea typeface="Georgia"/>
                <a:cs typeface="Georgia"/>
              </a:defRPr>
            </a:pPr>
            <a:r>
              <a:rPr sz="2175" b="0" i="0">
                <a:solidFill>
                  <a:srgbClr val="173E35"/>
                </a:solidFill>
                <a:latin typeface="Georgia"/>
                <a:ea typeface="Georgia"/>
                <a:cs typeface="Georgia"/>
              </a:rPr>
              <a:t>Green infrastructure</a:t>
            </a:r>
          </a:p>
        </p:txBody>
      </p:sp>
      <p:sp>
        <p:nvSpPr>
          <p:cNvPr id="14" name="Wetlands">
            <a:extLst>
              <a:ext uri="{FF2B5EF4-FFF2-40B4-BE49-F238E27FC236}">
                <a16:creationId xmlns:a16="http://schemas.microsoft.com/office/drawing/2014/main" id="{0110761A-3CFB-41D4-A635-673088FF1364}"/>
              </a:ext>
            </a:extLst>
          </p:cNvPr>
          <p:cNvSpPr>
            <a:spLocks noGrp="1"/>
          </p:cNvSpPr>
          <p:nvPr/>
        </p:nvSpPr>
        <p:spPr>
          <a:xfrm>
            <a:off x="4953000" y="2590800"/>
            <a:ext cx="3695700" cy="595313"/>
          </a:xfrm>
          <a:prstGeom prst="rect">
            <a:avLst/>
          </a:prstGeom>
          <a:noFill/>
          <a:ln w="0">
            <a:noFill/>
          </a:ln>
        </p:spPr>
        <p:txBody>
          <a:bodyPr wrap="square" lIns="0" tIns="0" rIns="0" bIns="0" anchor="t">
            <a:noAutofit/>
          </a:bodyPr>
          <a:lstStyle/>
          <a:p>
            <a:pPr>
              <a:defRPr sz="1875" b="0" i="0">
                <a:solidFill>
                  <a:srgbClr val="173E35"/>
                </a:solidFill>
                <a:latin typeface="Arial"/>
                <a:ea typeface="Arial"/>
                <a:cs typeface="Arial"/>
              </a:defRPr>
            </a:pPr>
            <a:r>
              <a:rPr sz="1875" b="0" i="0">
                <a:solidFill>
                  <a:srgbClr val="173E35"/>
                </a:solidFill>
                <a:latin typeface="Arial"/>
                <a:ea typeface="Arial"/>
                <a:cs typeface="Arial"/>
              </a:rPr>
              <a:t>Wetlands</a:t>
            </a:r>
          </a:p>
        </p:txBody>
      </p:sp>
      <p:sp>
        <p:nvSpPr>
          <p:cNvPr id="15" name="Rain gardens">
            <a:extLst>
              <a:ext uri="{FF2B5EF4-FFF2-40B4-BE49-F238E27FC236}">
                <a16:creationId xmlns:a16="http://schemas.microsoft.com/office/drawing/2014/main" id="{5103FF92-C81E-41D8-8283-3A54E4478B06}"/>
              </a:ext>
            </a:extLst>
          </p:cNvPr>
          <p:cNvSpPr>
            <a:spLocks noGrp="1"/>
          </p:cNvSpPr>
          <p:nvPr/>
        </p:nvSpPr>
        <p:spPr>
          <a:xfrm>
            <a:off x="4953000" y="3009900"/>
            <a:ext cx="3695700" cy="595313"/>
          </a:xfrm>
          <a:prstGeom prst="rect">
            <a:avLst/>
          </a:prstGeom>
          <a:noFill/>
          <a:ln w="0">
            <a:noFill/>
          </a:ln>
        </p:spPr>
        <p:txBody>
          <a:bodyPr wrap="square" lIns="0" tIns="0" rIns="0" bIns="0" anchor="t">
            <a:noAutofit/>
          </a:bodyPr>
          <a:lstStyle/>
          <a:p>
            <a:pPr>
              <a:defRPr sz="1875" b="0" i="0">
                <a:solidFill>
                  <a:srgbClr val="173E35"/>
                </a:solidFill>
                <a:latin typeface="Arial"/>
                <a:ea typeface="Arial"/>
                <a:cs typeface="Arial"/>
              </a:defRPr>
            </a:pPr>
            <a:r>
              <a:rPr sz="1875" b="0" i="0">
                <a:solidFill>
                  <a:srgbClr val="173E35"/>
                </a:solidFill>
                <a:latin typeface="Arial"/>
                <a:ea typeface="Arial"/>
                <a:cs typeface="Arial"/>
              </a:rPr>
              <a:t>Rain gardens</a:t>
            </a:r>
          </a:p>
        </p:txBody>
      </p:sp>
      <p:sp>
        <p:nvSpPr>
          <p:cNvPr id="16" name="Water-retention landscapes">
            <a:extLst>
              <a:ext uri="{FF2B5EF4-FFF2-40B4-BE49-F238E27FC236}">
                <a16:creationId xmlns:a16="http://schemas.microsoft.com/office/drawing/2014/main" id="{CB8AD176-9828-48ED-9A5E-B2DCF3E31A4B}"/>
              </a:ext>
            </a:extLst>
          </p:cNvPr>
          <p:cNvSpPr>
            <a:spLocks noGrp="1"/>
          </p:cNvSpPr>
          <p:nvPr/>
        </p:nvSpPr>
        <p:spPr>
          <a:xfrm>
            <a:off x="4953000" y="3429000"/>
            <a:ext cx="3695700" cy="595313"/>
          </a:xfrm>
          <a:prstGeom prst="rect">
            <a:avLst/>
          </a:prstGeom>
          <a:noFill/>
          <a:ln w="0">
            <a:noFill/>
          </a:ln>
        </p:spPr>
        <p:txBody>
          <a:bodyPr wrap="square" lIns="0" tIns="0" rIns="0" bIns="0" anchor="t">
            <a:noAutofit/>
          </a:bodyPr>
          <a:lstStyle/>
          <a:p>
            <a:pPr>
              <a:defRPr sz="1875" b="0" i="0">
                <a:solidFill>
                  <a:srgbClr val="173E35"/>
                </a:solidFill>
                <a:latin typeface="Arial"/>
                <a:ea typeface="Arial"/>
                <a:cs typeface="Arial"/>
              </a:defRPr>
            </a:pPr>
            <a:r>
              <a:rPr sz="1875" b="0" i="0">
                <a:solidFill>
                  <a:srgbClr val="173E35"/>
                </a:solidFill>
                <a:latin typeface="Arial"/>
                <a:ea typeface="Arial"/>
                <a:cs typeface="Arial"/>
              </a:rPr>
              <a:t>Water-retention landscapes</a:t>
            </a:r>
          </a:p>
        </p:txBody>
      </p:sp>
      <p:sp>
        <p:nvSpPr>
          <p:cNvPr id="17" name="Multiple co-benefits: cooling, recreation, bi">
            <a:extLst>
              <a:ext uri="{FF2B5EF4-FFF2-40B4-BE49-F238E27FC236}">
                <a16:creationId xmlns:a16="http://schemas.microsoft.com/office/drawing/2014/main" id="{FACAD645-E320-44FE-825D-8C86BA6A7FA8}"/>
              </a:ext>
            </a:extLst>
          </p:cNvPr>
          <p:cNvSpPr>
            <a:spLocks noGrp="1"/>
          </p:cNvSpPr>
          <p:nvPr/>
        </p:nvSpPr>
        <p:spPr>
          <a:xfrm>
            <a:off x="4953000" y="3848100"/>
            <a:ext cx="3695700" cy="595313"/>
          </a:xfrm>
          <a:prstGeom prst="rect">
            <a:avLst/>
          </a:prstGeom>
          <a:noFill/>
          <a:ln w="0">
            <a:noFill/>
          </a:ln>
        </p:spPr>
        <p:txBody>
          <a:bodyPr wrap="square" lIns="0" tIns="0" rIns="0" bIns="0" anchor="t">
            <a:noAutofit/>
          </a:bodyPr>
          <a:lstStyle/>
          <a:p>
            <a:pPr>
              <a:defRPr sz="1875" b="0" i="0">
                <a:solidFill>
                  <a:srgbClr val="173E35"/>
                </a:solidFill>
                <a:latin typeface="Arial"/>
                <a:ea typeface="Arial"/>
                <a:cs typeface="Arial"/>
              </a:defRPr>
            </a:pPr>
            <a:r>
              <a:rPr sz="1875" b="0" i="0">
                <a:solidFill>
                  <a:srgbClr val="173E35"/>
                </a:solidFill>
                <a:latin typeface="Arial"/>
                <a:ea typeface="Arial"/>
                <a:cs typeface="Arial"/>
              </a:rPr>
              <a:t>Multiple co-benefits: cooling, recreation, biodiversity</a:t>
            </a:r>
          </a:p>
        </p:txBody>
      </p:sp>
      <p:pic>
        <p:nvPicPr>
          <p:cNvPr id="38" name="Picture 37"/>
          <p:cNvPicPr>
            <a:picLocks noChangeAspect="1"/>
          </p:cNvPicPr>
          <p:nvPr/>
        </p:nvPicPr>
        <p:blipFill>
          <a:blip r:embed="rId3"/>
          <a:stretch/>
        </p:blipFill>
        <p:spPr>
          <a:xfrm>
            <a:off x="499570" y="4829175"/>
            <a:ext cx="315310" cy="152400"/>
          </a:xfrm>
          <a:prstGeom prst="rect">
            <a:avLst/>
          </a:prstGeom>
        </p:spPr>
      </p:pic>
      <p:sp>
        <p:nvSpPr>
          <p:cNvPr id="19" name="www.newton.university">
            <a:extLst>
              <a:ext uri="{FF2B5EF4-FFF2-40B4-BE49-F238E27FC236}">
                <a16:creationId xmlns:a16="http://schemas.microsoft.com/office/drawing/2014/main" id="{C0F9E4C9-6EBF-48A3-B470-809C7FEF5125}"/>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20" name="37">
            <a:extLst>
              <a:ext uri="{FF2B5EF4-FFF2-40B4-BE49-F238E27FC236}">
                <a16:creationId xmlns:a16="http://schemas.microsoft.com/office/drawing/2014/main" id="{FCAD9371-FC9F-4073-850E-C370913774B2}"/>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58665B"/>
                </a:solidFill>
                <a:latin typeface="Arial"/>
                <a:ea typeface="Arial"/>
                <a:cs typeface="Arial"/>
              </a:defRPr>
            </a:pPr>
            <a:r>
              <a:rPr sz="1125" b="0" i="0">
                <a:solidFill>
                  <a:srgbClr val="58665B"/>
                </a:solidFill>
                <a:latin typeface="Arial"/>
                <a:ea typeface="Arial"/>
                <a:cs typeface="Arial"/>
              </a:rPr>
              <a:t>37</a:t>
            </a:r>
          </a:p>
        </p:txBody>
      </p:sp>
    </p:spTree>
    <p:extLst>
      <p:ext uri="{BB962C8B-B14F-4D97-AF65-F5344CB8AC3E}">
        <p14:creationId xmlns:p14="http://schemas.microsoft.com/office/powerpoint/2010/main" val="8937856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12" name="Smart City Example: Copenhagen">
            <a:extLst>
              <a:ext uri="{FF2B5EF4-FFF2-40B4-BE49-F238E27FC236}">
                <a16:creationId xmlns:a16="http://schemas.microsoft.com/office/drawing/2014/main" id="{386C1BED-6825-4CFD-ACAB-8FCE36426E3D}"/>
              </a:ext>
            </a:extLst>
          </p:cNvPr>
          <p:cNvSpPr>
            <a:spLocks noGrp="1"/>
          </p:cNvSpPr>
          <p:nvPr/>
        </p:nvSpPr>
        <p:spPr>
          <a:xfrm>
            <a:off x="495300" y="381000"/>
            <a:ext cx="8096250" cy="952500"/>
          </a:xfrm>
          <a:prstGeom prst="rect">
            <a:avLst/>
          </a:prstGeom>
          <a:noFill/>
          <a:ln w="0">
            <a:noFill/>
          </a:ln>
        </p:spPr>
        <p:txBody>
          <a:bodyPr wrap="square" lIns="0" tIns="0" rIns="0" bIns="0" anchor="t">
            <a:noAutofit/>
          </a:bodyPr>
          <a:lstStyle/>
          <a:p>
            <a:pPr>
              <a:defRPr sz="2625" b="0" i="0">
                <a:solidFill>
                  <a:srgbClr val="173E35"/>
                </a:solidFill>
                <a:latin typeface="Georgia"/>
                <a:ea typeface="Georgia"/>
                <a:cs typeface="Georgia"/>
              </a:defRPr>
            </a:pPr>
            <a:r>
              <a:rPr sz="2625" b="0" i="0">
                <a:solidFill>
                  <a:srgbClr val="173E35"/>
                </a:solidFill>
                <a:latin typeface="Georgia"/>
                <a:ea typeface="Georgia"/>
                <a:cs typeface="Georgia"/>
              </a:rPr>
              <a:t>Smart City Example: Copenhagen</a:t>
            </a:r>
          </a:p>
        </p:txBody>
      </p:sp>
      <p:pic>
        <p:nvPicPr>
          <p:cNvPr id="13" name="Picture 12"/>
          <p:cNvPicPr>
            <a:picLocks noChangeAspect="1"/>
          </p:cNvPicPr>
          <p:nvPr/>
        </p:nvPicPr>
        <p:blipFill>
          <a:blip r:embed="rId3"/>
          <a:srcRect l="479" r="479"/>
          <a:stretch>
            <a:fillRect/>
          </a:stretch>
        </p:blipFill>
        <p:spPr>
          <a:xfrm>
            <a:off x="5038725" y="1495425"/>
            <a:ext cx="3609975" cy="2733675"/>
          </a:xfrm>
          <a:prstGeom prst="rect">
            <a:avLst/>
          </a:prstGeom>
        </p:spPr>
      </p:pic>
      <p:sp>
        <p:nvSpPr>
          <p:cNvPr id="3" name="Copenhagen harbour bath — clean water as publ">
            <a:extLst>
              <a:ext uri="{FF2B5EF4-FFF2-40B4-BE49-F238E27FC236}">
                <a16:creationId xmlns:a16="http://schemas.microsoft.com/office/drawing/2014/main" id="{5B628860-F3C4-4983-9538-CFB5B7FFB810}"/>
              </a:ext>
            </a:extLst>
          </p:cNvPr>
          <p:cNvSpPr>
            <a:spLocks noGrp="1"/>
          </p:cNvSpPr>
          <p:nvPr/>
        </p:nvSpPr>
        <p:spPr>
          <a:xfrm>
            <a:off x="5038725" y="4352925"/>
            <a:ext cx="3609975" cy="371475"/>
          </a:xfrm>
          <a:prstGeom prst="rect">
            <a:avLst/>
          </a:prstGeom>
          <a:noFill/>
          <a:ln w="0">
            <a:noFill/>
          </a:ln>
        </p:spPr>
        <p:txBody>
          <a:bodyPr wrap="square" lIns="0" tIns="0" rIns="0" bIns="0" anchor="t">
            <a:noAutofit/>
          </a:bodyPr>
          <a:lstStyle/>
          <a:p>
            <a:pPr>
              <a:defRPr sz="1050" b="0" i="0">
                <a:solidFill>
                  <a:srgbClr val="58665B"/>
                </a:solidFill>
                <a:latin typeface="Arial"/>
                <a:ea typeface="Arial"/>
                <a:cs typeface="Arial"/>
              </a:defRPr>
            </a:pPr>
            <a:r>
              <a:rPr sz="1050" b="0" i="0">
                <a:solidFill>
                  <a:srgbClr val="58665B"/>
                </a:solidFill>
                <a:latin typeface="Arial"/>
                <a:ea typeface="Arial"/>
                <a:cs typeface="Arial"/>
              </a:rPr>
              <a:t>Copenhagen harbour bath — clean water as public space</a:t>
            </a:r>
          </a:p>
        </p:txBody>
      </p:sp>
      <p:sp>
        <p:nvSpPr>
          <p:cNvPr id="4" name="Cloudburst Management Plan">
            <a:extLst>
              <a:ext uri="{FF2B5EF4-FFF2-40B4-BE49-F238E27FC236}">
                <a16:creationId xmlns:a16="http://schemas.microsoft.com/office/drawing/2014/main" id="{F3681830-B203-43DD-8801-BF80B4D1C7D7}"/>
              </a:ext>
            </a:extLst>
          </p:cNvPr>
          <p:cNvSpPr>
            <a:spLocks noGrp="1"/>
          </p:cNvSpPr>
          <p:nvPr/>
        </p:nvSpPr>
        <p:spPr>
          <a:xfrm>
            <a:off x="495300" y="1428750"/>
            <a:ext cx="4105275" cy="619125"/>
          </a:xfrm>
          <a:prstGeom prst="rect">
            <a:avLst/>
          </a:prstGeom>
          <a:noFill/>
          <a:ln w="0">
            <a:noFill/>
          </a:ln>
        </p:spPr>
        <p:txBody>
          <a:bodyPr wrap="square" lIns="0" tIns="0" rIns="0" bIns="0" anchor="t">
            <a:noAutofit/>
          </a:bodyPr>
          <a:lstStyle/>
          <a:p>
            <a:pPr>
              <a:defRPr sz="2100" b="0" i="0">
                <a:solidFill>
                  <a:srgbClr val="173E35"/>
                </a:solidFill>
                <a:latin typeface="Georgia"/>
                <a:ea typeface="Georgia"/>
                <a:cs typeface="Georgia"/>
              </a:defRPr>
            </a:pPr>
            <a:r>
              <a:rPr sz="2100" b="0" i="0">
                <a:solidFill>
                  <a:srgbClr val="173E35"/>
                </a:solidFill>
                <a:latin typeface="Georgia"/>
                <a:ea typeface="Georgia"/>
                <a:cs typeface="Georgia"/>
              </a:rPr>
              <a:t>Cloudburst Management Plan</a:t>
            </a:r>
          </a:p>
        </p:txBody>
      </p:sp>
      <p:sp>
        <p:nvSpPr>
          <p:cNvPr id="5" name="Parks designed to flood safely during storms&#10;">
            <a:extLst>
              <a:ext uri="{FF2B5EF4-FFF2-40B4-BE49-F238E27FC236}">
                <a16:creationId xmlns:a16="http://schemas.microsoft.com/office/drawing/2014/main" id="{87428440-A654-459B-8850-DB262CB454C4}"/>
              </a:ext>
            </a:extLst>
          </p:cNvPr>
          <p:cNvSpPr>
            <a:spLocks noGrp="1"/>
          </p:cNvSpPr>
          <p:nvPr/>
        </p:nvSpPr>
        <p:spPr>
          <a:xfrm>
            <a:off x="495300" y="2190750"/>
            <a:ext cx="4057650" cy="1333500"/>
          </a:xfrm>
          <a:prstGeom prst="rect">
            <a:avLst/>
          </a:prstGeom>
          <a:noFill/>
          <a:ln w="0">
            <a:noFill/>
          </a:ln>
        </p:spPr>
        <p:txBody>
          <a:bodyPr wrap="square" lIns="0" tIns="0" rIns="0" bIns="0" anchor="t">
            <a:noAutofit/>
          </a:bodyPr>
          <a:lstStyle/>
          <a:p>
            <a:pPr>
              <a:defRPr sz="1725" b="0" i="0">
                <a:solidFill>
                  <a:srgbClr val="173E35"/>
                </a:solidFill>
                <a:latin typeface="Arial"/>
                <a:ea typeface="Arial"/>
                <a:cs typeface="Arial"/>
              </a:defRPr>
            </a:pPr>
            <a:r>
              <a:rPr sz="1725" b="0" i="0">
                <a:solidFill>
                  <a:srgbClr val="173E35"/>
                </a:solidFill>
                <a:latin typeface="Arial"/>
                <a:ea typeface="Arial"/>
                <a:cs typeface="Arial"/>
              </a:rPr>
              <a:t>Parks designed to flood safely during storms</a:t>
            </a:r>
          </a:p>
          <a:p>
            <a:endParaRPr sz="1725" b="0" i="0">
              <a:solidFill>
                <a:srgbClr val="173E35"/>
              </a:solidFill>
              <a:latin typeface="Arial"/>
              <a:ea typeface="Arial"/>
              <a:cs typeface="Arial"/>
            </a:endParaRPr>
          </a:p>
          <a:p>
            <a:pPr>
              <a:defRPr sz="1725" b="0" i="0">
                <a:solidFill>
                  <a:srgbClr val="173E35"/>
                </a:solidFill>
                <a:latin typeface="Arial"/>
                <a:ea typeface="Arial"/>
                <a:cs typeface="Arial"/>
              </a:defRPr>
            </a:pPr>
            <a:r>
              <a:rPr sz="1725" b="0" i="0">
                <a:solidFill>
                  <a:srgbClr val="173E35"/>
                </a:solidFill>
                <a:latin typeface="Arial"/>
                <a:ea typeface="Arial"/>
                <a:cs typeface="Arial"/>
              </a:rPr>
              <a:t>Water-retention areas and green streets</a:t>
            </a:r>
          </a:p>
        </p:txBody>
      </p:sp>
      <p:sp>
        <p:nvSpPr>
          <p:cNvPr id="6" name="Benefits">
            <a:extLst>
              <a:ext uri="{FF2B5EF4-FFF2-40B4-BE49-F238E27FC236}">
                <a16:creationId xmlns:a16="http://schemas.microsoft.com/office/drawing/2014/main" id="{D4C47FF9-9204-4600-BCE6-59CAA7CD06E4}"/>
              </a:ext>
            </a:extLst>
          </p:cNvPr>
          <p:cNvSpPr>
            <a:spLocks noGrp="1"/>
          </p:cNvSpPr>
          <p:nvPr/>
        </p:nvSpPr>
        <p:spPr>
          <a:xfrm>
            <a:off x="495300" y="3733800"/>
            <a:ext cx="4114800" cy="285750"/>
          </a:xfrm>
          <a:prstGeom prst="rect">
            <a:avLst/>
          </a:prstGeom>
          <a:noFill/>
          <a:ln w="0">
            <a:noFill/>
          </a:ln>
        </p:spPr>
        <p:txBody>
          <a:bodyPr wrap="square" lIns="0" tIns="0" rIns="0" bIns="0" anchor="t">
            <a:noAutofit/>
          </a:bodyPr>
          <a:lstStyle/>
          <a:p>
            <a:pPr>
              <a:defRPr sz="1575" b="0" i="0">
                <a:solidFill>
                  <a:srgbClr val="B56647"/>
                </a:solidFill>
                <a:latin typeface="Arial"/>
                <a:ea typeface="Arial"/>
                <a:cs typeface="Arial"/>
              </a:defRPr>
            </a:pPr>
            <a:r>
              <a:rPr sz="1575" b="0" i="0">
                <a:solidFill>
                  <a:srgbClr val="B56647"/>
                </a:solidFill>
                <a:latin typeface="Arial"/>
                <a:ea typeface="Arial"/>
                <a:cs typeface="Arial"/>
              </a:rPr>
              <a:t>Benefits</a:t>
            </a:r>
          </a:p>
        </p:txBody>
      </p:sp>
      <p:sp>
        <p:nvSpPr>
          <p:cNvPr id="7" name="Flood protection">
            <a:extLst>
              <a:ext uri="{FF2B5EF4-FFF2-40B4-BE49-F238E27FC236}">
                <a16:creationId xmlns:a16="http://schemas.microsoft.com/office/drawing/2014/main" id="{2ED97103-C1D3-4431-9E1C-0D51716D4648}"/>
              </a:ext>
            </a:extLst>
          </p:cNvPr>
          <p:cNvSpPr>
            <a:spLocks noGrp="1"/>
          </p:cNvSpPr>
          <p:nvPr/>
        </p:nvSpPr>
        <p:spPr>
          <a:xfrm>
            <a:off x="495300" y="4171950"/>
            <a:ext cx="4095750" cy="523875"/>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Flood protection</a:t>
            </a:r>
          </a:p>
        </p:txBody>
      </p:sp>
      <p:sp>
        <p:nvSpPr>
          <p:cNvPr id="8" name="Improved public spaces">
            <a:extLst>
              <a:ext uri="{FF2B5EF4-FFF2-40B4-BE49-F238E27FC236}">
                <a16:creationId xmlns:a16="http://schemas.microsoft.com/office/drawing/2014/main" id="{D5ADD484-B9E4-4544-A503-C960B07ECFE2}"/>
              </a:ext>
            </a:extLst>
          </p:cNvPr>
          <p:cNvSpPr>
            <a:spLocks noGrp="1"/>
          </p:cNvSpPr>
          <p:nvPr/>
        </p:nvSpPr>
        <p:spPr>
          <a:xfrm>
            <a:off x="495300" y="4448175"/>
            <a:ext cx="4095750" cy="523875"/>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Improved public spaces</a:t>
            </a:r>
          </a:p>
        </p:txBody>
      </p:sp>
      <p:pic>
        <p:nvPicPr>
          <p:cNvPr id="20" name="Picture 19"/>
          <p:cNvPicPr>
            <a:picLocks noChangeAspect="1"/>
          </p:cNvPicPr>
          <p:nvPr/>
        </p:nvPicPr>
        <p:blipFill>
          <a:blip r:embed="rId4"/>
          <a:stretch/>
        </p:blipFill>
        <p:spPr>
          <a:xfrm>
            <a:off x="499570" y="4829175"/>
            <a:ext cx="315310" cy="152400"/>
          </a:xfrm>
          <a:prstGeom prst="rect">
            <a:avLst/>
          </a:prstGeom>
        </p:spPr>
      </p:pic>
      <p:sp>
        <p:nvSpPr>
          <p:cNvPr id="10" name="www.newton.university">
            <a:extLst>
              <a:ext uri="{FF2B5EF4-FFF2-40B4-BE49-F238E27FC236}">
                <a16:creationId xmlns:a16="http://schemas.microsoft.com/office/drawing/2014/main" id="{10D743F0-5901-4198-AB26-883BEEBD61EC}"/>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11" name="38">
            <a:extLst>
              <a:ext uri="{FF2B5EF4-FFF2-40B4-BE49-F238E27FC236}">
                <a16:creationId xmlns:a16="http://schemas.microsoft.com/office/drawing/2014/main" id="{6EE2E23F-0286-4060-844D-4764C7FE9A7E}"/>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58665B"/>
                </a:solidFill>
                <a:latin typeface="Arial"/>
                <a:ea typeface="Arial"/>
                <a:cs typeface="Arial"/>
              </a:defRPr>
            </a:pPr>
            <a:r>
              <a:rPr sz="1125" b="0" i="0">
                <a:solidFill>
                  <a:srgbClr val="58665B"/>
                </a:solidFill>
                <a:latin typeface="Arial"/>
                <a:ea typeface="Arial"/>
                <a:cs typeface="Arial"/>
              </a:rPr>
              <a:t>38</a:t>
            </a:r>
          </a:p>
        </p:txBody>
      </p:sp>
    </p:spTree>
    <p:extLst>
      <p:ext uri="{BB962C8B-B14F-4D97-AF65-F5344CB8AC3E}">
        <p14:creationId xmlns:p14="http://schemas.microsoft.com/office/powerpoint/2010/main" val="2879524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11" name="Smart City Example: Rotterdam">
            <a:extLst>
              <a:ext uri="{FF2B5EF4-FFF2-40B4-BE49-F238E27FC236}">
                <a16:creationId xmlns:a16="http://schemas.microsoft.com/office/drawing/2014/main" id="{44081D89-C963-4373-B074-79184979B851}"/>
              </a:ext>
            </a:extLst>
          </p:cNvPr>
          <p:cNvSpPr>
            <a:spLocks noGrp="1"/>
          </p:cNvSpPr>
          <p:nvPr/>
        </p:nvSpPr>
        <p:spPr>
          <a:xfrm>
            <a:off x="495300" y="381000"/>
            <a:ext cx="8096250" cy="952500"/>
          </a:xfrm>
          <a:prstGeom prst="rect">
            <a:avLst/>
          </a:prstGeom>
          <a:noFill/>
          <a:ln w="0">
            <a:noFill/>
          </a:ln>
        </p:spPr>
        <p:txBody>
          <a:bodyPr wrap="square" lIns="0" tIns="0" rIns="0" bIns="0" anchor="t">
            <a:noAutofit/>
          </a:bodyPr>
          <a:lstStyle/>
          <a:p>
            <a:pPr>
              <a:defRPr sz="2625" b="0" i="0">
                <a:solidFill>
                  <a:srgbClr val="173E35"/>
                </a:solidFill>
                <a:latin typeface="Georgia"/>
                <a:ea typeface="Georgia"/>
                <a:cs typeface="Georgia"/>
              </a:defRPr>
            </a:pPr>
            <a:r>
              <a:rPr sz="2625" b="0" i="0">
                <a:solidFill>
                  <a:srgbClr val="173E35"/>
                </a:solidFill>
                <a:latin typeface="Georgia"/>
                <a:ea typeface="Georgia"/>
                <a:cs typeface="Georgia"/>
              </a:rPr>
              <a:t>Smart City Example: Rotterdam</a:t>
            </a:r>
          </a:p>
        </p:txBody>
      </p:sp>
      <p:pic>
        <p:nvPicPr>
          <p:cNvPr id="12" name="Picture 11"/>
          <p:cNvPicPr>
            <a:picLocks noChangeAspect="1"/>
          </p:cNvPicPr>
          <p:nvPr/>
        </p:nvPicPr>
        <p:blipFill>
          <a:blip r:embed="rId3"/>
          <a:srcRect t="5738" b="5738"/>
          <a:stretch>
            <a:fillRect/>
          </a:stretch>
        </p:blipFill>
        <p:spPr>
          <a:xfrm>
            <a:off x="495300" y="1457325"/>
            <a:ext cx="4648200" cy="3086100"/>
          </a:xfrm>
          <a:prstGeom prst="rect">
            <a:avLst/>
          </a:prstGeom>
        </p:spPr>
      </p:pic>
      <p:sp>
        <p:nvSpPr>
          <p:cNvPr id="3" name="Benthemplein water square in dry mode">
            <a:extLst>
              <a:ext uri="{FF2B5EF4-FFF2-40B4-BE49-F238E27FC236}">
                <a16:creationId xmlns:a16="http://schemas.microsoft.com/office/drawing/2014/main" id="{7B743BE4-EC8C-4D5F-A3F6-85C576F8FA27}"/>
              </a:ext>
            </a:extLst>
          </p:cNvPr>
          <p:cNvSpPr>
            <a:spLocks noGrp="1"/>
          </p:cNvSpPr>
          <p:nvPr/>
        </p:nvSpPr>
        <p:spPr>
          <a:xfrm>
            <a:off x="495300" y="4591050"/>
            <a:ext cx="4648200" cy="209550"/>
          </a:xfrm>
          <a:prstGeom prst="rect">
            <a:avLst/>
          </a:prstGeom>
          <a:noFill/>
          <a:ln w="0">
            <a:noFill/>
          </a:ln>
        </p:spPr>
        <p:txBody>
          <a:bodyPr wrap="square" lIns="0" tIns="0" rIns="0" bIns="0" anchor="t">
            <a:noAutofit/>
          </a:bodyPr>
          <a:lstStyle/>
          <a:p>
            <a:pPr>
              <a:defRPr sz="1050" b="0" i="0">
                <a:solidFill>
                  <a:srgbClr val="58665B"/>
                </a:solidFill>
                <a:latin typeface="Arial"/>
                <a:ea typeface="Arial"/>
                <a:cs typeface="Arial"/>
              </a:defRPr>
            </a:pPr>
            <a:r>
              <a:rPr sz="1050" b="0" i="0">
                <a:solidFill>
                  <a:srgbClr val="58665B"/>
                </a:solidFill>
                <a:latin typeface="Arial"/>
                <a:ea typeface="Arial"/>
                <a:cs typeface="Arial"/>
              </a:rPr>
              <a:t>Benthemplein water square in dry mode</a:t>
            </a:r>
          </a:p>
        </p:txBody>
      </p:sp>
      <p:sp>
        <p:nvSpPr>
          <p:cNvPr id="4" name="Water Squares">
            <a:extLst>
              <a:ext uri="{FF2B5EF4-FFF2-40B4-BE49-F238E27FC236}">
                <a16:creationId xmlns:a16="http://schemas.microsoft.com/office/drawing/2014/main" id="{F0329105-2ED8-40A5-B18C-5D988BD7FF24}"/>
              </a:ext>
            </a:extLst>
          </p:cNvPr>
          <p:cNvSpPr>
            <a:spLocks noGrp="1"/>
          </p:cNvSpPr>
          <p:nvPr/>
        </p:nvSpPr>
        <p:spPr>
          <a:xfrm>
            <a:off x="5591175" y="1476375"/>
            <a:ext cx="3028950" cy="361950"/>
          </a:xfrm>
          <a:prstGeom prst="rect">
            <a:avLst/>
          </a:prstGeom>
          <a:noFill/>
          <a:ln w="0">
            <a:noFill/>
          </a:ln>
        </p:spPr>
        <p:txBody>
          <a:bodyPr wrap="square" lIns="0" tIns="0" rIns="0" bIns="0" anchor="t">
            <a:noAutofit/>
          </a:bodyPr>
          <a:lstStyle/>
          <a:p>
            <a:pPr>
              <a:defRPr sz="2100" b="0" i="0">
                <a:solidFill>
                  <a:srgbClr val="173E35"/>
                </a:solidFill>
                <a:latin typeface="Georgia"/>
                <a:ea typeface="Georgia"/>
                <a:cs typeface="Georgia"/>
              </a:defRPr>
            </a:pPr>
            <a:r>
              <a:rPr sz="2100" b="0" i="0">
                <a:solidFill>
                  <a:srgbClr val="173E35"/>
                </a:solidFill>
                <a:latin typeface="Georgia"/>
                <a:ea typeface="Georgia"/>
                <a:cs typeface="Georgia"/>
              </a:rPr>
              <a:t>Water Squares</a:t>
            </a:r>
          </a:p>
        </p:txBody>
      </p:sp>
      <p:sp>
        <p:nvSpPr>
          <p:cNvPr id="5" name="Public squares designed to store water during">
            <a:extLst>
              <a:ext uri="{FF2B5EF4-FFF2-40B4-BE49-F238E27FC236}">
                <a16:creationId xmlns:a16="http://schemas.microsoft.com/office/drawing/2014/main" id="{0AE4E120-2B39-4614-9A19-978931881FB0}"/>
              </a:ext>
            </a:extLst>
          </p:cNvPr>
          <p:cNvSpPr>
            <a:spLocks noGrp="1"/>
          </p:cNvSpPr>
          <p:nvPr/>
        </p:nvSpPr>
        <p:spPr>
          <a:xfrm>
            <a:off x="5591175" y="1971675"/>
            <a:ext cx="3028950" cy="1628775"/>
          </a:xfrm>
          <a:prstGeom prst="rect">
            <a:avLst/>
          </a:prstGeom>
          <a:noFill/>
          <a:ln w="0">
            <a:noFill/>
          </a:ln>
        </p:spPr>
        <p:txBody>
          <a:bodyPr wrap="square" lIns="0" tIns="0" rIns="0" bIns="0" anchor="t">
            <a:noAutofit/>
          </a:bodyPr>
          <a:lstStyle/>
          <a:p>
            <a:pPr>
              <a:defRPr sz="1725" b="0" i="0">
                <a:solidFill>
                  <a:srgbClr val="173E35"/>
                </a:solidFill>
                <a:latin typeface="Arial"/>
                <a:ea typeface="Arial"/>
                <a:cs typeface="Arial"/>
              </a:defRPr>
            </a:pPr>
            <a:r>
              <a:rPr sz="1725" b="0" i="0">
                <a:solidFill>
                  <a:srgbClr val="173E35"/>
                </a:solidFill>
                <a:latin typeface="Arial"/>
                <a:ea typeface="Arial"/>
                <a:cs typeface="Arial"/>
              </a:rPr>
              <a:t>Public squares designed to store water during storms — playgrounds and sports courts in dry weather, retention basins in heavy rain.</a:t>
            </a:r>
          </a:p>
        </p:txBody>
      </p:sp>
      <p:sp>
        <p:nvSpPr>
          <p:cNvPr id="6" name="Discussion">
            <a:extLst>
              <a:ext uri="{FF2B5EF4-FFF2-40B4-BE49-F238E27FC236}">
                <a16:creationId xmlns:a16="http://schemas.microsoft.com/office/drawing/2014/main" id="{12AF9024-C2A2-4D55-9C35-B993C671DD37}"/>
              </a:ext>
            </a:extLst>
          </p:cNvPr>
          <p:cNvSpPr>
            <a:spLocks noGrp="1"/>
          </p:cNvSpPr>
          <p:nvPr/>
        </p:nvSpPr>
        <p:spPr>
          <a:xfrm>
            <a:off x="5591175" y="3800475"/>
            <a:ext cx="3009900" cy="247650"/>
          </a:xfrm>
          <a:prstGeom prst="rect">
            <a:avLst/>
          </a:prstGeom>
          <a:noFill/>
          <a:ln w="0">
            <a:noFill/>
          </a:ln>
        </p:spPr>
        <p:txBody>
          <a:bodyPr wrap="square" lIns="0" tIns="0" rIns="0" bIns="0" anchor="t">
            <a:noAutofit/>
          </a:bodyPr>
          <a:lstStyle/>
          <a:p>
            <a:pPr>
              <a:defRPr sz="1350" b="0" i="0">
                <a:solidFill>
                  <a:srgbClr val="B56647"/>
                </a:solidFill>
                <a:latin typeface="Arial"/>
                <a:ea typeface="Arial"/>
                <a:cs typeface="Arial"/>
              </a:defRPr>
            </a:pPr>
            <a:r>
              <a:rPr sz="1350" b="0" i="0">
                <a:solidFill>
                  <a:srgbClr val="B56647"/>
                </a:solidFill>
                <a:latin typeface="Arial"/>
                <a:ea typeface="Arial"/>
                <a:cs typeface="Arial"/>
              </a:rPr>
              <a:t>Discussion</a:t>
            </a:r>
          </a:p>
        </p:txBody>
      </p:sp>
      <p:sp>
        <p:nvSpPr>
          <p:cNvPr id="7" name="Can infrastructure serve more than one purpos">
            <a:extLst>
              <a:ext uri="{FF2B5EF4-FFF2-40B4-BE49-F238E27FC236}">
                <a16:creationId xmlns:a16="http://schemas.microsoft.com/office/drawing/2014/main" id="{68B365C1-C5F2-4326-B3AF-44A226652797}"/>
              </a:ext>
            </a:extLst>
          </p:cNvPr>
          <p:cNvSpPr>
            <a:spLocks noGrp="1"/>
          </p:cNvSpPr>
          <p:nvPr/>
        </p:nvSpPr>
        <p:spPr>
          <a:xfrm>
            <a:off x="5591175" y="4162425"/>
            <a:ext cx="3019425" cy="600075"/>
          </a:xfrm>
          <a:prstGeom prst="rect">
            <a:avLst/>
          </a:prstGeom>
          <a:noFill/>
          <a:ln w="0">
            <a:noFill/>
          </a:ln>
        </p:spPr>
        <p:txBody>
          <a:bodyPr wrap="square" lIns="0" tIns="0" rIns="0" bIns="0" anchor="t">
            <a:noAutofit/>
          </a:bodyPr>
          <a:lstStyle/>
          <a:p>
            <a:pPr>
              <a:defRPr sz="1725" b="0" i="0">
                <a:solidFill>
                  <a:srgbClr val="173E35"/>
                </a:solidFill>
                <a:latin typeface="Georgia"/>
                <a:ea typeface="Georgia"/>
                <a:cs typeface="Georgia"/>
              </a:defRPr>
            </a:pPr>
            <a:r>
              <a:rPr sz="1725" b="0" i="0">
                <a:solidFill>
                  <a:srgbClr val="173E35"/>
                </a:solidFill>
                <a:latin typeface="Georgia"/>
                <a:ea typeface="Georgia"/>
                <a:cs typeface="Georgia"/>
              </a:rPr>
              <a:t>Can infrastructure serve more than one purpose?</a:t>
            </a:r>
          </a:p>
        </p:txBody>
      </p:sp>
      <p:pic>
        <p:nvPicPr>
          <p:cNvPr id="18" name="Picture 17"/>
          <p:cNvPicPr>
            <a:picLocks noChangeAspect="1"/>
          </p:cNvPicPr>
          <p:nvPr/>
        </p:nvPicPr>
        <p:blipFill>
          <a:blip r:embed="rId4"/>
          <a:stretch/>
        </p:blipFill>
        <p:spPr>
          <a:xfrm>
            <a:off x="499570" y="4829175"/>
            <a:ext cx="315310" cy="152400"/>
          </a:xfrm>
          <a:prstGeom prst="rect">
            <a:avLst/>
          </a:prstGeom>
        </p:spPr>
      </p:pic>
      <p:sp>
        <p:nvSpPr>
          <p:cNvPr id="9" name="www.newton.university">
            <a:extLst>
              <a:ext uri="{FF2B5EF4-FFF2-40B4-BE49-F238E27FC236}">
                <a16:creationId xmlns:a16="http://schemas.microsoft.com/office/drawing/2014/main" id="{948DEF63-6279-46D9-860A-1366F694448D}"/>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10" name="39">
            <a:extLst>
              <a:ext uri="{FF2B5EF4-FFF2-40B4-BE49-F238E27FC236}">
                <a16:creationId xmlns:a16="http://schemas.microsoft.com/office/drawing/2014/main" id="{AF77B305-8297-47B0-8390-DC2ADF98E3DF}"/>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58665B"/>
                </a:solidFill>
                <a:latin typeface="Arial"/>
                <a:ea typeface="Arial"/>
                <a:cs typeface="Arial"/>
              </a:defRPr>
            </a:pPr>
            <a:r>
              <a:rPr sz="1125" b="0" i="0">
                <a:solidFill>
                  <a:srgbClr val="58665B"/>
                </a:solidFill>
                <a:latin typeface="Arial"/>
                <a:ea typeface="Arial"/>
                <a:cs typeface="Arial"/>
              </a:rPr>
              <a:t>39</a:t>
            </a:r>
          </a:p>
        </p:txBody>
      </p:sp>
    </p:spTree>
    <p:extLst>
      <p:ext uri="{BB962C8B-B14F-4D97-AF65-F5344CB8AC3E}">
        <p14:creationId xmlns:p14="http://schemas.microsoft.com/office/powerpoint/2010/main" val="12875801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7" name="When the River Rises">
            <a:extLst>
              <a:ext uri="{FF2B5EF4-FFF2-40B4-BE49-F238E27FC236}">
                <a16:creationId xmlns:a16="http://schemas.microsoft.com/office/drawing/2014/main" id="{9F89E0AB-B325-4C38-A4F9-5C77CE714089}"/>
              </a:ext>
            </a:extLst>
          </p:cNvPr>
          <p:cNvSpPr>
            <a:spLocks noGrp="1"/>
          </p:cNvSpPr>
          <p:nvPr/>
        </p:nvSpPr>
        <p:spPr>
          <a:xfrm>
            <a:off x="495300" y="381000"/>
            <a:ext cx="8096250" cy="952500"/>
          </a:xfrm>
          <a:prstGeom prst="rect">
            <a:avLst/>
          </a:prstGeom>
          <a:noFill/>
          <a:ln w="0">
            <a:noFill/>
          </a:ln>
        </p:spPr>
        <p:txBody>
          <a:bodyPr wrap="square" lIns="0" tIns="0" rIns="0" bIns="0" anchor="t">
            <a:noAutofit/>
          </a:bodyPr>
          <a:lstStyle/>
          <a:p>
            <a:pPr>
              <a:defRPr sz="2775" b="0" i="0">
                <a:solidFill>
                  <a:srgbClr val="173E35"/>
                </a:solidFill>
                <a:latin typeface="Georgia"/>
                <a:ea typeface="Georgia"/>
                <a:cs typeface="Georgia"/>
              </a:defRPr>
            </a:pPr>
            <a:r>
              <a:rPr sz="2775" b="0" i="0">
                <a:solidFill>
                  <a:srgbClr val="173E35"/>
                </a:solidFill>
                <a:latin typeface="Georgia"/>
                <a:ea typeface="Georgia"/>
                <a:cs typeface="Georgia"/>
              </a:rPr>
              <a:t>When the River Rises</a:t>
            </a:r>
          </a:p>
        </p:txBody>
      </p:sp>
      <p:pic>
        <p:nvPicPr>
          <p:cNvPr id="8" name="Picture 7"/>
          <p:cNvPicPr>
            <a:picLocks noChangeAspect="1"/>
          </p:cNvPicPr>
          <p:nvPr/>
        </p:nvPicPr>
        <p:blipFill>
          <a:blip r:embed="rId3"/>
          <a:srcRect t="24922" b="24922"/>
          <a:stretch>
            <a:fillRect/>
          </a:stretch>
        </p:blipFill>
        <p:spPr>
          <a:xfrm>
            <a:off x="495300" y="1323975"/>
            <a:ext cx="8153400" cy="3067050"/>
          </a:xfrm>
          <a:prstGeom prst="rect">
            <a:avLst/>
          </a:prstGeom>
        </p:spPr>
      </p:pic>
      <p:sp>
        <p:nvSpPr>
          <p:cNvPr id="3" name="Vltava flood, 2013 — why flood resilience is ">
            <a:extLst>
              <a:ext uri="{FF2B5EF4-FFF2-40B4-BE49-F238E27FC236}">
                <a16:creationId xmlns:a16="http://schemas.microsoft.com/office/drawing/2014/main" id="{DF0D1C21-EAC4-4C87-93E6-58DEB2F396B1}"/>
              </a:ext>
            </a:extLst>
          </p:cNvPr>
          <p:cNvSpPr>
            <a:spLocks noGrp="1"/>
          </p:cNvSpPr>
          <p:nvPr/>
        </p:nvSpPr>
        <p:spPr>
          <a:xfrm>
            <a:off x="495300" y="4467225"/>
            <a:ext cx="8096250" cy="276225"/>
          </a:xfrm>
          <a:prstGeom prst="rect">
            <a:avLst/>
          </a:prstGeom>
          <a:noFill/>
          <a:ln w="0">
            <a:noFill/>
          </a:ln>
        </p:spPr>
        <p:txBody>
          <a:bodyPr wrap="square" lIns="0" tIns="0" rIns="0" bIns="0" anchor="t">
            <a:noAutofit/>
          </a:bodyPr>
          <a:lstStyle/>
          <a:p>
            <a:pPr>
              <a:defRPr sz="1125" b="0" i="0">
                <a:solidFill>
                  <a:srgbClr val="58665B"/>
                </a:solidFill>
                <a:latin typeface="Arial"/>
                <a:ea typeface="Arial"/>
                <a:cs typeface="Arial"/>
              </a:defRPr>
            </a:pPr>
            <a:r>
              <a:rPr sz="1125" b="0" i="0">
                <a:solidFill>
                  <a:srgbClr val="58665B"/>
                </a:solidFill>
                <a:latin typeface="Arial"/>
                <a:ea typeface="Arial"/>
                <a:cs typeface="Arial"/>
              </a:rPr>
              <a:t>Vltava flood, 2013 — why flood resilience is a Prague business issue</a:t>
            </a:r>
          </a:p>
        </p:txBody>
      </p:sp>
      <p:pic>
        <p:nvPicPr>
          <p:cNvPr id="10" name="Picture 9"/>
          <p:cNvPicPr>
            <a:picLocks noChangeAspect="1"/>
          </p:cNvPicPr>
          <p:nvPr/>
        </p:nvPicPr>
        <p:blipFill>
          <a:blip r:embed="rId4"/>
          <a:stretch/>
        </p:blipFill>
        <p:spPr>
          <a:xfrm>
            <a:off x="499570" y="4829175"/>
            <a:ext cx="315310" cy="152400"/>
          </a:xfrm>
          <a:prstGeom prst="rect">
            <a:avLst/>
          </a:prstGeom>
        </p:spPr>
      </p:pic>
      <p:sp>
        <p:nvSpPr>
          <p:cNvPr id="5" name="www.newton.university">
            <a:extLst>
              <a:ext uri="{FF2B5EF4-FFF2-40B4-BE49-F238E27FC236}">
                <a16:creationId xmlns:a16="http://schemas.microsoft.com/office/drawing/2014/main" id="{EACB25B3-D5F0-41A9-8956-14567B6670A8}"/>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6" name="40">
            <a:extLst>
              <a:ext uri="{FF2B5EF4-FFF2-40B4-BE49-F238E27FC236}">
                <a16:creationId xmlns:a16="http://schemas.microsoft.com/office/drawing/2014/main" id="{77B51614-FE3D-4868-8A55-0EF081DC7A78}"/>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58665B"/>
                </a:solidFill>
                <a:latin typeface="Arial"/>
                <a:ea typeface="Arial"/>
                <a:cs typeface="Arial"/>
              </a:defRPr>
            </a:pPr>
            <a:r>
              <a:rPr sz="1125" b="0" i="0">
                <a:solidFill>
                  <a:srgbClr val="58665B"/>
                </a:solidFill>
                <a:latin typeface="Arial"/>
                <a:ea typeface="Arial"/>
                <a:cs typeface="Arial"/>
              </a:rPr>
              <a:t>40</a:t>
            </a:r>
          </a:p>
        </p:txBody>
      </p:sp>
    </p:spTree>
    <p:extLst>
      <p:ext uri="{BB962C8B-B14F-4D97-AF65-F5344CB8AC3E}">
        <p14:creationId xmlns:p14="http://schemas.microsoft.com/office/powerpoint/2010/main" val="19263957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3" name="Editorial rule">
            <a:extLst>
              <a:ext uri="{FF2B5EF4-FFF2-40B4-BE49-F238E27FC236}">
                <a16:creationId xmlns:a16="http://schemas.microsoft.com/office/drawing/2014/main" id="{7725C5AB-C39D-46A0-ADCE-9AEB2FE3B1C4}"/>
              </a:ext>
            </a:extLst>
          </p:cNvPr>
          <p:cNvSpPr>
            <a:spLocks noGrp="1"/>
          </p:cNvSpPr>
          <p:nvPr/>
        </p:nvSpPr>
        <p:spPr>
          <a:xfrm>
            <a:off x="495300" y="1066800"/>
            <a:ext cx="8153400" cy="7620"/>
          </a:xfrm>
          <a:prstGeom prst="rect">
            <a:avLst/>
          </a:prstGeom>
          <a:solidFill>
            <a:srgbClr val="B7C3B1"/>
          </a:solidFill>
          <a:ln w="0">
            <a:noFill/>
          </a:ln>
        </p:spPr>
        <p:txBody>
          <a:bodyPr/>
          <a:lstStyle/>
          <a:p>
            <a:endParaRPr lang="en-US"/>
          </a:p>
        </p:txBody>
      </p:sp>
      <p:sp>
        <p:nvSpPr>
          <p:cNvPr id="2" name="Editorial rule">
            <a:extLst>
              <a:ext uri="{FF2B5EF4-FFF2-40B4-BE49-F238E27FC236}">
                <a16:creationId xmlns:a16="http://schemas.microsoft.com/office/drawing/2014/main" id="{868D38E8-1276-4502-ABA5-395A4F2DAD72}"/>
              </a:ext>
            </a:extLst>
          </p:cNvPr>
          <p:cNvSpPr>
            <a:spLocks noGrp="1"/>
          </p:cNvSpPr>
          <p:nvPr/>
        </p:nvSpPr>
        <p:spPr>
          <a:xfrm>
            <a:off x="495300" y="1052513"/>
            <a:ext cx="552450" cy="28575"/>
          </a:xfrm>
          <a:prstGeom prst="rect">
            <a:avLst/>
          </a:prstGeom>
          <a:solidFill>
            <a:srgbClr val="B56647"/>
          </a:solidFill>
          <a:ln w="0">
            <a:noFill/>
          </a:ln>
        </p:spPr>
        <p:txBody>
          <a:bodyPr/>
          <a:lstStyle/>
          <a:p>
            <a:endParaRPr lang="en-US"/>
          </a:p>
        </p:txBody>
      </p:sp>
      <p:sp>
        <p:nvSpPr>
          <p:cNvPr id="3" name="Editorial frame">
            <a:extLst>
              <a:ext uri="{FF2B5EF4-FFF2-40B4-BE49-F238E27FC236}">
                <a16:creationId xmlns:a16="http://schemas.microsoft.com/office/drawing/2014/main" id="{0BA35A40-3FF5-48A1-9152-349D2D0505EC}"/>
              </a:ext>
            </a:extLst>
          </p:cNvPr>
          <p:cNvSpPr>
            <a:spLocks noGrp="1"/>
          </p:cNvSpPr>
          <p:nvPr/>
        </p:nvSpPr>
        <p:spPr>
          <a:xfrm>
            <a:off x="361950" y="2295525"/>
            <a:ext cx="2724150" cy="2219325"/>
          </a:xfrm>
          <a:prstGeom prst="rect">
            <a:avLst/>
          </a:prstGeom>
          <a:solidFill>
            <a:srgbClr val="E0E9D8"/>
          </a:solidFill>
          <a:ln w="8573">
            <a:solidFill>
              <a:srgbClr val="BDCCB7"/>
            </a:solidFill>
          </a:ln>
        </p:spPr>
        <p:txBody>
          <a:bodyPr/>
          <a:lstStyle/>
          <a:p>
            <a:endParaRPr lang="en-US"/>
          </a:p>
        </p:txBody>
      </p:sp>
      <p:sp>
        <p:nvSpPr>
          <p:cNvPr id="4" name="Editorial frame">
            <a:extLst>
              <a:ext uri="{FF2B5EF4-FFF2-40B4-BE49-F238E27FC236}">
                <a16:creationId xmlns:a16="http://schemas.microsoft.com/office/drawing/2014/main" id="{449E312B-8071-44F7-B719-D3FE2E170035}"/>
              </a:ext>
            </a:extLst>
          </p:cNvPr>
          <p:cNvSpPr>
            <a:spLocks noGrp="1"/>
          </p:cNvSpPr>
          <p:nvPr/>
        </p:nvSpPr>
        <p:spPr>
          <a:xfrm>
            <a:off x="3143250" y="2295525"/>
            <a:ext cx="2724150" cy="2219325"/>
          </a:xfrm>
          <a:prstGeom prst="rect">
            <a:avLst/>
          </a:prstGeom>
          <a:solidFill>
            <a:srgbClr val="EFE4D7"/>
          </a:solidFill>
          <a:ln w="8573">
            <a:solidFill>
              <a:srgbClr val="CDB79E"/>
            </a:solidFill>
          </a:ln>
        </p:spPr>
        <p:txBody>
          <a:bodyPr/>
          <a:lstStyle/>
          <a:p>
            <a:endParaRPr lang="en-US"/>
          </a:p>
        </p:txBody>
      </p:sp>
      <p:sp>
        <p:nvSpPr>
          <p:cNvPr id="5" name="Editorial frame">
            <a:extLst>
              <a:ext uri="{FF2B5EF4-FFF2-40B4-BE49-F238E27FC236}">
                <a16:creationId xmlns:a16="http://schemas.microsoft.com/office/drawing/2014/main" id="{BA74F294-1C15-4E8B-865A-88EC386CB3F5}"/>
              </a:ext>
            </a:extLst>
          </p:cNvPr>
          <p:cNvSpPr>
            <a:spLocks noGrp="1"/>
          </p:cNvSpPr>
          <p:nvPr/>
        </p:nvSpPr>
        <p:spPr>
          <a:xfrm>
            <a:off x="5924550" y="2295525"/>
            <a:ext cx="2857500" cy="2219325"/>
          </a:xfrm>
          <a:prstGeom prst="rect">
            <a:avLst/>
          </a:prstGeom>
          <a:solidFill>
            <a:srgbClr val="E8E7D9"/>
          </a:solidFill>
          <a:ln w="8573">
            <a:solidFill>
              <a:srgbClr val="BDCCB7"/>
            </a:solidFill>
          </a:ln>
        </p:spPr>
        <p:txBody>
          <a:bodyPr/>
          <a:lstStyle/>
          <a:p>
            <a:endParaRPr lang="en-US"/>
          </a:p>
        </p:txBody>
      </p:sp>
      <p:sp>
        <p:nvSpPr>
          <p:cNvPr id="6" name="Editorial rule">
            <a:extLst>
              <a:ext uri="{FF2B5EF4-FFF2-40B4-BE49-F238E27FC236}">
                <a16:creationId xmlns:a16="http://schemas.microsoft.com/office/drawing/2014/main" id="{89798E08-CAD7-4639-8F9A-3E282356F0DC}"/>
              </a:ext>
            </a:extLst>
          </p:cNvPr>
          <p:cNvSpPr>
            <a:spLocks noGrp="1"/>
          </p:cNvSpPr>
          <p:nvPr/>
        </p:nvSpPr>
        <p:spPr>
          <a:xfrm>
            <a:off x="361950" y="2295525"/>
            <a:ext cx="2724150" cy="38100"/>
          </a:xfrm>
          <a:prstGeom prst="rect">
            <a:avLst/>
          </a:prstGeom>
          <a:solidFill>
            <a:srgbClr val="173E35"/>
          </a:solidFill>
          <a:ln w="0">
            <a:noFill/>
          </a:ln>
        </p:spPr>
        <p:txBody>
          <a:bodyPr/>
          <a:lstStyle/>
          <a:p>
            <a:endParaRPr lang="en-US"/>
          </a:p>
        </p:txBody>
      </p:sp>
      <p:sp>
        <p:nvSpPr>
          <p:cNvPr id="7" name="Editorial rule">
            <a:extLst>
              <a:ext uri="{FF2B5EF4-FFF2-40B4-BE49-F238E27FC236}">
                <a16:creationId xmlns:a16="http://schemas.microsoft.com/office/drawing/2014/main" id="{A3C92CD1-E6C8-4F7B-9F67-D7190F1A9A1F}"/>
              </a:ext>
            </a:extLst>
          </p:cNvPr>
          <p:cNvSpPr>
            <a:spLocks noGrp="1"/>
          </p:cNvSpPr>
          <p:nvPr/>
        </p:nvSpPr>
        <p:spPr>
          <a:xfrm>
            <a:off x="3143250" y="2295525"/>
            <a:ext cx="2724150" cy="38100"/>
          </a:xfrm>
          <a:prstGeom prst="rect">
            <a:avLst/>
          </a:prstGeom>
          <a:solidFill>
            <a:srgbClr val="B56647"/>
          </a:solidFill>
          <a:ln w="0">
            <a:noFill/>
          </a:ln>
        </p:spPr>
        <p:txBody>
          <a:bodyPr/>
          <a:lstStyle/>
          <a:p>
            <a:endParaRPr lang="en-US"/>
          </a:p>
        </p:txBody>
      </p:sp>
      <p:sp>
        <p:nvSpPr>
          <p:cNvPr id="8" name="Editorial rule">
            <a:extLst>
              <a:ext uri="{FF2B5EF4-FFF2-40B4-BE49-F238E27FC236}">
                <a16:creationId xmlns:a16="http://schemas.microsoft.com/office/drawing/2014/main" id="{F20A0A8E-C0C3-4341-B339-B530BF81B4EC}"/>
              </a:ext>
            </a:extLst>
          </p:cNvPr>
          <p:cNvSpPr>
            <a:spLocks noGrp="1"/>
          </p:cNvSpPr>
          <p:nvPr/>
        </p:nvSpPr>
        <p:spPr>
          <a:xfrm>
            <a:off x="5924550" y="2295525"/>
            <a:ext cx="2857500" cy="38100"/>
          </a:xfrm>
          <a:prstGeom prst="rect">
            <a:avLst/>
          </a:prstGeom>
          <a:solidFill>
            <a:srgbClr val="9E8B67"/>
          </a:solidFill>
          <a:ln w="0">
            <a:noFill/>
          </a:ln>
        </p:spPr>
        <p:txBody>
          <a:bodyPr/>
          <a:lstStyle/>
          <a:p>
            <a:endParaRPr lang="en-US"/>
          </a:p>
        </p:txBody>
      </p:sp>
      <p:sp>
        <p:nvSpPr>
          <p:cNvPr id="9" name="Prague Case Study: Vltava River Corridor">
            <a:extLst>
              <a:ext uri="{FF2B5EF4-FFF2-40B4-BE49-F238E27FC236}">
                <a16:creationId xmlns:a16="http://schemas.microsoft.com/office/drawing/2014/main" id="{C0170793-FCB2-43A9-B958-DAD44C7B988B}"/>
              </a:ext>
            </a:extLst>
          </p:cNvPr>
          <p:cNvSpPr>
            <a:spLocks noGrp="1"/>
          </p:cNvSpPr>
          <p:nvPr/>
        </p:nvSpPr>
        <p:spPr>
          <a:xfrm>
            <a:off x="495300" y="381000"/>
            <a:ext cx="8096250" cy="952500"/>
          </a:xfrm>
          <a:prstGeom prst="rect">
            <a:avLst/>
          </a:prstGeom>
          <a:noFill/>
          <a:ln w="0">
            <a:noFill/>
          </a:ln>
        </p:spPr>
        <p:txBody>
          <a:bodyPr wrap="square" lIns="0" tIns="0" rIns="0" bIns="0" anchor="t">
            <a:noAutofit/>
          </a:bodyPr>
          <a:lstStyle/>
          <a:p>
            <a:pPr>
              <a:defRPr sz="2550" b="0" i="0">
                <a:solidFill>
                  <a:srgbClr val="173E35"/>
                </a:solidFill>
                <a:latin typeface="Georgia"/>
                <a:ea typeface="Georgia"/>
                <a:cs typeface="Georgia"/>
              </a:defRPr>
            </a:pPr>
            <a:r>
              <a:rPr sz="2550" b="0" i="0">
                <a:solidFill>
                  <a:srgbClr val="173E35"/>
                </a:solidFill>
                <a:latin typeface="Georgia"/>
                <a:ea typeface="Georgia"/>
                <a:cs typeface="Georgia"/>
              </a:rPr>
              <a:t>Prague Case Study: Vltava River Corridor</a:t>
            </a:r>
          </a:p>
        </p:txBody>
      </p:sp>
      <p:sp>
        <p:nvSpPr>
          <p:cNvPr id="10" name="What ecosystem services does the river corrid">
            <a:extLst>
              <a:ext uri="{FF2B5EF4-FFF2-40B4-BE49-F238E27FC236}">
                <a16:creationId xmlns:a16="http://schemas.microsoft.com/office/drawing/2014/main" id="{8CA46ED5-0DBD-46B9-89E5-7C8D0BE74DF7}"/>
              </a:ext>
            </a:extLst>
          </p:cNvPr>
          <p:cNvSpPr>
            <a:spLocks noGrp="1"/>
          </p:cNvSpPr>
          <p:nvPr/>
        </p:nvSpPr>
        <p:spPr>
          <a:xfrm>
            <a:off x="495300" y="1285875"/>
            <a:ext cx="8029575" cy="571500"/>
          </a:xfrm>
          <a:prstGeom prst="rect">
            <a:avLst/>
          </a:prstGeom>
          <a:noFill/>
          <a:ln w="0">
            <a:noFill/>
          </a:ln>
        </p:spPr>
        <p:txBody>
          <a:bodyPr wrap="square" lIns="0" tIns="0" rIns="0" bIns="0" anchor="t">
            <a:noAutofit/>
          </a:bodyPr>
          <a:lstStyle/>
          <a:p>
            <a:pPr>
              <a:defRPr sz="1950" b="0" i="0">
                <a:solidFill>
                  <a:srgbClr val="58665B"/>
                </a:solidFill>
                <a:latin typeface="Georgia"/>
                <a:ea typeface="Georgia"/>
                <a:cs typeface="Georgia"/>
              </a:defRPr>
            </a:pPr>
            <a:r>
              <a:rPr sz="1950" b="0" i="0">
                <a:solidFill>
                  <a:srgbClr val="58665B"/>
                </a:solidFill>
                <a:latin typeface="Georgia"/>
                <a:ea typeface="Georgia"/>
                <a:cs typeface="Georgia"/>
              </a:rPr>
              <a:t>What ecosystem services does the river corridor provide?</a:t>
            </a:r>
          </a:p>
        </p:txBody>
      </p:sp>
      <p:sp>
        <p:nvSpPr>
          <p:cNvPr id="11" name="Environmental">
            <a:extLst>
              <a:ext uri="{FF2B5EF4-FFF2-40B4-BE49-F238E27FC236}">
                <a16:creationId xmlns:a16="http://schemas.microsoft.com/office/drawing/2014/main" id="{8B082127-0199-4D81-A40E-F1CBFC872832}"/>
              </a:ext>
            </a:extLst>
          </p:cNvPr>
          <p:cNvSpPr>
            <a:spLocks noGrp="1"/>
          </p:cNvSpPr>
          <p:nvPr/>
        </p:nvSpPr>
        <p:spPr>
          <a:xfrm>
            <a:off x="495300" y="2486025"/>
            <a:ext cx="2543175" cy="609600"/>
          </a:xfrm>
          <a:prstGeom prst="rect">
            <a:avLst/>
          </a:prstGeom>
          <a:noFill/>
          <a:ln w="0">
            <a:noFill/>
          </a:ln>
        </p:spPr>
        <p:txBody>
          <a:bodyPr wrap="square" lIns="0" tIns="0" rIns="0" bIns="0" anchor="t">
            <a:noAutofit/>
          </a:bodyPr>
          <a:lstStyle/>
          <a:p>
            <a:pPr>
              <a:defRPr sz="2175" b="0" i="0">
                <a:solidFill>
                  <a:srgbClr val="173E35"/>
                </a:solidFill>
                <a:latin typeface="Georgia"/>
                <a:ea typeface="Georgia"/>
                <a:cs typeface="Georgia"/>
              </a:defRPr>
            </a:pPr>
            <a:r>
              <a:rPr sz="2175" b="0" i="0">
                <a:solidFill>
                  <a:srgbClr val="173E35"/>
                </a:solidFill>
                <a:latin typeface="Georgia"/>
                <a:ea typeface="Georgia"/>
                <a:cs typeface="Georgia"/>
              </a:rPr>
              <a:t>Environmental</a:t>
            </a:r>
          </a:p>
        </p:txBody>
      </p:sp>
      <p:sp>
        <p:nvSpPr>
          <p:cNvPr id="12" name="Flood management">
            <a:extLst>
              <a:ext uri="{FF2B5EF4-FFF2-40B4-BE49-F238E27FC236}">
                <a16:creationId xmlns:a16="http://schemas.microsoft.com/office/drawing/2014/main" id="{D2507E43-07FD-4106-905C-067F9D255F9C}"/>
              </a:ext>
            </a:extLst>
          </p:cNvPr>
          <p:cNvSpPr>
            <a:spLocks noGrp="1"/>
          </p:cNvSpPr>
          <p:nvPr/>
        </p:nvSpPr>
        <p:spPr>
          <a:xfrm>
            <a:off x="495300" y="3352800"/>
            <a:ext cx="2543175" cy="595313"/>
          </a:xfrm>
          <a:prstGeom prst="rect">
            <a:avLst/>
          </a:prstGeom>
          <a:noFill/>
          <a:ln w="0">
            <a:noFill/>
          </a:ln>
        </p:spPr>
        <p:txBody>
          <a:bodyPr wrap="square" lIns="0" tIns="0" rIns="0" bIns="0" anchor="t">
            <a:noAutofit/>
          </a:bodyPr>
          <a:lstStyle/>
          <a:p>
            <a:pPr>
              <a:defRPr sz="1875" b="0" i="0">
                <a:solidFill>
                  <a:srgbClr val="173E35"/>
                </a:solidFill>
                <a:latin typeface="Arial"/>
                <a:ea typeface="Arial"/>
                <a:cs typeface="Arial"/>
              </a:defRPr>
            </a:pPr>
            <a:r>
              <a:rPr sz="1875" b="0" i="0">
                <a:solidFill>
                  <a:srgbClr val="173E35"/>
                </a:solidFill>
                <a:latin typeface="Arial"/>
                <a:ea typeface="Arial"/>
                <a:cs typeface="Arial"/>
              </a:rPr>
              <a:t>Flood management</a:t>
            </a:r>
          </a:p>
        </p:txBody>
      </p:sp>
      <p:sp>
        <p:nvSpPr>
          <p:cNvPr id="13" name="Habitat corridor">
            <a:extLst>
              <a:ext uri="{FF2B5EF4-FFF2-40B4-BE49-F238E27FC236}">
                <a16:creationId xmlns:a16="http://schemas.microsoft.com/office/drawing/2014/main" id="{C0160202-4113-4B56-868D-0B30CDCB1AF6}"/>
              </a:ext>
            </a:extLst>
          </p:cNvPr>
          <p:cNvSpPr>
            <a:spLocks noGrp="1"/>
          </p:cNvSpPr>
          <p:nvPr/>
        </p:nvSpPr>
        <p:spPr>
          <a:xfrm>
            <a:off x="495300" y="3790950"/>
            <a:ext cx="2543175" cy="595313"/>
          </a:xfrm>
          <a:prstGeom prst="rect">
            <a:avLst/>
          </a:prstGeom>
          <a:noFill/>
          <a:ln w="0">
            <a:noFill/>
          </a:ln>
        </p:spPr>
        <p:txBody>
          <a:bodyPr wrap="square" lIns="0" tIns="0" rIns="0" bIns="0" anchor="t">
            <a:noAutofit/>
          </a:bodyPr>
          <a:lstStyle/>
          <a:p>
            <a:pPr>
              <a:defRPr sz="1875" b="0" i="0">
                <a:solidFill>
                  <a:srgbClr val="173E35"/>
                </a:solidFill>
                <a:latin typeface="Arial"/>
                <a:ea typeface="Arial"/>
                <a:cs typeface="Arial"/>
              </a:defRPr>
            </a:pPr>
            <a:r>
              <a:rPr sz="1875" b="0" i="0">
                <a:solidFill>
                  <a:srgbClr val="173E35"/>
                </a:solidFill>
                <a:latin typeface="Arial"/>
                <a:ea typeface="Arial"/>
                <a:cs typeface="Arial"/>
              </a:rPr>
              <a:t>Habitat corridor</a:t>
            </a:r>
          </a:p>
        </p:txBody>
      </p:sp>
      <p:sp>
        <p:nvSpPr>
          <p:cNvPr id="14" name="Social">
            <a:extLst>
              <a:ext uri="{FF2B5EF4-FFF2-40B4-BE49-F238E27FC236}">
                <a16:creationId xmlns:a16="http://schemas.microsoft.com/office/drawing/2014/main" id="{EF569395-27D0-4947-A0D1-7BE463E581F8}"/>
              </a:ext>
            </a:extLst>
          </p:cNvPr>
          <p:cNvSpPr>
            <a:spLocks noGrp="1"/>
          </p:cNvSpPr>
          <p:nvPr/>
        </p:nvSpPr>
        <p:spPr>
          <a:xfrm>
            <a:off x="3257550" y="2486025"/>
            <a:ext cx="2543175" cy="609600"/>
          </a:xfrm>
          <a:prstGeom prst="rect">
            <a:avLst/>
          </a:prstGeom>
          <a:noFill/>
          <a:ln w="0">
            <a:noFill/>
          </a:ln>
        </p:spPr>
        <p:txBody>
          <a:bodyPr wrap="square" lIns="0" tIns="0" rIns="0" bIns="0" anchor="t">
            <a:noAutofit/>
          </a:bodyPr>
          <a:lstStyle/>
          <a:p>
            <a:pPr>
              <a:defRPr sz="2175" b="0" i="0">
                <a:solidFill>
                  <a:srgbClr val="173E35"/>
                </a:solidFill>
                <a:latin typeface="Georgia"/>
                <a:ea typeface="Georgia"/>
                <a:cs typeface="Georgia"/>
              </a:defRPr>
            </a:pPr>
            <a:r>
              <a:rPr sz="2175" b="0" i="0">
                <a:solidFill>
                  <a:srgbClr val="173E35"/>
                </a:solidFill>
                <a:latin typeface="Georgia"/>
                <a:ea typeface="Georgia"/>
                <a:cs typeface="Georgia"/>
              </a:rPr>
              <a:t>Social</a:t>
            </a:r>
          </a:p>
        </p:txBody>
      </p:sp>
      <p:sp>
        <p:nvSpPr>
          <p:cNvPr id="15" name="Tourism">
            <a:extLst>
              <a:ext uri="{FF2B5EF4-FFF2-40B4-BE49-F238E27FC236}">
                <a16:creationId xmlns:a16="http://schemas.microsoft.com/office/drawing/2014/main" id="{B9A49830-2673-4148-8EF3-EA4000B329ED}"/>
              </a:ext>
            </a:extLst>
          </p:cNvPr>
          <p:cNvSpPr>
            <a:spLocks noGrp="1"/>
          </p:cNvSpPr>
          <p:nvPr/>
        </p:nvSpPr>
        <p:spPr>
          <a:xfrm>
            <a:off x="3257550" y="3352800"/>
            <a:ext cx="2543175" cy="595313"/>
          </a:xfrm>
          <a:prstGeom prst="rect">
            <a:avLst/>
          </a:prstGeom>
          <a:noFill/>
          <a:ln w="0">
            <a:noFill/>
          </a:ln>
        </p:spPr>
        <p:txBody>
          <a:bodyPr wrap="square" lIns="0" tIns="0" rIns="0" bIns="0" anchor="t">
            <a:noAutofit/>
          </a:bodyPr>
          <a:lstStyle/>
          <a:p>
            <a:pPr>
              <a:defRPr sz="1875" b="0" i="0">
                <a:solidFill>
                  <a:srgbClr val="173E35"/>
                </a:solidFill>
                <a:latin typeface="Arial"/>
                <a:ea typeface="Arial"/>
                <a:cs typeface="Arial"/>
              </a:defRPr>
            </a:pPr>
            <a:r>
              <a:rPr sz="1875" b="0" i="0">
                <a:solidFill>
                  <a:srgbClr val="173E35"/>
                </a:solidFill>
                <a:latin typeface="Arial"/>
                <a:ea typeface="Arial"/>
                <a:cs typeface="Arial"/>
              </a:rPr>
              <a:t>Tourism</a:t>
            </a:r>
          </a:p>
        </p:txBody>
      </p:sp>
      <p:sp>
        <p:nvSpPr>
          <p:cNvPr id="16" name="Recreation">
            <a:extLst>
              <a:ext uri="{FF2B5EF4-FFF2-40B4-BE49-F238E27FC236}">
                <a16:creationId xmlns:a16="http://schemas.microsoft.com/office/drawing/2014/main" id="{99E5E306-6B20-49CE-9D2E-239181925F5C}"/>
              </a:ext>
            </a:extLst>
          </p:cNvPr>
          <p:cNvSpPr>
            <a:spLocks noGrp="1"/>
          </p:cNvSpPr>
          <p:nvPr/>
        </p:nvSpPr>
        <p:spPr>
          <a:xfrm>
            <a:off x="3257550" y="3790950"/>
            <a:ext cx="2543175" cy="595313"/>
          </a:xfrm>
          <a:prstGeom prst="rect">
            <a:avLst/>
          </a:prstGeom>
          <a:noFill/>
          <a:ln w="0">
            <a:noFill/>
          </a:ln>
        </p:spPr>
        <p:txBody>
          <a:bodyPr wrap="square" lIns="0" tIns="0" rIns="0" bIns="0" anchor="t">
            <a:noAutofit/>
          </a:bodyPr>
          <a:lstStyle/>
          <a:p>
            <a:pPr>
              <a:defRPr sz="1875" b="0" i="0">
                <a:solidFill>
                  <a:srgbClr val="173E35"/>
                </a:solidFill>
                <a:latin typeface="Arial"/>
                <a:ea typeface="Arial"/>
                <a:cs typeface="Arial"/>
              </a:defRPr>
            </a:pPr>
            <a:r>
              <a:rPr sz="1875" b="0" i="0">
                <a:solidFill>
                  <a:srgbClr val="173E35"/>
                </a:solidFill>
                <a:latin typeface="Arial"/>
                <a:ea typeface="Arial"/>
                <a:cs typeface="Arial"/>
              </a:rPr>
              <a:t>Recreation</a:t>
            </a:r>
          </a:p>
        </p:txBody>
      </p:sp>
      <p:sp>
        <p:nvSpPr>
          <p:cNvPr id="17" name="Economic">
            <a:extLst>
              <a:ext uri="{FF2B5EF4-FFF2-40B4-BE49-F238E27FC236}">
                <a16:creationId xmlns:a16="http://schemas.microsoft.com/office/drawing/2014/main" id="{2A7A4202-42E8-4272-B9D8-0F35769D5CFE}"/>
              </a:ext>
            </a:extLst>
          </p:cNvPr>
          <p:cNvSpPr>
            <a:spLocks noGrp="1"/>
          </p:cNvSpPr>
          <p:nvPr/>
        </p:nvSpPr>
        <p:spPr>
          <a:xfrm>
            <a:off x="6019800" y="2486025"/>
            <a:ext cx="2543175" cy="609600"/>
          </a:xfrm>
          <a:prstGeom prst="rect">
            <a:avLst/>
          </a:prstGeom>
          <a:noFill/>
          <a:ln w="0">
            <a:noFill/>
          </a:ln>
        </p:spPr>
        <p:txBody>
          <a:bodyPr wrap="square" lIns="0" tIns="0" rIns="0" bIns="0" anchor="t">
            <a:noAutofit/>
          </a:bodyPr>
          <a:lstStyle/>
          <a:p>
            <a:pPr>
              <a:defRPr sz="2175" b="0" i="0">
                <a:solidFill>
                  <a:srgbClr val="173E35"/>
                </a:solidFill>
                <a:latin typeface="Georgia"/>
                <a:ea typeface="Georgia"/>
                <a:cs typeface="Georgia"/>
              </a:defRPr>
            </a:pPr>
            <a:r>
              <a:rPr sz="2175" b="0" i="0">
                <a:solidFill>
                  <a:srgbClr val="173E35"/>
                </a:solidFill>
                <a:latin typeface="Georgia"/>
                <a:ea typeface="Georgia"/>
                <a:cs typeface="Georgia"/>
              </a:rPr>
              <a:t>Economic</a:t>
            </a:r>
          </a:p>
        </p:txBody>
      </p:sp>
      <p:sp>
        <p:nvSpPr>
          <p:cNvPr id="18" name="Property value">
            <a:extLst>
              <a:ext uri="{FF2B5EF4-FFF2-40B4-BE49-F238E27FC236}">
                <a16:creationId xmlns:a16="http://schemas.microsoft.com/office/drawing/2014/main" id="{FAF9A542-0910-4442-AC43-CC85B8342922}"/>
              </a:ext>
            </a:extLst>
          </p:cNvPr>
          <p:cNvSpPr>
            <a:spLocks noGrp="1"/>
          </p:cNvSpPr>
          <p:nvPr/>
        </p:nvSpPr>
        <p:spPr>
          <a:xfrm>
            <a:off x="6019800" y="3352800"/>
            <a:ext cx="2543175" cy="595313"/>
          </a:xfrm>
          <a:prstGeom prst="rect">
            <a:avLst/>
          </a:prstGeom>
          <a:noFill/>
          <a:ln w="0">
            <a:noFill/>
          </a:ln>
        </p:spPr>
        <p:txBody>
          <a:bodyPr wrap="square" lIns="0" tIns="0" rIns="0" bIns="0" anchor="t">
            <a:noAutofit/>
          </a:bodyPr>
          <a:lstStyle/>
          <a:p>
            <a:pPr>
              <a:defRPr sz="1875" b="0" i="0">
                <a:solidFill>
                  <a:srgbClr val="173E35"/>
                </a:solidFill>
                <a:latin typeface="Arial"/>
                <a:ea typeface="Arial"/>
                <a:cs typeface="Arial"/>
              </a:defRPr>
            </a:pPr>
            <a:r>
              <a:rPr sz="1875" b="0" i="0">
                <a:solidFill>
                  <a:srgbClr val="173E35"/>
                </a:solidFill>
                <a:latin typeface="Arial"/>
                <a:ea typeface="Arial"/>
                <a:cs typeface="Arial"/>
              </a:rPr>
              <a:t>Property value</a:t>
            </a:r>
          </a:p>
        </p:txBody>
      </p:sp>
      <p:sp>
        <p:nvSpPr>
          <p:cNvPr id="19" name="City attractiveness">
            <a:extLst>
              <a:ext uri="{FF2B5EF4-FFF2-40B4-BE49-F238E27FC236}">
                <a16:creationId xmlns:a16="http://schemas.microsoft.com/office/drawing/2014/main" id="{8D10EB90-6B24-444F-AB3A-FEB26F1EFFE0}"/>
              </a:ext>
            </a:extLst>
          </p:cNvPr>
          <p:cNvSpPr>
            <a:spLocks noGrp="1"/>
          </p:cNvSpPr>
          <p:nvPr/>
        </p:nvSpPr>
        <p:spPr>
          <a:xfrm>
            <a:off x="6019800" y="3790950"/>
            <a:ext cx="2543175" cy="595313"/>
          </a:xfrm>
          <a:prstGeom prst="rect">
            <a:avLst/>
          </a:prstGeom>
          <a:noFill/>
          <a:ln w="0">
            <a:noFill/>
          </a:ln>
        </p:spPr>
        <p:txBody>
          <a:bodyPr wrap="square" lIns="0" tIns="0" rIns="0" bIns="0" anchor="t">
            <a:noAutofit/>
          </a:bodyPr>
          <a:lstStyle/>
          <a:p>
            <a:pPr>
              <a:defRPr sz="1875" b="0" i="0">
                <a:solidFill>
                  <a:srgbClr val="173E35"/>
                </a:solidFill>
                <a:latin typeface="Arial"/>
                <a:ea typeface="Arial"/>
                <a:cs typeface="Arial"/>
              </a:defRPr>
            </a:pPr>
            <a:r>
              <a:rPr sz="1875" b="0" i="0">
                <a:solidFill>
                  <a:srgbClr val="173E35"/>
                </a:solidFill>
                <a:latin typeface="Arial"/>
                <a:ea typeface="Arial"/>
                <a:cs typeface="Arial"/>
              </a:rPr>
              <a:t>City attractiveness</a:t>
            </a:r>
          </a:p>
        </p:txBody>
      </p:sp>
      <p:pic>
        <p:nvPicPr>
          <p:cNvPr id="42" name="Picture 41"/>
          <p:cNvPicPr>
            <a:picLocks noChangeAspect="1"/>
          </p:cNvPicPr>
          <p:nvPr/>
        </p:nvPicPr>
        <p:blipFill>
          <a:blip r:embed="rId3"/>
          <a:stretch/>
        </p:blipFill>
        <p:spPr>
          <a:xfrm>
            <a:off x="499570" y="4829175"/>
            <a:ext cx="315310" cy="152400"/>
          </a:xfrm>
          <a:prstGeom prst="rect">
            <a:avLst/>
          </a:prstGeom>
        </p:spPr>
      </p:pic>
      <p:sp>
        <p:nvSpPr>
          <p:cNvPr id="21" name="www.newton.university">
            <a:extLst>
              <a:ext uri="{FF2B5EF4-FFF2-40B4-BE49-F238E27FC236}">
                <a16:creationId xmlns:a16="http://schemas.microsoft.com/office/drawing/2014/main" id="{45B971B5-CE7B-488A-A04C-03AF12DABDC7}"/>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22" name="41">
            <a:extLst>
              <a:ext uri="{FF2B5EF4-FFF2-40B4-BE49-F238E27FC236}">
                <a16:creationId xmlns:a16="http://schemas.microsoft.com/office/drawing/2014/main" id="{F72F6BFB-D741-463B-AD67-8AA0D22C91DC}"/>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58665B"/>
                </a:solidFill>
                <a:latin typeface="Arial"/>
                <a:ea typeface="Arial"/>
                <a:cs typeface="Arial"/>
              </a:defRPr>
            </a:pPr>
            <a:r>
              <a:rPr sz="1125" b="0" i="0">
                <a:solidFill>
                  <a:srgbClr val="58665B"/>
                </a:solidFill>
                <a:latin typeface="Arial"/>
                <a:ea typeface="Arial"/>
                <a:cs typeface="Arial"/>
              </a:rPr>
              <a:t>41</a:t>
            </a:r>
          </a:p>
        </p:txBody>
      </p:sp>
    </p:spTree>
    <p:extLst>
      <p:ext uri="{BB962C8B-B14F-4D97-AF65-F5344CB8AC3E}">
        <p14:creationId xmlns:p14="http://schemas.microsoft.com/office/powerpoint/2010/main" val="19963319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DDE5D8"/>
        </a:solidFill>
        <a:effectLst/>
      </p:bgPr>
    </p:bg>
    <p:spTree>
      <p:nvGrpSpPr>
        <p:cNvPr id="1" name=""/>
        <p:cNvGrpSpPr/>
        <p:nvPr/>
      </p:nvGrpSpPr>
      <p:grpSpPr>
        <a:xfrm>
          <a:off x="0" y="0"/>
          <a:ext cx="0" cy="0"/>
          <a:chOff x="0" y="0"/>
          <a:chExt cx="0" cy="0"/>
        </a:xfrm>
      </p:grpSpPr>
      <p:sp>
        <p:nvSpPr>
          <p:cNvPr id="18" name="Editorial rule">
            <a:extLst>
              <a:ext uri="{FF2B5EF4-FFF2-40B4-BE49-F238E27FC236}">
                <a16:creationId xmlns:a16="http://schemas.microsoft.com/office/drawing/2014/main" id="{DF475BF9-B5BA-4C53-90C5-F4B502D51440}"/>
              </a:ext>
            </a:extLst>
          </p:cNvPr>
          <p:cNvSpPr>
            <a:spLocks noGrp="1"/>
          </p:cNvSpPr>
          <p:nvPr/>
        </p:nvSpPr>
        <p:spPr>
          <a:xfrm>
            <a:off x="495300" y="1066800"/>
            <a:ext cx="8153400" cy="7620"/>
          </a:xfrm>
          <a:prstGeom prst="rect">
            <a:avLst/>
          </a:prstGeom>
          <a:solidFill>
            <a:srgbClr val="B7C3B1"/>
          </a:solidFill>
          <a:ln w="0">
            <a:noFill/>
          </a:ln>
        </p:spPr>
        <p:txBody>
          <a:bodyPr/>
          <a:lstStyle/>
          <a:p>
            <a:endParaRPr lang="en-US"/>
          </a:p>
        </p:txBody>
      </p:sp>
      <p:sp>
        <p:nvSpPr>
          <p:cNvPr id="2" name="Editorial rule">
            <a:extLst>
              <a:ext uri="{FF2B5EF4-FFF2-40B4-BE49-F238E27FC236}">
                <a16:creationId xmlns:a16="http://schemas.microsoft.com/office/drawing/2014/main" id="{CBED8736-1EA3-42F0-A358-153D4E04554E}"/>
              </a:ext>
            </a:extLst>
          </p:cNvPr>
          <p:cNvSpPr>
            <a:spLocks noGrp="1"/>
          </p:cNvSpPr>
          <p:nvPr/>
        </p:nvSpPr>
        <p:spPr>
          <a:xfrm>
            <a:off x="495300" y="1052513"/>
            <a:ext cx="552450" cy="28575"/>
          </a:xfrm>
          <a:prstGeom prst="rect">
            <a:avLst/>
          </a:prstGeom>
          <a:solidFill>
            <a:srgbClr val="B56647"/>
          </a:solidFill>
          <a:ln w="0">
            <a:noFill/>
          </a:ln>
        </p:spPr>
        <p:txBody>
          <a:bodyPr/>
          <a:lstStyle/>
          <a:p>
            <a:endParaRPr lang="en-US"/>
          </a:p>
        </p:txBody>
      </p:sp>
      <p:sp>
        <p:nvSpPr>
          <p:cNvPr id="3" name="Editorial frame">
            <a:extLst>
              <a:ext uri="{FF2B5EF4-FFF2-40B4-BE49-F238E27FC236}">
                <a16:creationId xmlns:a16="http://schemas.microsoft.com/office/drawing/2014/main" id="{CEF9BD45-5873-4D2C-A243-1ED37F357B2B}"/>
              </a:ext>
            </a:extLst>
          </p:cNvPr>
          <p:cNvSpPr>
            <a:spLocks noGrp="1"/>
          </p:cNvSpPr>
          <p:nvPr/>
        </p:nvSpPr>
        <p:spPr>
          <a:xfrm>
            <a:off x="361950" y="1514475"/>
            <a:ext cx="2686050" cy="3124200"/>
          </a:xfrm>
          <a:prstGeom prst="rect">
            <a:avLst/>
          </a:prstGeom>
          <a:solidFill>
            <a:srgbClr val="C7D5BE"/>
          </a:solidFill>
          <a:ln w="8573">
            <a:solidFill>
              <a:srgbClr val="99AF8F"/>
            </a:solidFill>
          </a:ln>
        </p:spPr>
        <p:txBody>
          <a:bodyPr/>
          <a:lstStyle/>
          <a:p>
            <a:endParaRPr lang="en-US"/>
          </a:p>
        </p:txBody>
      </p:sp>
      <p:sp>
        <p:nvSpPr>
          <p:cNvPr id="4" name="Editorial frame">
            <a:extLst>
              <a:ext uri="{FF2B5EF4-FFF2-40B4-BE49-F238E27FC236}">
                <a16:creationId xmlns:a16="http://schemas.microsoft.com/office/drawing/2014/main" id="{A95EBD57-7C7D-4138-8593-F0A78B2298F7}"/>
              </a:ext>
            </a:extLst>
          </p:cNvPr>
          <p:cNvSpPr>
            <a:spLocks noGrp="1"/>
          </p:cNvSpPr>
          <p:nvPr/>
        </p:nvSpPr>
        <p:spPr>
          <a:xfrm>
            <a:off x="3314700" y="1438275"/>
            <a:ext cx="5467350" cy="3200400"/>
          </a:xfrm>
          <a:prstGeom prst="rect">
            <a:avLst/>
          </a:prstGeom>
          <a:noFill/>
          <a:ln w="8573">
            <a:solidFill>
              <a:srgbClr val="99AF8F"/>
            </a:solidFill>
          </a:ln>
        </p:spPr>
        <p:txBody>
          <a:bodyPr/>
          <a:lstStyle/>
          <a:p>
            <a:endParaRPr lang="en-US"/>
          </a:p>
        </p:txBody>
      </p:sp>
      <p:sp>
        <p:nvSpPr>
          <p:cNvPr id="5" name="Editorial rule">
            <a:extLst>
              <a:ext uri="{FF2B5EF4-FFF2-40B4-BE49-F238E27FC236}">
                <a16:creationId xmlns:a16="http://schemas.microsoft.com/office/drawing/2014/main" id="{6C6A25C1-63CF-41F4-9909-0C4DDFB929C0}"/>
              </a:ext>
            </a:extLst>
          </p:cNvPr>
          <p:cNvSpPr>
            <a:spLocks noGrp="1"/>
          </p:cNvSpPr>
          <p:nvPr/>
        </p:nvSpPr>
        <p:spPr>
          <a:xfrm>
            <a:off x="3314700" y="1438275"/>
            <a:ext cx="5467350" cy="38100"/>
          </a:xfrm>
          <a:prstGeom prst="rect">
            <a:avLst/>
          </a:prstGeom>
          <a:solidFill>
            <a:srgbClr val="173E35"/>
          </a:solidFill>
          <a:ln w="0">
            <a:noFill/>
          </a:ln>
        </p:spPr>
        <p:txBody>
          <a:bodyPr/>
          <a:lstStyle/>
          <a:p>
            <a:endParaRPr lang="en-US"/>
          </a:p>
        </p:txBody>
      </p:sp>
      <p:sp>
        <p:nvSpPr>
          <p:cNvPr id="6" name="Classroom Workshop">
            <a:extLst>
              <a:ext uri="{FF2B5EF4-FFF2-40B4-BE49-F238E27FC236}">
                <a16:creationId xmlns:a16="http://schemas.microsoft.com/office/drawing/2014/main" id="{4DDB2AE7-3FE2-4584-9CE8-F827CE0B6313}"/>
              </a:ext>
            </a:extLst>
          </p:cNvPr>
          <p:cNvSpPr>
            <a:spLocks noGrp="1"/>
          </p:cNvSpPr>
          <p:nvPr/>
        </p:nvSpPr>
        <p:spPr>
          <a:xfrm>
            <a:off x="495300" y="381000"/>
            <a:ext cx="8096250" cy="952500"/>
          </a:xfrm>
          <a:prstGeom prst="rect">
            <a:avLst/>
          </a:prstGeom>
          <a:noFill/>
          <a:ln w="0">
            <a:noFill/>
          </a:ln>
        </p:spPr>
        <p:txBody>
          <a:bodyPr wrap="square" lIns="0" tIns="0" rIns="0" bIns="0" anchor="t">
            <a:noAutofit/>
          </a:bodyPr>
          <a:lstStyle/>
          <a:p>
            <a:pPr>
              <a:defRPr sz="2775" b="0" i="0">
                <a:solidFill>
                  <a:srgbClr val="173E35"/>
                </a:solidFill>
                <a:latin typeface="Georgia"/>
                <a:ea typeface="Georgia"/>
                <a:cs typeface="Georgia"/>
              </a:defRPr>
            </a:pPr>
            <a:r>
              <a:rPr sz="2775" b="0" i="0">
                <a:solidFill>
                  <a:srgbClr val="173E35"/>
                </a:solidFill>
                <a:latin typeface="Georgia"/>
                <a:ea typeface="Georgia"/>
                <a:cs typeface="Georgia"/>
              </a:rPr>
              <a:t>Classroom Workshop</a:t>
            </a:r>
          </a:p>
        </p:txBody>
      </p:sp>
      <p:sp>
        <p:nvSpPr>
          <p:cNvPr id="7" name="20">
            <a:extLst>
              <a:ext uri="{FF2B5EF4-FFF2-40B4-BE49-F238E27FC236}">
                <a16:creationId xmlns:a16="http://schemas.microsoft.com/office/drawing/2014/main" id="{8C689E5B-082A-486A-A83E-3EC36ABF469E}"/>
              </a:ext>
            </a:extLst>
          </p:cNvPr>
          <p:cNvSpPr>
            <a:spLocks noGrp="1"/>
          </p:cNvSpPr>
          <p:nvPr/>
        </p:nvSpPr>
        <p:spPr>
          <a:xfrm>
            <a:off x="495300" y="1628775"/>
            <a:ext cx="2286000" cy="1666875"/>
          </a:xfrm>
          <a:prstGeom prst="rect">
            <a:avLst/>
          </a:prstGeom>
          <a:noFill/>
          <a:ln w="0">
            <a:noFill/>
          </a:ln>
        </p:spPr>
        <p:txBody>
          <a:bodyPr wrap="square" lIns="0" tIns="0" rIns="0" bIns="0" anchor="t">
            <a:noAutofit/>
          </a:bodyPr>
          <a:lstStyle/>
          <a:p>
            <a:pPr>
              <a:defRPr sz="10500" b="0" i="0">
                <a:solidFill>
                  <a:srgbClr val="173E35"/>
                </a:solidFill>
                <a:latin typeface="Georgia"/>
                <a:ea typeface="Georgia"/>
                <a:cs typeface="Georgia"/>
              </a:defRPr>
            </a:pPr>
            <a:r>
              <a:rPr sz="10500" b="0" i="0">
                <a:solidFill>
                  <a:srgbClr val="173E35"/>
                </a:solidFill>
                <a:latin typeface="Georgia"/>
                <a:ea typeface="Georgia"/>
                <a:cs typeface="Georgia"/>
              </a:rPr>
              <a:t>20</a:t>
            </a:r>
          </a:p>
        </p:txBody>
      </p:sp>
      <p:sp>
        <p:nvSpPr>
          <p:cNvPr id="8" name="minutes">
            <a:extLst>
              <a:ext uri="{FF2B5EF4-FFF2-40B4-BE49-F238E27FC236}">
                <a16:creationId xmlns:a16="http://schemas.microsoft.com/office/drawing/2014/main" id="{C3972C77-4CBB-45DE-BA80-C32BA2E2E4E6}"/>
              </a:ext>
            </a:extLst>
          </p:cNvPr>
          <p:cNvSpPr>
            <a:spLocks noGrp="1"/>
          </p:cNvSpPr>
          <p:nvPr/>
        </p:nvSpPr>
        <p:spPr>
          <a:xfrm>
            <a:off x="581025" y="3352800"/>
            <a:ext cx="2190750" cy="447675"/>
          </a:xfrm>
          <a:prstGeom prst="rect">
            <a:avLst/>
          </a:prstGeom>
          <a:noFill/>
          <a:ln w="0">
            <a:noFill/>
          </a:ln>
        </p:spPr>
        <p:txBody>
          <a:bodyPr wrap="square" lIns="0" tIns="0" rIns="0" bIns="0" anchor="t">
            <a:noAutofit/>
          </a:bodyPr>
          <a:lstStyle/>
          <a:p>
            <a:pPr>
              <a:defRPr sz="2475" b="0" i="0">
                <a:solidFill>
                  <a:srgbClr val="173E35"/>
                </a:solidFill>
                <a:latin typeface="Georgia"/>
                <a:ea typeface="Georgia"/>
                <a:cs typeface="Georgia"/>
              </a:defRPr>
            </a:pPr>
            <a:r>
              <a:rPr sz="2475" b="0" i="0">
                <a:solidFill>
                  <a:srgbClr val="173E35"/>
                </a:solidFill>
                <a:latin typeface="Georgia"/>
                <a:ea typeface="Georgia"/>
                <a:cs typeface="Georgia"/>
              </a:rPr>
              <a:t>minutes</a:t>
            </a:r>
          </a:p>
        </p:txBody>
      </p:sp>
      <p:sp>
        <p:nvSpPr>
          <p:cNvPr id="9" name="In groups">
            <a:extLst>
              <a:ext uri="{FF2B5EF4-FFF2-40B4-BE49-F238E27FC236}">
                <a16:creationId xmlns:a16="http://schemas.microsoft.com/office/drawing/2014/main" id="{A1890BF3-CFE4-4204-85EC-6B42DEECB5F0}"/>
              </a:ext>
            </a:extLst>
          </p:cNvPr>
          <p:cNvSpPr>
            <a:spLocks noGrp="1"/>
          </p:cNvSpPr>
          <p:nvPr/>
        </p:nvSpPr>
        <p:spPr>
          <a:xfrm>
            <a:off x="590550" y="4076700"/>
            <a:ext cx="2190750" cy="333375"/>
          </a:xfrm>
          <a:prstGeom prst="rect">
            <a:avLst/>
          </a:prstGeom>
          <a:noFill/>
          <a:ln w="0">
            <a:noFill/>
          </a:ln>
        </p:spPr>
        <p:txBody>
          <a:bodyPr wrap="square" lIns="0" tIns="0" rIns="0" bIns="0" anchor="t">
            <a:noAutofit/>
          </a:bodyPr>
          <a:lstStyle/>
          <a:p>
            <a:pPr>
              <a:defRPr sz="1650" b="0" i="0">
                <a:solidFill>
                  <a:srgbClr val="58665B"/>
                </a:solidFill>
                <a:latin typeface="Arial"/>
                <a:ea typeface="Arial"/>
                <a:cs typeface="Arial"/>
              </a:defRPr>
            </a:pPr>
            <a:r>
              <a:rPr sz="1650" b="0" i="0">
                <a:solidFill>
                  <a:srgbClr val="58665B"/>
                </a:solidFill>
                <a:latin typeface="Arial"/>
                <a:ea typeface="Arial"/>
                <a:cs typeface="Arial"/>
              </a:rPr>
              <a:t>In groups</a:t>
            </a:r>
          </a:p>
        </p:txBody>
      </p:sp>
      <p:sp>
        <p:nvSpPr>
          <p:cNvPr id="10" name="Analyze one Prague location and identify its:">
            <a:extLst>
              <a:ext uri="{FF2B5EF4-FFF2-40B4-BE49-F238E27FC236}">
                <a16:creationId xmlns:a16="http://schemas.microsoft.com/office/drawing/2014/main" id="{50DA16FB-B913-4457-8D26-A85B3BD4D433}"/>
              </a:ext>
            </a:extLst>
          </p:cNvPr>
          <p:cNvSpPr>
            <a:spLocks noGrp="1"/>
          </p:cNvSpPr>
          <p:nvPr/>
        </p:nvSpPr>
        <p:spPr>
          <a:xfrm>
            <a:off x="3533775" y="1628775"/>
            <a:ext cx="5114925" cy="800100"/>
          </a:xfrm>
          <a:prstGeom prst="rect">
            <a:avLst/>
          </a:prstGeom>
          <a:noFill/>
          <a:ln w="0">
            <a:noFill/>
          </a:ln>
        </p:spPr>
        <p:txBody>
          <a:bodyPr wrap="square" lIns="0" tIns="0" rIns="0" bIns="0" anchor="t">
            <a:noAutofit/>
          </a:bodyPr>
          <a:lstStyle/>
          <a:p>
            <a:pPr>
              <a:defRPr sz="2325" b="0" i="0">
                <a:solidFill>
                  <a:srgbClr val="173E35"/>
                </a:solidFill>
                <a:latin typeface="Georgia"/>
                <a:ea typeface="Georgia"/>
                <a:cs typeface="Georgia"/>
              </a:defRPr>
            </a:pPr>
            <a:r>
              <a:rPr sz="2325" b="0" i="0">
                <a:solidFill>
                  <a:srgbClr val="173E35"/>
                </a:solidFill>
                <a:latin typeface="Georgia"/>
                <a:ea typeface="Georgia"/>
                <a:cs typeface="Georgia"/>
              </a:rPr>
              <a:t>Analyze one Prague location and identify its:</a:t>
            </a:r>
          </a:p>
        </p:txBody>
      </p:sp>
      <p:sp>
        <p:nvSpPr>
          <p:cNvPr id="11" name="Environmental benefits">
            <a:extLst>
              <a:ext uri="{FF2B5EF4-FFF2-40B4-BE49-F238E27FC236}">
                <a16:creationId xmlns:a16="http://schemas.microsoft.com/office/drawing/2014/main" id="{D2B521CB-4B9B-4DAC-AB5D-047895E05071}"/>
              </a:ext>
            </a:extLst>
          </p:cNvPr>
          <p:cNvSpPr>
            <a:spLocks noGrp="1"/>
          </p:cNvSpPr>
          <p:nvPr/>
        </p:nvSpPr>
        <p:spPr>
          <a:xfrm>
            <a:off x="3533775" y="2724150"/>
            <a:ext cx="5010150" cy="619125"/>
          </a:xfrm>
          <a:prstGeom prst="rect">
            <a:avLst/>
          </a:prstGeom>
          <a:noFill/>
          <a:ln w="0">
            <a:noFill/>
          </a:ln>
        </p:spPr>
        <p:txBody>
          <a:bodyPr wrap="square" lIns="0" tIns="0" rIns="0" bIns="0" anchor="t">
            <a:noAutofit/>
          </a:bodyPr>
          <a:lstStyle/>
          <a:p>
            <a:pPr>
              <a:defRPr sz="1950" b="0" i="0">
                <a:solidFill>
                  <a:srgbClr val="173E35"/>
                </a:solidFill>
                <a:latin typeface="Arial"/>
                <a:ea typeface="Arial"/>
                <a:cs typeface="Arial"/>
              </a:defRPr>
            </a:pPr>
            <a:r>
              <a:rPr sz="1950" b="0" i="0">
                <a:solidFill>
                  <a:srgbClr val="173E35"/>
                </a:solidFill>
                <a:latin typeface="Arial"/>
                <a:ea typeface="Arial"/>
                <a:cs typeface="Arial"/>
              </a:rPr>
              <a:t>Environmental benefits</a:t>
            </a:r>
          </a:p>
        </p:txBody>
      </p:sp>
      <p:sp>
        <p:nvSpPr>
          <p:cNvPr id="12" name="Social benefits">
            <a:extLst>
              <a:ext uri="{FF2B5EF4-FFF2-40B4-BE49-F238E27FC236}">
                <a16:creationId xmlns:a16="http://schemas.microsoft.com/office/drawing/2014/main" id="{FB082B31-957A-46C3-9AC4-C075148C8BD2}"/>
              </a:ext>
            </a:extLst>
          </p:cNvPr>
          <p:cNvSpPr>
            <a:spLocks noGrp="1"/>
          </p:cNvSpPr>
          <p:nvPr/>
        </p:nvSpPr>
        <p:spPr>
          <a:xfrm>
            <a:off x="3533775" y="3162300"/>
            <a:ext cx="5010150" cy="619125"/>
          </a:xfrm>
          <a:prstGeom prst="rect">
            <a:avLst/>
          </a:prstGeom>
          <a:noFill/>
          <a:ln w="0">
            <a:noFill/>
          </a:ln>
        </p:spPr>
        <p:txBody>
          <a:bodyPr wrap="square" lIns="0" tIns="0" rIns="0" bIns="0" anchor="t">
            <a:noAutofit/>
          </a:bodyPr>
          <a:lstStyle/>
          <a:p>
            <a:pPr>
              <a:defRPr sz="1950" b="0" i="0">
                <a:solidFill>
                  <a:srgbClr val="173E35"/>
                </a:solidFill>
                <a:latin typeface="Arial"/>
                <a:ea typeface="Arial"/>
                <a:cs typeface="Arial"/>
              </a:defRPr>
            </a:pPr>
            <a:r>
              <a:rPr sz="1950" b="0" i="0">
                <a:solidFill>
                  <a:srgbClr val="173E35"/>
                </a:solidFill>
                <a:latin typeface="Arial"/>
                <a:ea typeface="Arial"/>
                <a:cs typeface="Arial"/>
              </a:rPr>
              <a:t>Social benefits</a:t>
            </a:r>
          </a:p>
        </p:txBody>
      </p:sp>
      <p:sp>
        <p:nvSpPr>
          <p:cNvPr id="13" name="Economic benefits">
            <a:extLst>
              <a:ext uri="{FF2B5EF4-FFF2-40B4-BE49-F238E27FC236}">
                <a16:creationId xmlns:a16="http://schemas.microsoft.com/office/drawing/2014/main" id="{E6A115E2-E434-44C2-ACD8-A25D1D2DB9D4}"/>
              </a:ext>
            </a:extLst>
          </p:cNvPr>
          <p:cNvSpPr>
            <a:spLocks noGrp="1"/>
          </p:cNvSpPr>
          <p:nvPr/>
        </p:nvSpPr>
        <p:spPr>
          <a:xfrm>
            <a:off x="3533775" y="3600450"/>
            <a:ext cx="5010150" cy="619125"/>
          </a:xfrm>
          <a:prstGeom prst="rect">
            <a:avLst/>
          </a:prstGeom>
          <a:noFill/>
          <a:ln w="0">
            <a:noFill/>
          </a:ln>
        </p:spPr>
        <p:txBody>
          <a:bodyPr wrap="square" lIns="0" tIns="0" rIns="0" bIns="0" anchor="t">
            <a:noAutofit/>
          </a:bodyPr>
          <a:lstStyle/>
          <a:p>
            <a:pPr>
              <a:defRPr sz="1950" b="0" i="0">
                <a:solidFill>
                  <a:srgbClr val="173E35"/>
                </a:solidFill>
                <a:latin typeface="Arial"/>
                <a:ea typeface="Arial"/>
                <a:cs typeface="Arial"/>
              </a:defRPr>
            </a:pPr>
            <a:r>
              <a:rPr sz="1950" b="0" i="0">
                <a:solidFill>
                  <a:srgbClr val="173E35"/>
                </a:solidFill>
                <a:latin typeface="Arial"/>
                <a:ea typeface="Arial"/>
                <a:cs typeface="Arial"/>
              </a:rPr>
              <a:t>Economic benefits</a:t>
            </a:r>
          </a:p>
        </p:txBody>
      </p:sp>
      <p:sp>
        <p:nvSpPr>
          <p:cNvPr id="14" name="Sustainability challenges">
            <a:extLst>
              <a:ext uri="{FF2B5EF4-FFF2-40B4-BE49-F238E27FC236}">
                <a16:creationId xmlns:a16="http://schemas.microsoft.com/office/drawing/2014/main" id="{8CA40836-EACA-4206-9752-8D265296BF70}"/>
              </a:ext>
            </a:extLst>
          </p:cNvPr>
          <p:cNvSpPr>
            <a:spLocks noGrp="1"/>
          </p:cNvSpPr>
          <p:nvPr/>
        </p:nvSpPr>
        <p:spPr>
          <a:xfrm>
            <a:off x="3533775" y="4038600"/>
            <a:ext cx="5010150" cy="619125"/>
          </a:xfrm>
          <a:prstGeom prst="rect">
            <a:avLst/>
          </a:prstGeom>
          <a:noFill/>
          <a:ln w="0">
            <a:noFill/>
          </a:ln>
        </p:spPr>
        <p:txBody>
          <a:bodyPr wrap="square" lIns="0" tIns="0" rIns="0" bIns="0" anchor="t">
            <a:noAutofit/>
          </a:bodyPr>
          <a:lstStyle/>
          <a:p>
            <a:pPr>
              <a:defRPr sz="1950" b="0" i="0">
                <a:solidFill>
                  <a:srgbClr val="173E35"/>
                </a:solidFill>
                <a:latin typeface="Arial"/>
                <a:ea typeface="Arial"/>
                <a:cs typeface="Arial"/>
              </a:defRPr>
            </a:pPr>
            <a:r>
              <a:rPr sz="1950" b="0" i="0">
                <a:solidFill>
                  <a:srgbClr val="173E35"/>
                </a:solidFill>
                <a:latin typeface="Arial"/>
                <a:ea typeface="Arial"/>
                <a:cs typeface="Arial"/>
              </a:rPr>
              <a:t>Sustainability challenges</a:t>
            </a:r>
          </a:p>
        </p:txBody>
      </p:sp>
      <p:pic>
        <p:nvPicPr>
          <p:cNvPr id="32" name="Picture 31"/>
          <p:cNvPicPr>
            <a:picLocks noChangeAspect="1"/>
          </p:cNvPicPr>
          <p:nvPr/>
        </p:nvPicPr>
        <p:blipFill>
          <a:blip r:embed="rId3"/>
          <a:stretch/>
        </p:blipFill>
        <p:spPr>
          <a:xfrm>
            <a:off x="499570" y="4829175"/>
            <a:ext cx="315310" cy="152400"/>
          </a:xfrm>
          <a:prstGeom prst="rect">
            <a:avLst/>
          </a:prstGeom>
        </p:spPr>
      </p:pic>
      <p:sp>
        <p:nvSpPr>
          <p:cNvPr id="16" name="www.newton.university">
            <a:extLst>
              <a:ext uri="{FF2B5EF4-FFF2-40B4-BE49-F238E27FC236}">
                <a16:creationId xmlns:a16="http://schemas.microsoft.com/office/drawing/2014/main" id="{905ED2E3-FA46-42DE-BB6D-80C49420A455}"/>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17" name="42">
            <a:extLst>
              <a:ext uri="{FF2B5EF4-FFF2-40B4-BE49-F238E27FC236}">
                <a16:creationId xmlns:a16="http://schemas.microsoft.com/office/drawing/2014/main" id="{90AEF47E-DDAF-47E8-B820-C9894BEEC91A}"/>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58665B"/>
                </a:solidFill>
                <a:latin typeface="Arial"/>
                <a:ea typeface="Arial"/>
                <a:cs typeface="Arial"/>
              </a:defRPr>
            </a:pPr>
            <a:r>
              <a:rPr sz="1125" b="0" i="0">
                <a:solidFill>
                  <a:srgbClr val="58665B"/>
                </a:solidFill>
                <a:latin typeface="Arial"/>
                <a:ea typeface="Arial"/>
                <a:cs typeface="Arial"/>
              </a:rPr>
              <a:t>42</a:t>
            </a:r>
          </a:p>
        </p:txBody>
      </p:sp>
    </p:spTree>
    <p:extLst>
      <p:ext uri="{BB962C8B-B14F-4D97-AF65-F5344CB8AC3E}">
        <p14:creationId xmlns:p14="http://schemas.microsoft.com/office/powerpoint/2010/main" val="12376495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15" name="Preparing for Seminar 1">
            <a:extLst>
              <a:ext uri="{FF2B5EF4-FFF2-40B4-BE49-F238E27FC236}">
                <a16:creationId xmlns:a16="http://schemas.microsoft.com/office/drawing/2014/main" id="{D1A8414C-8246-41E7-9C6A-AA38C84F4CD0}"/>
              </a:ext>
            </a:extLst>
          </p:cNvPr>
          <p:cNvSpPr>
            <a:spLocks noGrp="1"/>
          </p:cNvSpPr>
          <p:nvPr/>
        </p:nvSpPr>
        <p:spPr>
          <a:xfrm>
            <a:off x="495300" y="381000"/>
            <a:ext cx="8096250" cy="952500"/>
          </a:xfrm>
          <a:prstGeom prst="rect">
            <a:avLst/>
          </a:prstGeom>
          <a:noFill/>
          <a:ln w="0">
            <a:noFill/>
          </a:ln>
        </p:spPr>
        <p:txBody>
          <a:bodyPr wrap="square" lIns="0" tIns="0" rIns="0" bIns="0" anchor="t">
            <a:noAutofit/>
          </a:bodyPr>
          <a:lstStyle/>
          <a:p>
            <a:pPr>
              <a:defRPr sz="2775" b="0" i="0">
                <a:solidFill>
                  <a:srgbClr val="173E35"/>
                </a:solidFill>
                <a:latin typeface="Georgia"/>
                <a:ea typeface="Georgia"/>
                <a:cs typeface="Georgia"/>
              </a:defRPr>
            </a:pPr>
            <a:r>
              <a:rPr sz="2775" b="0" i="0">
                <a:solidFill>
                  <a:srgbClr val="173E35"/>
                </a:solidFill>
                <a:latin typeface="Georgia"/>
                <a:ea typeface="Georgia"/>
                <a:cs typeface="Georgia"/>
              </a:rPr>
              <a:t>Preparing for Seminar 1</a:t>
            </a:r>
          </a:p>
        </p:txBody>
      </p:sp>
      <p:sp>
        <p:nvSpPr>
          <p:cNvPr id="2" name="Choose your Prague case-study area — you will">
            <a:extLst>
              <a:ext uri="{FF2B5EF4-FFF2-40B4-BE49-F238E27FC236}">
                <a16:creationId xmlns:a16="http://schemas.microsoft.com/office/drawing/2014/main" id="{A875322B-2339-469F-BA9E-64D06F9314F5}"/>
              </a:ext>
            </a:extLst>
          </p:cNvPr>
          <p:cNvSpPr>
            <a:spLocks noGrp="1"/>
          </p:cNvSpPr>
          <p:nvPr/>
        </p:nvSpPr>
        <p:spPr>
          <a:xfrm>
            <a:off x="495300" y="1266825"/>
            <a:ext cx="8096250" cy="552450"/>
          </a:xfrm>
          <a:prstGeom prst="rect">
            <a:avLst/>
          </a:prstGeom>
          <a:noFill/>
          <a:ln w="0">
            <a:noFill/>
          </a:ln>
        </p:spPr>
        <p:txBody>
          <a:bodyPr wrap="square" lIns="0" tIns="0" rIns="0" bIns="0" anchor="t">
            <a:noAutofit/>
          </a:bodyPr>
          <a:lstStyle/>
          <a:p>
            <a:pPr>
              <a:defRPr sz="1950" b="0" i="0">
                <a:solidFill>
                  <a:srgbClr val="173E35"/>
                </a:solidFill>
                <a:latin typeface="Georgia"/>
                <a:ea typeface="Georgia"/>
                <a:cs typeface="Georgia"/>
              </a:defRPr>
            </a:pPr>
            <a:r>
              <a:rPr sz="1950" b="0" i="0">
                <a:solidFill>
                  <a:srgbClr val="173E35"/>
                </a:solidFill>
                <a:latin typeface="Georgia"/>
                <a:ea typeface="Georgia"/>
                <a:cs typeface="Georgia"/>
              </a:rPr>
              <a:t>Choose your Prague case-study area — you will work with it all semester.</a:t>
            </a:r>
          </a:p>
        </p:txBody>
      </p:sp>
      <p:pic>
        <p:nvPicPr>
          <p:cNvPr id="17" name="Picture 16"/>
          <p:cNvPicPr>
            <a:picLocks noChangeAspect="1"/>
          </p:cNvPicPr>
          <p:nvPr/>
        </p:nvPicPr>
        <p:blipFill>
          <a:blip r:embed="rId3"/>
          <a:srcRect t="10300" b="10300"/>
          <a:stretch>
            <a:fillRect/>
          </a:stretch>
        </p:blipFill>
        <p:spPr>
          <a:xfrm>
            <a:off x="4105275" y="2057400"/>
            <a:ext cx="4543425" cy="2466975"/>
          </a:xfrm>
          <a:prstGeom prst="rect">
            <a:avLst/>
          </a:prstGeom>
        </p:spPr>
      </p:pic>
      <p:sp>
        <p:nvSpPr>
          <p:cNvPr id="4" name="View from Letná over the city">
            <a:extLst>
              <a:ext uri="{FF2B5EF4-FFF2-40B4-BE49-F238E27FC236}">
                <a16:creationId xmlns:a16="http://schemas.microsoft.com/office/drawing/2014/main" id="{87AAEA3E-49B7-4BD3-82FF-46F5D64FE31C}"/>
              </a:ext>
            </a:extLst>
          </p:cNvPr>
          <p:cNvSpPr>
            <a:spLocks noGrp="1"/>
          </p:cNvSpPr>
          <p:nvPr/>
        </p:nvSpPr>
        <p:spPr>
          <a:xfrm>
            <a:off x="4105275" y="4581525"/>
            <a:ext cx="4543425" cy="219075"/>
          </a:xfrm>
          <a:prstGeom prst="rect">
            <a:avLst/>
          </a:prstGeom>
          <a:noFill/>
          <a:ln w="0">
            <a:noFill/>
          </a:ln>
        </p:spPr>
        <p:txBody>
          <a:bodyPr wrap="square" lIns="0" tIns="0" rIns="0" bIns="0" anchor="t">
            <a:noAutofit/>
          </a:bodyPr>
          <a:lstStyle/>
          <a:p>
            <a:pPr>
              <a:defRPr sz="1050" b="0" i="0">
                <a:solidFill>
                  <a:srgbClr val="58665B"/>
                </a:solidFill>
                <a:latin typeface="Arial"/>
                <a:ea typeface="Arial"/>
                <a:cs typeface="Arial"/>
              </a:defRPr>
            </a:pPr>
            <a:r>
              <a:rPr sz="1050" b="0" i="0">
                <a:solidFill>
                  <a:srgbClr val="58665B"/>
                </a:solidFill>
                <a:latin typeface="Arial"/>
                <a:ea typeface="Arial"/>
                <a:cs typeface="Arial"/>
              </a:rPr>
              <a:t>View from Letná over the city</a:t>
            </a:r>
          </a:p>
        </p:txBody>
      </p:sp>
      <p:sp>
        <p:nvSpPr>
          <p:cNvPr id="5" name="Stromovka Park">
            <a:extLst>
              <a:ext uri="{FF2B5EF4-FFF2-40B4-BE49-F238E27FC236}">
                <a16:creationId xmlns:a16="http://schemas.microsoft.com/office/drawing/2014/main" id="{307D010C-86BD-45F2-8F7D-66B64F981B64}"/>
              </a:ext>
            </a:extLst>
          </p:cNvPr>
          <p:cNvSpPr>
            <a:spLocks noGrp="1"/>
          </p:cNvSpPr>
          <p:nvPr/>
        </p:nvSpPr>
        <p:spPr>
          <a:xfrm>
            <a:off x="495300" y="2076450"/>
            <a:ext cx="3314700" cy="523875"/>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Stromovka Park</a:t>
            </a:r>
          </a:p>
        </p:txBody>
      </p:sp>
      <p:sp>
        <p:nvSpPr>
          <p:cNvPr id="6" name="Letná Park">
            <a:extLst>
              <a:ext uri="{FF2B5EF4-FFF2-40B4-BE49-F238E27FC236}">
                <a16:creationId xmlns:a16="http://schemas.microsoft.com/office/drawing/2014/main" id="{2C2827ED-E60B-4906-AE3B-A8ECE51C4FE0}"/>
              </a:ext>
            </a:extLst>
          </p:cNvPr>
          <p:cNvSpPr>
            <a:spLocks noGrp="1"/>
          </p:cNvSpPr>
          <p:nvPr/>
        </p:nvSpPr>
        <p:spPr>
          <a:xfrm>
            <a:off x="495300" y="2438400"/>
            <a:ext cx="3314700" cy="523875"/>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Letná Park</a:t>
            </a:r>
          </a:p>
        </p:txBody>
      </p:sp>
      <p:sp>
        <p:nvSpPr>
          <p:cNvPr id="7" name="Vltava River Corridor">
            <a:extLst>
              <a:ext uri="{FF2B5EF4-FFF2-40B4-BE49-F238E27FC236}">
                <a16:creationId xmlns:a16="http://schemas.microsoft.com/office/drawing/2014/main" id="{D5FC9F0A-D790-41DA-8B44-DBC11173AD34}"/>
              </a:ext>
            </a:extLst>
          </p:cNvPr>
          <p:cNvSpPr>
            <a:spLocks noGrp="1"/>
          </p:cNvSpPr>
          <p:nvPr/>
        </p:nvSpPr>
        <p:spPr>
          <a:xfrm>
            <a:off x="495300" y="2800350"/>
            <a:ext cx="3314700" cy="523875"/>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Vltava River Corridor</a:t>
            </a:r>
          </a:p>
        </p:txBody>
      </p:sp>
      <p:sp>
        <p:nvSpPr>
          <p:cNvPr id="8" name="Divoká Šárka">
            <a:extLst>
              <a:ext uri="{FF2B5EF4-FFF2-40B4-BE49-F238E27FC236}">
                <a16:creationId xmlns:a16="http://schemas.microsoft.com/office/drawing/2014/main" id="{B5EBE11B-8B4F-4BB8-9988-46B64153200F}"/>
              </a:ext>
            </a:extLst>
          </p:cNvPr>
          <p:cNvSpPr>
            <a:spLocks noGrp="1"/>
          </p:cNvSpPr>
          <p:nvPr/>
        </p:nvSpPr>
        <p:spPr>
          <a:xfrm>
            <a:off x="495300" y="3162300"/>
            <a:ext cx="3314700" cy="523875"/>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Divoká Šárka</a:t>
            </a:r>
          </a:p>
        </p:txBody>
      </p:sp>
      <p:sp>
        <p:nvSpPr>
          <p:cNvPr id="9" name="Prokopské údolí">
            <a:extLst>
              <a:ext uri="{FF2B5EF4-FFF2-40B4-BE49-F238E27FC236}">
                <a16:creationId xmlns:a16="http://schemas.microsoft.com/office/drawing/2014/main" id="{F533D17F-351D-4224-89A3-118C3D6FBA21}"/>
              </a:ext>
            </a:extLst>
          </p:cNvPr>
          <p:cNvSpPr>
            <a:spLocks noGrp="1"/>
          </p:cNvSpPr>
          <p:nvPr/>
        </p:nvSpPr>
        <p:spPr>
          <a:xfrm>
            <a:off x="495300" y="3524250"/>
            <a:ext cx="3314700" cy="523875"/>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Prokopské údolí</a:t>
            </a:r>
          </a:p>
        </p:txBody>
      </p:sp>
      <p:sp>
        <p:nvSpPr>
          <p:cNvPr id="10" name="Hostivař Reservoir">
            <a:extLst>
              <a:ext uri="{FF2B5EF4-FFF2-40B4-BE49-F238E27FC236}">
                <a16:creationId xmlns:a16="http://schemas.microsoft.com/office/drawing/2014/main" id="{545200D9-D038-4986-98B8-3E0A9F6C47D5}"/>
              </a:ext>
            </a:extLst>
          </p:cNvPr>
          <p:cNvSpPr>
            <a:spLocks noGrp="1"/>
          </p:cNvSpPr>
          <p:nvPr/>
        </p:nvSpPr>
        <p:spPr>
          <a:xfrm>
            <a:off x="495300" y="3886200"/>
            <a:ext cx="3314700" cy="523875"/>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Hostivař Reservoir</a:t>
            </a:r>
          </a:p>
        </p:txBody>
      </p:sp>
      <p:sp>
        <p:nvSpPr>
          <p:cNvPr id="11" name="Troja landscape">
            <a:extLst>
              <a:ext uri="{FF2B5EF4-FFF2-40B4-BE49-F238E27FC236}">
                <a16:creationId xmlns:a16="http://schemas.microsoft.com/office/drawing/2014/main" id="{C010DAC0-A643-41A2-A7CE-CA6E96D5725C}"/>
              </a:ext>
            </a:extLst>
          </p:cNvPr>
          <p:cNvSpPr>
            <a:spLocks noGrp="1"/>
          </p:cNvSpPr>
          <p:nvPr/>
        </p:nvSpPr>
        <p:spPr>
          <a:xfrm>
            <a:off x="495300" y="4248150"/>
            <a:ext cx="3314700" cy="523875"/>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Troja landscape</a:t>
            </a:r>
          </a:p>
        </p:txBody>
      </p:sp>
      <p:pic>
        <p:nvPicPr>
          <p:cNvPr id="26" name="Picture 25"/>
          <p:cNvPicPr>
            <a:picLocks noChangeAspect="1"/>
          </p:cNvPicPr>
          <p:nvPr/>
        </p:nvPicPr>
        <p:blipFill>
          <a:blip r:embed="rId4"/>
          <a:stretch/>
        </p:blipFill>
        <p:spPr>
          <a:xfrm>
            <a:off x="499570" y="4829175"/>
            <a:ext cx="315310" cy="152400"/>
          </a:xfrm>
          <a:prstGeom prst="rect">
            <a:avLst/>
          </a:prstGeom>
        </p:spPr>
      </p:pic>
      <p:sp>
        <p:nvSpPr>
          <p:cNvPr id="13" name="www.newton.university">
            <a:extLst>
              <a:ext uri="{FF2B5EF4-FFF2-40B4-BE49-F238E27FC236}">
                <a16:creationId xmlns:a16="http://schemas.microsoft.com/office/drawing/2014/main" id="{D0F77DB8-8FA2-4AE8-BB0E-3F8464947F80}"/>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14" name="43">
            <a:extLst>
              <a:ext uri="{FF2B5EF4-FFF2-40B4-BE49-F238E27FC236}">
                <a16:creationId xmlns:a16="http://schemas.microsoft.com/office/drawing/2014/main" id="{FBB3C2D4-119C-488F-A8F4-B86828DC50F0}"/>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58665B"/>
                </a:solidFill>
                <a:latin typeface="Arial"/>
                <a:ea typeface="Arial"/>
                <a:cs typeface="Arial"/>
              </a:defRPr>
            </a:pPr>
            <a:r>
              <a:rPr sz="1125" b="0" i="0">
                <a:solidFill>
                  <a:srgbClr val="58665B"/>
                </a:solidFill>
                <a:latin typeface="Arial"/>
                <a:ea typeface="Arial"/>
                <a:cs typeface="Arial"/>
              </a:rPr>
              <a:t>43</a:t>
            </a:r>
          </a:p>
        </p:txBody>
      </p:sp>
    </p:spTree>
    <p:extLst>
      <p:ext uri="{BB962C8B-B14F-4D97-AF65-F5344CB8AC3E}">
        <p14:creationId xmlns:p14="http://schemas.microsoft.com/office/powerpoint/2010/main" val="15036131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31" name="Editorial frame">
            <a:extLst>
              <a:ext uri="{FF2B5EF4-FFF2-40B4-BE49-F238E27FC236}">
                <a16:creationId xmlns:a16="http://schemas.microsoft.com/office/drawing/2014/main" id="{9CDDB9A7-AF36-4024-AFD8-58DD00DC695D}"/>
              </a:ext>
            </a:extLst>
          </p:cNvPr>
          <p:cNvSpPr>
            <a:spLocks noGrp="1"/>
          </p:cNvSpPr>
          <p:nvPr/>
        </p:nvSpPr>
        <p:spPr>
          <a:xfrm>
            <a:off x="219075" y="219075"/>
            <a:ext cx="8705850" cy="4514850"/>
          </a:xfrm>
          <a:prstGeom prst="rect">
            <a:avLst/>
          </a:prstGeom>
          <a:noFill/>
          <a:ln w="8573">
            <a:solidFill>
              <a:srgbClr val="B7C3B1"/>
            </a:solidFill>
          </a:ln>
        </p:spPr>
        <p:txBody>
          <a:bodyPr/>
          <a:lstStyle/>
          <a:p>
            <a:endParaRPr lang="en-US"/>
          </a:p>
        </p:txBody>
      </p:sp>
      <p:sp>
        <p:nvSpPr>
          <p:cNvPr id="2" name="Editorial rule">
            <a:extLst>
              <a:ext uri="{FF2B5EF4-FFF2-40B4-BE49-F238E27FC236}">
                <a16:creationId xmlns:a16="http://schemas.microsoft.com/office/drawing/2014/main" id="{ABBE52D6-6766-4B73-9C2E-5C74805DA293}"/>
              </a:ext>
            </a:extLst>
          </p:cNvPr>
          <p:cNvSpPr>
            <a:spLocks noGrp="1"/>
          </p:cNvSpPr>
          <p:nvPr/>
        </p:nvSpPr>
        <p:spPr>
          <a:xfrm>
            <a:off x="495300" y="1066800"/>
            <a:ext cx="8153400" cy="7620"/>
          </a:xfrm>
          <a:prstGeom prst="rect">
            <a:avLst/>
          </a:prstGeom>
          <a:solidFill>
            <a:srgbClr val="B7C3B1"/>
          </a:solidFill>
          <a:ln w="0">
            <a:noFill/>
          </a:ln>
        </p:spPr>
        <p:txBody>
          <a:bodyPr/>
          <a:lstStyle/>
          <a:p>
            <a:endParaRPr lang="en-US"/>
          </a:p>
        </p:txBody>
      </p:sp>
      <p:sp>
        <p:nvSpPr>
          <p:cNvPr id="3" name="Editorial rule">
            <a:extLst>
              <a:ext uri="{FF2B5EF4-FFF2-40B4-BE49-F238E27FC236}">
                <a16:creationId xmlns:a16="http://schemas.microsoft.com/office/drawing/2014/main" id="{5FA70C2E-4C31-4202-8CAC-3C4373962EE0}"/>
              </a:ext>
            </a:extLst>
          </p:cNvPr>
          <p:cNvSpPr>
            <a:spLocks noGrp="1"/>
          </p:cNvSpPr>
          <p:nvPr/>
        </p:nvSpPr>
        <p:spPr>
          <a:xfrm>
            <a:off x="495300" y="1052513"/>
            <a:ext cx="552450" cy="28575"/>
          </a:xfrm>
          <a:prstGeom prst="rect">
            <a:avLst/>
          </a:prstGeom>
          <a:solidFill>
            <a:srgbClr val="B56647"/>
          </a:solidFill>
          <a:ln w="0">
            <a:noFill/>
          </a:ln>
        </p:spPr>
        <p:txBody>
          <a:bodyPr/>
          <a:lstStyle/>
          <a:p>
            <a:endParaRPr lang="en-US"/>
          </a:p>
        </p:txBody>
      </p:sp>
      <p:sp>
        <p:nvSpPr>
          <p:cNvPr id="4" name="Editorial rule">
            <a:extLst>
              <a:ext uri="{FF2B5EF4-FFF2-40B4-BE49-F238E27FC236}">
                <a16:creationId xmlns:a16="http://schemas.microsoft.com/office/drawing/2014/main" id="{0881CB0A-5033-48CE-AC89-3A2A4DA8FAFC}"/>
              </a:ext>
            </a:extLst>
          </p:cNvPr>
          <p:cNvSpPr>
            <a:spLocks noGrp="1"/>
          </p:cNvSpPr>
          <p:nvPr/>
        </p:nvSpPr>
        <p:spPr>
          <a:xfrm>
            <a:off x="4562475" y="1724025"/>
            <a:ext cx="8573" cy="2752725"/>
          </a:xfrm>
          <a:prstGeom prst="rect">
            <a:avLst/>
          </a:prstGeom>
          <a:solidFill>
            <a:srgbClr val="B7C3B1"/>
          </a:solidFill>
          <a:ln w="0">
            <a:noFill/>
          </a:ln>
        </p:spPr>
        <p:txBody>
          <a:bodyPr/>
          <a:lstStyle/>
          <a:p>
            <a:endParaRPr lang="en-US"/>
          </a:p>
        </p:txBody>
      </p:sp>
      <p:sp>
        <p:nvSpPr>
          <p:cNvPr id="5" name="Editorial rule">
            <a:extLst>
              <a:ext uri="{FF2B5EF4-FFF2-40B4-BE49-F238E27FC236}">
                <a16:creationId xmlns:a16="http://schemas.microsoft.com/office/drawing/2014/main" id="{8B54A94A-2BB0-4D4B-9BCF-BBA2C0462A80}"/>
              </a:ext>
            </a:extLst>
          </p:cNvPr>
          <p:cNvSpPr>
            <a:spLocks noGrp="1"/>
          </p:cNvSpPr>
          <p:nvPr/>
        </p:nvSpPr>
        <p:spPr>
          <a:xfrm>
            <a:off x="952500" y="2124075"/>
            <a:ext cx="3390900" cy="7620"/>
          </a:xfrm>
          <a:prstGeom prst="rect">
            <a:avLst/>
          </a:prstGeom>
          <a:solidFill>
            <a:srgbClr val="B7C3B1"/>
          </a:solidFill>
          <a:ln w="0">
            <a:noFill/>
          </a:ln>
        </p:spPr>
        <p:txBody>
          <a:bodyPr/>
          <a:lstStyle/>
          <a:p>
            <a:endParaRPr lang="en-US"/>
          </a:p>
        </p:txBody>
      </p:sp>
      <p:sp>
        <p:nvSpPr>
          <p:cNvPr id="6" name="Editorial rule">
            <a:extLst>
              <a:ext uri="{FF2B5EF4-FFF2-40B4-BE49-F238E27FC236}">
                <a16:creationId xmlns:a16="http://schemas.microsoft.com/office/drawing/2014/main" id="{A6E44AEF-1AB5-4577-8ADA-73D394B2C810}"/>
              </a:ext>
            </a:extLst>
          </p:cNvPr>
          <p:cNvSpPr>
            <a:spLocks noGrp="1"/>
          </p:cNvSpPr>
          <p:nvPr/>
        </p:nvSpPr>
        <p:spPr>
          <a:xfrm>
            <a:off x="952500" y="2847975"/>
            <a:ext cx="3390900" cy="7620"/>
          </a:xfrm>
          <a:prstGeom prst="rect">
            <a:avLst/>
          </a:prstGeom>
          <a:solidFill>
            <a:srgbClr val="B7C3B1"/>
          </a:solidFill>
          <a:ln w="0">
            <a:noFill/>
          </a:ln>
        </p:spPr>
        <p:txBody>
          <a:bodyPr/>
          <a:lstStyle/>
          <a:p>
            <a:endParaRPr lang="en-US"/>
          </a:p>
        </p:txBody>
      </p:sp>
      <p:sp>
        <p:nvSpPr>
          <p:cNvPr id="7" name="Editorial rule">
            <a:extLst>
              <a:ext uri="{FF2B5EF4-FFF2-40B4-BE49-F238E27FC236}">
                <a16:creationId xmlns:a16="http://schemas.microsoft.com/office/drawing/2014/main" id="{92A11998-E0BD-4BF5-98EB-33C92499FB10}"/>
              </a:ext>
            </a:extLst>
          </p:cNvPr>
          <p:cNvSpPr>
            <a:spLocks noGrp="1"/>
          </p:cNvSpPr>
          <p:nvPr/>
        </p:nvSpPr>
        <p:spPr>
          <a:xfrm>
            <a:off x="952500" y="3857625"/>
            <a:ext cx="3390900" cy="7620"/>
          </a:xfrm>
          <a:prstGeom prst="rect">
            <a:avLst/>
          </a:prstGeom>
          <a:solidFill>
            <a:srgbClr val="B7C3B1"/>
          </a:solidFill>
          <a:ln w="0">
            <a:noFill/>
          </a:ln>
        </p:spPr>
        <p:txBody>
          <a:bodyPr/>
          <a:lstStyle/>
          <a:p>
            <a:endParaRPr lang="en-US"/>
          </a:p>
        </p:txBody>
      </p:sp>
      <p:sp>
        <p:nvSpPr>
          <p:cNvPr id="8" name="Editorial rule">
            <a:extLst>
              <a:ext uri="{FF2B5EF4-FFF2-40B4-BE49-F238E27FC236}">
                <a16:creationId xmlns:a16="http://schemas.microsoft.com/office/drawing/2014/main" id="{CD155C1B-86FA-48E4-ACF7-0B3809255443}"/>
              </a:ext>
            </a:extLst>
          </p:cNvPr>
          <p:cNvSpPr>
            <a:spLocks noGrp="1"/>
          </p:cNvSpPr>
          <p:nvPr/>
        </p:nvSpPr>
        <p:spPr>
          <a:xfrm>
            <a:off x="5210175" y="2171700"/>
            <a:ext cx="3400425" cy="7620"/>
          </a:xfrm>
          <a:prstGeom prst="rect">
            <a:avLst/>
          </a:prstGeom>
          <a:solidFill>
            <a:srgbClr val="B7C3B1"/>
          </a:solidFill>
          <a:ln w="0">
            <a:noFill/>
          </a:ln>
        </p:spPr>
        <p:txBody>
          <a:bodyPr/>
          <a:lstStyle/>
          <a:p>
            <a:endParaRPr lang="en-US"/>
          </a:p>
        </p:txBody>
      </p:sp>
      <p:sp>
        <p:nvSpPr>
          <p:cNvPr id="9" name="Editorial rule">
            <a:extLst>
              <a:ext uri="{FF2B5EF4-FFF2-40B4-BE49-F238E27FC236}">
                <a16:creationId xmlns:a16="http://schemas.microsoft.com/office/drawing/2014/main" id="{418A7B05-31CD-4B43-9699-6F9EE1BF6CF1}"/>
              </a:ext>
            </a:extLst>
          </p:cNvPr>
          <p:cNvSpPr>
            <a:spLocks noGrp="1"/>
          </p:cNvSpPr>
          <p:nvPr/>
        </p:nvSpPr>
        <p:spPr>
          <a:xfrm>
            <a:off x="5210175" y="2962275"/>
            <a:ext cx="3400425" cy="7620"/>
          </a:xfrm>
          <a:prstGeom prst="rect">
            <a:avLst/>
          </a:prstGeom>
          <a:solidFill>
            <a:srgbClr val="B7C3B1"/>
          </a:solidFill>
          <a:ln w="0">
            <a:noFill/>
          </a:ln>
        </p:spPr>
        <p:txBody>
          <a:bodyPr/>
          <a:lstStyle/>
          <a:p>
            <a:endParaRPr lang="en-US"/>
          </a:p>
        </p:txBody>
      </p:sp>
      <p:sp>
        <p:nvSpPr>
          <p:cNvPr id="10" name="Editorial rule">
            <a:extLst>
              <a:ext uri="{FF2B5EF4-FFF2-40B4-BE49-F238E27FC236}">
                <a16:creationId xmlns:a16="http://schemas.microsoft.com/office/drawing/2014/main" id="{C557D996-89FF-4E0D-B898-C1012B6A2AA9}"/>
              </a:ext>
            </a:extLst>
          </p:cNvPr>
          <p:cNvSpPr>
            <a:spLocks noGrp="1"/>
          </p:cNvSpPr>
          <p:nvPr/>
        </p:nvSpPr>
        <p:spPr>
          <a:xfrm>
            <a:off x="5210175" y="3752850"/>
            <a:ext cx="3400425" cy="7620"/>
          </a:xfrm>
          <a:prstGeom prst="rect">
            <a:avLst/>
          </a:prstGeom>
          <a:solidFill>
            <a:srgbClr val="B7C3B1"/>
          </a:solidFill>
          <a:ln w="0">
            <a:noFill/>
          </a:ln>
        </p:spPr>
        <p:txBody>
          <a:bodyPr/>
          <a:lstStyle/>
          <a:p>
            <a:endParaRPr lang="en-US"/>
          </a:p>
        </p:txBody>
      </p:sp>
      <p:sp>
        <p:nvSpPr>
          <p:cNvPr id="11" name="Key Messages">
            <a:extLst>
              <a:ext uri="{FF2B5EF4-FFF2-40B4-BE49-F238E27FC236}">
                <a16:creationId xmlns:a16="http://schemas.microsoft.com/office/drawing/2014/main" id="{2DF99968-EEBB-42AF-B102-5F0C7DF3638D}"/>
              </a:ext>
            </a:extLst>
          </p:cNvPr>
          <p:cNvSpPr>
            <a:spLocks noGrp="1"/>
          </p:cNvSpPr>
          <p:nvPr/>
        </p:nvSpPr>
        <p:spPr>
          <a:xfrm>
            <a:off x="495300" y="381000"/>
            <a:ext cx="8096250" cy="952500"/>
          </a:xfrm>
          <a:prstGeom prst="rect">
            <a:avLst/>
          </a:prstGeom>
          <a:noFill/>
          <a:ln w="0">
            <a:noFill/>
          </a:ln>
        </p:spPr>
        <p:txBody>
          <a:bodyPr wrap="square" lIns="0" tIns="0" rIns="0" bIns="0" anchor="t">
            <a:noAutofit/>
          </a:bodyPr>
          <a:lstStyle/>
          <a:p>
            <a:pPr>
              <a:defRPr sz="2775" b="0" i="0">
                <a:solidFill>
                  <a:srgbClr val="173E35"/>
                </a:solidFill>
                <a:latin typeface="Georgia"/>
                <a:ea typeface="Georgia"/>
                <a:cs typeface="Georgia"/>
              </a:defRPr>
            </a:pPr>
            <a:r>
              <a:rPr sz="2775" b="0" i="0">
                <a:solidFill>
                  <a:srgbClr val="173E35"/>
                </a:solidFill>
                <a:latin typeface="Georgia"/>
                <a:ea typeface="Georgia"/>
                <a:cs typeface="Georgia"/>
              </a:rPr>
              <a:t>Key Messages</a:t>
            </a:r>
          </a:p>
        </p:txBody>
      </p:sp>
      <p:sp>
        <p:nvSpPr>
          <p:cNvPr id="12" name="01">
            <a:extLst>
              <a:ext uri="{FF2B5EF4-FFF2-40B4-BE49-F238E27FC236}">
                <a16:creationId xmlns:a16="http://schemas.microsoft.com/office/drawing/2014/main" id="{547A0AAD-48AD-482F-97F7-A71F0B513EEB}"/>
              </a:ext>
            </a:extLst>
          </p:cNvPr>
          <p:cNvSpPr>
            <a:spLocks noGrp="1"/>
          </p:cNvSpPr>
          <p:nvPr/>
        </p:nvSpPr>
        <p:spPr>
          <a:xfrm>
            <a:off x="495300" y="1514475"/>
            <a:ext cx="381000" cy="361950"/>
          </a:xfrm>
          <a:prstGeom prst="rect">
            <a:avLst/>
          </a:prstGeom>
          <a:noFill/>
          <a:ln w="0">
            <a:noFill/>
          </a:ln>
        </p:spPr>
        <p:txBody>
          <a:bodyPr wrap="square" lIns="0" tIns="0" rIns="0" bIns="0" anchor="t">
            <a:noAutofit/>
          </a:bodyPr>
          <a:lstStyle/>
          <a:p>
            <a:pPr>
              <a:defRPr sz="1275" b="0" i="0">
                <a:solidFill>
                  <a:srgbClr val="B56647"/>
                </a:solidFill>
                <a:latin typeface="Arial"/>
                <a:ea typeface="Arial"/>
                <a:cs typeface="Arial"/>
              </a:defRPr>
            </a:pPr>
            <a:r>
              <a:rPr sz="1275" b="0" i="0">
                <a:solidFill>
                  <a:srgbClr val="B56647"/>
                </a:solidFill>
                <a:latin typeface="Arial"/>
                <a:ea typeface="Arial"/>
                <a:cs typeface="Arial"/>
              </a:rPr>
              <a:t>01</a:t>
            </a:r>
          </a:p>
        </p:txBody>
      </p:sp>
      <p:sp>
        <p:nvSpPr>
          <p:cNvPr id="13" name="Sustainability is a business issue.">
            <a:extLst>
              <a:ext uri="{FF2B5EF4-FFF2-40B4-BE49-F238E27FC236}">
                <a16:creationId xmlns:a16="http://schemas.microsoft.com/office/drawing/2014/main" id="{6F3BA174-44B3-4FEF-A530-C3653B07EC38}"/>
              </a:ext>
            </a:extLst>
          </p:cNvPr>
          <p:cNvSpPr>
            <a:spLocks noGrp="1"/>
          </p:cNvSpPr>
          <p:nvPr/>
        </p:nvSpPr>
        <p:spPr>
          <a:xfrm>
            <a:off x="952500" y="1514475"/>
            <a:ext cx="3419475" cy="619125"/>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Sustainability is a business issue.</a:t>
            </a:r>
          </a:p>
        </p:txBody>
      </p:sp>
      <p:sp>
        <p:nvSpPr>
          <p:cNvPr id="14" name="02">
            <a:extLst>
              <a:ext uri="{FF2B5EF4-FFF2-40B4-BE49-F238E27FC236}">
                <a16:creationId xmlns:a16="http://schemas.microsoft.com/office/drawing/2014/main" id="{204E82ED-9A97-418A-BA7F-56665EA91A92}"/>
              </a:ext>
            </a:extLst>
          </p:cNvPr>
          <p:cNvSpPr>
            <a:spLocks noGrp="1"/>
          </p:cNvSpPr>
          <p:nvPr/>
        </p:nvSpPr>
        <p:spPr>
          <a:xfrm>
            <a:off x="495300" y="2228850"/>
            <a:ext cx="381000" cy="361950"/>
          </a:xfrm>
          <a:prstGeom prst="rect">
            <a:avLst/>
          </a:prstGeom>
          <a:noFill/>
          <a:ln w="0">
            <a:noFill/>
          </a:ln>
        </p:spPr>
        <p:txBody>
          <a:bodyPr wrap="square" lIns="0" tIns="0" rIns="0" bIns="0" anchor="t">
            <a:noAutofit/>
          </a:bodyPr>
          <a:lstStyle/>
          <a:p>
            <a:pPr>
              <a:defRPr sz="1275" b="0" i="0">
                <a:solidFill>
                  <a:srgbClr val="B56647"/>
                </a:solidFill>
                <a:latin typeface="Arial"/>
                <a:ea typeface="Arial"/>
                <a:cs typeface="Arial"/>
              </a:defRPr>
            </a:pPr>
            <a:r>
              <a:rPr sz="1275" b="0" i="0">
                <a:solidFill>
                  <a:srgbClr val="B56647"/>
                </a:solidFill>
                <a:latin typeface="Arial"/>
                <a:ea typeface="Arial"/>
                <a:cs typeface="Arial"/>
              </a:rPr>
              <a:t>02</a:t>
            </a:r>
          </a:p>
        </p:txBody>
      </p:sp>
      <p:sp>
        <p:nvSpPr>
          <p:cNvPr id="15" name="Nature provides measurable economic value.">
            <a:extLst>
              <a:ext uri="{FF2B5EF4-FFF2-40B4-BE49-F238E27FC236}">
                <a16:creationId xmlns:a16="http://schemas.microsoft.com/office/drawing/2014/main" id="{AD51EA56-E015-4A4B-9772-39BBE8E1B8F9}"/>
              </a:ext>
            </a:extLst>
          </p:cNvPr>
          <p:cNvSpPr>
            <a:spLocks noGrp="1"/>
          </p:cNvSpPr>
          <p:nvPr/>
        </p:nvSpPr>
        <p:spPr>
          <a:xfrm>
            <a:off x="952500" y="2228850"/>
            <a:ext cx="3419475" cy="619125"/>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Nature provides measurable economic value.</a:t>
            </a:r>
          </a:p>
        </p:txBody>
      </p:sp>
      <p:sp>
        <p:nvSpPr>
          <p:cNvPr id="16" name="03">
            <a:extLst>
              <a:ext uri="{FF2B5EF4-FFF2-40B4-BE49-F238E27FC236}">
                <a16:creationId xmlns:a16="http://schemas.microsoft.com/office/drawing/2014/main" id="{6EA608F9-AF51-41CE-8E21-83056B05BEEE}"/>
              </a:ext>
            </a:extLst>
          </p:cNvPr>
          <p:cNvSpPr>
            <a:spLocks noGrp="1"/>
          </p:cNvSpPr>
          <p:nvPr/>
        </p:nvSpPr>
        <p:spPr>
          <a:xfrm>
            <a:off x="495300" y="2943225"/>
            <a:ext cx="381000" cy="361950"/>
          </a:xfrm>
          <a:prstGeom prst="rect">
            <a:avLst/>
          </a:prstGeom>
          <a:noFill/>
          <a:ln w="0">
            <a:noFill/>
          </a:ln>
        </p:spPr>
        <p:txBody>
          <a:bodyPr wrap="square" lIns="0" tIns="0" rIns="0" bIns="0" anchor="t">
            <a:noAutofit/>
          </a:bodyPr>
          <a:lstStyle/>
          <a:p>
            <a:pPr>
              <a:defRPr sz="1275" b="0" i="0">
                <a:solidFill>
                  <a:srgbClr val="B56647"/>
                </a:solidFill>
                <a:latin typeface="Arial"/>
                <a:ea typeface="Arial"/>
                <a:cs typeface="Arial"/>
              </a:defRPr>
            </a:pPr>
            <a:r>
              <a:rPr sz="1275" b="0" i="0">
                <a:solidFill>
                  <a:srgbClr val="B56647"/>
                </a:solidFill>
                <a:latin typeface="Arial"/>
                <a:ea typeface="Arial"/>
                <a:cs typeface="Arial"/>
              </a:rPr>
              <a:t>03</a:t>
            </a:r>
          </a:p>
        </p:txBody>
      </p:sp>
      <p:sp>
        <p:nvSpPr>
          <p:cNvPr id="17" name="Green Infrastructure creates social, environm">
            <a:extLst>
              <a:ext uri="{FF2B5EF4-FFF2-40B4-BE49-F238E27FC236}">
                <a16:creationId xmlns:a16="http://schemas.microsoft.com/office/drawing/2014/main" id="{653004C6-9832-4FD2-8C6B-AA189B9DC5B5}"/>
              </a:ext>
            </a:extLst>
          </p:cNvPr>
          <p:cNvSpPr>
            <a:spLocks noGrp="1"/>
          </p:cNvSpPr>
          <p:nvPr/>
        </p:nvSpPr>
        <p:spPr>
          <a:xfrm>
            <a:off x="952500" y="2943225"/>
            <a:ext cx="3419475" cy="828675"/>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Green Infrastructure creates social, environmental and business benefits.</a:t>
            </a:r>
          </a:p>
        </p:txBody>
      </p:sp>
      <p:sp>
        <p:nvSpPr>
          <p:cNvPr id="18" name="04">
            <a:extLst>
              <a:ext uri="{FF2B5EF4-FFF2-40B4-BE49-F238E27FC236}">
                <a16:creationId xmlns:a16="http://schemas.microsoft.com/office/drawing/2014/main" id="{B4D14EA1-445E-44F9-8E55-977AE0CFC0CA}"/>
              </a:ext>
            </a:extLst>
          </p:cNvPr>
          <p:cNvSpPr>
            <a:spLocks noGrp="1"/>
          </p:cNvSpPr>
          <p:nvPr/>
        </p:nvSpPr>
        <p:spPr>
          <a:xfrm>
            <a:off x="495300" y="4000500"/>
            <a:ext cx="381000" cy="361950"/>
          </a:xfrm>
          <a:prstGeom prst="rect">
            <a:avLst/>
          </a:prstGeom>
          <a:noFill/>
          <a:ln w="0">
            <a:noFill/>
          </a:ln>
        </p:spPr>
        <p:txBody>
          <a:bodyPr wrap="square" lIns="0" tIns="0" rIns="0" bIns="0" anchor="t">
            <a:noAutofit/>
          </a:bodyPr>
          <a:lstStyle/>
          <a:p>
            <a:pPr>
              <a:defRPr sz="1275" b="0" i="0">
                <a:solidFill>
                  <a:srgbClr val="B56647"/>
                </a:solidFill>
                <a:latin typeface="Arial"/>
                <a:ea typeface="Arial"/>
                <a:cs typeface="Arial"/>
              </a:defRPr>
            </a:pPr>
            <a:r>
              <a:rPr sz="1275" b="0" i="0">
                <a:solidFill>
                  <a:srgbClr val="B56647"/>
                </a:solidFill>
                <a:latin typeface="Arial"/>
                <a:ea typeface="Arial"/>
                <a:cs typeface="Arial"/>
              </a:rPr>
              <a:t>04</a:t>
            </a:r>
          </a:p>
        </p:txBody>
      </p:sp>
      <p:sp>
        <p:nvSpPr>
          <p:cNvPr id="19" name="Urban development and natural systems must co">
            <a:extLst>
              <a:ext uri="{FF2B5EF4-FFF2-40B4-BE49-F238E27FC236}">
                <a16:creationId xmlns:a16="http://schemas.microsoft.com/office/drawing/2014/main" id="{39D4ACF1-D2CF-4FC3-9D44-805BACF18999}"/>
              </a:ext>
            </a:extLst>
          </p:cNvPr>
          <p:cNvSpPr>
            <a:spLocks noGrp="1"/>
          </p:cNvSpPr>
          <p:nvPr/>
        </p:nvSpPr>
        <p:spPr>
          <a:xfrm>
            <a:off x="952500" y="4000500"/>
            <a:ext cx="3419475" cy="619125"/>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Urban development and natural systems must coexist.</a:t>
            </a:r>
          </a:p>
        </p:txBody>
      </p:sp>
      <p:sp>
        <p:nvSpPr>
          <p:cNvPr id="20" name="05">
            <a:extLst>
              <a:ext uri="{FF2B5EF4-FFF2-40B4-BE49-F238E27FC236}">
                <a16:creationId xmlns:a16="http://schemas.microsoft.com/office/drawing/2014/main" id="{EC9C98C5-EE56-48E3-A58E-A7EB61D5F7AB}"/>
              </a:ext>
            </a:extLst>
          </p:cNvPr>
          <p:cNvSpPr>
            <a:spLocks noGrp="1"/>
          </p:cNvSpPr>
          <p:nvPr/>
        </p:nvSpPr>
        <p:spPr>
          <a:xfrm>
            <a:off x="4752975" y="1514475"/>
            <a:ext cx="381000" cy="361950"/>
          </a:xfrm>
          <a:prstGeom prst="rect">
            <a:avLst/>
          </a:prstGeom>
          <a:noFill/>
          <a:ln w="0">
            <a:noFill/>
          </a:ln>
        </p:spPr>
        <p:txBody>
          <a:bodyPr wrap="square" lIns="0" tIns="0" rIns="0" bIns="0" anchor="t">
            <a:noAutofit/>
          </a:bodyPr>
          <a:lstStyle/>
          <a:p>
            <a:pPr>
              <a:defRPr sz="1275" b="0" i="0">
                <a:solidFill>
                  <a:srgbClr val="B56647"/>
                </a:solidFill>
                <a:latin typeface="Arial"/>
                <a:ea typeface="Arial"/>
                <a:cs typeface="Arial"/>
              </a:defRPr>
            </a:pPr>
            <a:r>
              <a:rPr sz="1275" b="0" i="0">
                <a:solidFill>
                  <a:srgbClr val="B56647"/>
                </a:solidFill>
                <a:latin typeface="Arial"/>
                <a:ea typeface="Arial"/>
                <a:cs typeface="Arial"/>
              </a:rPr>
              <a:t>05</a:t>
            </a:r>
          </a:p>
        </p:txBody>
      </p:sp>
      <p:sp>
        <p:nvSpPr>
          <p:cNvPr id="21" name="Environmental challenges are business challen">
            <a:extLst>
              <a:ext uri="{FF2B5EF4-FFF2-40B4-BE49-F238E27FC236}">
                <a16:creationId xmlns:a16="http://schemas.microsoft.com/office/drawing/2014/main" id="{4DBB050A-741F-4F3C-B3F3-F01F347B8738}"/>
              </a:ext>
            </a:extLst>
          </p:cNvPr>
          <p:cNvSpPr>
            <a:spLocks noGrp="1"/>
          </p:cNvSpPr>
          <p:nvPr/>
        </p:nvSpPr>
        <p:spPr>
          <a:xfrm>
            <a:off x="5210175" y="1514475"/>
            <a:ext cx="3419475" cy="619125"/>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Environmental challenges are business challenges.</a:t>
            </a:r>
          </a:p>
        </p:txBody>
      </p:sp>
      <p:sp>
        <p:nvSpPr>
          <p:cNvPr id="22" name="06">
            <a:extLst>
              <a:ext uri="{FF2B5EF4-FFF2-40B4-BE49-F238E27FC236}">
                <a16:creationId xmlns:a16="http://schemas.microsoft.com/office/drawing/2014/main" id="{E7F5E89B-A957-4D0A-8D0D-1FDC2861F348}"/>
              </a:ext>
            </a:extLst>
          </p:cNvPr>
          <p:cNvSpPr>
            <a:spLocks noGrp="1"/>
          </p:cNvSpPr>
          <p:nvPr/>
        </p:nvSpPr>
        <p:spPr>
          <a:xfrm>
            <a:off x="4752975" y="2305050"/>
            <a:ext cx="381000" cy="361950"/>
          </a:xfrm>
          <a:prstGeom prst="rect">
            <a:avLst/>
          </a:prstGeom>
          <a:noFill/>
          <a:ln w="0">
            <a:noFill/>
          </a:ln>
        </p:spPr>
        <p:txBody>
          <a:bodyPr wrap="square" lIns="0" tIns="0" rIns="0" bIns="0" anchor="t">
            <a:noAutofit/>
          </a:bodyPr>
          <a:lstStyle/>
          <a:p>
            <a:pPr>
              <a:defRPr sz="1275" b="0" i="0">
                <a:solidFill>
                  <a:srgbClr val="B56647"/>
                </a:solidFill>
                <a:latin typeface="Arial"/>
                <a:ea typeface="Arial"/>
                <a:cs typeface="Arial"/>
              </a:defRPr>
            </a:pPr>
            <a:r>
              <a:rPr sz="1275" b="0" i="0">
                <a:solidFill>
                  <a:srgbClr val="B56647"/>
                </a:solidFill>
                <a:latin typeface="Arial"/>
                <a:ea typeface="Arial"/>
                <a:cs typeface="Arial"/>
              </a:rPr>
              <a:t>06</a:t>
            </a:r>
          </a:p>
        </p:txBody>
      </p:sp>
      <p:sp>
        <p:nvSpPr>
          <p:cNvPr id="23" name="Urbanization creates pressure on natural syst">
            <a:extLst>
              <a:ext uri="{FF2B5EF4-FFF2-40B4-BE49-F238E27FC236}">
                <a16:creationId xmlns:a16="http://schemas.microsoft.com/office/drawing/2014/main" id="{8249BBBC-FFE2-4851-993A-51E0E6CE6B34}"/>
              </a:ext>
            </a:extLst>
          </p:cNvPr>
          <p:cNvSpPr>
            <a:spLocks noGrp="1"/>
          </p:cNvSpPr>
          <p:nvPr/>
        </p:nvSpPr>
        <p:spPr>
          <a:xfrm>
            <a:off x="5210175" y="2305050"/>
            <a:ext cx="3419475" cy="619125"/>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Urbanization creates pressure on natural systems.</a:t>
            </a:r>
          </a:p>
        </p:txBody>
      </p:sp>
      <p:sp>
        <p:nvSpPr>
          <p:cNvPr id="24" name="07">
            <a:extLst>
              <a:ext uri="{FF2B5EF4-FFF2-40B4-BE49-F238E27FC236}">
                <a16:creationId xmlns:a16="http://schemas.microsoft.com/office/drawing/2014/main" id="{B5A6F686-7E4F-415D-AD55-739F4AFE41E4}"/>
              </a:ext>
            </a:extLst>
          </p:cNvPr>
          <p:cNvSpPr>
            <a:spLocks noGrp="1"/>
          </p:cNvSpPr>
          <p:nvPr/>
        </p:nvSpPr>
        <p:spPr>
          <a:xfrm>
            <a:off x="4752975" y="3095625"/>
            <a:ext cx="381000" cy="361950"/>
          </a:xfrm>
          <a:prstGeom prst="rect">
            <a:avLst/>
          </a:prstGeom>
          <a:noFill/>
          <a:ln w="0">
            <a:noFill/>
          </a:ln>
        </p:spPr>
        <p:txBody>
          <a:bodyPr wrap="square" lIns="0" tIns="0" rIns="0" bIns="0" anchor="t">
            <a:noAutofit/>
          </a:bodyPr>
          <a:lstStyle/>
          <a:p>
            <a:pPr>
              <a:defRPr sz="1275" b="0" i="0">
                <a:solidFill>
                  <a:srgbClr val="B56647"/>
                </a:solidFill>
                <a:latin typeface="Arial"/>
                <a:ea typeface="Arial"/>
                <a:cs typeface="Arial"/>
              </a:defRPr>
            </a:pPr>
            <a:r>
              <a:rPr sz="1275" b="0" i="0">
                <a:solidFill>
                  <a:srgbClr val="B56647"/>
                </a:solidFill>
                <a:latin typeface="Arial"/>
                <a:ea typeface="Arial"/>
                <a:cs typeface="Arial"/>
              </a:rPr>
              <a:t>07</a:t>
            </a:r>
          </a:p>
        </p:txBody>
      </p:sp>
      <p:sp>
        <p:nvSpPr>
          <p:cNvPr id="25" name="Green Infrastructure improves urban resilienc">
            <a:extLst>
              <a:ext uri="{FF2B5EF4-FFF2-40B4-BE49-F238E27FC236}">
                <a16:creationId xmlns:a16="http://schemas.microsoft.com/office/drawing/2014/main" id="{36482A7D-AFE4-4D53-9C13-26E2C824C81E}"/>
              </a:ext>
            </a:extLst>
          </p:cNvPr>
          <p:cNvSpPr>
            <a:spLocks noGrp="1"/>
          </p:cNvSpPr>
          <p:nvPr/>
        </p:nvSpPr>
        <p:spPr>
          <a:xfrm>
            <a:off x="5210175" y="3095625"/>
            <a:ext cx="3419475" cy="619125"/>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Green Infrastructure improves urban resilience.</a:t>
            </a:r>
          </a:p>
        </p:txBody>
      </p:sp>
      <p:sp>
        <p:nvSpPr>
          <p:cNvPr id="26" name="08">
            <a:extLst>
              <a:ext uri="{FF2B5EF4-FFF2-40B4-BE49-F238E27FC236}">
                <a16:creationId xmlns:a16="http://schemas.microsoft.com/office/drawing/2014/main" id="{16F4BE1A-E891-402B-922B-D8924C8F2236}"/>
              </a:ext>
            </a:extLst>
          </p:cNvPr>
          <p:cNvSpPr>
            <a:spLocks noGrp="1"/>
          </p:cNvSpPr>
          <p:nvPr/>
        </p:nvSpPr>
        <p:spPr>
          <a:xfrm>
            <a:off x="4752975" y="3886200"/>
            <a:ext cx="381000" cy="361950"/>
          </a:xfrm>
          <a:prstGeom prst="rect">
            <a:avLst/>
          </a:prstGeom>
          <a:noFill/>
          <a:ln w="0">
            <a:noFill/>
          </a:ln>
        </p:spPr>
        <p:txBody>
          <a:bodyPr wrap="square" lIns="0" tIns="0" rIns="0" bIns="0" anchor="t">
            <a:noAutofit/>
          </a:bodyPr>
          <a:lstStyle/>
          <a:p>
            <a:pPr>
              <a:defRPr sz="1275" b="0" i="0">
                <a:solidFill>
                  <a:srgbClr val="B56647"/>
                </a:solidFill>
                <a:latin typeface="Arial"/>
                <a:ea typeface="Arial"/>
                <a:cs typeface="Arial"/>
              </a:defRPr>
            </a:pPr>
            <a:r>
              <a:rPr sz="1275" b="0" i="0">
                <a:solidFill>
                  <a:srgbClr val="B56647"/>
                </a:solidFill>
                <a:latin typeface="Arial"/>
                <a:ea typeface="Arial"/>
                <a:cs typeface="Arial"/>
              </a:rPr>
              <a:t>08</a:t>
            </a:r>
          </a:p>
        </p:txBody>
      </p:sp>
      <p:sp>
        <p:nvSpPr>
          <p:cNvPr id="27" name="Prague provides excellent real-life sustainab">
            <a:extLst>
              <a:ext uri="{FF2B5EF4-FFF2-40B4-BE49-F238E27FC236}">
                <a16:creationId xmlns:a16="http://schemas.microsoft.com/office/drawing/2014/main" id="{80878787-019F-4795-9C5B-2490BC1EDCB0}"/>
              </a:ext>
            </a:extLst>
          </p:cNvPr>
          <p:cNvSpPr>
            <a:spLocks noGrp="1"/>
          </p:cNvSpPr>
          <p:nvPr/>
        </p:nvSpPr>
        <p:spPr>
          <a:xfrm>
            <a:off x="5210175" y="3886200"/>
            <a:ext cx="3419475" cy="619125"/>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Prague provides excellent real-life sustainability case studies.</a:t>
            </a:r>
          </a:p>
        </p:txBody>
      </p:sp>
      <p:pic>
        <p:nvPicPr>
          <p:cNvPr id="58" name="Picture 57"/>
          <p:cNvPicPr>
            <a:picLocks noChangeAspect="1"/>
          </p:cNvPicPr>
          <p:nvPr/>
        </p:nvPicPr>
        <p:blipFill>
          <a:blip r:embed="rId3"/>
          <a:stretch/>
        </p:blipFill>
        <p:spPr>
          <a:xfrm>
            <a:off x="499570" y="4829175"/>
            <a:ext cx="315310" cy="152400"/>
          </a:xfrm>
          <a:prstGeom prst="rect">
            <a:avLst/>
          </a:prstGeom>
        </p:spPr>
      </p:pic>
      <p:sp>
        <p:nvSpPr>
          <p:cNvPr id="29" name="www.newton.university">
            <a:extLst>
              <a:ext uri="{FF2B5EF4-FFF2-40B4-BE49-F238E27FC236}">
                <a16:creationId xmlns:a16="http://schemas.microsoft.com/office/drawing/2014/main" id="{289DB8B4-A19A-4124-8023-BACA92BE1D10}"/>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30" name="44">
            <a:extLst>
              <a:ext uri="{FF2B5EF4-FFF2-40B4-BE49-F238E27FC236}">
                <a16:creationId xmlns:a16="http://schemas.microsoft.com/office/drawing/2014/main" id="{DD4F107B-E4F8-410F-9CDE-328D41EC5F2B}"/>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58665B"/>
                </a:solidFill>
                <a:latin typeface="Arial"/>
                <a:ea typeface="Arial"/>
                <a:cs typeface="Arial"/>
              </a:defRPr>
            </a:pPr>
            <a:r>
              <a:rPr sz="1125" b="0" i="0">
                <a:solidFill>
                  <a:srgbClr val="58665B"/>
                </a:solidFill>
                <a:latin typeface="Arial"/>
                <a:ea typeface="Arial"/>
                <a:cs typeface="Arial"/>
              </a:rPr>
              <a:t>44</a:t>
            </a:r>
          </a:p>
        </p:txBody>
      </p:sp>
    </p:spTree>
    <p:extLst>
      <p:ext uri="{BB962C8B-B14F-4D97-AF65-F5344CB8AC3E}">
        <p14:creationId xmlns:p14="http://schemas.microsoft.com/office/powerpoint/2010/main" val="4537454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18" name="Editorial rule">
            <a:extLst>
              <a:ext uri="{FF2B5EF4-FFF2-40B4-BE49-F238E27FC236}">
                <a16:creationId xmlns:a16="http://schemas.microsoft.com/office/drawing/2014/main" id="{CEAECB18-0AA5-444F-A916-0107702C714D}"/>
              </a:ext>
            </a:extLst>
          </p:cNvPr>
          <p:cNvSpPr>
            <a:spLocks noGrp="1"/>
          </p:cNvSpPr>
          <p:nvPr/>
        </p:nvSpPr>
        <p:spPr>
          <a:xfrm>
            <a:off x="495300" y="1066800"/>
            <a:ext cx="8153400" cy="7620"/>
          </a:xfrm>
          <a:prstGeom prst="rect">
            <a:avLst/>
          </a:prstGeom>
          <a:solidFill>
            <a:srgbClr val="B7C3B1"/>
          </a:solidFill>
          <a:ln w="0">
            <a:noFill/>
          </a:ln>
        </p:spPr>
        <p:txBody>
          <a:bodyPr/>
          <a:lstStyle/>
          <a:p>
            <a:endParaRPr lang="en-US"/>
          </a:p>
        </p:txBody>
      </p:sp>
      <p:sp>
        <p:nvSpPr>
          <p:cNvPr id="2" name="Editorial rule">
            <a:extLst>
              <a:ext uri="{FF2B5EF4-FFF2-40B4-BE49-F238E27FC236}">
                <a16:creationId xmlns:a16="http://schemas.microsoft.com/office/drawing/2014/main" id="{68B3E3F9-DF29-4D5E-9A56-E8E5FEB0CB70}"/>
              </a:ext>
            </a:extLst>
          </p:cNvPr>
          <p:cNvSpPr>
            <a:spLocks noGrp="1"/>
          </p:cNvSpPr>
          <p:nvPr/>
        </p:nvSpPr>
        <p:spPr>
          <a:xfrm>
            <a:off x="495300" y="1052513"/>
            <a:ext cx="552450" cy="28575"/>
          </a:xfrm>
          <a:prstGeom prst="rect">
            <a:avLst/>
          </a:prstGeom>
          <a:solidFill>
            <a:srgbClr val="B56647"/>
          </a:solidFill>
          <a:ln w="0">
            <a:noFill/>
          </a:ln>
        </p:spPr>
        <p:txBody>
          <a:bodyPr/>
          <a:lstStyle/>
          <a:p>
            <a:endParaRPr lang="en-US"/>
          </a:p>
        </p:txBody>
      </p:sp>
      <p:sp>
        <p:nvSpPr>
          <p:cNvPr id="3" name="Editorial frame">
            <a:extLst>
              <a:ext uri="{FF2B5EF4-FFF2-40B4-BE49-F238E27FC236}">
                <a16:creationId xmlns:a16="http://schemas.microsoft.com/office/drawing/2014/main" id="{42070A49-4255-4488-A8A4-78E36930AB23}"/>
              </a:ext>
            </a:extLst>
          </p:cNvPr>
          <p:cNvSpPr>
            <a:spLocks noGrp="1"/>
          </p:cNvSpPr>
          <p:nvPr/>
        </p:nvSpPr>
        <p:spPr>
          <a:xfrm>
            <a:off x="6391275" y="1495425"/>
            <a:ext cx="2390775" cy="3143250"/>
          </a:xfrm>
          <a:prstGeom prst="rect">
            <a:avLst/>
          </a:prstGeom>
          <a:solidFill>
            <a:srgbClr val="E3E9D9"/>
          </a:solidFill>
          <a:ln w="8573">
            <a:solidFill>
              <a:srgbClr val="B6C1A9"/>
            </a:solidFill>
          </a:ln>
        </p:spPr>
        <p:txBody>
          <a:bodyPr/>
          <a:lstStyle/>
          <a:p>
            <a:endParaRPr lang="en-US"/>
          </a:p>
        </p:txBody>
      </p:sp>
      <p:sp>
        <p:nvSpPr>
          <p:cNvPr id="4" name="Editorial rule">
            <a:extLst>
              <a:ext uri="{FF2B5EF4-FFF2-40B4-BE49-F238E27FC236}">
                <a16:creationId xmlns:a16="http://schemas.microsoft.com/office/drawing/2014/main" id="{C32BF7AA-8BC1-4058-B198-76E2A8388AA5}"/>
              </a:ext>
            </a:extLst>
          </p:cNvPr>
          <p:cNvSpPr>
            <a:spLocks noGrp="1"/>
          </p:cNvSpPr>
          <p:nvPr/>
        </p:nvSpPr>
        <p:spPr>
          <a:xfrm>
            <a:off x="6391275" y="1495425"/>
            <a:ext cx="2390775" cy="38100"/>
          </a:xfrm>
          <a:prstGeom prst="rect">
            <a:avLst/>
          </a:prstGeom>
          <a:solidFill>
            <a:srgbClr val="173E35"/>
          </a:solidFill>
          <a:ln w="0">
            <a:noFill/>
          </a:ln>
        </p:spPr>
        <p:txBody>
          <a:bodyPr/>
          <a:lstStyle/>
          <a:p>
            <a:endParaRPr lang="en-US"/>
          </a:p>
        </p:txBody>
      </p:sp>
      <p:sp>
        <p:nvSpPr>
          <p:cNvPr id="5" name="Editorial rule">
            <a:extLst>
              <a:ext uri="{FF2B5EF4-FFF2-40B4-BE49-F238E27FC236}">
                <a16:creationId xmlns:a16="http://schemas.microsoft.com/office/drawing/2014/main" id="{7A47FAA8-C0A3-4FFD-BB5B-49DEA0B8527A}"/>
              </a:ext>
            </a:extLst>
          </p:cNvPr>
          <p:cNvSpPr>
            <a:spLocks noGrp="1"/>
          </p:cNvSpPr>
          <p:nvPr/>
        </p:nvSpPr>
        <p:spPr>
          <a:xfrm>
            <a:off x="495300" y="2200275"/>
            <a:ext cx="5467350" cy="7620"/>
          </a:xfrm>
          <a:prstGeom prst="rect">
            <a:avLst/>
          </a:prstGeom>
          <a:solidFill>
            <a:srgbClr val="B7C3B1"/>
          </a:solidFill>
          <a:ln w="0">
            <a:noFill/>
          </a:ln>
        </p:spPr>
        <p:txBody>
          <a:bodyPr/>
          <a:lstStyle/>
          <a:p>
            <a:endParaRPr lang="en-US"/>
          </a:p>
        </p:txBody>
      </p:sp>
      <p:sp>
        <p:nvSpPr>
          <p:cNvPr id="6" name="Editorial rule">
            <a:extLst>
              <a:ext uri="{FF2B5EF4-FFF2-40B4-BE49-F238E27FC236}">
                <a16:creationId xmlns:a16="http://schemas.microsoft.com/office/drawing/2014/main" id="{97DF2522-2EE6-4BDA-B002-FB58FB16177F}"/>
              </a:ext>
            </a:extLst>
          </p:cNvPr>
          <p:cNvSpPr>
            <a:spLocks noGrp="1"/>
          </p:cNvSpPr>
          <p:nvPr/>
        </p:nvSpPr>
        <p:spPr>
          <a:xfrm>
            <a:off x="495300" y="2943225"/>
            <a:ext cx="5467350" cy="7620"/>
          </a:xfrm>
          <a:prstGeom prst="rect">
            <a:avLst/>
          </a:prstGeom>
          <a:solidFill>
            <a:srgbClr val="B7C3B1"/>
          </a:solidFill>
          <a:ln w="0">
            <a:noFill/>
          </a:ln>
        </p:spPr>
        <p:txBody>
          <a:bodyPr/>
          <a:lstStyle/>
          <a:p>
            <a:endParaRPr lang="en-US"/>
          </a:p>
        </p:txBody>
      </p:sp>
      <p:sp>
        <p:nvSpPr>
          <p:cNvPr id="7" name="Editorial rule">
            <a:extLst>
              <a:ext uri="{FF2B5EF4-FFF2-40B4-BE49-F238E27FC236}">
                <a16:creationId xmlns:a16="http://schemas.microsoft.com/office/drawing/2014/main" id="{8051755F-F022-4F5A-825E-5F48D7C7F806}"/>
              </a:ext>
            </a:extLst>
          </p:cNvPr>
          <p:cNvSpPr>
            <a:spLocks noGrp="1"/>
          </p:cNvSpPr>
          <p:nvPr/>
        </p:nvSpPr>
        <p:spPr>
          <a:xfrm>
            <a:off x="495300" y="3686175"/>
            <a:ext cx="5467350" cy="7620"/>
          </a:xfrm>
          <a:prstGeom prst="rect">
            <a:avLst/>
          </a:prstGeom>
          <a:solidFill>
            <a:srgbClr val="B7C3B1"/>
          </a:solidFill>
          <a:ln w="0">
            <a:noFill/>
          </a:ln>
        </p:spPr>
        <p:txBody>
          <a:bodyPr/>
          <a:lstStyle/>
          <a:p>
            <a:endParaRPr lang="en-US"/>
          </a:p>
        </p:txBody>
      </p:sp>
      <p:sp>
        <p:nvSpPr>
          <p:cNvPr id="8" name="Recommended Reading">
            <a:extLst>
              <a:ext uri="{FF2B5EF4-FFF2-40B4-BE49-F238E27FC236}">
                <a16:creationId xmlns:a16="http://schemas.microsoft.com/office/drawing/2014/main" id="{C7EA5B02-E66D-4523-BBAC-AAACBEB1D7DC}"/>
              </a:ext>
            </a:extLst>
          </p:cNvPr>
          <p:cNvSpPr>
            <a:spLocks noGrp="1"/>
          </p:cNvSpPr>
          <p:nvPr/>
        </p:nvSpPr>
        <p:spPr>
          <a:xfrm>
            <a:off x="495300" y="381000"/>
            <a:ext cx="8096250" cy="952500"/>
          </a:xfrm>
          <a:prstGeom prst="rect">
            <a:avLst/>
          </a:prstGeom>
          <a:noFill/>
          <a:ln w="0">
            <a:noFill/>
          </a:ln>
        </p:spPr>
        <p:txBody>
          <a:bodyPr wrap="square" lIns="0" tIns="0" rIns="0" bIns="0" anchor="t">
            <a:noAutofit/>
          </a:bodyPr>
          <a:lstStyle/>
          <a:p>
            <a:pPr>
              <a:defRPr sz="2775" b="0" i="0">
                <a:solidFill>
                  <a:srgbClr val="173E35"/>
                </a:solidFill>
                <a:latin typeface="Georgia"/>
                <a:ea typeface="Georgia"/>
                <a:cs typeface="Georgia"/>
              </a:defRPr>
            </a:pPr>
            <a:r>
              <a:rPr sz="2775" b="0" i="0">
                <a:solidFill>
                  <a:srgbClr val="173E35"/>
                </a:solidFill>
                <a:latin typeface="Georgia"/>
                <a:ea typeface="Georgia"/>
                <a:cs typeface="Georgia"/>
              </a:rPr>
              <a:t>Recommended Reading</a:t>
            </a:r>
          </a:p>
        </p:txBody>
      </p:sp>
      <p:sp>
        <p:nvSpPr>
          <p:cNvPr id="9" name="Blackburn, W. R. (2007). The Sustainability H">
            <a:extLst>
              <a:ext uri="{FF2B5EF4-FFF2-40B4-BE49-F238E27FC236}">
                <a16:creationId xmlns:a16="http://schemas.microsoft.com/office/drawing/2014/main" id="{D96AD083-407A-4AC5-9083-38F5E06769C8}"/>
              </a:ext>
            </a:extLst>
          </p:cNvPr>
          <p:cNvSpPr>
            <a:spLocks noGrp="1"/>
          </p:cNvSpPr>
          <p:nvPr/>
        </p:nvSpPr>
        <p:spPr>
          <a:xfrm>
            <a:off x="495300" y="1514475"/>
            <a:ext cx="5467350" cy="666750"/>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Blackburn, W. R. (2007). The Sustainability Handbook. Earthscan.</a:t>
            </a:r>
          </a:p>
        </p:txBody>
      </p:sp>
      <p:sp>
        <p:nvSpPr>
          <p:cNvPr id="10" name="Porter, M. &amp; Kramer, M. (2011). Creating Shar">
            <a:extLst>
              <a:ext uri="{FF2B5EF4-FFF2-40B4-BE49-F238E27FC236}">
                <a16:creationId xmlns:a16="http://schemas.microsoft.com/office/drawing/2014/main" id="{98AA043D-FB4E-41FC-AB06-EF2ED8C35435}"/>
              </a:ext>
            </a:extLst>
          </p:cNvPr>
          <p:cNvSpPr>
            <a:spLocks noGrp="1"/>
          </p:cNvSpPr>
          <p:nvPr/>
        </p:nvSpPr>
        <p:spPr>
          <a:xfrm>
            <a:off x="495300" y="2257425"/>
            <a:ext cx="5467350" cy="666750"/>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Porter, M. &amp; Kramer, M. (2011). Creating Shared Value. Harvard Business Review.</a:t>
            </a:r>
          </a:p>
        </p:txBody>
      </p:sp>
      <p:sp>
        <p:nvSpPr>
          <p:cNvPr id="11" name="Freeman, R. E. (1984). Strategic Management: ">
            <a:extLst>
              <a:ext uri="{FF2B5EF4-FFF2-40B4-BE49-F238E27FC236}">
                <a16:creationId xmlns:a16="http://schemas.microsoft.com/office/drawing/2014/main" id="{E9DB63BC-619D-401B-B7F6-ED632DF7C549}"/>
              </a:ext>
            </a:extLst>
          </p:cNvPr>
          <p:cNvSpPr>
            <a:spLocks noGrp="1"/>
          </p:cNvSpPr>
          <p:nvPr/>
        </p:nvSpPr>
        <p:spPr>
          <a:xfrm>
            <a:off x="495300" y="3000375"/>
            <a:ext cx="5467350" cy="666750"/>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Freeman, R. E. (1984). Strategic Management: A Stakeholder Approach.</a:t>
            </a:r>
          </a:p>
        </p:txBody>
      </p:sp>
      <p:sp>
        <p:nvSpPr>
          <p:cNvPr id="12" name="Business in the Community Ireland — Sustainab">
            <a:extLst>
              <a:ext uri="{FF2B5EF4-FFF2-40B4-BE49-F238E27FC236}">
                <a16:creationId xmlns:a16="http://schemas.microsoft.com/office/drawing/2014/main" id="{01A85F0A-7393-43E9-92AB-232E2C347807}"/>
              </a:ext>
            </a:extLst>
          </p:cNvPr>
          <p:cNvSpPr>
            <a:spLocks noGrp="1"/>
          </p:cNvSpPr>
          <p:nvPr/>
        </p:nvSpPr>
        <p:spPr>
          <a:xfrm>
            <a:off x="495300" y="3743325"/>
            <a:ext cx="5467350" cy="666750"/>
          </a:xfrm>
          <a:prstGeom prst="rect">
            <a:avLst/>
          </a:prstGeom>
          <a:noFill/>
          <a:ln w="0">
            <a:noFill/>
          </a:ln>
        </p:spPr>
        <p:txBody>
          <a:bodyPr wrap="square" lIns="0" tIns="0" rIns="0" bIns="0" anchor="t">
            <a:noAutofit/>
          </a:bodyPr>
          <a:lstStyle/>
          <a:p>
            <a:pPr>
              <a:defRPr sz="1650" b="0" i="0">
                <a:solidFill>
                  <a:srgbClr val="173E35"/>
                </a:solidFill>
                <a:latin typeface="Arial"/>
                <a:ea typeface="Arial"/>
                <a:cs typeface="Arial"/>
              </a:defRPr>
            </a:pPr>
            <a:r>
              <a:rPr sz="1650" b="0" i="0">
                <a:solidFill>
                  <a:srgbClr val="173E35"/>
                </a:solidFill>
                <a:latin typeface="Arial"/>
                <a:ea typeface="Arial"/>
                <a:cs typeface="Arial"/>
              </a:rPr>
              <a:t>Business in the Community Ireland — Sustainability Handbook (course compulsory reading).</a:t>
            </a:r>
          </a:p>
        </p:txBody>
      </p:sp>
      <p:sp>
        <p:nvSpPr>
          <p:cNvPr id="13" name="Next lecture">
            <a:extLst>
              <a:ext uri="{FF2B5EF4-FFF2-40B4-BE49-F238E27FC236}">
                <a16:creationId xmlns:a16="http://schemas.microsoft.com/office/drawing/2014/main" id="{C234CAB7-4E04-48A2-93A1-5BADC0DCA853}"/>
              </a:ext>
            </a:extLst>
          </p:cNvPr>
          <p:cNvSpPr>
            <a:spLocks noGrp="1"/>
          </p:cNvSpPr>
          <p:nvPr/>
        </p:nvSpPr>
        <p:spPr>
          <a:xfrm>
            <a:off x="6600825" y="1685925"/>
            <a:ext cx="2066925" cy="323850"/>
          </a:xfrm>
          <a:prstGeom prst="rect">
            <a:avLst/>
          </a:prstGeom>
          <a:noFill/>
          <a:ln w="0">
            <a:noFill/>
          </a:ln>
        </p:spPr>
        <p:txBody>
          <a:bodyPr wrap="square" lIns="0" tIns="0" rIns="0" bIns="0" anchor="t">
            <a:noAutofit/>
          </a:bodyPr>
          <a:lstStyle/>
          <a:p>
            <a:pPr>
              <a:defRPr sz="1425" b="0" i="0">
                <a:solidFill>
                  <a:srgbClr val="B56647"/>
                </a:solidFill>
                <a:latin typeface="Arial"/>
                <a:ea typeface="Arial"/>
                <a:cs typeface="Arial"/>
              </a:defRPr>
            </a:pPr>
            <a:r>
              <a:rPr sz="1425" b="0" i="0">
                <a:solidFill>
                  <a:srgbClr val="B56647"/>
                </a:solidFill>
                <a:latin typeface="Arial"/>
                <a:ea typeface="Arial"/>
                <a:cs typeface="Arial"/>
              </a:rPr>
              <a:t>Next lecture</a:t>
            </a:r>
          </a:p>
        </p:txBody>
      </p:sp>
      <p:sp>
        <p:nvSpPr>
          <p:cNvPr id="14" name="Pollution, Climate Resilience and the Circula">
            <a:extLst>
              <a:ext uri="{FF2B5EF4-FFF2-40B4-BE49-F238E27FC236}">
                <a16:creationId xmlns:a16="http://schemas.microsoft.com/office/drawing/2014/main" id="{A305233B-E962-4389-90B3-9FAA513BF1D7}"/>
              </a:ext>
            </a:extLst>
          </p:cNvPr>
          <p:cNvSpPr>
            <a:spLocks noGrp="1"/>
          </p:cNvSpPr>
          <p:nvPr/>
        </p:nvSpPr>
        <p:spPr>
          <a:xfrm>
            <a:off x="6600825" y="2162175"/>
            <a:ext cx="2028825" cy="2047875"/>
          </a:xfrm>
          <a:prstGeom prst="rect">
            <a:avLst/>
          </a:prstGeom>
          <a:noFill/>
          <a:ln w="0">
            <a:noFill/>
          </a:ln>
        </p:spPr>
        <p:txBody>
          <a:bodyPr wrap="square" lIns="0" tIns="0" rIns="0" bIns="0" anchor="t">
            <a:noAutofit/>
          </a:bodyPr>
          <a:lstStyle/>
          <a:p>
            <a:pPr>
              <a:defRPr sz="2325" b="0" i="0">
                <a:solidFill>
                  <a:srgbClr val="173E35"/>
                </a:solidFill>
                <a:latin typeface="Georgia"/>
                <a:ea typeface="Georgia"/>
                <a:cs typeface="Georgia"/>
              </a:defRPr>
            </a:pPr>
            <a:r>
              <a:rPr sz="2325" b="0" i="0">
                <a:solidFill>
                  <a:srgbClr val="173E35"/>
                </a:solidFill>
                <a:latin typeface="Georgia"/>
                <a:ea typeface="Georgia"/>
                <a:cs typeface="Georgia"/>
              </a:rPr>
              <a:t>Pollution, Climate Resilience and the Circular Economy.</a:t>
            </a:r>
          </a:p>
        </p:txBody>
      </p:sp>
      <p:pic>
        <p:nvPicPr>
          <p:cNvPr id="32" name="Picture 31"/>
          <p:cNvPicPr>
            <a:picLocks noChangeAspect="1"/>
          </p:cNvPicPr>
          <p:nvPr/>
        </p:nvPicPr>
        <p:blipFill>
          <a:blip r:embed="rId3"/>
          <a:stretch/>
        </p:blipFill>
        <p:spPr>
          <a:xfrm>
            <a:off x="499570" y="4829175"/>
            <a:ext cx="315310" cy="152400"/>
          </a:xfrm>
          <a:prstGeom prst="rect">
            <a:avLst/>
          </a:prstGeom>
        </p:spPr>
      </p:pic>
      <p:sp>
        <p:nvSpPr>
          <p:cNvPr id="16" name="www.newton.university">
            <a:extLst>
              <a:ext uri="{FF2B5EF4-FFF2-40B4-BE49-F238E27FC236}">
                <a16:creationId xmlns:a16="http://schemas.microsoft.com/office/drawing/2014/main" id="{49D0FDD4-6CA1-4A0E-B320-3D9E0CE4D2A6}"/>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17" name="45">
            <a:extLst>
              <a:ext uri="{FF2B5EF4-FFF2-40B4-BE49-F238E27FC236}">
                <a16:creationId xmlns:a16="http://schemas.microsoft.com/office/drawing/2014/main" id="{63A04B4C-C910-4C95-9533-C998757CE9A1}"/>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58665B"/>
                </a:solidFill>
                <a:latin typeface="Arial"/>
                <a:ea typeface="Arial"/>
                <a:cs typeface="Arial"/>
              </a:defRPr>
            </a:pPr>
            <a:r>
              <a:rPr sz="1125" b="0" i="0">
                <a:solidFill>
                  <a:srgbClr val="58665B"/>
                </a:solidFill>
                <a:latin typeface="Arial"/>
                <a:ea typeface="Arial"/>
                <a:cs typeface="Arial"/>
              </a:rPr>
              <a:t>45</a:t>
            </a:r>
          </a:p>
        </p:txBody>
      </p:sp>
    </p:spTree>
    <p:extLst>
      <p:ext uri="{BB962C8B-B14F-4D97-AF65-F5344CB8AC3E}">
        <p14:creationId xmlns:p14="http://schemas.microsoft.com/office/powerpoint/2010/main" val="12477918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srcRect l="2500" r="2500"/>
          <a:stretch>
            <a:fillRect/>
          </a:stretch>
        </p:blipFill>
        <p:spPr>
          <a:xfrm>
            <a:off x="5886450" y="0"/>
            <a:ext cx="3257550" cy="5143500"/>
          </a:xfrm>
          <a:prstGeom prst="rect">
            <a:avLst/>
          </a:prstGeom>
        </p:spPr>
      </p:pic>
      <p:sp>
        <p:nvSpPr>
          <p:cNvPr id="2" name="Any&#10;questions?">
            <a:extLst>
              <a:ext uri="{FF2B5EF4-FFF2-40B4-BE49-F238E27FC236}">
                <a16:creationId xmlns:a16="http://schemas.microsoft.com/office/drawing/2014/main" id="{7657A414-F2EB-4389-9106-9577BC0585A6}"/>
              </a:ext>
            </a:extLst>
          </p:cNvPr>
          <p:cNvSpPr>
            <a:spLocks noGrp="1"/>
          </p:cNvSpPr>
          <p:nvPr/>
        </p:nvSpPr>
        <p:spPr>
          <a:xfrm>
            <a:off x="495300" y="1381125"/>
            <a:ext cx="5143500" cy="2095500"/>
          </a:xfrm>
          <a:prstGeom prst="rect">
            <a:avLst/>
          </a:prstGeom>
          <a:noFill/>
          <a:ln w="0">
            <a:noFill/>
          </a:ln>
        </p:spPr>
        <p:txBody>
          <a:bodyPr wrap="square" lIns="0" tIns="0" rIns="0" bIns="0" anchor="t">
            <a:noAutofit/>
          </a:bodyPr>
          <a:lstStyle/>
          <a:p>
            <a:pPr>
              <a:defRPr sz="5700" b="0" i="0">
                <a:solidFill>
                  <a:srgbClr val="173E35"/>
                </a:solidFill>
                <a:latin typeface="Georgia"/>
                <a:ea typeface="Georgia"/>
                <a:cs typeface="Georgia"/>
              </a:defRPr>
            </a:pPr>
            <a:r>
              <a:rPr sz="5700" b="0" i="0">
                <a:solidFill>
                  <a:srgbClr val="173E35"/>
                </a:solidFill>
                <a:latin typeface="Georgia"/>
                <a:ea typeface="Georgia"/>
                <a:cs typeface="Georgia"/>
              </a:rPr>
              <a:t>Any</a:t>
            </a:r>
          </a:p>
          <a:p>
            <a:pPr>
              <a:defRPr sz="5700" b="0" i="0">
                <a:solidFill>
                  <a:srgbClr val="173E35"/>
                </a:solidFill>
                <a:latin typeface="Georgia"/>
                <a:ea typeface="Georgia"/>
                <a:cs typeface="Georgia"/>
              </a:defRPr>
            </a:pPr>
            <a:r>
              <a:rPr sz="5700" b="0" i="0">
                <a:solidFill>
                  <a:srgbClr val="173E35"/>
                </a:solidFill>
                <a:latin typeface="Georgia"/>
                <a:ea typeface="Georgia"/>
                <a:cs typeface="Georgia"/>
              </a:rPr>
              <a:t>questions?</a:t>
            </a:r>
          </a:p>
        </p:txBody>
      </p:sp>
      <p:pic>
        <p:nvPicPr>
          <p:cNvPr id="8" name="Picture 7"/>
          <p:cNvPicPr>
            <a:picLocks noChangeAspect="1"/>
          </p:cNvPicPr>
          <p:nvPr/>
        </p:nvPicPr>
        <p:blipFill>
          <a:blip r:embed="rId4"/>
          <a:stretch/>
        </p:blipFill>
        <p:spPr>
          <a:xfrm>
            <a:off x="499570" y="4829175"/>
            <a:ext cx="315310" cy="152400"/>
          </a:xfrm>
          <a:prstGeom prst="rect">
            <a:avLst/>
          </a:prstGeom>
        </p:spPr>
      </p:pic>
      <p:sp>
        <p:nvSpPr>
          <p:cNvPr id="4" name="www.newton.university">
            <a:extLst>
              <a:ext uri="{FF2B5EF4-FFF2-40B4-BE49-F238E27FC236}">
                <a16:creationId xmlns:a16="http://schemas.microsoft.com/office/drawing/2014/main" id="{92C66998-7857-4B91-B49B-D0F1E5E7AB87}"/>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5" name="46">
            <a:extLst>
              <a:ext uri="{FF2B5EF4-FFF2-40B4-BE49-F238E27FC236}">
                <a16:creationId xmlns:a16="http://schemas.microsoft.com/office/drawing/2014/main" id="{B9535802-AD34-4E81-BE62-9C43F1E161CA}"/>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E8EDE5"/>
                </a:solidFill>
                <a:latin typeface="Arial"/>
                <a:ea typeface="Arial"/>
                <a:cs typeface="Arial"/>
              </a:defRPr>
            </a:pPr>
            <a:r>
              <a:rPr sz="1125" b="0" i="0">
                <a:solidFill>
                  <a:srgbClr val="E8EDE5"/>
                </a:solidFill>
                <a:latin typeface="Arial"/>
                <a:ea typeface="Arial"/>
                <a:cs typeface="Arial"/>
              </a:rPr>
              <a:t>46</a:t>
            </a:r>
          </a:p>
        </p:txBody>
      </p:sp>
    </p:spTree>
    <p:extLst>
      <p:ext uri="{BB962C8B-B14F-4D97-AF65-F5344CB8AC3E}">
        <p14:creationId xmlns:p14="http://schemas.microsoft.com/office/powerpoint/2010/main" val="8483483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4" name="Editorial frame">
            <a:extLst>
              <a:ext uri="{FF2B5EF4-FFF2-40B4-BE49-F238E27FC236}">
                <a16:creationId xmlns:a16="http://schemas.microsoft.com/office/drawing/2014/main" id="{D48A0C49-779D-489E-8A8B-A219BD934DD6}"/>
              </a:ext>
            </a:extLst>
          </p:cNvPr>
          <p:cNvSpPr>
            <a:spLocks noGrp="1"/>
          </p:cNvSpPr>
          <p:nvPr/>
        </p:nvSpPr>
        <p:spPr>
          <a:xfrm>
            <a:off x="219075" y="219075"/>
            <a:ext cx="8705850" cy="4514850"/>
          </a:xfrm>
          <a:prstGeom prst="rect">
            <a:avLst/>
          </a:prstGeom>
          <a:noFill/>
          <a:ln w="8573">
            <a:solidFill>
              <a:srgbClr val="B7C3B1"/>
            </a:solidFill>
          </a:ln>
        </p:spPr>
        <p:txBody>
          <a:bodyPr/>
          <a:lstStyle/>
          <a:p>
            <a:endParaRPr lang="en-US"/>
          </a:p>
        </p:txBody>
      </p:sp>
      <p:sp>
        <p:nvSpPr>
          <p:cNvPr id="2" name="Editorial rule">
            <a:extLst>
              <a:ext uri="{FF2B5EF4-FFF2-40B4-BE49-F238E27FC236}">
                <a16:creationId xmlns:a16="http://schemas.microsoft.com/office/drawing/2014/main" id="{D70CDF62-89A1-46E2-9011-A04384E7154D}"/>
              </a:ext>
            </a:extLst>
          </p:cNvPr>
          <p:cNvSpPr>
            <a:spLocks noGrp="1"/>
          </p:cNvSpPr>
          <p:nvPr/>
        </p:nvSpPr>
        <p:spPr>
          <a:xfrm>
            <a:off x="495300" y="1066800"/>
            <a:ext cx="8153400" cy="7620"/>
          </a:xfrm>
          <a:prstGeom prst="rect">
            <a:avLst/>
          </a:prstGeom>
          <a:solidFill>
            <a:srgbClr val="B7C3B1"/>
          </a:solidFill>
          <a:ln w="0">
            <a:noFill/>
          </a:ln>
        </p:spPr>
        <p:txBody>
          <a:bodyPr/>
          <a:lstStyle/>
          <a:p>
            <a:endParaRPr lang="en-US"/>
          </a:p>
        </p:txBody>
      </p:sp>
      <p:sp>
        <p:nvSpPr>
          <p:cNvPr id="3" name="Editorial rule">
            <a:extLst>
              <a:ext uri="{FF2B5EF4-FFF2-40B4-BE49-F238E27FC236}">
                <a16:creationId xmlns:a16="http://schemas.microsoft.com/office/drawing/2014/main" id="{117DCFB9-FE32-4E49-9979-D1A697EBD376}"/>
              </a:ext>
            </a:extLst>
          </p:cNvPr>
          <p:cNvSpPr>
            <a:spLocks noGrp="1"/>
          </p:cNvSpPr>
          <p:nvPr/>
        </p:nvSpPr>
        <p:spPr>
          <a:xfrm>
            <a:off x="495300" y="1052513"/>
            <a:ext cx="552450" cy="28575"/>
          </a:xfrm>
          <a:prstGeom prst="rect">
            <a:avLst/>
          </a:prstGeom>
          <a:solidFill>
            <a:srgbClr val="B56647"/>
          </a:solidFill>
          <a:ln w="0">
            <a:noFill/>
          </a:ln>
        </p:spPr>
        <p:txBody>
          <a:bodyPr/>
          <a:lstStyle/>
          <a:p>
            <a:endParaRPr lang="en-US"/>
          </a:p>
        </p:txBody>
      </p:sp>
      <p:sp>
        <p:nvSpPr>
          <p:cNvPr id="4" name="Editorial rule">
            <a:extLst>
              <a:ext uri="{FF2B5EF4-FFF2-40B4-BE49-F238E27FC236}">
                <a16:creationId xmlns:a16="http://schemas.microsoft.com/office/drawing/2014/main" id="{3D1702DF-24EF-48AC-A4F5-B7F96A9059CE}"/>
              </a:ext>
            </a:extLst>
          </p:cNvPr>
          <p:cNvSpPr>
            <a:spLocks noGrp="1"/>
          </p:cNvSpPr>
          <p:nvPr/>
        </p:nvSpPr>
        <p:spPr>
          <a:xfrm>
            <a:off x="4562475" y="1724025"/>
            <a:ext cx="8573" cy="2752725"/>
          </a:xfrm>
          <a:prstGeom prst="rect">
            <a:avLst/>
          </a:prstGeom>
          <a:solidFill>
            <a:srgbClr val="B7C3B1"/>
          </a:solidFill>
          <a:ln w="0">
            <a:noFill/>
          </a:ln>
        </p:spPr>
        <p:txBody>
          <a:bodyPr/>
          <a:lstStyle/>
          <a:p>
            <a:endParaRPr lang="en-US"/>
          </a:p>
        </p:txBody>
      </p:sp>
      <p:sp>
        <p:nvSpPr>
          <p:cNvPr id="5" name="Editorial rule">
            <a:extLst>
              <a:ext uri="{FF2B5EF4-FFF2-40B4-BE49-F238E27FC236}">
                <a16:creationId xmlns:a16="http://schemas.microsoft.com/office/drawing/2014/main" id="{5777CD57-3F81-44E7-9076-FA30908B5153}"/>
              </a:ext>
            </a:extLst>
          </p:cNvPr>
          <p:cNvSpPr>
            <a:spLocks noGrp="1"/>
          </p:cNvSpPr>
          <p:nvPr/>
        </p:nvSpPr>
        <p:spPr>
          <a:xfrm>
            <a:off x="219075" y="219075"/>
            <a:ext cx="8705850" cy="28575"/>
          </a:xfrm>
          <a:prstGeom prst="rect">
            <a:avLst/>
          </a:prstGeom>
          <a:solidFill>
            <a:srgbClr val="173E35"/>
          </a:solidFill>
          <a:ln w="0">
            <a:noFill/>
          </a:ln>
        </p:spPr>
        <p:txBody>
          <a:bodyPr/>
          <a:lstStyle/>
          <a:p>
            <a:endParaRPr lang="en-US"/>
          </a:p>
        </p:txBody>
      </p:sp>
      <p:sp>
        <p:nvSpPr>
          <p:cNvPr id="6" name="Image credits">
            <a:extLst>
              <a:ext uri="{FF2B5EF4-FFF2-40B4-BE49-F238E27FC236}">
                <a16:creationId xmlns:a16="http://schemas.microsoft.com/office/drawing/2014/main" id="{8685C2A8-35CE-43BB-94FE-8A72B2B723A2}"/>
              </a:ext>
            </a:extLst>
          </p:cNvPr>
          <p:cNvSpPr>
            <a:spLocks noGrp="1"/>
          </p:cNvSpPr>
          <p:nvPr/>
        </p:nvSpPr>
        <p:spPr>
          <a:xfrm>
            <a:off x="495300" y="381000"/>
            <a:ext cx="8096250" cy="952500"/>
          </a:xfrm>
          <a:prstGeom prst="rect">
            <a:avLst/>
          </a:prstGeom>
          <a:noFill/>
          <a:ln w="0">
            <a:noFill/>
          </a:ln>
        </p:spPr>
        <p:txBody>
          <a:bodyPr wrap="square" lIns="0" tIns="0" rIns="0" bIns="0" anchor="t">
            <a:noAutofit/>
          </a:bodyPr>
          <a:lstStyle/>
          <a:p>
            <a:pPr>
              <a:defRPr sz="2700" b="0" i="0">
                <a:solidFill>
                  <a:srgbClr val="173E35"/>
                </a:solidFill>
                <a:latin typeface="Georgia"/>
                <a:ea typeface="Georgia"/>
                <a:cs typeface="Georgia"/>
              </a:defRPr>
            </a:pPr>
            <a:r>
              <a:rPr sz="2700" b="0" i="0">
                <a:solidFill>
                  <a:srgbClr val="173E35"/>
                </a:solidFill>
                <a:latin typeface="Georgia"/>
                <a:ea typeface="Georgia"/>
                <a:cs typeface="Georgia"/>
              </a:rPr>
              <a:t>Image credits</a:t>
            </a:r>
          </a:p>
        </p:txBody>
      </p:sp>
      <p:sp>
        <p:nvSpPr>
          <p:cNvPr id="7" name="St Edmund Hall Living Wall.jpg — CC BY-SA 4.0">
            <a:extLst>
              <a:ext uri="{FF2B5EF4-FFF2-40B4-BE49-F238E27FC236}">
                <a16:creationId xmlns:a16="http://schemas.microsoft.com/office/drawing/2014/main" id="{ED5CA5DD-6DAB-4035-9675-746E448918DB}"/>
              </a:ext>
            </a:extLst>
          </p:cNvPr>
          <p:cNvSpPr>
            <a:spLocks noGrp="1"/>
          </p:cNvSpPr>
          <p:nvPr/>
        </p:nvSpPr>
        <p:spPr>
          <a:xfrm>
            <a:off x="495300" y="1400175"/>
            <a:ext cx="3952875" cy="409575"/>
          </a:xfrm>
          <a:prstGeom prst="rect">
            <a:avLst/>
          </a:prstGeom>
          <a:noFill/>
          <a:ln w="0">
            <a:noFill/>
          </a:ln>
        </p:spPr>
        <p:txBody>
          <a:bodyPr wrap="square" lIns="0" tIns="0" rIns="0" bIns="0" anchor="t">
            <a:noAutofit/>
          </a:bodyPr>
          <a:lstStyle/>
          <a:p>
            <a:pPr>
              <a:defRPr sz="1050" b="0" i="0">
                <a:solidFill>
                  <a:srgbClr val="58665B"/>
                </a:solidFill>
                <a:latin typeface="Arial"/>
                <a:ea typeface="Arial"/>
                <a:cs typeface="Arial"/>
              </a:defRPr>
            </a:pPr>
            <a:r>
              <a:rPr sz="1050" b="0" i="0">
                <a:solidFill>
                  <a:srgbClr val="58665B"/>
                </a:solidFill>
                <a:latin typeface="Arial"/>
                <a:ea typeface="Arial"/>
                <a:cs typeface="Arial"/>
              </a:rPr>
              <a:t>St Edmund Hall Living Wall.jpg — CC BY-SA 4.0, Wikimedia Commons</a:t>
            </a:r>
          </a:p>
        </p:txBody>
      </p:sp>
      <p:sp>
        <p:nvSpPr>
          <p:cNvPr id="8" name="20080708 Chicago City Hall Green Roof.JPG — C">
            <a:extLst>
              <a:ext uri="{FF2B5EF4-FFF2-40B4-BE49-F238E27FC236}">
                <a16:creationId xmlns:a16="http://schemas.microsoft.com/office/drawing/2014/main" id="{D9667CB6-285E-4B0D-862C-D06CF40A5596}"/>
              </a:ext>
            </a:extLst>
          </p:cNvPr>
          <p:cNvSpPr>
            <a:spLocks noGrp="1"/>
          </p:cNvSpPr>
          <p:nvPr/>
        </p:nvSpPr>
        <p:spPr>
          <a:xfrm>
            <a:off x="495300" y="1838325"/>
            <a:ext cx="3952875" cy="409575"/>
          </a:xfrm>
          <a:prstGeom prst="rect">
            <a:avLst/>
          </a:prstGeom>
          <a:noFill/>
          <a:ln w="0">
            <a:noFill/>
          </a:ln>
        </p:spPr>
        <p:txBody>
          <a:bodyPr wrap="square" lIns="0" tIns="0" rIns="0" bIns="0" anchor="t">
            <a:noAutofit/>
          </a:bodyPr>
          <a:lstStyle/>
          <a:p>
            <a:pPr>
              <a:defRPr sz="1050" b="0" i="0">
                <a:solidFill>
                  <a:srgbClr val="58665B"/>
                </a:solidFill>
                <a:latin typeface="Arial"/>
                <a:ea typeface="Arial"/>
                <a:cs typeface="Arial"/>
              </a:defRPr>
            </a:pPr>
            <a:r>
              <a:rPr sz="1050" b="0" i="0">
                <a:solidFill>
                  <a:srgbClr val="58665B"/>
                </a:solidFill>
                <a:latin typeface="Arial"/>
                <a:ea typeface="Arial"/>
                <a:cs typeface="Arial"/>
              </a:rPr>
              <a:t>20080708 Chicago City Hall Green Roof.JPG — CC BY-SA 3.0, Wikimedia Commons</a:t>
            </a:r>
          </a:p>
        </p:txBody>
      </p:sp>
      <p:sp>
        <p:nvSpPr>
          <p:cNvPr id="9" name="Prague - view from Charles Bridge (by Pudelek">
            <a:extLst>
              <a:ext uri="{FF2B5EF4-FFF2-40B4-BE49-F238E27FC236}">
                <a16:creationId xmlns:a16="http://schemas.microsoft.com/office/drawing/2014/main" id="{8B6717BB-3442-42A2-B03E-157506DFD31E}"/>
              </a:ext>
            </a:extLst>
          </p:cNvPr>
          <p:cNvSpPr>
            <a:spLocks noGrp="1"/>
          </p:cNvSpPr>
          <p:nvPr/>
        </p:nvSpPr>
        <p:spPr>
          <a:xfrm>
            <a:off x="495300" y="2276475"/>
            <a:ext cx="3952875" cy="409575"/>
          </a:xfrm>
          <a:prstGeom prst="rect">
            <a:avLst/>
          </a:prstGeom>
          <a:noFill/>
          <a:ln w="0">
            <a:noFill/>
          </a:ln>
        </p:spPr>
        <p:txBody>
          <a:bodyPr wrap="square" lIns="0" tIns="0" rIns="0" bIns="0" anchor="t">
            <a:noAutofit/>
          </a:bodyPr>
          <a:lstStyle/>
          <a:p>
            <a:pPr>
              <a:defRPr sz="1050" b="0" i="0">
                <a:solidFill>
                  <a:srgbClr val="58665B"/>
                </a:solidFill>
                <a:latin typeface="Arial"/>
                <a:ea typeface="Arial"/>
                <a:cs typeface="Arial"/>
              </a:defRPr>
            </a:pPr>
            <a:r>
              <a:rPr sz="1050" b="0" i="0">
                <a:solidFill>
                  <a:srgbClr val="58665B"/>
                </a:solidFill>
                <a:latin typeface="Arial"/>
                <a:ea typeface="Arial"/>
                <a:cs typeface="Arial"/>
              </a:rPr>
              <a:t>Prague - view from Charles Bridge (by Pudelek).jpg — CC BY-SA 3.0, Wikimedia Commons</a:t>
            </a:r>
          </a:p>
        </p:txBody>
      </p:sp>
      <p:sp>
        <p:nvSpPr>
          <p:cNvPr id="10" name="Královská obora (Stromovka) park in Prague, C">
            <a:extLst>
              <a:ext uri="{FF2B5EF4-FFF2-40B4-BE49-F238E27FC236}">
                <a16:creationId xmlns:a16="http://schemas.microsoft.com/office/drawing/2014/main" id="{FB19BA3D-54B6-49B5-9362-79F578D2F2E7}"/>
              </a:ext>
            </a:extLst>
          </p:cNvPr>
          <p:cNvSpPr>
            <a:spLocks noGrp="1"/>
          </p:cNvSpPr>
          <p:nvPr/>
        </p:nvSpPr>
        <p:spPr>
          <a:xfrm>
            <a:off x="495300" y="2714625"/>
            <a:ext cx="3952875" cy="409575"/>
          </a:xfrm>
          <a:prstGeom prst="rect">
            <a:avLst/>
          </a:prstGeom>
          <a:noFill/>
          <a:ln w="0">
            <a:noFill/>
          </a:ln>
        </p:spPr>
        <p:txBody>
          <a:bodyPr wrap="square" lIns="0" tIns="0" rIns="0" bIns="0" anchor="t">
            <a:noAutofit/>
          </a:bodyPr>
          <a:lstStyle/>
          <a:p>
            <a:pPr>
              <a:defRPr sz="1050" b="0" i="0">
                <a:solidFill>
                  <a:srgbClr val="58665B"/>
                </a:solidFill>
                <a:latin typeface="Arial"/>
                <a:ea typeface="Arial"/>
                <a:cs typeface="Arial"/>
              </a:defRPr>
            </a:pPr>
            <a:r>
              <a:rPr sz="1050" b="0" i="0">
                <a:solidFill>
                  <a:srgbClr val="58665B"/>
                </a:solidFill>
                <a:latin typeface="Arial"/>
                <a:ea typeface="Arial"/>
                <a:cs typeface="Arial"/>
              </a:rPr>
              <a:t>Královská obora (Stromovka) park in Prague, Czech Republic. - panoramio.jpg — CC BY-SA 3.0, Wikimedia Commons</a:t>
            </a:r>
          </a:p>
        </p:txBody>
      </p:sp>
      <p:sp>
        <p:nvSpPr>
          <p:cNvPr id="11" name="Supertree Grove, Gardens by the Bay, Singapor">
            <a:extLst>
              <a:ext uri="{FF2B5EF4-FFF2-40B4-BE49-F238E27FC236}">
                <a16:creationId xmlns:a16="http://schemas.microsoft.com/office/drawing/2014/main" id="{A4A00712-5FEC-4C05-B904-052088330E05}"/>
              </a:ext>
            </a:extLst>
          </p:cNvPr>
          <p:cNvSpPr>
            <a:spLocks noGrp="1"/>
          </p:cNvSpPr>
          <p:nvPr/>
        </p:nvSpPr>
        <p:spPr>
          <a:xfrm>
            <a:off x="495300" y="3152775"/>
            <a:ext cx="3952875" cy="409575"/>
          </a:xfrm>
          <a:prstGeom prst="rect">
            <a:avLst/>
          </a:prstGeom>
          <a:noFill/>
          <a:ln w="0">
            <a:noFill/>
          </a:ln>
        </p:spPr>
        <p:txBody>
          <a:bodyPr wrap="square" lIns="0" tIns="0" rIns="0" bIns="0" anchor="t">
            <a:noAutofit/>
          </a:bodyPr>
          <a:lstStyle/>
          <a:p>
            <a:pPr>
              <a:defRPr sz="1050" b="0" i="0">
                <a:solidFill>
                  <a:srgbClr val="58665B"/>
                </a:solidFill>
                <a:latin typeface="Arial"/>
                <a:ea typeface="Arial"/>
                <a:cs typeface="Arial"/>
              </a:defRPr>
            </a:pPr>
            <a:r>
              <a:rPr sz="1050" b="0" i="0">
                <a:solidFill>
                  <a:srgbClr val="58665B"/>
                </a:solidFill>
                <a:latin typeface="Arial"/>
                <a:ea typeface="Arial"/>
                <a:cs typeface="Arial"/>
              </a:rPr>
              <a:t>Supertree Grove, Gardens by the Bay, Singapore1.jpg — CC0, Wikimedia Commons</a:t>
            </a:r>
          </a:p>
        </p:txBody>
      </p:sp>
      <p:sp>
        <p:nvSpPr>
          <p:cNvPr id="12" name="Spruce Run Reservoir drought from beach (2), ">
            <a:extLst>
              <a:ext uri="{FF2B5EF4-FFF2-40B4-BE49-F238E27FC236}">
                <a16:creationId xmlns:a16="http://schemas.microsoft.com/office/drawing/2014/main" id="{261C8A35-E37D-485A-9C05-B2DBD15EFF00}"/>
              </a:ext>
            </a:extLst>
          </p:cNvPr>
          <p:cNvSpPr>
            <a:spLocks noGrp="1"/>
          </p:cNvSpPr>
          <p:nvPr/>
        </p:nvSpPr>
        <p:spPr>
          <a:xfrm>
            <a:off x="495300" y="3590925"/>
            <a:ext cx="3952875" cy="409575"/>
          </a:xfrm>
          <a:prstGeom prst="rect">
            <a:avLst/>
          </a:prstGeom>
          <a:noFill/>
          <a:ln w="0">
            <a:noFill/>
          </a:ln>
        </p:spPr>
        <p:txBody>
          <a:bodyPr wrap="square" lIns="0" tIns="0" rIns="0" bIns="0" anchor="t">
            <a:noAutofit/>
          </a:bodyPr>
          <a:lstStyle/>
          <a:p>
            <a:pPr>
              <a:defRPr sz="1050" b="0" i="0">
                <a:solidFill>
                  <a:srgbClr val="58665B"/>
                </a:solidFill>
                <a:latin typeface="Arial"/>
                <a:ea typeface="Arial"/>
                <a:cs typeface="Arial"/>
              </a:defRPr>
            </a:pPr>
            <a:r>
              <a:rPr sz="1050" b="0" i="0">
                <a:solidFill>
                  <a:srgbClr val="58665B"/>
                </a:solidFill>
                <a:latin typeface="Arial"/>
                <a:ea typeface="Arial"/>
                <a:cs typeface="Arial"/>
              </a:rPr>
              <a:t>Spruce Run Reservoir drought from beach (2), Nov. 2024.jpg — CC BY-SA 4.0, Wikimedia Commons</a:t>
            </a:r>
          </a:p>
        </p:txBody>
      </p:sp>
      <p:sp>
        <p:nvSpPr>
          <p:cNvPr id="13" name="Amazon rainforest (Satellite picture).jpg — C">
            <a:extLst>
              <a:ext uri="{FF2B5EF4-FFF2-40B4-BE49-F238E27FC236}">
                <a16:creationId xmlns:a16="http://schemas.microsoft.com/office/drawing/2014/main" id="{36F33DAA-259F-4ACA-88B2-DE486016B17A}"/>
              </a:ext>
            </a:extLst>
          </p:cNvPr>
          <p:cNvSpPr>
            <a:spLocks noGrp="1"/>
          </p:cNvSpPr>
          <p:nvPr/>
        </p:nvSpPr>
        <p:spPr>
          <a:xfrm>
            <a:off x="495300" y="4029075"/>
            <a:ext cx="3952875" cy="409575"/>
          </a:xfrm>
          <a:prstGeom prst="rect">
            <a:avLst/>
          </a:prstGeom>
          <a:noFill/>
          <a:ln w="0">
            <a:noFill/>
          </a:ln>
        </p:spPr>
        <p:txBody>
          <a:bodyPr wrap="square" lIns="0" tIns="0" rIns="0" bIns="0" anchor="t">
            <a:noAutofit/>
          </a:bodyPr>
          <a:lstStyle/>
          <a:p>
            <a:pPr>
              <a:defRPr sz="1050" b="0" i="0">
                <a:solidFill>
                  <a:srgbClr val="58665B"/>
                </a:solidFill>
                <a:latin typeface="Arial"/>
                <a:ea typeface="Arial"/>
                <a:cs typeface="Arial"/>
              </a:defRPr>
            </a:pPr>
            <a:r>
              <a:rPr sz="1050" b="0" i="0">
                <a:solidFill>
                  <a:srgbClr val="58665B"/>
                </a:solidFill>
                <a:latin typeface="Arial"/>
                <a:ea typeface="Arial"/>
                <a:cs typeface="Arial"/>
              </a:rPr>
              <a:t>Amazon rainforest (Satellite picture).jpg — CC BY-SA 2.0, Wikimedia Commons</a:t>
            </a:r>
          </a:p>
        </p:txBody>
      </p:sp>
      <p:sp>
        <p:nvSpPr>
          <p:cNvPr id="14" name="Panoramic view of air pollution in São Paulo ">
            <a:extLst>
              <a:ext uri="{FF2B5EF4-FFF2-40B4-BE49-F238E27FC236}">
                <a16:creationId xmlns:a16="http://schemas.microsoft.com/office/drawing/2014/main" id="{4A426B0C-B96E-48EF-88A8-B08C130607B7}"/>
              </a:ext>
            </a:extLst>
          </p:cNvPr>
          <p:cNvSpPr>
            <a:spLocks noGrp="1"/>
          </p:cNvSpPr>
          <p:nvPr/>
        </p:nvSpPr>
        <p:spPr>
          <a:xfrm>
            <a:off x="4724400" y="1400175"/>
            <a:ext cx="3952875" cy="409575"/>
          </a:xfrm>
          <a:prstGeom prst="rect">
            <a:avLst/>
          </a:prstGeom>
          <a:noFill/>
          <a:ln w="0">
            <a:noFill/>
          </a:ln>
        </p:spPr>
        <p:txBody>
          <a:bodyPr wrap="square" lIns="0" tIns="0" rIns="0" bIns="0" anchor="t">
            <a:noAutofit/>
          </a:bodyPr>
          <a:lstStyle/>
          <a:p>
            <a:pPr>
              <a:defRPr sz="1050" b="0" i="0">
                <a:solidFill>
                  <a:srgbClr val="58665B"/>
                </a:solidFill>
                <a:latin typeface="Arial"/>
                <a:ea typeface="Arial"/>
                <a:cs typeface="Arial"/>
              </a:defRPr>
            </a:pPr>
            <a:r>
              <a:rPr sz="1050" b="0" i="0">
                <a:solidFill>
                  <a:srgbClr val="58665B"/>
                </a:solidFill>
                <a:latin typeface="Arial"/>
                <a:ea typeface="Arial"/>
                <a:cs typeface="Arial"/>
              </a:rPr>
              <a:t>Panoramic view of air pollution in São Paulo city, Brazil.jpg — CC0, Wikimedia Commons</a:t>
            </a:r>
          </a:p>
        </p:txBody>
      </p:sp>
      <p:sp>
        <p:nvSpPr>
          <p:cNvPr id="15" name="Riverview-Fisk Park Jersey City November 2021">
            <a:extLst>
              <a:ext uri="{FF2B5EF4-FFF2-40B4-BE49-F238E27FC236}">
                <a16:creationId xmlns:a16="http://schemas.microsoft.com/office/drawing/2014/main" id="{31202DF5-965C-4F92-BEC5-A221A8BA5530}"/>
              </a:ext>
            </a:extLst>
          </p:cNvPr>
          <p:cNvSpPr>
            <a:spLocks noGrp="1"/>
          </p:cNvSpPr>
          <p:nvPr/>
        </p:nvSpPr>
        <p:spPr>
          <a:xfrm>
            <a:off x="4724400" y="1838325"/>
            <a:ext cx="3952875" cy="409575"/>
          </a:xfrm>
          <a:prstGeom prst="rect">
            <a:avLst/>
          </a:prstGeom>
          <a:noFill/>
          <a:ln w="0">
            <a:noFill/>
          </a:ln>
        </p:spPr>
        <p:txBody>
          <a:bodyPr wrap="square" lIns="0" tIns="0" rIns="0" bIns="0" anchor="t">
            <a:noAutofit/>
          </a:bodyPr>
          <a:lstStyle/>
          <a:p>
            <a:pPr>
              <a:defRPr sz="1050" b="0" i="0">
                <a:solidFill>
                  <a:srgbClr val="58665B"/>
                </a:solidFill>
                <a:latin typeface="Arial"/>
                <a:ea typeface="Arial"/>
                <a:cs typeface="Arial"/>
              </a:defRPr>
            </a:pPr>
            <a:r>
              <a:rPr sz="1050" b="0" i="0">
                <a:solidFill>
                  <a:srgbClr val="58665B"/>
                </a:solidFill>
                <a:latin typeface="Arial"/>
                <a:ea typeface="Arial"/>
                <a:cs typeface="Arial"/>
              </a:rPr>
              <a:t>Riverview-Fisk Park Jersey City November 2021 001.jpg — CC BY-SA 4.0, Wikimedia Commons</a:t>
            </a:r>
          </a:p>
        </p:txBody>
      </p:sp>
      <p:sp>
        <p:nvSpPr>
          <p:cNvPr id="16" name="Harbour Bath, Islands Brygge.jpg — CC BY 2.0,">
            <a:extLst>
              <a:ext uri="{FF2B5EF4-FFF2-40B4-BE49-F238E27FC236}">
                <a16:creationId xmlns:a16="http://schemas.microsoft.com/office/drawing/2014/main" id="{7123E91B-8AA0-483F-B379-BA8BA065051A}"/>
              </a:ext>
            </a:extLst>
          </p:cNvPr>
          <p:cNvSpPr>
            <a:spLocks noGrp="1"/>
          </p:cNvSpPr>
          <p:nvPr/>
        </p:nvSpPr>
        <p:spPr>
          <a:xfrm>
            <a:off x="4724400" y="2276475"/>
            <a:ext cx="3952875" cy="409575"/>
          </a:xfrm>
          <a:prstGeom prst="rect">
            <a:avLst/>
          </a:prstGeom>
          <a:noFill/>
          <a:ln w="0">
            <a:noFill/>
          </a:ln>
        </p:spPr>
        <p:txBody>
          <a:bodyPr wrap="square" lIns="0" tIns="0" rIns="0" bIns="0" anchor="t">
            <a:noAutofit/>
          </a:bodyPr>
          <a:lstStyle/>
          <a:p>
            <a:pPr>
              <a:defRPr sz="1050" b="0" i="0">
                <a:solidFill>
                  <a:srgbClr val="58665B"/>
                </a:solidFill>
                <a:latin typeface="Arial"/>
                <a:ea typeface="Arial"/>
                <a:cs typeface="Arial"/>
              </a:defRPr>
            </a:pPr>
            <a:r>
              <a:rPr sz="1050" b="0" i="0">
                <a:solidFill>
                  <a:srgbClr val="58665B"/>
                </a:solidFill>
                <a:latin typeface="Arial"/>
                <a:ea typeface="Arial"/>
                <a:cs typeface="Arial"/>
              </a:rPr>
              <a:t>Harbour Bath, Islands Brygge.jpg — CC BY 2.0, Wikimedia Commons</a:t>
            </a:r>
          </a:p>
        </p:txBody>
      </p:sp>
      <p:sp>
        <p:nvSpPr>
          <p:cNvPr id="17" name="Benthemplein terrain skate gestion eau.jpg — ">
            <a:extLst>
              <a:ext uri="{FF2B5EF4-FFF2-40B4-BE49-F238E27FC236}">
                <a16:creationId xmlns:a16="http://schemas.microsoft.com/office/drawing/2014/main" id="{51F3F00E-DF4F-4EB1-9EB4-C63FC8D7E7C4}"/>
              </a:ext>
            </a:extLst>
          </p:cNvPr>
          <p:cNvSpPr>
            <a:spLocks noGrp="1"/>
          </p:cNvSpPr>
          <p:nvPr/>
        </p:nvSpPr>
        <p:spPr>
          <a:xfrm>
            <a:off x="4724400" y="2714625"/>
            <a:ext cx="3952875" cy="409575"/>
          </a:xfrm>
          <a:prstGeom prst="rect">
            <a:avLst/>
          </a:prstGeom>
          <a:noFill/>
          <a:ln w="0">
            <a:noFill/>
          </a:ln>
        </p:spPr>
        <p:txBody>
          <a:bodyPr wrap="square" lIns="0" tIns="0" rIns="0" bIns="0" anchor="t">
            <a:noAutofit/>
          </a:bodyPr>
          <a:lstStyle/>
          <a:p>
            <a:pPr>
              <a:defRPr sz="1050" b="0" i="0">
                <a:solidFill>
                  <a:srgbClr val="58665B"/>
                </a:solidFill>
                <a:latin typeface="Arial"/>
                <a:ea typeface="Arial"/>
                <a:cs typeface="Arial"/>
              </a:defRPr>
            </a:pPr>
            <a:r>
              <a:rPr sz="1050" b="0" i="0">
                <a:solidFill>
                  <a:srgbClr val="58665B"/>
                </a:solidFill>
                <a:latin typeface="Arial"/>
                <a:ea typeface="Arial"/>
                <a:cs typeface="Arial"/>
              </a:rPr>
              <a:t>Benthemplein terrain skate gestion eau.jpg — CC BY-SA 4.0, Wikimedia Commons</a:t>
            </a:r>
          </a:p>
        </p:txBody>
      </p:sp>
      <p:sp>
        <p:nvSpPr>
          <p:cNvPr id="18" name="Husinec (Praha-východ), od Žalova, povodeň 20">
            <a:extLst>
              <a:ext uri="{FF2B5EF4-FFF2-40B4-BE49-F238E27FC236}">
                <a16:creationId xmlns:a16="http://schemas.microsoft.com/office/drawing/2014/main" id="{0D9530EE-1455-4233-AF41-A066BCD0C713}"/>
              </a:ext>
            </a:extLst>
          </p:cNvPr>
          <p:cNvSpPr>
            <a:spLocks noGrp="1"/>
          </p:cNvSpPr>
          <p:nvPr/>
        </p:nvSpPr>
        <p:spPr>
          <a:xfrm>
            <a:off x="4724400" y="3152775"/>
            <a:ext cx="3952875" cy="409575"/>
          </a:xfrm>
          <a:prstGeom prst="rect">
            <a:avLst/>
          </a:prstGeom>
          <a:noFill/>
          <a:ln w="0">
            <a:noFill/>
          </a:ln>
        </p:spPr>
        <p:txBody>
          <a:bodyPr wrap="square" lIns="0" tIns="0" rIns="0" bIns="0" anchor="t">
            <a:noAutofit/>
          </a:bodyPr>
          <a:lstStyle/>
          <a:p>
            <a:pPr>
              <a:defRPr sz="1050" b="0" i="0">
                <a:solidFill>
                  <a:srgbClr val="58665B"/>
                </a:solidFill>
                <a:latin typeface="Arial"/>
                <a:ea typeface="Arial"/>
                <a:cs typeface="Arial"/>
              </a:defRPr>
            </a:pPr>
            <a:r>
              <a:rPr sz="1050" b="0" i="0">
                <a:solidFill>
                  <a:srgbClr val="58665B"/>
                </a:solidFill>
                <a:latin typeface="Arial"/>
                <a:ea typeface="Arial"/>
                <a:cs typeface="Arial"/>
              </a:rPr>
              <a:t>Husinec (Praha-východ), od Žalova, povodeň 2013-06-05.jpg — CC BY-SA 3.0, Wikimedia Commons</a:t>
            </a:r>
          </a:p>
        </p:txBody>
      </p:sp>
      <p:sp>
        <p:nvSpPr>
          <p:cNvPr id="19" name="Praha - Letná Park - View South.jpg — CC BY-S">
            <a:extLst>
              <a:ext uri="{FF2B5EF4-FFF2-40B4-BE49-F238E27FC236}">
                <a16:creationId xmlns:a16="http://schemas.microsoft.com/office/drawing/2014/main" id="{E3548170-84D4-479A-8155-AC79F1D767E1}"/>
              </a:ext>
            </a:extLst>
          </p:cNvPr>
          <p:cNvSpPr>
            <a:spLocks noGrp="1"/>
          </p:cNvSpPr>
          <p:nvPr/>
        </p:nvSpPr>
        <p:spPr>
          <a:xfrm>
            <a:off x="4724400" y="3590925"/>
            <a:ext cx="3952875" cy="409575"/>
          </a:xfrm>
          <a:prstGeom prst="rect">
            <a:avLst/>
          </a:prstGeom>
          <a:noFill/>
          <a:ln w="0">
            <a:noFill/>
          </a:ln>
        </p:spPr>
        <p:txBody>
          <a:bodyPr wrap="square" lIns="0" tIns="0" rIns="0" bIns="0" anchor="t">
            <a:noAutofit/>
          </a:bodyPr>
          <a:lstStyle/>
          <a:p>
            <a:pPr>
              <a:defRPr sz="1050" b="0" i="0">
                <a:solidFill>
                  <a:srgbClr val="58665B"/>
                </a:solidFill>
                <a:latin typeface="Arial"/>
                <a:ea typeface="Arial"/>
                <a:cs typeface="Arial"/>
              </a:defRPr>
            </a:pPr>
            <a:r>
              <a:rPr sz="1050" b="0" i="0">
                <a:solidFill>
                  <a:srgbClr val="58665B"/>
                </a:solidFill>
                <a:latin typeface="Arial"/>
                <a:ea typeface="Arial"/>
                <a:cs typeface="Arial"/>
              </a:rPr>
              <a:t>Praha - Letná Park - View South.jpg — CC BY-SA 4.0, Wikimedia Commons</a:t>
            </a:r>
          </a:p>
        </p:txBody>
      </p:sp>
      <p:sp>
        <p:nvSpPr>
          <p:cNvPr id="20" name="Conceptual cover and leaf artwork: AI-generat">
            <a:extLst>
              <a:ext uri="{FF2B5EF4-FFF2-40B4-BE49-F238E27FC236}">
                <a16:creationId xmlns:a16="http://schemas.microsoft.com/office/drawing/2014/main" id="{B7FB3C40-64F5-4A0F-A152-CFC083736FF2}"/>
              </a:ext>
            </a:extLst>
          </p:cNvPr>
          <p:cNvSpPr>
            <a:spLocks noGrp="1"/>
          </p:cNvSpPr>
          <p:nvPr/>
        </p:nvSpPr>
        <p:spPr>
          <a:xfrm>
            <a:off x="4724400" y="4248150"/>
            <a:ext cx="3895725" cy="419100"/>
          </a:xfrm>
          <a:prstGeom prst="rect">
            <a:avLst/>
          </a:prstGeom>
          <a:noFill/>
          <a:ln w="0">
            <a:noFill/>
          </a:ln>
        </p:spPr>
        <p:txBody>
          <a:bodyPr wrap="square" lIns="0" tIns="0" rIns="0" bIns="0" anchor="t">
            <a:noAutofit/>
          </a:bodyPr>
          <a:lstStyle/>
          <a:p>
            <a:pPr>
              <a:defRPr sz="1050" b="0" i="0">
                <a:solidFill>
                  <a:srgbClr val="58665B"/>
                </a:solidFill>
                <a:latin typeface="Arial"/>
                <a:ea typeface="Arial"/>
                <a:cs typeface="Arial"/>
              </a:defRPr>
            </a:pPr>
            <a:r>
              <a:rPr sz="1050" b="0" i="0">
                <a:solidFill>
                  <a:srgbClr val="58665B"/>
                </a:solidFill>
                <a:latin typeface="Arial"/>
                <a:ea typeface="Arial"/>
                <a:cs typeface="Arial"/>
              </a:rPr>
              <a:t>Conceptual cover and leaf artwork: AI-generated with OpenAI, September 2026.</a:t>
            </a:r>
          </a:p>
        </p:txBody>
      </p:sp>
      <p:pic>
        <p:nvPicPr>
          <p:cNvPr id="44" name="Picture 43"/>
          <p:cNvPicPr>
            <a:picLocks noChangeAspect="1"/>
          </p:cNvPicPr>
          <p:nvPr/>
        </p:nvPicPr>
        <p:blipFill>
          <a:blip r:embed="rId3"/>
          <a:stretch/>
        </p:blipFill>
        <p:spPr>
          <a:xfrm>
            <a:off x="499570" y="4829175"/>
            <a:ext cx="315310" cy="152400"/>
          </a:xfrm>
          <a:prstGeom prst="rect">
            <a:avLst/>
          </a:prstGeom>
        </p:spPr>
      </p:pic>
      <p:sp>
        <p:nvSpPr>
          <p:cNvPr id="22" name="www.newton.university">
            <a:extLst>
              <a:ext uri="{FF2B5EF4-FFF2-40B4-BE49-F238E27FC236}">
                <a16:creationId xmlns:a16="http://schemas.microsoft.com/office/drawing/2014/main" id="{EC8AA617-52BA-41B0-A9D7-683067167745}"/>
              </a:ext>
            </a:extLst>
          </p:cNvPr>
          <p:cNvSpPr>
            <a:spLocks noGrp="1"/>
          </p:cNvSpPr>
          <p:nvPr/>
        </p:nvSpPr>
        <p:spPr>
          <a:xfrm>
            <a:off x="933450" y="4848225"/>
            <a:ext cx="2095500" cy="152400"/>
          </a:xfrm>
          <a:prstGeom prst="rect">
            <a:avLst/>
          </a:prstGeom>
          <a:noFill/>
          <a:ln w="0">
            <a:noFill/>
          </a:ln>
        </p:spPr>
        <p:txBody>
          <a:bodyPr wrap="square" lIns="0" tIns="0" rIns="0" bIns="0" anchor="t">
            <a:noAutofit/>
          </a:bodyPr>
          <a:lstStyle/>
          <a:p>
            <a:pPr>
              <a:defRPr sz="750" b="0" i="0">
                <a:solidFill>
                  <a:srgbClr val="58665B"/>
                </a:solidFill>
                <a:latin typeface="Arial"/>
                <a:ea typeface="Arial"/>
                <a:cs typeface="Arial"/>
              </a:defRPr>
            </a:pPr>
            <a:r>
              <a:rPr sz="750" b="0" i="0">
                <a:solidFill>
                  <a:srgbClr val="58665B"/>
                </a:solidFill>
                <a:latin typeface="Arial"/>
                <a:ea typeface="Arial"/>
                <a:cs typeface="Arial"/>
              </a:rPr>
              <a:t>www.newton.university</a:t>
            </a:r>
          </a:p>
        </p:txBody>
      </p:sp>
      <p:sp>
        <p:nvSpPr>
          <p:cNvPr id="23" name="47">
            <a:extLst>
              <a:ext uri="{FF2B5EF4-FFF2-40B4-BE49-F238E27FC236}">
                <a16:creationId xmlns:a16="http://schemas.microsoft.com/office/drawing/2014/main" id="{24FF57EA-8471-4C32-9F5B-179AF4253F56}"/>
              </a:ext>
            </a:extLst>
          </p:cNvPr>
          <p:cNvSpPr>
            <a:spLocks noGrp="1"/>
          </p:cNvSpPr>
          <p:nvPr/>
        </p:nvSpPr>
        <p:spPr>
          <a:xfrm>
            <a:off x="8162925" y="4800600"/>
            <a:ext cx="476250" cy="238125"/>
          </a:xfrm>
          <a:prstGeom prst="rect">
            <a:avLst/>
          </a:prstGeom>
          <a:noFill/>
          <a:ln w="0">
            <a:noFill/>
          </a:ln>
        </p:spPr>
        <p:txBody>
          <a:bodyPr wrap="square" lIns="0" tIns="0" rIns="0" bIns="0" anchor="t">
            <a:noAutofit/>
          </a:bodyPr>
          <a:lstStyle/>
          <a:p>
            <a:pPr algn="r">
              <a:defRPr sz="1125" b="0" i="0">
                <a:solidFill>
                  <a:srgbClr val="58665B"/>
                </a:solidFill>
                <a:latin typeface="Arial"/>
                <a:ea typeface="Arial"/>
                <a:cs typeface="Arial"/>
              </a:defRPr>
            </a:pPr>
            <a:r>
              <a:rPr sz="1125" b="0" i="0">
                <a:solidFill>
                  <a:srgbClr val="58665B"/>
                </a:solidFill>
                <a:latin typeface="Arial"/>
                <a:ea typeface="Arial"/>
                <a:cs typeface="Arial"/>
              </a:rPr>
              <a:t>47</a:t>
            </a:r>
          </a:p>
        </p:txBody>
      </p:sp>
    </p:spTree>
    <p:extLst>
      <p:ext uri="{BB962C8B-B14F-4D97-AF65-F5344CB8AC3E}">
        <p14:creationId xmlns:p14="http://schemas.microsoft.com/office/powerpoint/2010/main" val="82321243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2937</Words>
  <Application>Microsoft Macintosh PowerPoint</Application>
  <DocSecurity>0</DocSecurity>
  <PresentationFormat>On-screen Show (16:9)</PresentationFormat>
  <Paragraphs>519</Paragraphs>
  <Slides>47</Slides>
  <Notes>47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Arial</vt:lpstr>
      <vt:lpstr>Calibri</vt:lpstr>
      <vt:lpstr>Georgia</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Jalal Hussein</cp:lastModifiedBy>
  <cp:revision>1</cp:revision>
  <dcterms:created xsi:type="dcterms:W3CDTF">2026-09-18T10:57:35Z</dcterms:created>
  <dcterms:modified xsi:type="dcterms:W3CDTF">2026-09-18T11:18:50Z</dcterms:modified>
</cp:coreProperties>
</file>