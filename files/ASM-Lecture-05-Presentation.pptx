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9371ebc4c34e5d" /><Relationship Type="http://schemas.openxmlformats.org/officeDocument/2006/relationships/extended-properties" Target="/docProps/app.xml" Id="R7051744da6534cfd" /><Relationship Type="http://schemas.openxmlformats.org/officeDocument/2006/relationships/officeDocument" Target="/ppt/presentation.xml" Id="R012b849972b3454c" /></Relationships>
</file>

<file path=ppt/presentation.xml><?xml version="1.0" encoding="utf-8"?>
<p:presentation xmlns:p="http://schemas.openxmlformats.org/presentationml/2006/main">
  <p:sldMasterIdLst>
    <p:sldMasterId xmlns:r="http://schemas.openxmlformats.org/officeDocument/2006/relationships" id="2147483648" r:id="R40c4c1c5e59a4509"/>
  </p:sldMasterIdLst>
  <p:notesMasterIdLst>
    <p:notesMasterId xmlns:r="http://schemas.openxmlformats.org/officeDocument/2006/relationships" r:id="Rc93699dda5cd41c1"/>
  </p:notesMasterIdLst>
  <p:sldIdLst>
    <p:sldId xmlns:r="http://schemas.openxmlformats.org/officeDocument/2006/relationships" id="256" r:id="R04a82b94d2254a14"/>
    <p:sldId xmlns:r="http://schemas.openxmlformats.org/officeDocument/2006/relationships" id="257" r:id="Ra7bcb5322bbe40ac"/>
    <p:sldId xmlns:r="http://schemas.openxmlformats.org/officeDocument/2006/relationships" id="258" r:id="R4015a002dc9e4691"/>
    <p:sldId xmlns:r="http://schemas.openxmlformats.org/officeDocument/2006/relationships" id="259" r:id="Red464494ce954ba5"/>
    <p:sldId xmlns:r="http://schemas.openxmlformats.org/officeDocument/2006/relationships" id="260" r:id="Rc971bef1fbed498b"/>
    <p:sldId xmlns:r="http://schemas.openxmlformats.org/officeDocument/2006/relationships" id="261" r:id="Ra8edbdc4de994c29"/>
    <p:sldId xmlns:r="http://schemas.openxmlformats.org/officeDocument/2006/relationships" id="262" r:id="R77aedbbb0c2e4077"/>
    <p:sldId xmlns:r="http://schemas.openxmlformats.org/officeDocument/2006/relationships" id="263" r:id="R9ed3b8e9b2864603"/>
    <p:sldId xmlns:r="http://schemas.openxmlformats.org/officeDocument/2006/relationships" id="264" r:id="R6b7f848585b74655"/>
    <p:sldId xmlns:r="http://schemas.openxmlformats.org/officeDocument/2006/relationships" id="265" r:id="Ra588411824f74012"/>
    <p:sldId xmlns:r="http://schemas.openxmlformats.org/officeDocument/2006/relationships" id="266" r:id="R213e1517e2474304"/>
    <p:sldId xmlns:r="http://schemas.openxmlformats.org/officeDocument/2006/relationships" id="267" r:id="R3285334c3c724fa2"/>
    <p:sldId xmlns:r="http://schemas.openxmlformats.org/officeDocument/2006/relationships" id="268" r:id="R02ce0cda4af54734"/>
    <p:sldId xmlns:r="http://schemas.openxmlformats.org/officeDocument/2006/relationships" id="269" r:id="R3303cfd637dd4c0e"/>
    <p:sldId xmlns:r="http://schemas.openxmlformats.org/officeDocument/2006/relationships" id="270" r:id="R015b2168830940e6"/>
    <p:sldId xmlns:r="http://schemas.openxmlformats.org/officeDocument/2006/relationships" id="271" r:id="Rbaa3d6e612c0443d"/>
    <p:sldId xmlns:r="http://schemas.openxmlformats.org/officeDocument/2006/relationships" id="272" r:id="Rca0f7f3effc944f0"/>
    <p:sldId xmlns:r="http://schemas.openxmlformats.org/officeDocument/2006/relationships" id="273" r:id="R6b2829882c634a0f"/>
    <p:sldId xmlns:r="http://schemas.openxmlformats.org/officeDocument/2006/relationships" id="274" r:id="R5f753cc8bd414bfb"/>
    <p:sldId xmlns:r="http://schemas.openxmlformats.org/officeDocument/2006/relationships" id="275" r:id="R180c3fa4a477432b"/>
    <p:sldId xmlns:r="http://schemas.openxmlformats.org/officeDocument/2006/relationships" id="276" r:id="R21d000b0857e49dc"/>
    <p:sldId xmlns:r="http://schemas.openxmlformats.org/officeDocument/2006/relationships" id="277" r:id="R4d79a56014e6409b"/>
    <p:sldId xmlns:r="http://schemas.openxmlformats.org/officeDocument/2006/relationships" id="278" r:id="R1e74664b26ed4ae7"/>
    <p:sldId xmlns:r="http://schemas.openxmlformats.org/officeDocument/2006/relationships" id="279" r:id="Reb2d8dabd28b4b8d"/>
    <p:sldId xmlns:r="http://schemas.openxmlformats.org/officeDocument/2006/relationships" id="280" r:id="Rce29c8c1a424437a"/>
    <p:sldId xmlns:r="http://schemas.openxmlformats.org/officeDocument/2006/relationships" id="281" r:id="Rc401da95f61341e8"/>
    <p:sldId xmlns:r="http://schemas.openxmlformats.org/officeDocument/2006/relationships" id="282" r:id="R062652493de04977"/>
    <p:sldId xmlns:r="http://schemas.openxmlformats.org/officeDocument/2006/relationships" id="283" r:id="Red9392ac269f4bfc"/>
    <p:sldId xmlns:r="http://schemas.openxmlformats.org/officeDocument/2006/relationships" id="284" r:id="Rf12ae4ab150c4df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f302e705bf4ac6" /><Relationship Type="http://schemas.openxmlformats.org/officeDocument/2006/relationships/slideMaster" Target="/ppt/slideMasters/slideMaster1.xml" Id="R40c4c1c5e59a4509" /><Relationship Type="http://schemas.openxmlformats.org/officeDocument/2006/relationships/notesMaster" Target="/ppt/notesMasters/notesMaster1.xml" Id="Rc93699dda5cd41c1" /><Relationship Type="http://schemas.openxmlformats.org/officeDocument/2006/relationships/presProps" Target="/ppt/presProps.xml" Id="R83b633b7653e47dc" /><Relationship Type="http://schemas.openxmlformats.org/officeDocument/2006/relationships/tableStyles" Target="/ppt/tableStyles.xml" Id="R0e4ebbfab12e4876" /><Relationship Type="http://schemas.openxmlformats.org/officeDocument/2006/relationships/slide" Target="/ppt/slides/slide1.xml" Id="R04a82b94d2254a14" /><Relationship Type="http://schemas.openxmlformats.org/officeDocument/2006/relationships/slide" Target="/ppt/slides/slide2.xml" Id="Ra7bcb5322bbe40ac" /><Relationship Type="http://schemas.openxmlformats.org/officeDocument/2006/relationships/slide" Target="/ppt/slides/slide3.xml" Id="R4015a002dc9e4691" /><Relationship Type="http://schemas.openxmlformats.org/officeDocument/2006/relationships/slide" Target="/ppt/slides/slide4.xml" Id="Red464494ce954ba5" /><Relationship Type="http://schemas.openxmlformats.org/officeDocument/2006/relationships/slide" Target="/ppt/slides/slide5.xml" Id="Rc971bef1fbed498b" /><Relationship Type="http://schemas.openxmlformats.org/officeDocument/2006/relationships/slide" Target="/ppt/slides/slide6.xml" Id="Ra8edbdc4de994c29" /><Relationship Type="http://schemas.openxmlformats.org/officeDocument/2006/relationships/slide" Target="/ppt/slides/slide7.xml" Id="R77aedbbb0c2e4077" /><Relationship Type="http://schemas.openxmlformats.org/officeDocument/2006/relationships/slide" Target="/ppt/slides/slide8.xml" Id="R9ed3b8e9b2864603" /><Relationship Type="http://schemas.openxmlformats.org/officeDocument/2006/relationships/slide" Target="/ppt/slides/slide9.xml" Id="R6b7f848585b74655" /><Relationship Type="http://schemas.openxmlformats.org/officeDocument/2006/relationships/slide" Target="/ppt/slides/slide10.xml" Id="Ra588411824f74012" /><Relationship Type="http://schemas.openxmlformats.org/officeDocument/2006/relationships/slide" Target="/ppt/slides/slide11.xml" Id="R213e1517e2474304" /><Relationship Type="http://schemas.openxmlformats.org/officeDocument/2006/relationships/slide" Target="/ppt/slides/slide12.xml" Id="R3285334c3c724fa2" /><Relationship Type="http://schemas.openxmlformats.org/officeDocument/2006/relationships/slide" Target="/ppt/slides/slide13.xml" Id="R02ce0cda4af54734" /><Relationship Type="http://schemas.openxmlformats.org/officeDocument/2006/relationships/slide" Target="/ppt/slides/slide14.xml" Id="R3303cfd637dd4c0e" /><Relationship Type="http://schemas.openxmlformats.org/officeDocument/2006/relationships/slide" Target="/ppt/slides/slide15.xml" Id="R015b2168830940e6" /><Relationship Type="http://schemas.openxmlformats.org/officeDocument/2006/relationships/slide" Target="/ppt/slides/slide16.xml" Id="Rbaa3d6e612c0443d" /><Relationship Type="http://schemas.openxmlformats.org/officeDocument/2006/relationships/slide" Target="/ppt/slides/slide17.xml" Id="Rca0f7f3effc944f0" /><Relationship Type="http://schemas.openxmlformats.org/officeDocument/2006/relationships/slide" Target="/ppt/slides/slide18.xml" Id="R6b2829882c634a0f" /><Relationship Type="http://schemas.openxmlformats.org/officeDocument/2006/relationships/slide" Target="/ppt/slides/slide19.xml" Id="R5f753cc8bd414bfb" /><Relationship Type="http://schemas.openxmlformats.org/officeDocument/2006/relationships/slide" Target="/ppt/slides/slide20.xml" Id="R180c3fa4a477432b" /><Relationship Type="http://schemas.openxmlformats.org/officeDocument/2006/relationships/slide" Target="/ppt/slides/slide21.xml" Id="R21d000b0857e49dc" /><Relationship Type="http://schemas.openxmlformats.org/officeDocument/2006/relationships/slide" Target="/ppt/slides/slide22.xml" Id="R4d79a56014e6409b" /><Relationship Type="http://schemas.openxmlformats.org/officeDocument/2006/relationships/slide" Target="/ppt/slides/slide23.xml" Id="R1e74664b26ed4ae7" /><Relationship Type="http://schemas.openxmlformats.org/officeDocument/2006/relationships/slide" Target="/ppt/slides/slide24.xml" Id="Reb2d8dabd28b4b8d" /><Relationship Type="http://schemas.openxmlformats.org/officeDocument/2006/relationships/slide" Target="/ppt/slides/slide25.xml" Id="Rce29c8c1a424437a" /><Relationship Type="http://schemas.openxmlformats.org/officeDocument/2006/relationships/slide" Target="/ppt/slides/slide26.xml" Id="Rc401da95f61341e8" /><Relationship Type="http://schemas.openxmlformats.org/officeDocument/2006/relationships/slide" Target="/ppt/slides/slide27.xml" Id="R062652493de04977" /><Relationship Type="http://schemas.openxmlformats.org/officeDocument/2006/relationships/slide" Target="/ppt/slides/slide28.xml" Id="Red9392ac269f4bfc" /><Relationship Type="http://schemas.openxmlformats.org/officeDocument/2006/relationships/slide" Target="/ppt/slides/slide29.xml" Id="Rf12ae4ab150c4d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61e4863a334b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f70158835b4efc" /><Relationship Type="http://schemas.openxmlformats.org/officeDocument/2006/relationships/notesMaster" Target="/ppt/notesMasters/notesMaster1.xml" Id="R9a5b38e3407c41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a13800d9614857" /><Relationship Type="http://schemas.openxmlformats.org/officeDocument/2006/relationships/notesMaster" Target="/ppt/notesMasters/notesMaster1.xml" Id="Rfc5e4128ed854f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0f46dc5a024b24" /><Relationship Type="http://schemas.openxmlformats.org/officeDocument/2006/relationships/notesMaster" Target="/ppt/notesMasters/notesMaster1.xml" Id="R5f58417bf87943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59785a03e2436a" /><Relationship Type="http://schemas.openxmlformats.org/officeDocument/2006/relationships/notesMaster" Target="/ppt/notesMasters/notesMaster1.xml" Id="R5c5e1faeb4a34f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25a640ef3446cf" /><Relationship Type="http://schemas.openxmlformats.org/officeDocument/2006/relationships/notesMaster" Target="/ppt/notesMasters/notesMaster1.xml" Id="Rc91af418dec54b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1ddb1d46e942db" /><Relationship Type="http://schemas.openxmlformats.org/officeDocument/2006/relationships/notesMaster" Target="/ppt/notesMasters/notesMaster1.xml" Id="R06eee00683d144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45e97fcc0f4be2" /><Relationship Type="http://schemas.openxmlformats.org/officeDocument/2006/relationships/notesMaster" Target="/ppt/notesMasters/notesMaster1.xml" Id="Rd2df09fb7ac84d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dce9b60f4145d2" /><Relationship Type="http://schemas.openxmlformats.org/officeDocument/2006/relationships/notesMaster" Target="/ppt/notesMasters/notesMaster1.xml" Id="Ra42fb91f03d64f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fb942e0af14de1" /><Relationship Type="http://schemas.openxmlformats.org/officeDocument/2006/relationships/notesMaster" Target="/ppt/notesMasters/notesMaster1.xml" Id="R2bd50f9fe61841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5423b4d4864a02" /><Relationship Type="http://schemas.openxmlformats.org/officeDocument/2006/relationships/notesMaster" Target="/ppt/notesMasters/notesMaster1.xml" Id="R261ba87026bf45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e6e50808664e23" /><Relationship Type="http://schemas.openxmlformats.org/officeDocument/2006/relationships/notesMaster" Target="/ppt/notesMasters/notesMaster1.xml" Id="R4d58e6ece72a41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ba84bb951d49f4" /><Relationship Type="http://schemas.openxmlformats.org/officeDocument/2006/relationships/notesMaster" Target="/ppt/notesMasters/notesMaster1.xml" Id="Re59618d6746e48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5bba367e6e42fb" /><Relationship Type="http://schemas.openxmlformats.org/officeDocument/2006/relationships/notesMaster" Target="/ppt/notesMasters/notesMaster1.xml" Id="Rd30087f2649d48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a462274ad54128" /><Relationship Type="http://schemas.openxmlformats.org/officeDocument/2006/relationships/notesMaster" Target="/ppt/notesMasters/notesMaster1.xml" Id="Re637400820d44e0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456e8981054c88" /><Relationship Type="http://schemas.openxmlformats.org/officeDocument/2006/relationships/notesMaster" Target="/ppt/notesMasters/notesMaster1.xml" Id="Ra4f76aa6cc104b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f16d6e19a7478c" /><Relationship Type="http://schemas.openxmlformats.org/officeDocument/2006/relationships/notesMaster" Target="/ppt/notesMasters/notesMaster1.xml" Id="Rbdf345c6566040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d711875699432b" /><Relationship Type="http://schemas.openxmlformats.org/officeDocument/2006/relationships/notesMaster" Target="/ppt/notesMasters/notesMaster1.xml" Id="R0da234d3976842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1dd27cc0ee453a" /><Relationship Type="http://schemas.openxmlformats.org/officeDocument/2006/relationships/notesMaster" Target="/ppt/notesMasters/notesMaster1.xml" Id="Rd16696a690ed4d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7b9b8f1647482f" /><Relationship Type="http://schemas.openxmlformats.org/officeDocument/2006/relationships/notesMaster" Target="/ppt/notesMasters/notesMaster1.xml" Id="R5ba4ec8c0a544e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d4a66c2a5b484e" /><Relationship Type="http://schemas.openxmlformats.org/officeDocument/2006/relationships/notesMaster" Target="/ppt/notesMasters/notesMaster1.xml" Id="Re446bd0b04d5473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eeac5ca4f3a4f7a" /><Relationship Type="http://schemas.openxmlformats.org/officeDocument/2006/relationships/notesMaster" Target="/ppt/notesMasters/notesMaster1.xml" Id="R222ec654b484432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ae6130700149ad" /><Relationship Type="http://schemas.openxmlformats.org/officeDocument/2006/relationships/notesMaster" Target="/ppt/notesMasters/notesMaster1.xml" Id="R7c8ee9c9f9014cb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7ef953af06e405b" /><Relationship Type="http://schemas.openxmlformats.org/officeDocument/2006/relationships/notesMaster" Target="/ppt/notesMasters/notesMaster1.xml" Id="R64f706e8d1454bb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817d4d6af454e22" /><Relationship Type="http://schemas.openxmlformats.org/officeDocument/2006/relationships/notesMaster" Target="/ppt/notesMasters/notesMaster1.xml" Id="Rec0d5e9898aa42b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2978df2089c496c" /><Relationship Type="http://schemas.openxmlformats.org/officeDocument/2006/relationships/notesMaster" Target="/ppt/notesMasters/notesMaster1.xml" Id="R5594a92fb9b44d0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f736e9101cd4937" /><Relationship Type="http://schemas.openxmlformats.org/officeDocument/2006/relationships/notesMaster" Target="/ppt/notesMasters/notesMaster1.xml" Id="Rd9617a7ec41347e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c7b3a8196e647d6" /><Relationship Type="http://schemas.openxmlformats.org/officeDocument/2006/relationships/notesMaster" Target="/ppt/notesMasters/notesMaster1.xml" Id="R8524a35f701945e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0850d501edc46b8" /><Relationship Type="http://schemas.openxmlformats.org/officeDocument/2006/relationships/notesMaster" Target="/ppt/notesMasters/notesMaster1.xml" Id="R78df7e5ee741499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6eb3cb58d60474f" /><Relationship Type="http://schemas.openxmlformats.org/officeDocument/2006/relationships/notesMaster" Target="/ppt/notesMasters/notesMaster1.xml" Id="Rc0ebd7b16a4c4c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 Applied Sustainability in Business and Management</a:t>
            </a:r>
          </a:p>
          <a:p xmlns:a="http://schemas.openxmlformats.org/drawingml/2006/main">
            <a:r>
              <a:t>Suggested time: 1 min</a:t>
            </a:r>
          </a:p>
          <a:p xmlns:a="http://schemas.openxmlformats.org/drawingml/2006/main">
            <a:r>
              <a:t/>
            </a:r>
          </a:p>
          <a:p xmlns:a="http://schemas.openxmlformats.org/drawingml/2006/main">
            <a:r>
              <a:t>Say: Welcome. Say: so far we measured things; today we deal with people — the ones  who can stop a project or carry it — and with how we talk to them.</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 Learning Objectives</a:t>
            </a:r>
          </a:p>
          <a:p xmlns:a="http://schemas.openxmlformats.org/drawingml/2006/main">
            <a:r>
              <a:t>Suggested time: 3 min</a:t>
            </a:r>
          </a:p>
          <a:p xmlns:a="http://schemas.openxmlformats.org/drawingml/2006/main">
            <a:r>
              <a:t/>
            </a:r>
          </a:p>
          <a:p xmlns:a="http://schemas.openxmlformats.org/drawingml/2006/main">
            <a:r>
              <a:t>Say: Read the seven objectives. Connect each to a decision a manager needs to make. The first half introduces the tools and business problem; the second half applies them to the cases and activities. Students will use the same tools for their Prague semester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3: Today's Lecture Agenda</a:t>
            </a:r>
          </a:p>
          <a:p xmlns:a="http://schemas.openxmlformats.org/drawingml/2006/main">
            <a:r>
              <a:t>Suggested time: 2 min</a:t>
            </a:r>
          </a:p>
          <a:p xmlns:a="http://schemas.openxmlformats.org/drawingml/2006/main">
            <a:r>
              <a:t/>
            </a:r>
          </a:p>
          <a:p xmlns:a="http://schemas.openxmlformats.org/drawingml/2006/main">
            <a:r>
              <a:t>Say: Six parts. The activity before the break is long (25 minutes) and important for the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4: Part 1 — Stakeholder Theory</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5: Who is a Stakeholder?</a:t>
            </a:r>
          </a:p>
          <a:p xmlns:a="http://schemas.openxmlformats.org/drawingml/2006/main">
            <a:r>
              <a:t>Suggested time: 8 min</a:t>
            </a:r>
          </a:p>
          <a:p xmlns:a="http://schemas.openxmlformats.org/drawingml/2006/main">
            <a:r>
              <a:t/>
            </a:r>
          </a:p>
          <a:p xmlns:a="http://schemas.openxmlformats.org/drawingml/2006/main">
            <a:r>
              <a:t>Say: Freeman's definition from 1984: anyone who can affect, or is affected by, what the  organisation does. For a green project in a city that means residents and neighbourhood  groups, the city and district offices, businesses, developers and investors, NGOs and  universities — and future generations, who cannot speak for themselves. Ask students to  name stakeholders of a new park in their district; they will forget some, which is the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6: The Power–Interest Grid</a:t>
            </a:r>
          </a:p>
          <a:p xmlns:a="http://schemas.openxmlformats.org/drawingml/2006/main">
            <a:r>
              <a:t>Suggested time: 10 min</a:t>
            </a:r>
          </a:p>
          <a:p xmlns:a="http://schemas.openxmlformats.org/drawingml/2006/main">
            <a:r>
              <a:t/>
            </a:r>
          </a:p>
          <a:p xmlns:a="http://schemas.openxmlformats.org/drawingml/2006/main">
            <a:r>
              <a:t>Say: Draw the 2×2 grid on the board. High power and high interest — manage closely: city hall, a major developer. High power, low interest — keep satisfied: a national regulator. Low power, high interest — keep informed and give them a voice: residents, local NGOs. Low power, low interest — just monitor: occasional visitors. The position tells you what to do; that is why the grid is useful. Warn: people move between boxes — residents with low power become high power when they organise.</a:t>
            </a:r>
          </a:p>
          <a:p xmlns:a="http://schemas.openxmlformats.org/drawingml/2006/main">
            <a:r>
              <a:t/>
            </a:r>
          </a:p>
          <a:p xmlns:a="http://schemas.openxmlformats.org/drawingml/2006/main">
            <a:r>
              <a:t> Ask: Where would you put the local newspaper? (Often high interest, and its power  depends on the 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7: Part 2 — Public Participation and Governance</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8: Levels of Participation (IAP2 Spectrum)</a:t>
            </a:r>
          </a:p>
          <a:p xmlns:a="http://schemas.openxmlformats.org/drawingml/2006/main">
            <a:r>
              <a:t>Suggested time: 8 min</a:t>
            </a:r>
          </a:p>
          <a:p xmlns:a="http://schemas.openxmlformats.org/drawingml/2006/main">
            <a:r>
              <a:t/>
            </a:r>
          </a:p>
          <a:p xmlns:a="http://schemas.openxmlformats.org/drawingml/2006/main">
            <a:r>
              <a:t>Say: These five levels are the IAP2 Spectrum, distinct from Arnstein’s eight-rung ladder. Inform, consult, involve, collaborate and empower describe different promises to the public. Match the promise to the legal decision-maker and the project. Do not promise a shared decision if the sponsor will only collect opinions.</a:t>
            </a:r>
          </a:p>
          <a:p xmlns:a="http://schemas.openxmlformats.org/drawingml/2006/main">
            <a:r>
              <a:t/>
            </a:r>
          </a:p>
          <a:p xmlns:a="http://schemas.openxmlformats.org/drawingml/2006/main">
            <a:r>
              <a:t>Ask: Which level is feasible for this company project, and how would you communicate that?</a:t>
            </a:r>
          </a:p>
          <a:p xmlns:a="http://schemas.openxmlformats.org/drawingml/2006/main">
            <a:r>
              <a:t/>
            </a:r>
          </a:p>
          <a:p xmlns:a="http://schemas.openxmlformats.org/drawingml/2006/main">
            <a:r>
              <a:t>Sources checked 5 October 2026:</a:t>
            </a:r>
          </a:p>
          <a:p xmlns:a="http://schemas.openxmlformats.org/drawingml/2006/main">
            <a:r>
              <a:t>https://www.iap2.org/page/pillars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9: Why Participation Improves Projects</a:t>
            </a:r>
          </a:p>
          <a:p xmlns:a="http://schemas.openxmlformats.org/drawingml/2006/main">
            <a:r>
              <a:t>Suggested time: 8 min</a:t>
            </a:r>
          </a:p>
          <a:p xmlns:a="http://schemas.openxmlformats.org/drawingml/2006/main">
            <a:r>
              <a:t/>
            </a:r>
          </a:p>
          <a:p xmlns:a="http://schemas.openxmlformats.org/drawingml/2006/main">
            <a:r>
              <a:t>Say: Participation can reveal local knowledge, expose concerns and support long-term care. It can reduce avoidable delays, but cannot guarantee agreement or prevent legal challenge. Treat it as part of risk management and a fair decision process. Ask what the project sponsor must do with the feedback received.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10: Part 3 — Prague Debates</a:t>
            </a:r>
          </a:p>
          <a:p xmlns:a="http://schemas.openxmlformats.org/drawingml/2006/main">
            <a:r>
              <a:t>Suggested time: 1 min</a:t>
            </a:r>
          </a:p>
          <a:p xmlns:a="http://schemas.openxmlformats.org/drawingml/2006/main">
            <a:r>
              <a:t/>
            </a:r>
          </a:p>
          <a:p xmlns:a="http://schemas.openxmlformats.org/drawingml/2006/main">
            <a:r>
              <a:t>Say: Announce the part.</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11: Prague: Where Interests Collide</a:t>
            </a:r>
          </a:p>
          <a:p xmlns:a="http://schemas.openxmlformats.org/drawingml/2006/main">
            <a:r>
              <a:t>Suggested time: 8 min</a:t>
            </a:r>
          </a:p>
          <a:p xmlns:a="http://schemas.openxmlformats.org/drawingml/2006/main">
            <a:r>
              <a:t/>
            </a:r>
          </a:p>
          <a:p xmlns:a="http://schemas.openxmlformats.org/drawingml/2006/main">
            <a:r>
              <a:t>Say: Three recurring Prague debates: building near parks and the river, protecting green wedges from construction, and riverbank redevelopment — recreation versus commercial use. Use the current news story you brought. Ask students to name the stakeholders in it and put two of them on the grid. Observation for them: every public fight is a stakeholder map waiting to be drawn.</a:t>
            </a:r>
          </a:p>
          <a:p xmlns:a="http://schemas.openxmlformats.org/drawingml/2006/main">
            <a:r>
              <a:t/>
            </a:r>
          </a:p>
          <a:p xmlns:a="http://schemas.openxmlformats.org/drawingml/2006/main">
            <a:r>
              <a:t>Image credit: Prague - view from Charles Bridge (by Pudelek).jpg — CC BY-SA 3.0, Wikimedia Commons</a:t>
            </a:r>
          </a:p>
          <a:p xmlns:a="http://schemas.openxmlformats.org/drawingml/2006/main">
            <a:r>
              <a:t>https://commons.wikimedia.org/wiki/File:Prague_-_view_from_Charles_Bridge_(by_Pudelek).jpg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12: Activity: Map Your Site's Stakeholders</a:t>
            </a:r>
          </a:p>
          <a:p xmlns:a="http://schemas.openxmlformats.org/drawingml/2006/main">
            <a:r>
              <a:t>Suggested time: 25 min</a:t>
            </a:r>
          </a:p>
          <a:p xmlns:a="http://schemas.openxmlformats.org/drawingml/2006/main">
            <a:r>
              <a:t/>
            </a:r>
          </a:p>
          <a:p xmlns:a="http://schemas.openxmlformats.org/drawingml/2006/main">
            <a:r>
              <a:t>Say: Project groups list every stakeholder of their semester site, place them on the grid, and for the top three write what they want, what they fear and how to engage them. This goes straight into Seminar 4 and the paper. Details in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13: Break</a:t>
            </a:r>
          </a:p>
          <a:p xmlns:a="http://schemas.openxmlformats.org/drawingml/2006/main">
            <a:r>
              <a:t>Suggested time: 15–20 min</a:t>
            </a:r>
          </a:p>
          <a:p xmlns:a="http://schemas.openxmlformats.org/drawingml/2006/main">
            <a:r>
              <a:t/>
            </a:r>
          </a:p>
          <a:p xmlns:a="http://schemas.openxmlformats.org/drawingml/2006/main">
            <a:r>
              <a:t>Say: After the break: how to talk about sustainability without lying, and what smart cities do with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14: Part 4 — Communicating Sustainability</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15: Principles of Credible Communication</a:t>
            </a:r>
          </a:p>
          <a:p xmlns:a="http://schemas.openxmlformats.org/drawingml/2006/main">
            <a:r>
              <a:t>Suggested time: 12 min</a:t>
            </a:r>
          </a:p>
          <a:p xmlns:a="http://schemas.openxmlformats.org/drawingml/2006/main">
            <a:r>
              <a:t/>
            </a:r>
          </a:p>
          <a:p xmlns:a="http://schemas.openxmlformats.org/drawingml/2006/main">
            <a:r>
              <a:t>Say: A credible claim states what changed, where, over which period and using what evidence. Include limits and missed targets. Tailor the explanation to the audience without changing the facts. Any numerical wording used in this exercise is fictional until supported by real data.</a:t>
            </a:r>
          </a:p>
          <a:p xmlns:a="http://schemas.openxmlformats.org/drawingml/2006/main">
            <a:r>
              <a:t/>
            </a:r>
          </a:p>
          <a:p xmlns:a="http://schemas.openxmlformats.org/drawingml/2006/main">
            <a:r>
              <a:t>Ask: Take a claim from an advertisement and identify the missing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16: Part 5 — Greenwashing</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17: The Seven Sins of Greenwashing</a:t>
            </a:r>
          </a:p>
          <a:p xmlns:a="http://schemas.openxmlformats.org/drawingml/2006/main">
            <a:r>
              <a:t>Suggested time: 8 min</a:t>
            </a:r>
          </a:p>
          <a:p xmlns:a="http://schemas.openxmlformats.org/drawingml/2006/main">
            <a:r>
              <a:t/>
            </a:r>
          </a:p>
          <a:p xmlns:a="http://schemas.openxmlformats.org/drawingml/2006/main">
            <a:r>
              <a:t>Say: Use TerraChoice’s seven sins as a teaching checklist, not a legal test. Explain hidden trade-off, no proof, vagueness, irrelevance, lesser of two evils, fibbing and false labels with clearly hypothetical examples. The actual legal requirements come from the applicable rules discussed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18: Environmental Claims and EU Rules</a:t>
            </a:r>
          </a:p>
          <a:p xmlns:a="http://schemas.openxmlformats.org/drawingml/2006/main">
            <a:r>
              <a:t>Suggested time: 10 min</a:t>
            </a:r>
          </a:p>
          <a:p xmlns:a="http://schemas.openxmlformats.org/drawingml/2006/main">
            <a:r>
              <a:t/>
            </a:r>
          </a:p>
          <a:p xmlns:a="http://schemas.openxmlformats.org/drawingml/2006/main">
            <a:r>
              <a:t>Say: Directive (EU) 2024/825 tightens consumer-facing claims. Generic claims need recognized excellent environmental performance relevant to the claim; an arbitrary company document is not enough. It also prohibits claims that a product has neutral, reduced or positive greenhouse-gas impact when based on offsetting. Sustainability labels must meet the directive’s conditions. National measures apply from 27 September 2026. Keep this distinct from CSRD reporting and from the separate Green Claims proposal.</a:t>
            </a:r>
          </a:p>
          <a:p xmlns:a="http://schemas.openxmlformats.org/drawingml/2006/main">
            <a:r>
              <a:t/>
            </a:r>
          </a:p>
          <a:p xmlns:a="http://schemas.openxmlformats.org/drawingml/2006/main">
            <a:r>
              <a:t>Tip: Check national implementation for a real advertisement or penalty question.</a:t>
            </a:r>
          </a:p>
          <a:p xmlns:a="http://schemas.openxmlformats.org/drawingml/2006/main">
            <a:r>
              <a:t/>
            </a:r>
          </a:p>
          <a:p xmlns:a="http://schemas.openxmlformats.org/drawingml/2006/main">
            <a:r>
              <a:t>Sources checked 5 October 2026:</a:t>
            </a:r>
          </a:p>
          <a:p xmlns:a="http://schemas.openxmlformats.org/drawingml/2006/main">
            <a:r>
              <a:t>https://eur-lex.europa.eu/eli/dir/2024/825/oj/eng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19: Part 6 — Smart Cities and Smart GI</a:t>
            </a:r>
          </a:p>
          <a:p xmlns:a="http://schemas.openxmlformats.org/drawingml/2006/main">
            <a:r>
              <a:t>Suggested time: 1 min</a:t>
            </a:r>
          </a:p>
          <a:p xmlns:a="http://schemas.openxmlformats.org/drawingml/2006/main">
            <a:r>
              <a:t/>
            </a:r>
          </a:p>
          <a:p xmlns:a="http://schemas.openxmlformats.org/drawingml/2006/main">
            <a:r>
              <a:t>Say: Announce the part.</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20: What Makes a City 'Smart'?</a:t>
            </a:r>
          </a:p>
          <a:p xmlns:a="http://schemas.openxmlformats.org/drawingml/2006/main">
            <a:r>
              <a:t>Suggested time: 6 min</a:t>
            </a:r>
          </a:p>
          <a:p xmlns:a="http://schemas.openxmlformats.org/drawingml/2006/main">
            <a:r>
              <a:t/>
            </a:r>
          </a:p>
          <a:p xmlns:a="http://schemas.openxmlformats.org/drawingml/2006/main">
            <a:r>
              <a:t>Say: A smart city uses data and technology to run its services better. Smart Green Infrastructure means: sensors measure soil moisture, temperature and air quality live; irrigation runs only when needed; digital twins simulate floods, heat and planting before money is spent; open dashboards let citizens see the results and trust them. Connect to Lecture 4: this is where the KPIs get their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21: Singapore: Nature and Building Operations</a:t>
            </a:r>
          </a:p>
          <a:p xmlns:a="http://schemas.openxmlformats.org/drawingml/2006/main">
            <a:r>
              <a:t>Suggested time: 4 min</a:t>
            </a:r>
          </a:p>
          <a:p xmlns:a="http://schemas.openxmlformats.org/drawingml/2006/main">
            <a:r>
              <a:t/>
            </a:r>
          </a:p>
          <a:p xmlns:a="http://schemas.openxmlformats.org/drawingml/2006/main">
            <a:r>
              <a:t>Say: Use the documented site functions at Gardens by the Bay. Some Supertrees harvest solar energy; others support conservatory ventilation. This demonstrates integration at a particular site, not an island-wide smart-irrigation system.</a:t>
            </a:r>
          </a:p>
          <a:p xmlns:a="http://schemas.openxmlformats.org/drawingml/2006/main">
            <a:r>
              <a:t/>
            </a:r>
          </a:p>
          <a:p xmlns:a="http://schemas.openxmlformats.org/drawingml/2006/main">
            <a:r>
              <a:t>Ask: For a Prague hotel or office, would the first priority be water use, cooling or maintenance, and what data would help?</a:t>
            </a:r>
          </a:p>
          <a:p xmlns:a="http://schemas.openxmlformats.org/drawingml/2006/main">
            <a:r>
              <a:t/>
            </a:r>
          </a:p>
          <a:p xmlns:a="http://schemas.openxmlformats.org/drawingml/2006/main">
            <a:r>
              <a:t>Image credit: Supertree Grove, Gardens by the Bay, Singapore1.jpg — CC0, Wikimedia Commons</a:t>
            </a:r>
          </a:p>
          <a:p xmlns:a="http://schemas.openxmlformats.org/drawingml/2006/main">
            <a:r>
              <a:t>https://commons.wikimedia.org/wiki/File:Supertree_Grove%2C_Gardens_by_the_Bay%2C_Singapore1.jpg</a:t>
            </a:r>
          </a:p>
          <a:p xmlns:a="http://schemas.openxmlformats.org/drawingml/2006/main">
            <a:r>
              <a:t>Source image retained from the original lecture.</a:t>
            </a:r>
          </a:p>
          <a:p xmlns:a="http://schemas.openxmlformats.org/drawingml/2006/main">
            <a:r>
              <a:t/>
            </a:r>
          </a:p>
          <a:p xmlns:a="http://schemas.openxmlformats.org/drawingml/2006/main">
            <a:r>
              <a:t>Sources checked 5 October 2026:</a:t>
            </a:r>
          </a:p>
          <a:p xmlns:a="http://schemas.openxmlformats.org/drawingml/2006/main">
            <a:r>
              <a:t>https://www.gardensbythebay.com.sg/en/the-gardens/sustainability-efforts.html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22: Copenhagen: Managing Cloudburst Risk</a:t>
            </a:r>
          </a:p>
          <a:p xmlns:a="http://schemas.openxmlformats.org/drawingml/2006/main">
            <a:r>
              <a:t>Suggested time: 4 min</a:t>
            </a:r>
          </a:p>
          <a:p xmlns:a="http://schemas.openxmlformats.org/drawingml/2006/main">
            <a:r>
              <a:t/>
            </a:r>
          </a:p>
          <a:p xmlns:a="http://schemas.openxmlformats.org/drawingml/2006/main">
            <a:r>
              <a:t>Say: Revisit Copenhagen through the management and data perspective. Flood modelling helps decide where water should move or be stored. The harbour-bath photograph illustrates waterfront public space, not a particular cloudburst asset. Avoid promising that surface measures are always cheaper than sewers; compare alternatives for the same service level.</a:t>
            </a:r>
          </a:p>
          <a:p xmlns:a="http://schemas.openxmlformats.org/drawingml/2006/main">
            <a:r>
              <a:t/>
            </a:r>
          </a:p>
          <a:p xmlns:a="http://schemas.openxmlformats.org/drawingml/2006/main">
            <a:r>
              <a:t>Image credit: Harbour Bath, Islands Brygge.jpg — CC BY 2.0, Wikimedia Commons</a:t>
            </a:r>
          </a:p>
          <a:p xmlns:a="http://schemas.openxmlformats.org/drawingml/2006/main">
            <a:r>
              <a:t>https://commons.wikimedia.org/wiki/File:Harbour_Bath%2C_Islands_Brygge.jpg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23: Rotterdam and Barcelona: Decisions to Measure</a:t>
            </a:r>
          </a:p>
          <a:p xmlns:a="http://schemas.openxmlformats.org/drawingml/2006/main">
            <a:r>
              <a:t>Suggested time: 5 min</a:t>
            </a:r>
          </a:p>
          <a:p xmlns:a="http://schemas.openxmlformats.org/drawingml/2006/main">
            <a:r>
              <a:t/>
            </a:r>
          </a:p>
          <a:p xmlns:a="http://schemas.openxmlformats.org/drawingml/2006/main">
            <a:r>
              <a:t>Say: Keep both cases, but use this return to ask about decisions and measurement. Rotterdam illustrates shared space and water management; Barcelona illustrates traffic and public-space change. Claims about sales, pollution or walking need a named evaluation and location.</a:t>
            </a:r>
          </a:p>
          <a:p xmlns:a="http://schemas.openxmlformats.org/drawingml/2006/main">
            <a:r>
              <a:t/>
            </a:r>
          </a:p>
          <a:p xmlns:a="http://schemas.openxmlformats.org/drawingml/2006/main">
            <a:r>
              <a:t>Ask: What baseline would nearby businesses and residents accept?</a:t>
            </a:r>
          </a:p>
          <a:p xmlns:a="http://schemas.openxmlformats.org/drawingml/2006/main">
            <a:r>
              <a:t/>
            </a:r>
          </a:p>
          <a:p xmlns:a="http://schemas.openxmlformats.org/drawingml/2006/main">
            <a:r>
              <a:t>Image credit: Superilla del barri de Sant Antoni, Barcelona 2.jpg — CC BY-SA 4.0, Wikimedia Commons</a:t>
            </a:r>
          </a:p>
          <a:p xmlns:a="http://schemas.openxmlformats.org/drawingml/2006/main">
            <a:r>
              <a:t>https://commons.wikimedia.org/wiki/File:Superilla_del_barri_de_Sant_Antoni%2C_Barcelona_2.jpg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24: Vienna — and Prague's Opportunity</a:t>
            </a:r>
          </a:p>
          <a:p xmlns:a="http://schemas.openxmlformats.org/drawingml/2006/main">
            <a:r>
              <a:t>Suggested time: 6 min</a:t>
            </a:r>
          </a:p>
          <a:p xmlns:a="http://schemas.openxmlformats.org/drawingml/2006/main">
            <a:r>
              <a:t/>
            </a:r>
          </a:p>
          <a:p xmlns:a="http://schemas.openxmlformats.org/drawingml/2006/main">
            <a:r>
              <a:t>Say: Vienna’s Danube Island shows multiple uses of a green asset. Prague has natural assets and city plans, but do not assume it lacks digital systems. Students should first inspect existing data, responsible teams and operating problems, then propose a pilot only where it fills an evidenced gap.</a:t>
            </a:r>
          </a:p>
          <a:p xmlns:a="http://schemas.openxmlformats.org/drawingml/2006/main">
            <a:r>
              <a:t/>
            </a:r>
          </a:p>
          <a:p xmlns:a="http://schemas.openxmlformats.org/drawingml/2006/main">
            <a:r>
              <a:t>Ask: Which decision would change because of the proposed sensor or dashboard?</a:t>
            </a:r>
          </a:p>
          <a:p xmlns:a="http://schemas.openxmlformats.org/drawingml/2006/main">
            <a:r>
              <a:t/>
            </a:r>
          </a:p>
          <a:p xmlns:a="http://schemas.openxmlformats.org/drawingml/2006/main">
            <a:r>
              <a:t>Image credit: Wien - Donauinsel mit den Donaubrücken.JPG — CC BY-SA 4.0, Wikimedia Commons</a:t>
            </a:r>
          </a:p>
          <a:p xmlns:a="http://schemas.openxmlformats.org/drawingml/2006/main">
            <a:r>
              <a:t>https://commons.wikimedia.org/wiki/File:Wien_-_Donauinsel_mit_den_Donaubr%C3%BCcken.JPG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25: The Technology Stack</a:t>
            </a:r>
          </a:p>
          <a:p xmlns:a="http://schemas.openxmlformats.org/drawingml/2006/main">
            <a:r>
              <a:t>Suggested time: 5 min</a:t>
            </a:r>
          </a:p>
          <a:p xmlns:a="http://schemas.openxmlformats.org/drawingml/2006/main">
            <a:r>
              <a:t/>
            </a:r>
          </a:p>
          <a:p xmlns:a="http://schemas.openxmlformats.org/drawingml/2006/main">
            <a:r>
              <a:t>Say: Four layers, from maps to decisions. GIS: where is the green, who can reach it. Sensors: how is it performing right now. Digital twins: what happens if we change it. Dashboards: is the strategy working. Students only need to know the four layers and what question each answers.</a:t>
            </a:r>
          </a:p>
          <a:p xmlns:a="http://schemas.openxmlformats.org/drawingml/2006/main">
            <a:r>
              <a:t/>
            </a:r>
          </a:p>
          <a:p xmlns:a="http://schemas.openxmlformats.org/drawingml/2006/main">
            <a:r>
              <a:t>Image credit: QGIS Interface Screenshot with Map of Median Income in Houston (2010).png — CC0, Wikimedia Commons</a:t>
            </a:r>
          </a:p>
          <a:p xmlns:a="http://schemas.openxmlformats.org/drawingml/2006/main">
            <a:r>
              <a:t>https://commons.wikimedia.org/wiki/File:QGIS_Interface_Screenshot_with_Map_of_Median_Income_in_Houston_(2010).png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26: Key Messages</a:t>
            </a:r>
          </a:p>
          <a:p xmlns:a="http://schemas.openxmlformats.org/drawingml/2006/main">
            <a:r>
              <a:t>Suggested time: 4 min</a:t>
            </a:r>
          </a:p>
          <a:p xmlns:a="http://schemas.openxmlformats.org/drawingml/2006/main">
            <a:r>
              <a:t/>
            </a:r>
          </a:p>
          <a:p xmlns:a="http://schemas.openxmlformats.org/drawingml/2006/main">
            <a:r>
              <a:t>Say: Work through the eight messages. Ask students to connect each to a decision, example or tool from this lecture. Distinguish potential benefits from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27: Recommended Reading</a:t>
            </a:r>
          </a:p>
          <a:p xmlns:a="http://schemas.openxmlformats.org/drawingml/2006/main">
            <a:r>
              <a:t>Suggested time: 2 min</a:t>
            </a:r>
          </a:p>
          <a:p xmlns:a="http://schemas.openxmlformats.org/drawingml/2006/main">
            <a:r>
              <a:t/>
            </a:r>
          </a:p>
          <a:p xmlns:a="http://schemas.openxmlformats.org/drawingml/2006/main">
            <a:r>
              <a:t>Say: Point to the Seminar 4 preview: communicating sustainability for their site's stakeholders. Next lecture is the last one: ESG, regulation and the future of urban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28: Any questions?</a:t>
            </a:r>
          </a:p>
          <a:p xmlns:a="http://schemas.openxmlformats.org/drawingml/2006/main">
            <a:r>
              <a:t>Suggested time: 5 min</a:t>
            </a:r>
          </a:p>
          <a:p xmlns:a="http://schemas.openxmlformats.org/drawingml/2006/main">
            <a:r>
              <a:t/>
            </a:r>
          </a:p>
          <a:p xmlns:a="http://schemas.openxmlformats.org/drawingml/2006/main">
            <a:r>
              <a:t>Say: Take questions.</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5, slide 29: Image credits</a:t>
            </a:r>
          </a:p>
          <a:p xmlns:a="http://schemas.openxmlformats.org/drawingml/2006/main">
            <a:r>
              <a:t/>
            </a:r>
          </a:p>
          <a:p xmlns:a="http://schemas.openxmlformats.org/drawingml/2006/main">
            <a:r>
              <a:t>Say: No need to show.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c82e8f32634a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50caed2c064ec2" /><Relationship Type="http://schemas.openxmlformats.org/officeDocument/2006/relationships/slideLayout" Target="/ppt/slideLayouts/slideLayout1.xml" Id="Rc3ed1f03a47741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ed1f03a47741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7ae05bb4e343d0" /><Relationship Type="http://schemas.openxmlformats.org/officeDocument/2006/relationships/image" Target="/ppt/media/image.png" Id="R0167465b80844059" /><Relationship Type="http://schemas.openxmlformats.org/officeDocument/2006/relationships/image" Target="/ppt/media/image2.png" Id="Rd85e40b144504d87" /><Relationship Type="http://schemas.openxmlformats.org/officeDocument/2006/relationships/notesSlide" Target="/ppt/notesSlides/notesSlide1.xml" Id="R4d41671cf5034c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cc9573a76c47a1" /><Relationship Type="http://schemas.openxmlformats.org/officeDocument/2006/relationships/image" Target="/ppt/media/image3.png" Id="Rbf5d0924eb074bfa" /><Relationship Type="http://schemas.openxmlformats.org/officeDocument/2006/relationships/notesSlide" Target="/ppt/notesSlides/notesSlide2.xml" Id="Rfac94b71df604d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9b46196934405e" /><Relationship Type="http://schemas.openxmlformats.org/officeDocument/2006/relationships/image" Target="/ppt/media/image4.png" Id="R474d46daccc042b2" /><Relationship Type="http://schemas.openxmlformats.org/officeDocument/2006/relationships/notesSlide" Target="/ppt/notesSlides/notesSlide3.xml" Id="Ra11e9b7b8fc14f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e5a8e1ce3d40b2" /><Relationship Type="http://schemas.openxmlformats.org/officeDocument/2006/relationships/image" Target="/ppt/media/image5.png" Id="Rcac5b9cf13ba4582" /><Relationship Type="http://schemas.openxmlformats.org/officeDocument/2006/relationships/notesSlide" Target="/ppt/notesSlides/notesSlide4.xml" Id="R83a18d0702454d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366f06e9784ee0" /><Relationship Type="http://schemas.openxmlformats.org/officeDocument/2006/relationships/image" Target="/ppt/media/image6.png" Id="Rac6e28d2ed504dca" /><Relationship Type="http://schemas.openxmlformats.org/officeDocument/2006/relationships/notesSlide" Target="/ppt/notesSlides/notesSlide5.xml" Id="R5bfa891df4474b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5b58edd00f4174" /><Relationship Type="http://schemas.openxmlformats.org/officeDocument/2006/relationships/image" Target="/ppt/media/image7.png" Id="Rf91c65ccca3d4a24" /><Relationship Type="http://schemas.openxmlformats.org/officeDocument/2006/relationships/notesSlide" Target="/ppt/notesSlides/notesSlide6.xml" Id="R17d9dc75f0fd46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b5161c36384fdd" /><Relationship Type="http://schemas.openxmlformats.org/officeDocument/2006/relationships/image" Target="/ppt/media/image8.png" Id="R6f889df7d6204eee" /><Relationship Type="http://schemas.openxmlformats.org/officeDocument/2006/relationships/notesSlide" Target="/ppt/notesSlides/notesSlide7.xml" Id="Rf85bac1946974f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ac127ab7f44658" /><Relationship Type="http://schemas.openxmlformats.org/officeDocument/2006/relationships/image" Target="/ppt/media/image9.png" Id="R9f6d396ab54f4ff2" /><Relationship Type="http://schemas.openxmlformats.org/officeDocument/2006/relationships/notesSlide" Target="/ppt/notesSlides/notesSlide8.xml" Id="R346af21f48a64e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be0784ab784566" /><Relationship Type="http://schemas.openxmlformats.org/officeDocument/2006/relationships/image" Target="/ppt/media/image10.png" Id="Ra66c1249b67d4ae5" /><Relationship Type="http://schemas.openxmlformats.org/officeDocument/2006/relationships/notesSlide" Target="/ppt/notesSlides/notesSlide9.xml" Id="R6d1e3d3651734a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ebb7c15be8417d" /><Relationship Type="http://schemas.openxmlformats.org/officeDocument/2006/relationships/image" Target="/ppt/media/image11.png" Id="R8a8a8bca30bc42ef" /><Relationship Type="http://schemas.openxmlformats.org/officeDocument/2006/relationships/image" Target="/ppt/media/image12.png" Id="Ra89bd89b94ad4df1" /><Relationship Type="http://schemas.openxmlformats.org/officeDocument/2006/relationships/notesSlide" Target="/ppt/notesSlides/notesSlide10.xml" Id="R1cdf8f10b2654d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0b12a00cdb4fbb" /><Relationship Type="http://schemas.openxmlformats.org/officeDocument/2006/relationships/image" Target="/ppt/media/image.jpeg" Id="Rd06b12dc0ab9456f" /><Relationship Type="http://schemas.openxmlformats.org/officeDocument/2006/relationships/image" Target="/ppt/media/image13.png" Id="R7019226b74494cce" /><Relationship Type="http://schemas.openxmlformats.org/officeDocument/2006/relationships/notesSlide" Target="/ppt/notesSlides/notesSlide11.xml" Id="Rab93e84fa88f4a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8e26546e7604213" /><Relationship Type="http://schemas.openxmlformats.org/officeDocument/2006/relationships/image" Target="/ppt/media/image14.png" Id="R656a65aa078642f0" /><Relationship Type="http://schemas.openxmlformats.org/officeDocument/2006/relationships/notesSlide" Target="/ppt/notesSlides/notesSlide12.xml" Id="Rc3b0b4ff9af540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1edd1d6e834b4c" /><Relationship Type="http://schemas.openxmlformats.org/officeDocument/2006/relationships/image" Target="/ppt/media/image15.png" Id="Rb7cce7540aff4852" /><Relationship Type="http://schemas.openxmlformats.org/officeDocument/2006/relationships/notesSlide" Target="/ppt/notesSlides/notesSlide13.xml" Id="Re061955ca64040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e7c2cf74db54400" /><Relationship Type="http://schemas.openxmlformats.org/officeDocument/2006/relationships/image" Target="/ppt/media/image16.png" Id="R3c8c71366cf34d57" /><Relationship Type="http://schemas.openxmlformats.org/officeDocument/2006/relationships/notesSlide" Target="/ppt/notesSlides/notesSlide14.xml" Id="R7936987f518343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c182e6102664bb9" /><Relationship Type="http://schemas.openxmlformats.org/officeDocument/2006/relationships/image" Target="/ppt/media/image17.png" Id="R29acbc89eefc4748" /><Relationship Type="http://schemas.openxmlformats.org/officeDocument/2006/relationships/notesSlide" Target="/ppt/notesSlides/notesSlide15.xml" Id="R9cb81cb7b18943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154aefe9b11400c" /><Relationship Type="http://schemas.openxmlformats.org/officeDocument/2006/relationships/image" Target="/ppt/media/image18.png" Id="R3f41e166b6d945cd" /><Relationship Type="http://schemas.openxmlformats.org/officeDocument/2006/relationships/notesSlide" Target="/ppt/notesSlides/notesSlide16.xml" Id="R108fd589e5c644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a1b096e3e364cd5" /><Relationship Type="http://schemas.openxmlformats.org/officeDocument/2006/relationships/image" Target="/ppt/media/image19.png" Id="R2fb38bdafa0843fd" /><Relationship Type="http://schemas.openxmlformats.org/officeDocument/2006/relationships/notesSlide" Target="/ppt/notesSlides/notesSlide17.xml" Id="R8af8d840238a4f8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6ba78ba03be4931" /><Relationship Type="http://schemas.openxmlformats.org/officeDocument/2006/relationships/image" Target="/ppt/media/image20.png" Id="R87d537064185486c" /><Relationship Type="http://schemas.openxmlformats.org/officeDocument/2006/relationships/notesSlide" Target="/ppt/notesSlides/notesSlide18.xml" Id="R11030df5b9b04f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8b15d782cc44faa" /><Relationship Type="http://schemas.openxmlformats.org/officeDocument/2006/relationships/image" Target="/ppt/media/image21.png" Id="Rcb173d1a78ab4eb1" /><Relationship Type="http://schemas.openxmlformats.org/officeDocument/2006/relationships/image" Target="/ppt/media/image22.png" Id="Rafe688245ef14498" /><Relationship Type="http://schemas.openxmlformats.org/officeDocument/2006/relationships/notesSlide" Target="/ppt/notesSlides/notesSlide19.xml" Id="Ra9c8f1fa157c40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f9af31bd7b44fab" /><Relationship Type="http://schemas.openxmlformats.org/officeDocument/2006/relationships/image" Target="/ppt/media/image23.png" Id="Rb2bd2f2b819c4c74" /><Relationship Type="http://schemas.openxmlformats.org/officeDocument/2006/relationships/notesSlide" Target="/ppt/notesSlides/notesSlide20.xml" Id="R4b919d091e9f478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508d36cde114272" /><Relationship Type="http://schemas.openxmlformats.org/officeDocument/2006/relationships/image" Target="/ppt/media/image2.jpeg" Id="R8285c37e97814d08" /><Relationship Type="http://schemas.openxmlformats.org/officeDocument/2006/relationships/image" Target="/ppt/media/image24.png" Id="R3873d65e0c374799" /><Relationship Type="http://schemas.openxmlformats.org/officeDocument/2006/relationships/notesSlide" Target="/ppt/notesSlides/notesSlide21.xml" Id="Rc45a9a599e6443f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5a0e457c6a34a4b" /><Relationship Type="http://schemas.openxmlformats.org/officeDocument/2006/relationships/image" Target="/ppt/media/image3.jpeg" Id="R0b8b0fae1062414d" /><Relationship Type="http://schemas.openxmlformats.org/officeDocument/2006/relationships/image" Target="/ppt/media/image25.png" Id="R7ccb70f4204e469c" /><Relationship Type="http://schemas.openxmlformats.org/officeDocument/2006/relationships/notesSlide" Target="/ppt/notesSlides/notesSlide22.xml" Id="Recadd7c08863481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494775013c24fec" /><Relationship Type="http://schemas.openxmlformats.org/officeDocument/2006/relationships/image" Target="/ppt/media/image4.jpeg" Id="R72aadd53c713475d" /><Relationship Type="http://schemas.openxmlformats.org/officeDocument/2006/relationships/image" Target="/ppt/media/image26.png" Id="R9e262378eb3047ef" /><Relationship Type="http://schemas.openxmlformats.org/officeDocument/2006/relationships/notesSlide" Target="/ppt/notesSlides/notesSlide23.xml" Id="R6a0c80615a6d496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0253ed73c0e4651" /><Relationship Type="http://schemas.openxmlformats.org/officeDocument/2006/relationships/image" Target="/ppt/media/image5.jpeg" Id="Rb10d21597abc4193" /><Relationship Type="http://schemas.openxmlformats.org/officeDocument/2006/relationships/image" Target="/ppt/media/image27.png" Id="R167a5aa3a0b8475b" /><Relationship Type="http://schemas.openxmlformats.org/officeDocument/2006/relationships/notesSlide" Target="/ppt/notesSlides/notesSlide24.xml" Id="R83d358f45a7a407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d3ba433fa6649fb" /><Relationship Type="http://schemas.openxmlformats.org/officeDocument/2006/relationships/image" Target="/ppt/media/image28.png" Id="R3217b8430963417d" /><Relationship Type="http://schemas.openxmlformats.org/officeDocument/2006/relationships/image" Target="/ppt/media/image29.png" Id="Rb85d3c1cc3d7461a" /><Relationship Type="http://schemas.openxmlformats.org/officeDocument/2006/relationships/notesSlide" Target="/ppt/notesSlides/notesSlide25.xml" Id="Rfd10054153cf45f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be5479ba8ec4028" /><Relationship Type="http://schemas.openxmlformats.org/officeDocument/2006/relationships/image" Target="/ppt/media/image30.png" Id="R2643d8558f5d4fc1" /><Relationship Type="http://schemas.openxmlformats.org/officeDocument/2006/relationships/notesSlide" Target="/ppt/notesSlides/notesSlide26.xml" Id="Rfd0e20e148f844d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3950cd9e8334094" /><Relationship Type="http://schemas.openxmlformats.org/officeDocument/2006/relationships/image" Target="/ppt/media/image31.png" Id="R1079b5cdb0ca49be" /><Relationship Type="http://schemas.openxmlformats.org/officeDocument/2006/relationships/notesSlide" Target="/ppt/notesSlides/notesSlide27.xml" Id="Rbcdcd0337999453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37dfcf69748424b" /><Relationship Type="http://schemas.openxmlformats.org/officeDocument/2006/relationships/image" Target="/ppt/media/image32.png" Id="R0efa96a8c3d24575" /><Relationship Type="http://schemas.openxmlformats.org/officeDocument/2006/relationships/image" Target="/ppt/media/image33.png" Id="R2dcae1d292684225" /><Relationship Type="http://schemas.openxmlformats.org/officeDocument/2006/relationships/notesSlide" Target="/ppt/notesSlides/notesSlide28.xml" Id="Rf3fbfd29142b46f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bf1bf2ebd7b42eb" /><Relationship Type="http://schemas.openxmlformats.org/officeDocument/2006/relationships/image" Target="/ppt/media/image34.png" Id="Rad81a0620c3c4e30" /><Relationship Type="http://schemas.openxmlformats.org/officeDocument/2006/relationships/notesSlide" Target="/ppt/notesSlides/notesSlide29.xml" Id="R4cb68bb9b6184f6a" /></Relationships>
</file>

<file path=ppt/slides/slide1.xml><?xml version="1.0" encoding="utf-8"?>
<p:sld xmlns:p="http://schemas.openxmlformats.org/presentationml/2006/main">
  <p:cSld>
    <p:bg>
      <p:bgPr>
        <a:solidFill xmlns:a="http://schemas.openxmlformats.org/drawingml/2006/main">
          <a:srgbClr val="041F3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167465b80844059"/>
          <a:srcRect xmlns:a="http://schemas.openxmlformats.org/drawingml/2006/main" l="28634" t="0" r="28634" b="0"/>
          <a:stretch xmlns:a="http://schemas.openxmlformats.org/drawingml/2006/main">
            <a:fillRect l="0" t="0" r="0" b="0"/>
          </a:stretch>
        </p:blipFill>
        <p:spPr>
          <a:xfrm xmlns:a="http://schemas.openxmlformats.org/drawingml/2006/main">
            <a:off x="5238750" y="0"/>
            <a:ext cx="3905250" cy="51435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85e40b144504d87"/>
          <a:stretch xmlns:a="http://schemas.openxmlformats.org/drawingml/2006/main"/>
        </p:blipFill>
        <p:spPr>
          <a:xfrm xmlns:a="http://schemas.openxmlformats.org/drawingml/2006/main">
            <a:off x="495300" y="328666"/>
            <a:ext cx="1790700" cy="323742"/>
          </a:xfrm>
          <a:prstGeom xmlns:a="http://schemas.openxmlformats.org/drawingml/2006/main" prst="rect">
            <a:avLst/>
          </a:prstGeom>
        </p:spPr>
      </p:pic>
      <p:sp>
        <p:nvSpPr>
          <p:cNvPr id="3" name="Applied Sustainability in Business and Management">
            <a:extLst xmlns:a="http://schemas.openxmlformats.org/drawingml/2006/main">
              <a:ext uri="{FF2B5EF4-FFF2-40B4-BE49-F238E27FC236}">
                <a16:creationId xmlns:a16="http://schemas.microsoft.com/office/drawing/2014/main" id="{DEB18D11-68D7-4CEB-87B9-1A2AC4EA875F}"/>
              </a:ext>
            </a:extLst>
          </p:cNvPr>
          <p:cNvSpPr>
            <a:spLocks xmlns:a="http://schemas.openxmlformats.org/drawingml/2006/main" noGrp="1"/>
          </p:cNvSpPr>
          <p:nvPr/>
        </p:nvSpPr>
        <p:spPr>
          <a:xfrm xmlns:a="http://schemas.openxmlformats.org/drawingml/2006/main">
            <a:off x="495300" y="1066800"/>
            <a:ext cx="4419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Applied Sustainability</a:t>
            </a:r>
          </a:p>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in Business and</a:t>
            </a:r>
          </a:p>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Management</a:t>
            </a:r>
          </a:p>
        </p:txBody>
      </p:sp>
      <p:sp>
        <p:nvSpPr>
          <p:cNvPr id="4" name="Lecture 5 — Stakeholder Engagement, Communication ">
            <a:extLst xmlns:a="http://schemas.openxmlformats.org/drawingml/2006/main">
              <a:ext uri="{FF2B5EF4-FFF2-40B4-BE49-F238E27FC236}">
                <a16:creationId xmlns:a16="http://schemas.microsoft.com/office/drawing/2014/main" id="{F5C1D738-5C01-4423-917F-210932F1053B}"/>
              </a:ext>
            </a:extLst>
          </p:cNvPr>
          <p:cNvSpPr>
            <a:spLocks xmlns:a="http://schemas.openxmlformats.org/drawingml/2006/main" noGrp="1"/>
          </p:cNvSpPr>
          <p:nvPr/>
        </p:nvSpPr>
        <p:spPr>
          <a:xfrm xmlns:a="http://schemas.openxmlformats.org/drawingml/2006/main">
            <a:off x="495300" y="2952750"/>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Lecture 5 — Stakeholder</a:t>
            </a:r>
          </a:p>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Engagement, Communication and</a:t>
            </a:r>
          </a:p>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Smart Cities</a:t>
            </a:r>
          </a:p>
        </p:txBody>
      </p:sp>
      <p:sp>
        <p:nvSpPr>
          <p:cNvPr id="5" name="Ing. Arch. Jenan Hussein, MSc, PhD">
            <a:extLst xmlns:a="http://schemas.openxmlformats.org/drawingml/2006/main">
              <a:ext uri="{FF2B5EF4-FFF2-40B4-BE49-F238E27FC236}">
                <a16:creationId xmlns:a16="http://schemas.microsoft.com/office/drawing/2014/main" id="{8D58DA5B-4CAC-4A5C-946E-FA877715DA9D}"/>
              </a:ext>
            </a:extLst>
          </p:cNvPr>
          <p:cNvSpPr>
            <a:spLocks xmlns:a="http://schemas.openxmlformats.org/drawingml/2006/main" noGrp="1"/>
          </p:cNvSpPr>
          <p:nvPr/>
        </p:nvSpPr>
        <p:spPr>
          <a:xfrm xmlns:a="http://schemas.openxmlformats.org/drawingml/2006/main">
            <a:off x="495300" y="4410075"/>
            <a:ext cx="430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C7D0C6"/>
                </a:solidFill>
                <a:latin typeface="Arial"/>
                <a:ea typeface="Arial"/>
                <a:cs typeface="Arial"/>
              </a:defRPr>
            </a:pPr>
            <a:r>
              <a:rPr sz="1425" b="0">
                <a:solidFill>
                  <a:srgbClr val="C7D0C6"/>
                </a:solidFill>
                <a:latin typeface="Arial"/>
                <a:ea typeface="Arial"/>
                <a:cs typeface="Arial"/>
              </a:rPr>
              <a:t>Ing. Arch. Jenan Hussein, MSc, PhD</a:t>
            </a:r>
          </a:p>
        </p:txBody>
      </p:sp>
      <p:sp>
        <p:nvSpPr>
          <p:cNvPr id="6" name="jenanhussein83@gmail.com">
            <a:extLst xmlns:a="http://schemas.openxmlformats.org/drawingml/2006/main">
              <a:ext uri="{FF2B5EF4-FFF2-40B4-BE49-F238E27FC236}">
                <a16:creationId xmlns:a16="http://schemas.microsoft.com/office/drawing/2014/main" id="{5E409732-571B-4123-97D5-C8EBF68DABB0}"/>
              </a:ext>
            </a:extLst>
          </p:cNvPr>
          <p:cNvSpPr>
            <a:spLocks xmlns:a="http://schemas.openxmlformats.org/drawingml/2006/main" noGrp="1"/>
          </p:cNvSpPr>
          <p:nvPr/>
        </p:nvSpPr>
        <p:spPr>
          <a:xfrm xmlns:a="http://schemas.openxmlformats.org/drawingml/2006/main">
            <a:off x="495300" y="4695825"/>
            <a:ext cx="430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C7D0C6"/>
                </a:solidFill>
                <a:latin typeface="Arial"/>
                <a:ea typeface="Arial"/>
                <a:cs typeface="Arial"/>
              </a:defRPr>
            </a:pPr>
            <a:r>
              <a:rPr sz="1350" b="0">
                <a:solidFill>
                  <a:srgbClr val="C7D0C6"/>
                </a:solidFill>
                <a:latin typeface="Arial"/>
                <a:ea typeface="Arial"/>
                <a:cs typeface="Arial"/>
              </a:rPr>
              <a:t>jenanhussein83@gmail.com</a:t>
            </a:r>
          </a:p>
        </p:txBody>
      </p:sp>
    </p:spTree>
    <p:extLst>
      <p:ext uri="{BB962C8B-B14F-4D97-AF65-F5344CB8AC3E}">
        <p14:creationId xmlns:p14="http://schemas.microsoft.com/office/powerpoint/2010/main" val="123077835"/>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Learning Objectives">
            <a:extLst xmlns:a="http://schemas.openxmlformats.org/drawingml/2006/main">
              <a:ext uri="{FF2B5EF4-FFF2-40B4-BE49-F238E27FC236}">
                <a16:creationId xmlns:a16="http://schemas.microsoft.com/office/drawing/2014/main" id="{C3DFA555-F258-41D9-AFD5-53A0A439685E}"/>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Learning Objectives</a:t>
            </a:r>
          </a:p>
        </p:txBody>
      </p:sp>
      <p:sp>
        <p:nvSpPr>
          <p:cNvPr id="2" name="Editorial frame">
            <a:extLst xmlns:a="http://schemas.openxmlformats.org/drawingml/2006/main">
              <a:ext uri="{FF2B5EF4-FFF2-40B4-BE49-F238E27FC236}">
                <a16:creationId xmlns:a16="http://schemas.microsoft.com/office/drawing/2014/main" id="{F1438C1D-7337-4168-8B14-FAAF1BC77148}"/>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666EB9CA-6CA6-4717-BAE7-70B4263E0837}"/>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By the end of this lecture you will be able to:">
            <a:extLst xmlns:a="http://schemas.openxmlformats.org/drawingml/2006/main">
              <a:ext uri="{FF2B5EF4-FFF2-40B4-BE49-F238E27FC236}">
                <a16:creationId xmlns:a16="http://schemas.microsoft.com/office/drawing/2014/main" id="{2EE4683F-8AB5-4E75-A502-0460DC474BC3}"/>
              </a:ext>
            </a:extLst>
          </p:cNvPr>
          <p:cNvSpPr>
            <a:spLocks xmlns:a="http://schemas.openxmlformats.org/drawingml/2006/main" noGrp="1"/>
          </p:cNvSpPr>
          <p:nvPr/>
        </p:nvSpPr>
        <p:spPr>
          <a:xfrm xmlns:a="http://schemas.openxmlformats.org/drawingml/2006/main">
            <a:off x="495300" y="14287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By the end of this lecture you will be able to:</a:t>
            </a:r>
          </a:p>
        </p:txBody>
      </p:sp>
      <p:sp>
        <p:nvSpPr>
          <p:cNvPr id="5" name="Editorial frame">
            <a:extLst xmlns:a="http://schemas.openxmlformats.org/drawingml/2006/main">
              <a:ext uri="{FF2B5EF4-FFF2-40B4-BE49-F238E27FC236}">
                <a16:creationId xmlns:a16="http://schemas.microsoft.com/office/drawing/2014/main" id="{1F841266-0F80-4E49-A83E-95FA82419AAC}"/>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988E6BD8-34F8-471D-94BB-A44A53705BEE}"/>
              </a:ext>
            </a:extLst>
          </p:cNvPr>
          <p:cNvSpPr>
            <a:spLocks xmlns:a="http://schemas.openxmlformats.org/drawingml/2006/main" noGrp="1"/>
          </p:cNvSpPr>
          <p:nvPr/>
        </p:nvSpPr>
        <p:spPr>
          <a:xfrm xmlns:a="http://schemas.openxmlformats.org/drawingml/2006/main">
            <a:off x="4562475" y="1857375"/>
            <a:ext cx="9525"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7" name="01">
            <a:extLst xmlns:a="http://schemas.openxmlformats.org/drawingml/2006/main">
              <a:ext uri="{FF2B5EF4-FFF2-40B4-BE49-F238E27FC236}">
                <a16:creationId xmlns:a16="http://schemas.microsoft.com/office/drawing/2014/main" id="{EF267E7E-EE41-4E71-B071-506E5E48BE80}"/>
              </a:ext>
            </a:extLst>
          </p:cNvPr>
          <p:cNvSpPr>
            <a:spLocks xmlns:a="http://schemas.openxmlformats.org/drawingml/2006/main" noGrp="1"/>
          </p:cNvSpPr>
          <p:nvPr/>
        </p:nvSpPr>
        <p:spPr>
          <a:xfrm xmlns:a="http://schemas.openxmlformats.org/drawingml/2006/main">
            <a:off x="495300" y="20288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01</a:t>
            </a:r>
          </a:p>
        </p:txBody>
      </p:sp>
      <p:sp>
        <p:nvSpPr>
          <p:cNvPr id="8" name="Identify stakeholders affected by a business or GI">
            <a:extLst xmlns:a="http://schemas.openxmlformats.org/drawingml/2006/main">
              <a:ext uri="{FF2B5EF4-FFF2-40B4-BE49-F238E27FC236}">
                <a16:creationId xmlns:a16="http://schemas.microsoft.com/office/drawing/2014/main" id="{1914EB3E-FB60-47CB-AE29-E4672469C643}"/>
              </a:ext>
            </a:extLst>
          </p:cNvPr>
          <p:cNvSpPr>
            <a:spLocks xmlns:a="http://schemas.openxmlformats.org/drawingml/2006/main" noGrp="1"/>
          </p:cNvSpPr>
          <p:nvPr/>
        </p:nvSpPr>
        <p:spPr>
          <a:xfrm xmlns:a="http://schemas.openxmlformats.org/drawingml/2006/main">
            <a:off x="952500" y="202882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Identify stakeholders affected by a</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business or GI project.</a:t>
            </a:r>
          </a:p>
        </p:txBody>
      </p:sp>
      <p:sp>
        <p:nvSpPr>
          <p:cNvPr id="9" name="Editorial frame">
            <a:extLst xmlns:a="http://schemas.openxmlformats.org/drawingml/2006/main">
              <a:ext uri="{FF2B5EF4-FFF2-40B4-BE49-F238E27FC236}">
                <a16:creationId xmlns:a16="http://schemas.microsoft.com/office/drawing/2014/main" id="{AB0E285F-2BF9-44BA-A0A1-588F7F302F14}"/>
              </a:ext>
            </a:extLst>
          </p:cNvPr>
          <p:cNvSpPr>
            <a:spLocks xmlns:a="http://schemas.openxmlformats.org/drawingml/2006/main" noGrp="1"/>
          </p:cNvSpPr>
          <p:nvPr/>
        </p:nvSpPr>
        <p:spPr>
          <a:xfrm xmlns:a="http://schemas.openxmlformats.org/drawingml/2006/main">
            <a:off x="952500" y="25812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461F5599-C151-4D85-8F5A-C50592BD9DC8}"/>
              </a:ext>
            </a:extLst>
          </p:cNvPr>
          <p:cNvSpPr>
            <a:spLocks xmlns:a="http://schemas.openxmlformats.org/drawingml/2006/main" noGrp="1"/>
          </p:cNvSpPr>
          <p:nvPr/>
        </p:nvSpPr>
        <p:spPr>
          <a:xfrm xmlns:a="http://schemas.openxmlformats.org/drawingml/2006/main">
            <a:off x="495300" y="26955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02</a:t>
            </a:r>
          </a:p>
        </p:txBody>
      </p:sp>
      <p:sp>
        <p:nvSpPr>
          <p:cNvPr id="11" name="Use power and interest to plan engagement.">
            <a:extLst xmlns:a="http://schemas.openxmlformats.org/drawingml/2006/main">
              <a:ext uri="{FF2B5EF4-FFF2-40B4-BE49-F238E27FC236}">
                <a16:creationId xmlns:a16="http://schemas.microsoft.com/office/drawing/2014/main" id="{4D867ECA-42BA-4768-BFB3-C197A3FB3970}"/>
              </a:ext>
            </a:extLst>
          </p:cNvPr>
          <p:cNvSpPr>
            <a:spLocks xmlns:a="http://schemas.openxmlformats.org/drawingml/2006/main" noGrp="1"/>
          </p:cNvSpPr>
          <p:nvPr/>
        </p:nvSpPr>
        <p:spPr>
          <a:xfrm xmlns:a="http://schemas.openxmlformats.org/drawingml/2006/main">
            <a:off x="952500" y="269557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Use power and interest to plan</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engagement.</a:t>
            </a:r>
          </a:p>
        </p:txBody>
      </p:sp>
      <p:sp>
        <p:nvSpPr>
          <p:cNvPr id="12" name="Editorial frame">
            <a:extLst xmlns:a="http://schemas.openxmlformats.org/drawingml/2006/main">
              <a:ext uri="{FF2B5EF4-FFF2-40B4-BE49-F238E27FC236}">
                <a16:creationId xmlns:a16="http://schemas.microsoft.com/office/drawing/2014/main" id="{8F08A9E9-D8DA-4A17-93BD-ACB7782B66FC}"/>
              </a:ext>
            </a:extLst>
          </p:cNvPr>
          <p:cNvSpPr>
            <a:spLocks xmlns:a="http://schemas.openxmlformats.org/drawingml/2006/main" noGrp="1"/>
          </p:cNvSpPr>
          <p:nvPr/>
        </p:nvSpPr>
        <p:spPr>
          <a:xfrm xmlns:a="http://schemas.openxmlformats.org/drawingml/2006/main">
            <a:off x="952500" y="324802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3" name="03">
            <a:extLst xmlns:a="http://schemas.openxmlformats.org/drawingml/2006/main">
              <a:ext uri="{FF2B5EF4-FFF2-40B4-BE49-F238E27FC236}">
                <a16:creationId xmlns:a16="http://schemas.microsoft.com/office/drawing/2014/main" id="{0E7632EA-4F63-4E15-87CF-793F87EC1C53}"/>
              </a:ext>
            </a:extLst>
          </p:cNvPr>
          <p:cNvSpPr>
            <a:spLocks xmlns:a="http://schemas.openxmlformats.org/drawingml/2006/main" noGrp="1"/>
          </p:cNvSpPr>
          <p:nvPr/>
        </p:nvSpPr>
        <p:spPr>
          <a:xfrm xmlns:a="http://schemas.openxmlformats.org/drawingml/2006/main">
            <a:off x="495300" y="33623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03</a:t>
            </a:r>
          </a:p>
        </p:txBody>
      </p:sp>
      <p:sp>
        <p:nvSpPr>
          <p:cNvPr id="14" name="Choose an appropriate level of participation.">
            <a:extLst xmlns:a="http://schemas.openxmlformats.org/drawingml/2006/main">
              <a:ext uri="{FF2B5EF4-FFF2-40B4-BE49-F238E27FC236}">
                <a16:creationId xmlns:a16="http://schemas.microsoft.com/office/drawing/2014/main" id="{406F62E6-6595-4F01-A09A-4EC7CA46A1EF}"/>
              </a:ext>
            </a:extLst>
          </p:cNvPr>
          <p:cNvSpPr>
            <a:spLocks xmlns:a="http://schemas.openxmlformats.org/drawingml/2006/main" noGrp="1"/>
          </p:cNvSpPr>
          <p:nvPr/>
        </p:nvSpPr>
        <p:spPr>
          <a:xfrm xmlns:a="http://schemas.openxmlformats.org/drawingml/2006/main">
            <a:off x="952500" y="336232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Choose an appropriate level of</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participation.</a:t>
            </a:r>
          </a:p>
        </p:txBody>
      </p:sp>
      <p:sp>
        <p:nvSpPr>
          <p:cNvPr id="15" name="Editorial frame">
            <a:extLst xmlns:a="http://schemas.openxmlformats.org/drawingml/2006/main">
              <a:ext uri="{FF2B5EF4-FFF2-40B4-BE49-F238E27FC236}">
                <a16:creationId xmlns:a16="http://schemas.microsoft.com/office/drawing/2014/main" id="{227AFE9F-3411-4813-B3D1-B50797CE7313}"/>
              </a:ext>
            </a:extLst>
          </p:cNvPr>
          <p:cNvSpPr>
            <a:spLocks xmlns:a="http://schemas.openxmlformats.org/drawingml/2006/main" noGrp="1"/>
          </p:cNvSpPr>
          <p:nvPr/>
        </p:nvSpPr>
        <p:spPr>
          <a:xfrm xmlns:a="http://schemas.openxmlformats.org/drawingml/2006/main">
            <a:off x="952500" y="39147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6" name="04">
            <a:extLst xmlns:a="http://schemas.openxmlformats.org/drawingml/2006/main">
              <a:ext uri="{FF2B5EF4-FFF2-40B4-BE49-F238E27FC236}">
                <a16:creationId xmlns:a16="http://schemas.microsoft.com/office/drawing/2014/main" id="{4A164FF3-D2F5-4B74-BF6A-3761A722E590}"/>
              </a:ext>
            </a:extLst>
          </p:cNvPr>
          <p:cNvSpPr>
            <a:spLocks xmlns:a="http://schemas.openxmlformats.org/drawingml/2006/main" noGrp="1"/>
          </p:cNvSpPr>
          <p:nvPr/>
        </p:nvSpPr>
        <p:spPr>
          <a:xfrm xmlns:a="http://schemas.openxmlformats.org/drawingml/2006/main">
            <a:off x="495300" y="40290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04</a:t>
            </a:r>
          </a:p>
        </p:txBody>
      </p:sp>
      <p:sp>
        <p:nvSpPr>
          <p:cNvPr id="17" name="Apply stakeholder mapping to a Prague development ">
            <a:extLst xmlns:a="http://schemas.openxmlformats.org/drawingml/2006/main">
              <a:ext uri="{FF2B5EF4-FFF2-40B4-BE49-F238E27FC236}">
                <a16:creationId xmlns:a16="http://schemas.microsoft.com/office/drawing/2014/main" id="{BC1D8BE3-6251-45F1-A5DA-9089F48923B0}"/>
              </a:ext>
            </a:extLst>
          </p:cNvPr>
          <p:cNvSpPr>
            <a:spLocks xmlns:a="http://schemas.openxmlformats.org/drawingml/2006/main" noGrp="1"/>
          </p:cNvSpPr>
          <p:nvPr/>
        </p:nvSpPr>
        <p:spPr>
          <a:xfrm xmlns:a="http://schemas.openxmlformats.org/drawingml/2006/main">
            <a:off x="952500" y="402907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Apply stakeholder mapping to a</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Prague development debate.</a:t>
            </a:r>
          </a:p>
        </p:txBody>
      </p:sp>
      <p:sp>
        <p:nvSpPr>
          <p:cNvPr id="18" name="05">
            <a:extLst xmlns:a="http://schemas.openxmlformats.org/drawingml/2006/main">
              <a:ext uri="{FF2B5EF4-FFF2-40B4-BE49-F238E27FC236}">
                <a16:creationId xmlns:a16="http://schemas.microsoft.com/office/drawing/2014/main" id="{D6E66925-8701-4849-AB61-BAD3A776E008}"/>
              </a:ext>
            </a:extLst>
          </p:cNvPr>
          <p:cNvSpPr>
            <a:spLocks xmlns:a="http://schemas.openxmlformats.org/drawingml/2006/main" noGrp="1"/>
          </p:cNvSpPr>
          <p:nvPr/>
        </p:nvSpPr>
        <p:spPr>
          <a:xfrm xmlns:a="http://schemas.openxmlformats.org/drawingml/2006/main">
            <a:off x="4819650" y="20288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05</a:t>
            </a:r>
          </a:p>
        </p:txBody>
      </p:sp>
      <p:sp>
        <p:nvSpPr>
          <p:cNvPr id="19" name="Write evidence-based claims and recognize greenwas">
            <a:extLst xmlns:a="http://schemas.openxmlformats.org/drawingml/2006/main">
              <a:ext uri="{FF2B5EF4-FFF2-40B4-BE49-F238E27FC236}">
                <a16:creationId xmlns:a16="http://schemas.microsoft.com/office/drawing/2014/main" id="{4E797500-7E29-4D21-845B-294F1011DF53}"/>
              </a:ext>
            </a:extLst>
          </p:cNvPr>
          <p:cNvSpPr>
            <a:spLocks xmlns:a="http://schemas.openxmlformats.org/drawingml/2006/main" noGrp="1"/>
          </p:cNvSpPr>
          <p:nvPr/>
        </p:nvSpPr>
        <p:spPr>
          <a:xfrm xmlns:a="http://schemas.openxmlformats.org/drawingml/2006/main">
            <a:off x="5276850" y="2028825"/>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Write evidence-based claims and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recognize greenwashing.</a:t>
            </a:r>
          </a:p>
        </p:txBody>
      </p:sp>
      <p:sp>
        <p:nvSpPr>
          <p:cNvPr id="20" name="Editorial frame">
            <a:extLst xmlns:a="http://schemas.openxmlformats.org/drawingml/2006/main">
              <a:ext uri="{FF2B5EF4-FFF2-40B4-BE49-F238E27FC236}">
                <a16:creationId xmlns:a16="http://schemas.microsoft.com/office/drawing/2014/main" id="{568400E5-0402-49B3-ACE4-DF62387E5BE4}"/>
              </a:ext>
            </a:extLst>
          </p:cNvPr>
          <p:cNvSpPr>
            <a:spLocks xmlns:a="http://schemas.openxmlformats.org/drawingml/2006/main" noGrp="1"/>
          </p:cNvSpPr>
          <p:nvPr/>
        </p:nvSpPr>
        <p:spPr>
          <a:xfrm xmlns:a="http://schemas.openxmlformats.org/drawingml/2006/main">
            <a:off x="5276850" y="2724150"/>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1" name="06">
            <a:extLst xmlns:a="http://schemas.openxmlformats.org/drawingml/2006/main">
              <a:ext uri="{FF2B5EF4-FFF2-40B4-BE49-F238E27FC236}">
                <a16:creationId xmlns:a16="http://schemas.microsoft.com/office/drawing/2014/main" id="{93B05BE7-54A8-46AF-BBDA-B9B3023C1F63}"/>
              </a:ext>
            </a:extLst>
          </p:cNvPr>
          <p:cNvSpPr>
            <a:spLocks xmlns:a="http://schemas.openxmlformats.org/drawingml/2006/main" noGrp="1"/>
          </p:cNvSpPr>
          <p:nvPr/>
        </p:nvSpPr>
        <p:spPr>
          <a:xfrm xmlns:a="http://schemas.openxmlformats.org/drawingml/2006/main">
            <a:off x="4819650" y="283845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06</a:t>
            </a:r>
          </a:p>
        </p:txBody>
      </p:sp>
      <p:sp>
        <p:nvSpPr>
          <p:cNvPr id="22" name="Explain how data supports smart GI management.">
            <a:extLst xmlns:a="http://schemas.openxmlformats.org/drawingml/2006/main">
              <a:ext uri="{FF2B5EF4-FFF2-40B4-BE49-F238E27FC236}">
                <a16:creationId xmlns:a16="http://schemas.microsoft.com/office/drawing/2014/main" id="{3E832D94-24ED-4253-8AE5-CFFCFB9BEA12}"/>
              </a:ext>
            </a:extLst>
          </p:cNvPr>
          <p:cNvSpPr>
            <a:spLocks xmlns:a="http://schemas.openxmlformats.org/drawingml/2006/main" noGrp="1"/>
          </p:cNvSpPr>
          <p:nvPr/>
        </p:nvSpPr>
        <p:spPr>
          <a:xfrm xmlns:a="http://schemas.openxmlformats.org/drawingml/2006/main">
            <a:off x="5276850" y="2838450"/>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Explain how data supports smart GI</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management.</a:t>
            </a:r>
          </a:p>
        </p:txBody>
      </p:sp>
      <p:sp>
        <p:nvSpPr>
          <p:cNvPr id="23" name="Editorial frame">
            <a:extLst xmlns:a="http://schemas.openxmlformats.org/drawingml/2006/main">
              <a:ext uri="{FF2B5EF4-FFF2-40B4-BE49-F238E27FC236}">
                <a16:creationId xmlns:a16="http://schemas.microsoft.com/office/drawing/2014/main" id="{325F4AA7-46B7-46F0-ACCE-3A16B69D08E5}"/>
              </a:ext>
            </a:extLst>
          </p:cNvPr>
          <p:cNvSpPr>
            <a:spLocks xmlns:a="http://schemas.openxmlformats.org/drawingml/2006/main" noGrp="1"/>
          </p:cNvSpPr>
          <p:nvPr/>
        </p:nvSpPr>
        <p:spPr>
          <a:xfrm xmlns:a="http://schemas.openxmlformats.org/drawingml/2006/main">
            <a:off x="5276850" y="35337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4" name="07">
            <a:extLst xmlns:a="http://schemas.openxmlformats.org/drawingml/2006/main">
              <a:ext uri="{FF2B5EF4-FFF2-40B4-BE49-F238E27FC236}">
                <a16:creationId xmlns:a16="http://schemas.microsoft.com/office/drawing/2014/main" id="{8E437B67-B5CF-484B-8F31-829DEB95CCF0}"/>
              </a:ext>
            </a:extLst>
          </p:cNvPr>
          <p:cNvSpPr>
            <a:spLocks xmlns:a="http://schemas.openxmlformats.org/drawingml/2006/main" noGrp="1"/>
          </p:cNvSpPr>
          <p:nvPr/>
        </p:nvSpPr>
        <p:spPr>
          <a:xfrm xmlns:a="http://schemas.openxmlformats.org/drawingml/2006/main">
            <a:off x="4819650" y="36480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07</a:t>
            </a:r>
          </a:p>
        </p:txBody>
      </p:sp>
      <p:sp>
        <p:nvSpPr>
          <p:cNvPr id="25" name="Propose a Prague pilot with an owner, budget and o">
            <a:extLst xmlns:a="http://schemas.openxmlformats.org/drawingml/2006/main">
              <a:ext uri="{FF2B5EF4-FFF2-40B4-BE49-F238E27FC236}">
                <a16:creationId xmlns:a16="http://schemas.microsoft.com/office/drawing/2014/main" id="{083DA7E2-2864-4396-B991-91D6355EA4A6}"/>
              </a:ext>
            </a:extLst>
          </p:cNvPr>
          <p:cNvSpPr>
            <a:spLocks xmlns:a="http://schemas.openxmlformats.org/drawingml/2006/main" noGrp="1"/>
          </p:cNvSpPr>
          <p:nvPr/>
        </p:nvSpPr>
        <p:spPr>
          <a:xfrm xmlns:a="http://schemas.openxmlformats.org/drawingml/2006/main">
            <a:off x="5276850" y="3648075"/>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Propose a Prague pilot with an</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owner, budget and outcome.</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bf5d0924eb074bf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7" name="www.newton.university">
            <a:extLst xmlns:a="http://schemas.openxmlformats.org/drawingml/2006/main">
              <a:ext uri="{FF2B5EF4-FFF2-40B4-BE49-F238E27FC236}">
                <a16:creationId xmlns:a16="http://schemas.microsoft.com/office/drawing/2014/main" id="{018F7742-E65F-43D9-A382-AC1AB14BEE2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8" name="02">
            <a:extLst xmlns:a="http://schemas.openxmlformats.org/drawingml/2006/main">
              <a:ext uri="{FF2B5EF4-FFF2-40B4-BE49-F238E27FC236}">
                <a16:creationId xmlns:a16="http://schemas.microsoft.com/office/drawing/2014/main" id="{3BB74280-218D-481C-B17C-C2812FDE98F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02</a:t>
            </a:r>
          </a:p>
        </p:txBody>
      </p:sp>
    </p:spTree>
    <p:extLst>
      <p:ext uri="{BB962C8B-B14F-4D97-AF65-F5344CB8AC3E}">
        <p14:creationId xmlns:p14="http://schemas.microsoft.com/office/powerpoint/2010/main" val="277727424"/>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2" name="Today's Lecture Agenda">
            <a:extLst xmlns:a="http://schemas.openxmlformats.org/drawingml/2006/main">
              <a:ext uri="{FF2B5EF4-FFF2-40B4-BE49-F238E27FC236}">
                <a16:creationId xmlns:a16="http://schemas.microsoft.com/office/drawing/2014/main" id="{066D42B9-38EA-471F-BA26-EA68E067FBCB}"/>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Today's Lecture Agenda</a:t>
            </a:r>
          </a:p>
        </p:txBody>
      </p:sp>
      <p:sp>
        <p:nvSpPr>
          <p:cNvPr id="2" name="Editorial frame">
            <a:extLst xmlns:a="http://schemas.openxmlformats.org/drawingml/2006/main">
              <a:ext uri="{FF2B5EF4-FFF2-40B4-BE49-F238E27FC236}">
                <a16:creationId xmlns:a16="http://schemas.microsoft.com/office/drawing/2014/main" id="{24480394-384D-43C1-B10C-043D9C0265F6}"/>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101B5BE6-FDCD-4DC3-9A72-B411B2A1FCCD}"/>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BB9D4879-6BE5-4D03-8DA1-FA7D8EF33E4B}"/>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Before the break">
            <a:extLst xmlns:a="http://schemas.openxmlformats.org/drawingml/2006/main">
              <a:ext uri="{FF2B5EF4-FFF2-40B4-BE49-F238E27FC236}">
                <a16:creationId xmlns:a16="http://schemas.microsoft.com/office/drawing/2014/main" id="{7270153A-EB4E-460C-B85C-CB3B7FB49116}"/>
              </a:ext>
            </a:extLst>
          </p:cNvPr>
          <p:cNvSpPr>
            <a:spLocks xmlns:a="http://schemas.openxmlformats.org/drawingml/2006/main" noGrp="1"/>
          </p:cNvSpPr>
          <p:nvPr/>
        </p:nvSpPr>
        <p:spPr>
          <a:xfrm xmlns:a="http://schemas.openxmlformats.org/drawingml/2006/main">
            <a:off x="495300" y="1485900"/>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Before the break</a:t>
            </a:r>
          </a:p>
        </p:txBody>
      </p:sp>
      <p:sp>
        <p:nvSpPr>
          <p:cNvPr id="6" name="Editorial frame">
            <a:extLst xmlns:a="http://schemas.openxmlformats.org/drawingml/2006/main">
              <a:ext uri="{FF2B5EF4-FFF2-40B4-BE49-F238E27FC236}">
                <a16:creationId xmlns:a16="http://schemas.microsoft.com/office/drawing/2014/main" id="{3AE5A048-2C1E-4C8F-8193-5D0097DFBCBA}"/>
              </a:ext>
            </a:extLst>
          </p:cNvPr>
          <p:cNvSpPr>
            <a:spLocks xmlns:a="http://schemas.openxmlformats.org/drawingml/2006/main" noGrp="1"/>
          </p:cNvSpPr>
          <p:nvPr/>
        </p:nvSpPr>
        <p:spPr>
          <a:xfrm xmlns:a="http://schemas.openxmlformats.org/drawingml/2006/main">
            <a:off x="495300" y="1914525"/>
            <a:ext cx="3819525" cy="952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7" name="Part 1 — Stakeholder Theory">
            <a:extLst xmlns:a="http://schemas.openxmlformats.org/drawingml/2006/main">
              <a:ext uri="{FF2B5EF4-FFF2-40B4-BE49-F238E27FC236}">
                <a16:creationId xmlns:a16="http://schemas.microsoft.com/office/drawing/2014/main" id="{686C47D5-DAB7-4148-A787-CCE75DF07A9D}"/>
              </a:ext>
            </a:extLst>
          </p:cNvPr>
          <p:cNvSpPr>
            <a:spLocks xmlns:a="http://schemas.openxmlformats.org/drawingml/2006/main" noGrp="1"/>
          </p:cNvSpPr>
          <p:nvPr/>
        </p:nvSpPr>
        <p:spPr>
          <a:xfrm xmlns:a="http://schemas.openxmlformats.org/drawingml/2006/main">
            <a:off x="495300" y="2076450"/>
            <a:ext cx="37814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Part 1 — Stakeholder Theory</a:t>
            </a:r>
          </a:p>
        </p:txBody>
      </p:sp>
      <p:sp>
        <p:nvSpPr>
          <p:cNvPr id="8" name="Part 2 — Public Participation and Governance">
            <a:extLst xmlns:a="http://schemas.openxmlformats.org/drawingml/2006/main">
              <a:ext uri="{FF2B5EF4-FFF2-40B4-BE49-F238E27FC236}">
                <a16:creationId xmlns:a16="http://schemas.microsoft.com/office/drawing/2014/main" id="{52EAB5D9-3B70-4B09-862C-4F0A5DECEC53}"/>
              </a:ext>
            </a:extLst>
          </p:cNvPr>
          <p:cNvSpPr>
            <a:spLocks xmlns:a="http://schemas.openxmlformats.org/drawingml/2006/main" noGrp="1"/>
          </p:cNvSpPr>
          <p:nvPr/>
        </p:nvSpPr>
        <p:spPr>
          <a:xfrm xmlns:a="http://schemas.openxmlformats.org/drawingml/2006/main">
            <a:off x="495300" y="2478405"/>
            <a:ext cx="378142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Part 2 — Public Participation and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Governance</a:t>
            </a:r>
          </a:p>
        </p:txBody>
      </p:sp>
      <p:sp>
        <p:nvSpPr>
          <p:cNvPr id="9" name="Part 3 — Prague: Development vs Green Space Debate">
            <a:extLst xmlns:a="http://schemas.openxmlformats.org/drawingml/2006/main">
              <a:ext uri="{FF2B5EF4-FFF2-40B4-BE49-F238E27FC236}">
                <a16:creationId xmlns:a16="http://schemas.microsoft.com/office/drawing/2014/main" id="{9879219E-DCA2-41F4-A8BC-1B271F540C18}"/>
              </a:ext>
            </a:extLst>
          </p:cNvPr>
          <p:cNvSpPr>
            <a:spLocks xmlns:a="http://schemas.openxmlformats.org/drawingml/2006/main" noGrp="1"/>
          </p:cNvSpPr>
          <p:nvPr/>
        </p:nvSpPr>
        <p:spPr>
          <a:xfrm xmlns:a="http://schemas.openxmlformats.org/drawingml/2006/main">
            <a:off x="495300" y="3120390"/>
            <a:ext cx="378142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Part 3 — Prague: Development vs Green</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Space Debates</a:t>
            </a:r>
          </a:p>
        </p:txBody>
      </p:sp>
      <p:sp>
        <p:nvSpPr>
          <p:cNvPr id="10" name="Activity — Stakeholder Mapping">
            <a:extLst xmlns:a="http://schemas.openxmlformats.org/drawingml/2006/main">
              <a:ext uri="{FF2B5EF4-FFF2-40B4-BE49-F238E27FC236}">
                <a16:creationId xmlns:a16="http://schemas.microsoft.com/office/drawing/2014/main" id="{80916B61-42FB-4556-B94F-9E92FC875E6B}"/>
              </a:ext>
            </a:extLst>
          </p:cNvPr>
          <p:cNvSpPr>
            <a:spLocks xmlns:a="http://schemas.openxmlformats.org/drawingml/2006/main" noGrp="1"/>
          </p:cNvSpPr>
          <p:nvPr/>
        </p:nvSpPr>
        <p:spPr>
          <a:xfrm xmlns:a="http://schemas.openxmlformats.org/drawingml/2006/main">
            <a:off x="495300" y="3762375"/>
            <a:ext cx="37814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Activity — Stakeholder Mapping</a:t>
            </a:r>
          </a:p>
        </p:txBody>
      </p:sp>
      <p:sp>
        <p:nvSpPr>
          <p:cNvPr id="11" name="After the break">
            <a:extLst xmlns:a="http://schemas.openxmlformats.org/drawingml/2006/main">
              <a:ext uri="{FF2B5EF4-FFF2-40B4-BE49-F238E27FC236}">
                <a16:creationId xmlns:a16="http://schemas.microsoft.com/office/drawing/2014/main" id="{1B4CD5BD-19A2-41AF-9369-E6B0FEEE7A6A}"/>
              </a:ext>
            </a:extLst>
          </p:cNvPr>
          <p:cNvSpPr>
            <a:spLocks xmlns:a="http://schemas.openxmlformats.org/drawingml/2006/main" noGrp="1"/>
          </p:cNvSpPr>
          <p:nvPr/>
        </p:nvSpPr>
        <p:spPr>
          <a:xfrm xmlns:a="http://schemas.openxmlformats.org/drawingml/2006/main">
            <a:off x="4829175" y="1485900"/>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After the break</a:t>
            </a:r>
          </a:p>
        </p:txBody>
      </p:sp>
      <p:sp>
        <p:nvSpPr>
          <p:cNvPr id="12" name="Editorial frame">
            <a:extLst xmlns:a="http://schemas.openxmlformats.org/drawingml/2006/main">
              <a:ext uri="{FF2B5EF4-FFF2-40B4-BE49-F238E27FC236}">
                <a16:creationId xmlns:a16="http://schemas.microsoft.com/office/drawing/2014/main" id="{9C8BA86F-B74D-4C2F-A79B-6CDB49DA7990}"/>
              </a:ext>
            </a:extLst>
          </p:cNvPr>
          <p:cNvSpPr>
            <a:spLocks xmlns:a="http://schemas.openxmlformats.org/drawingml/2006/main" noGrp="1"/>
          </p:cNvSpPr>
          <p:nvPr/>
        </p:nvSpPr>
        <p:spPr>
          <a:xfrm xmlns:a="http://schemas.openxmlformats.org/drawingml/2006/main">
            <a:off x="4829175" y="1914525"/>
            <a:ext cx="3819525" cy="952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Part 4 — Communicating Sustainability">
            <a:extLst xmlns:a="http://schemas.openxmlformats.org/drawingml/2006/main">
              <a:ext uri="{FF2B5EF4-FFF2-40B4-BE49-F238E27FC236}">
                <a16:creationId xmlns:a16="http://schemas.microsoft.com/office/drawing/2014/main" id="{92E2E141-12F6-458F-97B5-C820339E83A7}"/>
              </a:ext>
            </a:extLst>
          </p:cNvPr>
          <p:cNvSpPr>
            <a:spLocks xmlns:a="http://schemas.openxmlformats.org/drawingml/2006/main" noGrp="1"/>
          </p:cNvSpPr>
          <p:nvPr/>
        </p:nvSpPr>
        <p:spPr>
          <a:xfrm xmlns:a="http://schemas.openxmlformats.org/drawingml/2006/main">
            <a:off x="4829175" y="2076450"/>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4 — Communicating Sustainability</a:t>
            </a:r>
          </a:p>
        </p:txBody>
      </p:sp>
      <p:sp>
        <p:nvSpPr>
          <p:cNvPr id="14" name="Part 5 — Greenwashing and How to Avoid It">
            <a:extLst xmlns:a="http://schemas.openxmlformats.org/drawingml/2006/main">
              <a:ext uri="{FF2B5EF4-FFF2-40B4-BE49-F238E27FC236}">
                <a16:creationId xmlns:a16="http://schemas.microsoft.com/office/drawing/2014/main" id="{D3463182-49A9-4CA9-B9CE-C366B36B20F4}"/>
              </a:ext>
            </a:extLst>
          </p:cNvPr>
          <p:cNvSpPr>
            <a:spLocks xmlns:a="http://schemas.openxmlformats.org/drawingml/2006/main" noGrp="1"/>
          </p:cNvSpPr>
          <p:nvPr/>
        </p:nvSpPr>
        <p:spPr>
          <a:xfrm xmlns:a="http://schemas.openxmlformats.org/drawingml/2006/main">
            <a:off x="4829175" y="2444115"/>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5 — Greenwashing and How to Avoid It</a:t>
            </a:r>
          </a:p>
        </p:txBody>
      </p:sp>
      <p:sp>
        <p:nvSpPr>
          <p:cNvPr id="15" name="Part 6 — Smart Cities and Smart Green Infrastructu">
            <a:extLst xmlns:a="http://schemas.openxmlformats.org/drawingml/2006/main">
              <a:ext uri="{FF2B5EF4-FFF2-40B4-BE49-F238E27FC236}">
                <a16:creationId xmlns:a16="http://schemas.microsoft.com/office/drawing/2014/main" id="{A2E9EB46-E465-43F7-B119-CA5BB87F840E}"/>
              </a:ext>
            </a:extLst>
          </p:cNvPr>
          <p:cNvSpPr>
            <a:spLocks xmlns:a="http://schemas.openxmlformats.org/drawingml/2006/main" noGrp="1"/>
          </p:cNvSpPr>
          <p:nvPr/>
        </p:nvSpPr>
        <p:spPr>
          <a:xfrm xmlns:a="http://schemas.openxmlformats.org/drawingml/2006/main">
            <a:off x="4829175" y="2811780"/>
            <a:ext cx="378142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6 — Smart Cities and Smart Green</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Infrastructure</a:t>
            </a:r>
          </a:p>
        </p:txBody>
      </p:sp>
      <p:sp>
        <p:nvSpPr>
          <p:cNvPr id="16" name="City Tour — Singapore, Copenhagen, Rotterdam, Barc">
            <a:extLst xmlns:a="http://schemas.openxmlformats.org/drawingml/2006/main">
              <a:ext uri="{FF2B5EF4-FFF2-40B4-BE49-F238E27FC236}">
                <a16:creationId xmlns:a16="http://schemas.microsoft.com/office/drawing/2014/main" id="{A09BA9C5-C3C4-4D7D-97DF-41FEC0C8C8B7}"/>
              </a:ext>
            </a:extLst>
          </p:cNvPr>
          <p:cNvSpPr>
            <a:spLocks xmlns:a="http://schemas.openxmlformats.org/drawingml/2006/main" noGrp="1"/>
          </p:cNvSpPr>
          <p:nvPr/>
        </p:nvSpPr>
        <p:spPr>
          <a:xfrm xmlns:a="http://schemas.openxmlformats.org/drawingml/2006/main">
            <a:off x="4829175" y="3385185"/>
            <a:ext cx="378142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City Tour — Singapore, Copenhagen,</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Rotterdam, Barcelona, Vienna</a:t>
            </a:r>
          </a:p>
        </p:txBody>
      </p:sp>
      <p:sp>
        <p:nvSpPr>
          <p:cNvPr id="17" name="Prague Opportunities">
            <a:extLst xmlns:a="http://schemas.openxmlformats.org/drawingml/2006/main">
              <a:ext uri="{FF2B5EF4-FFF2-40B4-BE49-F238E27FC236}">
                <a16:creationId xmlns:a16="http://schemas.microsoft.com/office/drawing/2014/main" id="{0A3B3B7E-B6BA-4825-8A38-CDE67E93DC46}"/>
              </a:ext>
            </a:extLst>
          </p:cNvPr>
          <p:cNvSpPr>
            <a:spLocks xmlns:a="http://schemas.openxmlformats.org/drawingml/2006/main" noGrp="1"/>
          </p:cNvSpPr>
          <p:nvPr/>
        </p:nvSpPr>
        <p:spPr>
          <a:xfrm xmlns:a="http://schemas.openxmlformats.org/drawingml/2006/main">
            <a:off x="4829175" y="3958590"/>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Prague Opportunities</a:t>
            </a:r>
          </a:p>
        </p:txBody>
      </p:sp>
      <p:sp>
        <p:nvSpPr>
          <p:cNvPr id="18" name="Key Messages and Reading">
            <a:extLst xmlns:a="http://schemas.openxmlformats.org/drawingml/2006/main">
              <a:ext uri="{FF2B5EF4-FFF2-40B4-BE49-F238E27FC236}">
                <a16:creationId xmlns:a16="http://schemas.microsoft.com/office/drawing/2014/main" id="{149AC63B-E5B2-4481-B5D9-A758379DD2C6}"/>
              </a:ext>
            </a:extLst>
          </p:cNvPr>
          <p:cNvSpPr>
            <a:spLocks xmlns:a="http://schemas.openxmlformats.org/drawingml/2006/main" noGrp="1"/>
          </p:cNvSpPr>
          <p:nvPr/>
        </p:nvSpPr>
        <p:spPr>
          <a:xfrm xmlns:a="http://schemas.openxmlformats.org/drawingml/2006/main">
            <a:off x="4829175" y="4326255"/>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Key Messages and Reading</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74d46daccc042b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0" name="www.newton.university">
            <a:extLst xmlns:a="http://schemas.openxmlformats.org/drawingml/2006/main">
              <a:ext uri="{FF2B5EF4-FFF2-40B4-BE49-F238E27FC236}">
                <a16:creationId xmlns:a16="http://schemas.microsoft.com/office/drawing/2014/main" id="{13EE6A90-16F1-484E-88AE-55880000E99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1" name="03">
            <a:extLst xmlns:a="http://schemas.openxmlformats.org/drawingml/2006/main">
              <a:ext uri="{FF2B5EF4-FFF2-40B4-BE49-F238E27FC236}">
                <a16:creationId xmlns:a16="http://schemas.microsoft.com/office/drawing/2014/main" id="{2A3BB78F-198C-4EE3-95C1-999F63C16EE8}"/>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03</a:t>
            </a:r>
          </a:p>
        </p:txBody>
      </p:sp>
    </p:spTree>
    <p:extLst>
      <p:ext uri="{BB962C8B-B14F-4D97-AF65-F5344CB8AC3E}">
        <p14:creationId xmlns:p14="http://schemas.microsoft.com/office/powerpoint/2010/main" val="1851620850"/>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BC2A8085-55C3-4513-9562-E9BB804257F5}"/>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Part 1">
            <a:extLst xmlns:a="http://schemas.openxmlformats.org/drawingml/2006/main">
              <a:ext uri="{FF2B5EF4-FFF2-40B4-BE49-F238E27FC236}">
                <a16:creationId xmlns:a16="http://schemas.microsoft.com/office/drawing/2014/main" id="{14045BDD-1EE7-41E5-A173-FD03EB563C95}"/>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8665B"/>
                </a:solidFill>
                <a:latin typeface="Arial"/>
                <a:ea typeface="Arial"/>
                <a:cs typeface="Arial"/>
              </a:defRPr>
            </a:pPr>
            <a:r>
              <a:rPr sz="1500" b="0">
                <a:solidFill>
                  <a:srgbClr val="58665B"/>
                </a:solidFill>
                <a:latin typeface="Arial"/>
                <a:ea typeface="Arial"/>
                <a:cs typeface="Arial"/>
              </a:rPr>
              <a:t>Part 1</a:t>
            </a:r>
          </a:p>
        </p:txBody>
      </p:sp>
      <p:sp>
        <p:nvSpPr>
          <p:cNvPr id="3" name="01">
            <a:extLst xmlns:a="http://schemas.openxmlformats.org/drawingml/2006/main">
              <a:ext uri="{FF2B5EF4-FFF2-40B4-BE49-F238E27FC236}">
                <a16:creationId xmlns:a16="http://schemas.microsoft.com/office/drawing/2014/main" id="{42AAA2A0-2F2C-4D39-8682-CD5B51DD8A96}"/>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B56647"/>
                </a:solidFill>
                <a:latin typeface="Georgia"/>
                <a:ea typeface="Georgia"/>
                <a:cs typeface="Georgia"/>
              </a:defRPr>
            </a:pPr>
            <a:r>
              <a:rPr sz="7875" b="0">
                <a:solidFill>
                  <a:srgbClr val="B56647"/>
                </a:solidFill>
                <a:latin typeface="Georgia"/>
                <a:ea typeface="Georgia"/>
                <a:cs typeface="Georgia"/>
              </a:rPr>
              <a:t>01</a:t>
            </a:r>
          </a:p>
        </p:txBody>
      </p:sp>
      <p:sp>
        <p:nvSpPr>
          <p:cNvPr id="4" name="Stakeholder Theory">
            <a:extLst xmlns:a="http://schemas.openxmlformats.org/drawingml/2006/main">
              <a:ext uri="{FF2B5EF4-FFF2-40B4-BE49-F238E27FC236}">
                <a16:creationId xmlns:a16="http://schemas.microsoft.com/office/drawing/2014/main" id="{2D2B151E-B00E-429C-BC86-A372508E4E2A}"/>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Stakeholder Theory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ac5b9cf13ba458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2246487A-ED05-49AD-8B58-53F2BB12C25F}"/>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04">
            <a:extLst xmlns:a="http://schemas.openxmlformats.org/drawingml/2006/main">
              <a:ext uri="{FF2B5EF4-FFF2-40B4-BE49-F238E27FC236}">
                <a16:creationId xmlns:a16="http://schemas.microsoft.com/office/drawing/2014/main" id="{32BB06CC-7192-44B3-AD31-43A0F6C5D05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04</a:t>
            </a:r>
          </a:p>
        </p:txBody>
      </p:sp>
    </p:spTree>
    <p:extLst>
      <p:ext uri="{BB962C8B-B14F-4D97-AF65-F5344CB8AC3E}">
        <p14:creationId xmlns:p14="http://schemas.microsoft.com/office/powerpoint/2010/main" val="1344395613"/>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Who is a Stakeholder?">
            <a:extLst xmlns:a="http://schemas.openxmlformats.org/drawingml/2006/main">
              <a:ext uri="{FF2B5EF4-FFF2-40B4-BE49-F238E27FC236}">
                <a16:creationId xmlns:a16="http://schemas.microsoft.com/office/drawing/2014/main" id="{E90FAC60-5437-46EF-8727-50C7F361DC4F}"/>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Who is a Stakeholder?</a:t>
            </a:r>
          </a:p>
        </p:txBody>
      </p:sp>
      <p:sp>
        <p:nvSpPr>
          <p:cNvPr id="2" name="Editorial frame">
            <a:extLst xmlns:a="http://schemas.openxmlformats.org/drawingml/2006/main">
              <a:ext uri="{FF2B5EF4-FFF2-40B4-BE49-F238E27FC236}">
                <a16:creationId xmlns:a16="http://schemas.microsoft.com/office/drawing/2014/main" id="{D4BE03CE-CC18-4AD0-9851-4D1D8F825A37}"/>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B9210C88-2449-4232-BC4A-1391D07742AC}"/>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FBE1FBC9-3172-4F40-A695-11FBF937A057}"/>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EF726512-2DCA-4F2D-9904-3200051A821C}"/>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Freeman (1984)">
            <a:extLst xmlns:a="http://schemas.openxmlformats.org/drawingml/2006/main">
              <a:ext uri="{FF2B5EF4-FFF2-40B4-BE49-F238E27FC236}">
                <a16:creationId xmlns:a16="http://schemas.microsoft.com/office/drawing/2014/main" id="{E87EC8AC-9646-481B-B35F-6329313ADB90}"/>
              </a:ext>
            </a:extLst>
          </p:cNvPr>
          <p:cNvSpPr>
            <a:spLocks xmlns:a="http://schemas.openxmlformats.org/drawingml/2006/main" noGrp="1"/>
          </p:cNvSpPr>
          <p:nvPr/>
        </p:nvSpPr>
        <p:spPr>
          <a:xfrm xmlns:a="http://schemas.openxmlformats.org/drawingml/2006/main">
            <a:off x="495300"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Freeman (1984)</a:t>
            </a:r>
          </a:p>
        </p:txBody>
      </p:sp>
      <p:sp>
        <p:nvSpPr>
          <p:cNvPr id="7" name="A stakeholder is any group or individual who can a">
            <a:extLst xmlns:a="http://schemas.openxmlformats.org/drawingml/2006/main">
              <a:ext uri="{FF2B5EF4-FFF2-40B4-BE49-F238E27FC236}">
                <a16:creationId xmlns:a16="http://schemas.microsoft.com/office/drawing/2014/main" id="{1B39241A-24C0-4C96-9112-074EEF603EAA}"/>
              </a:ext>
            </a:extLst>
          </p:cNvPr>
          <p:cNvSpPr>
            <a:spLocks xmlns:a="http://schemas.openxmlformats.org/drawingml/2006/main" noGrp="1"/>
          </p:cNvSpPr>
          <p:nvPr/>
        </p:nvSpPr>
        <p:spPr>
          <a:xfrm xmlns:a="http://schemas.openxmlformats.org/drawingml/2006/main">
            <a:off x="495300" y="2070735"/>
            <a:ext cx="3971925" cy="1080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 stakeholder is any group or individual</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who can affect, or is affected by, the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achievement of the organization's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objectives.</a:t>
            </a:r>
          </a:p>
        </p:txBody>
      </p:sp>
      <p:sp>
        <p:nvSpPr>
          <p:cNvPr id="8" name="Editorial frame">
            <a:extLst xmlns:a="http://schemas.openxmlformats.org/drawingml/2006/main">
              <a:ext uri="{FF2B5EF4-FFF2-40B4-BE49-F238E27FC236}">
                <a16:creationId xmlns:a16="http://schemas.microsoft.com/office/drawing/2014/main" id="{E70AA062-03CF-4DBB-BDFD-6F8D82A59FEA}"/>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9" name="Editorial frame">
            <a:extLst xmlns:a="http://schemas.openxmlformats.org/drawingml/2006/main">
              <a:ext uri="{FF2B5EF4-FFF2-40B4-BE49-F238E27FC236}">
                <a16:creationId xmlns:a16="http://schemas.microsoft.com/office/drawing/2014/main" id="{B03DD7C1-A5CF-48A3-9ACB-F5011EF18169}"/>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0" name="For urban sustainability, that includes">
            <a:extLst xmlns:a="http://schemas.openxmlformats.org/drawingml/2006/main">
              <a:ext uri="{FF2B5EF4-FFF2-40B4-BE49-F238E27FC236}">
                <a16:creationId xmlns:a16="http://schemas.microsoft.com/office/drawing/2014/main" id="{E20ECDBE-D5D6-4046-BED1-F93A397B4089}"/>
              </a:ext>
            </a:extLst>
          </p:cNvPr>
          <p:cNvSpPr>
            <a:spLocks xmlns:a="http://schemas.openxmlformats.org/drawingml/2006/main" noGrp="1"/>
          </p:cNvSpPr>
          <p:nvPr/>
        </p:nvSpPr>
        <p:spPr>
          <a:xfrm xmlns:a="http://schemas.openxmlformats.org/drawingml/2006/main">
            <a:off x="4676775" y="1619250"/>
            <a:ext cx="3971925"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For urban sustainability, that</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includes</a:t>
            </a:r>
          </a:p>
        </p:txBody>
      </p:sp>
      <p:sp>
        <p:nvSpPr>
          <p:cNvPr id="11" name="Citizens and neighborhood associations">
            <a:extLst xmlns:a="http://schemas.openxmlformats.org/drawingml/2006/main">
              <a:ext uri="{FF2B5EF4-FFF2-40B4-BE49-F238E27FC236}">
                <a16:creationId xmlns:a16="http://schemas.microsoft.com/office/drawing/2014/main" id="{D1CE7C81-1054-4EFC-AB13-55FFAC98643A}"/>
              </a:ext>
            </a:extLst>
          </p:cNvPr>
          <p:cNvSpPr>
            <a:spLocks xmlns:a="http://schemas.openxmlformats.org/drawingml/2006/main" noGrp="1"/>
          </p:cNvSpPr>
          <p:nvPr/>
        </p:nvSpPr>
        <p:spPr>
          <a:xfrm xmlns:a="http://schemas.openxmlformats.org/drawingml/2006/main">
            <a:off x="4676775" y="237934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Citizens and neighborhood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associations</a:t>
            </a:r>
          </a:p>
        </p:txBody>
      </p:sp>
      <p:sp>
        <p:nvSpPr>
          <p:cNvPr id="12" name="Municipal government and city districts">
            <a:extLst xmlns:a="http://schemas.openxmlformats.org/drawingml/2006/main">
              <a:ext uri="{FF2B5EF4-FFF2-40B4-BE49-F238E27FC236}">
                <a16:creationId xmlns:a16="http://schemas.microsoft.com/office/drawing/2014/main" id="{A2E7A6AE-3A20-4AD8-968F-96D18CCCC5DD}"/>
              </a:ext>
            </a:extLst>
          </p:cNvPr>
          <p:cNvSpPr>
            <a:spLocks xmlns:a="http://schemas.openxmlformats.org/drawingml/2006/main" noGrp="1"/>
          </p:cNvSpPr>
          <p:nvPr/>
        </p:nvSpPr>
        <p:spPr>
          <a:xfrm xmlns:a="http://schemas.openxmlformats.org/drawingml/2006/main">
            <a:off x="4676775" y="302895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Municipal government and city districts</a:t>
            </a:r>
          </a:p>
        </p:txBody>
      </p:sp>
      <p:sp>
        <p:nvSpPr>
          <p:cNvPr id="13" name="Businesses, developers and investors">
            <a:extLst xmlns:a="http://schemas.openxmlformats.org/drawingml/2006/main">
              <a:ext uri="{FF2B5EF4-FFF2-40B4-BE49-F238E27FC236}">
                <a16:creationId xmlns:a16="http://schemas.microsoft.com/office/drawing/2014/main" id="{3218BA7B-D091-4557-9F3C-DDCA206517DC}"/>
              </a:ext>
            </a:extLst>
          </p:cNvPr>
          <p:cNvSpPr>
            <a:spLocks xmlns:a="http://schemas.openxmlformats.org/drawingml/2006/main" noGrp="1"/>
          </p:cNvSpPr>
          <p:nvPr/>
        </p:nvSpPr>
        <p:spPr>
          <a:xfrm xmlns:a="http://schemas.openxmlformats.org/drawingml/2006/main">
            <a:off x="4676775" y="341566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Businesses, developers and investors</a:t>
            </a:r>
          </a:p>
        </p:txBody>
      </p:sp>
      <p:sp>
        <p:nvSpPr>
          <p:cNvPr id="14" name="NGOs, universities — and future generations">
            <a:extLst xmlns:a="http://schemas.openxmlformats.org/drawingml/2006/main">
              <a:ext uri="{FF2B5EF4-FFF2-40B4-BE49-F238E27FC236}">
                <a16:creationId xmlns:a16="http://schemas.microsoft.com/office/drawing/2014/main" id="{D15FC731-1043-47F1-97A2-44C9423E4A7C}"/>
              </a:ext>
            </a:extLst>
          </p:cNvPr>
          <p:cNvSpPr>
            <a:spLocks xmlns:a="http://schemas.openxmlformats.org/drawingml/2006/main" noGrp="1"/>
          </p:cNvSpPr>
          <p:nvPr/>
        </p:nvSpPr>
        <p:spPr>
          <a:xfrm xmlns:a="http://schemas.openxmlformats.org/drawingml/2006/main">
            <a:off x="4676775" y="380238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NGOs, universities — and future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generations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c6e28d2ed504dc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6" name="www.newton.university">
            <a:extLst xmlns:a="http://schemas.openxmlformats.org/drawingml/2006/main">
              <a:ext uri="{FF2B5EF4-FFF2-40B4-BE49-F238E27FC236}">
                <a16:creationId xmlns:a16="http://schemas.microsoft.com/office/drawing/2014/main" id="{48EE1EF1-56AF-4CB3-B51D-369B22620D5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7" name="05">
            <a:extLst xmlns:a="http://schemas.openxmlformats.org/drawingml/2006/main">
              <a:ext uri="{FF2B5EF4-FFF2-40B4-BE49-F238E27FC236}">
                <a16:creationId xmlns:a16="http://schemas.microsoft.com/office/drawing/2014/main" id="{871C4E1E-B293-4DD5-988C-F784E2293854}"/>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05</a:t>
            </a:r>
          </a:p>
        </p:txBody>
      </p:sp>
    </p:spTree>
    <p:extLst>
      <p:ext uri="{BB962C8B-B14F-4D97-AF65-F5344CB8AC3E}">
        <p14:creationId xmlns:p14="http://schemas.microsoft.com/office/powerpoint/2010/main" val="2022336652"/>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8" name="The Power–Interest Grid">
            <a:extLst xmlns:a="http://schemas.openxmlformats.org/drawingml/2006/main">
              <a:ext uri="{FF2B5EF4-FFF2-40B4-BE49-F238E27FC236}">
                <a16:creationId xmlns:a16="http://schemas.microsoft.com/office/drawing/2014/main" id="{38CB6282-9287-41FE-B56A-B915908ECEC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The Power–Interest Grid</a:t>
            </a:r>
          </a:p>
        </p:txBody>
      </p:sp>
      <p:sp>
        <p:nvSpPr>
          <p:cNvPr id="2" name="Editorial frame">
            <a:extLst xmlns:a="http://schemas.openxmlformats.org/drawingml/2006/main">
              <a:ext uri="{FF2B5EF4-FFF2-40B4-BE49-F238E27FC236}">
                <a16:creationId xmlns:a16="http://schemas.microsoft.com/office/drawing/2014/main" id="{96648A16-BDEA-425F-AFCE-0326ECDCC381}"/>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16468C65-C53B-4CF7-8016-E47DE7BC1973}"/>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Position determines the engagement strategy:">
            <a:extLst xmlns:a="http://schemas.openxmlformats.org/drawingml/2006/main">
              <a:ext uri="{FF2B5EF4-FFF2-40B4-BE49-F238E27FC236}">
                <a16:creationId xmlns:a16="http://schemas.microsoft.com/office/drawing/2014/main" id="{221A0F6A-6D40-4E5D-9897-7685F8425DE3}"/>
              </a:ext>
            </a:extLst>
          </p:cNvPr>
          <p:cNvSpPr>
            <a:spLocks xmlns:a="http://schemas.openxmlformats.org/drawingml/2006/main" noGrp="1"/>
          </p:cNvSpPr>
          <p:nvPr/>
        </p:nvSpPr>
        <p:spPr>
          <a:xfrm xmlns:a="http://schemas.openxmlformats.org/drawingml/2006/main">
            <a:off x="495300" y="1476375"/>
            <a:ext cx="80486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Position determines the engagement strategy:</a:t>
            </a:r>
          </a:p>
        </p:txBody>
      </p:sp>
      <p:sp>
        <p:nvSpPr>
          <p:cNvPr id="5" name="Editorial frame">
            <a:extLst xmlns:a="http://schemas.openxmlformats.org/drawingml/2006/main">
              <a:ext uri="{FF2B5EF4-FFF2-40B4-BE49-F238E27FC236}">
                <a16:creationId xmlns:a16="http://schemas.microsoft.com/office/drawing/2014/main" id="{D795BA2B-2F27-4F29-B5BC-2AF542085693}"/>
              </a:ext>
            </a:extLst>
          </p:cNvPr>
          <p:cNvSpPr>
            <a:spLocks xmlns:a="http://schemas.openxmlformats.org/drawingml/2006/main" noGrp="1"/>
          </p:cNvSpPr>
          <p:nvPr/>
        </p:nvSpPr>
        <p:spPr>
          <a:xfrm xmlns:a="http://schemas.openxmlformats.org/drawingml/2006/main">
            <a:off x="361950" y="1946910"/>
            <a:ext cx="4238625" cy="140779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B414DA7C-F8D9-4AEF-AB39-D58AA78F7DD1}"/>
              </a:ext>
            </a:extLst>
          </p:cNvPr>
          <p:cNvSpPr>
            <a:spLocks xmlns:a="http://schemas.openxmlformats.org/drawingml/2006/main" noGrp="1"/>
          </p:cNvSpPr>
          <p:nvPr/>
        </p:nvSpPr>
        <p:spPr>
          <a:xfrm xmlns:a="http://schemas.openxmlformats.org/drawingml/2006/main">
            <a:off x="361950" y="1946910"/>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7" name="High power, high interest">
            <a:extLst xmlns:a="http://schemas.openxmlformats.org/drawingml/2006/main">
              <a:ext uri="{FF2B5EF4-FFF2-40B4-BE49-F238E27FC236}">
                <a16:creationId xmlns:a16="http://schemas.microsoft.com/office/drawing/2014/main" id="{380B213E-8DEB-4F28-9672-5E937AAF7A3D}"/>
              </a:ext>
            </a:extLst>
          </p:cNvPr>
          <p:cNvSpPr>
            <a:spLocks xmlns:a="http://schemas.openxmlformats.org/drawingml/2006/main" noGrp="1"/>
          </p:cNvSpPr>
          <p:nvPr/>
        </p:nvSpPr>
        <p:spPr>
          <a:xfrm xmlns:a="http://schemas.openxmlformats.org/drawingml/2006/main">
            <a:off x="495300" y="2127885"/>
            <a:ext cx="397192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High power, high interest</a:t>
            </a:r>
          </a:p>
        </p:txBody>
      </p:sp>
      <p:sp>
        <p:nvSpPr>
          <p:cNvPr id="8" name="Manage closely">
            <a:extLst xmlns:a="http://schemas.openxmlformats.org/drawingml/2006/main">
              <a:ext uri="{FF2B5EF4-FFF2-40B4-BE49-F238E27FC236}">
                <a16:creationId xmlns:a16="http://schemas.microsoft.com/office/drawing/2014/main" id="{9A441FFD-2599-4838-B838-8EB54EA182CC}"/>
              </a:ext>
            </a:extLst>
          </p:cNvPr>
          <p:cNvSpPr>
            <a:spLocks xmlns:a="http://schemas.openxmlformats.org/drawingml/2006/main" noGrp="1"/>
          </p:cNvSpPr>
          <p:nvPr/>
        </p:nvSpPr>
        <p:spPr>
          <a:xfrm xmlns:a="http://schemas.openxmlformats.org/drawingml/2006/main">
            <a:off x="495300" y="2550795"/>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Manage closely</a:t>
            </a:r>
          </a:p>
        </p:txBody>
      </p:sp>
      <p:sp>
        <p:nvSpPr>
          <p:cNvPr id="9" name="e.g. city hall, major developer">
            <a:extLst xmlns:a="http://schemas.openxmlformats.org/drawingml/2006/main">
              <a:ext uri="{FF2B5EF4-FFF2-40B4-BE49-F238E27FC236}">
                <a16:creationId xmlns:a16="http://schemas.microsoft.com/office/drawing/2014/main" id="{2E54EE73-26E4-4707-A607-CE06A57DFECF}"/>
              </a:ext>
            </a:extLst>
          </p:cNvPr>
          <p:cNvSpPr>
            <a:spLocks xmlns:a="http://schemas.openxmlformats.org/drawingml/2006/main" noGrp="1"/>
          </p:cNvSpPr>
          <p:nvPr/>
        </p:nvSpPr>
        <p:spPr>
          <a:xfrm xmlns:a="http://schemas.openxmlformats.org/drawingml/2006/main">
            <a:off x="495300" y="2908935"/>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e.g. city hall, major developer</a:t>
            </a:r>
          </a:p>
        </p:txBody>
      </p:sp>
      <p:sp>
        <p:nvSpPr>
          <p:cNvPr id="10" name="Editorial frame">
            <a:extLst xmlns:a="http://schemas.openxmlformats.org/drawingml/2006/main">
              <a:ext uri="{FF2B5EF4-FFF2-40B4-BE49-F238E27FC236}">
                <a16:creationId xmlns:a16="http://schemas.microsoft.com/office/drawing/2014/main" id="{CE8D570E-5438-469E-96E0-5565A1306617}"/>
              </a:ext>
            </a:extLst>
          </p:cNvPr>
          <p:cNvSpPr>
            <a:spLocks xmlns:a="http://schemas.openxmlformats.org/drawingml/2006/main" noGrp="1"/>
          </p:cNvSpPr>
          <p:nvPr/>
        </p:nvSpPr>
        <p:spPr>
          <a:xfrm xmlns:a="http://schemas.openxmlformats.org/drawingml/2006/main">
            <a:off x="4543425" y="1946910"/>
            <a:ext cx="4238625" cy="140779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1" name="Editorial frame">
            <a:extLst xmlns:a="http://schemas.openxmlformats.org/drawingml/2006/main">
              <a:ext uri="{FF2B5EF4-FFF2-40B4-BE49-F238E27FC236}">
                <a16:creationId xmlns:a16="http://schemas.microsoft.com/office/drawing/2014/main" id="{135E7DB5-0B82-4717-9F42-D4E617B229DE}"/>
              </a:ext>
            </a:extLst>
          </p:cNvPr>
          <p:cNvSpPr>
            <a:spLocks xmlns:a="http://schemas.openxmlformats.org/drawingml/2006/main" noGrp="1"/>
          </p:cNvSpPr>
          <p:nvPr/>
        </p:nvSpPr>
        <p:spPr>
          <a:xfrm xmlns:a="http://schemas.openxmlformats.org/drawingml/2006/main">
            <a:off x="4543425" y="1946910"/>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2" name="High power, low interest">
            <a:extLst xmlns:a="http://schemas.openxmlformats.org/drawingml/2006/main">
              <a:ext uri="{FF2B5EF4-FFF2-40B4-BE49-F238E27FC236}">
                <a16:creationId xmlns:a16="http://schemas.microsoft.com/office/drawing/2014/main" id="{60B0D8DB-9991-4830-98DE-725E1477F6C7}"/>
              </a:ext>
            </a:extLst>
          </p:cNvPr>
          <p:cNvSpPr>
            <a:spLocks xmlns:a="http://schemas.openxmlformats.org/drawingml/2006/main" noGrp="1"/>
          </p:cNvSpPr>
          <p:nvPr/>
        </p:nvSpPr>
        <p:spPr>
          <a:xfrm xmlns:a="http://schemas.openxmlformats.org/drawingml/2006/main">
            <a:off x="4676775" y="2127885"/>
            <a:ext cx="397192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High power, low interest</a:t>
            </a:r>
          </a:p>
        </p:txBody>
      </p:sp>
      <p:sp>
        <p:nvSpPr>
          <p:cNvPr id="13" name="Keep satisfied">
            <a:extLst xmlns:a="http://schemas.openxmlformats.org/drawingml/2006/main">
              <a:ext uri="{FF2B5EF4-FFF2-40B4-BE49-F238E27FC236}">
                <a16:creationId xmlns:a16="http://schemas.microsoft.com/office/drawing/2014/main" id="{E84C18B6-61DD-40DB-8113-A52BC4938877}"/>
              </a:ext>
            </a:extLst>
          </p:cNvPr>
          <p:cNvSpPr>
            <a:spLocks xmlns:a="http://schemas.openxmlformats.org/drawingml/2006/main" noGrp="1"/>
          </p:cNvSpPr>
          <p:nvPr/>
        </p:nvSpPr>
        <p:spPr>
          <a:xfrm xmlns:a="http://schemas.openxmlformats.org/drawingml/2006/main">
            <a:off x="4676775" y="2550795"/>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Keep satisfied</a:t>
            </a:r>
          </a:p>
        </p:txBody>
      </p:sp>
      <p:sp>
        <p:nvSpPr>
          <p:cNvPr id="14" name="e.g. national regulator">
            <a:extLst xmlns:a="http://schemas.openxmlformats.org/drawingml/2006/main">
              <a:ext uri="{FF2B5EF4-FFF2-40B4-BE49-F238E27FC236}">
                <a16:creationId xmlns:a16="http://schemas.microsoft.com/office/drawing/2014/main" id="{1705D94A-0BAD-4773-8EE9-231C4D727DF5}"/>
              </a:ext>
            </a:extLst>
          </p:cNvPr>
          <p:cNvSpPr>
            <a:spLocks xmlns:a="http://schemas.openxmlformats.org/drawingml/2006/main" noGrp="1"/>
          </p:cNvSpPr>
          <p:nvPr/>
        </p:nvSpPr>
        <p:spPr>
          <a:xfrm xmlns:a="http://schemas.openxmlformats.org/drawingml/2006/main">
            <a:off x="4676775" y="2908935"/>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e.g. national regulator</a:t>
            </a:r>
          </a:p>
        </p:txBody>
      </p:sp>
      <p:sp>
        <p:nvSpPr>
          <p:cNvPr id="15" name="Editorial frame">
            <a:extLst xmlns:a="http://schemas.openxmlformats.org/drawingml/2006/main">
              <a:ext uri="{FF2B5EF4-FFF2-40B4-BE49-F238E27FC236}">
                <a16:creationId xmlns:a16="http://schemas.microsoft.com/office/drawing/2014/main" id="{319A2D42-BD88-4C4D-978A-663058880E76}"/>
              </a:ext>
            </a:extLst>
          </p:cNvPr>
          <p:cNvSpPr>
            <a:spLocks xmlns:a="http://schemas.openxmlformats.org/drawingml/2006/main" noGrp="1"/>
          </p:cNvSpPr>
          <p:nvPr/>
        </p:nvSpPr>
        <p:spPr>
          <a:xfrm xmlns:a="http://schemas.openxmlformats.org/drawingml/2006/main">
            <a:off x="361950" y="3335655"/>
            <a:ext cx="4238625" cy="140779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6" name="Editorial frame">
            <a:extLst xmlns:a="http://schemas.openxmlformats.org/drawingml/2006/main">
              <a:ext uri="{FF2B5EF4-FFF2-40B4-BE49-F238E27FC236}">
                <a16:creationId xmlns:a16="http://schemas.microsoft.com/office/drawing/2014/main" id="{9117B78F-859F-4E27-9465-0CA544964CBA}"/>
              </a:ext>
            </a:extLst>
          </p:cNvPr>
          <p:cNvSpPr>
            <a:spLocks xmlns:a="http://schemas.openxmlformats.org/drawingml/2006/main" noGrp="1"/>
          </p:cNvSpPr>
          <p:nvPr/>
        </p:nvSpPr>
        <p:spPr>
          <a:xfrm xmlns:a="http://schemas.openxmlformats.org/drawingml/2006/main">
            <a:off x="361950" y="3335655"/>
            <a:ext cx="4238625"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7" name="Low power, high interest">
            <a:extLst xmlns:a="http://schemas.openxmlformats.org/drawingml/2006/main">
              <a:ext uri="{FF2B5EF4-FFF2-40B4-BE49-F238E27FC236}">
                <a16:creationId xmlns:a16="http://schemas.microsoft.com/office/drawing/2014/main" id="{1E7F56D2-8E99-48CF-8CEC-AC4D745987EB}"/>
              </a:ext>
            </a:extLst>
          </p:cNvPr>
          <p:cNvSpPr>
            <a:spLocks xmlns:a="http://schemas.openxmlformats.org/drawingml/2006/main" noGrp="1"/>
          </p:cNvSpPr>
          <p:nvPr/>
        </p:nvSpPr>
        <p:spPr>
          <a:xfrm xmlns:a="http://schemas.openxmlformats.org/drawingml/2006/main">
            <a:off x="495300" y="3516630"/>
            <a:ext cx="397192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Low power, high interest</a:t>
            </a:r>
          </a:p>
        </p:txBody>
      </p:sp>
      <p:sp>
        <p:nvSpPr>
          <p:cNvPr id="18" name="Keep informed, amplify">
            <a:extLst xmlns:a="http://schemas.openxmlformats.org/drawingml/2006/main">
              <a:ext uri="{FF2B5EF4-FFF2-40B4-BE49-F238E27FC236}">
                <a16:creationId xmlns:a16="http://schemas.microsoft.com/office/drawing/2014/main" id="{CBCBEACD-B2B8-4612-BAEB-E97538243977}"/>
              </a:ext>
            </a:extLst>
          </p:cNvPr>
          <p:cNvSpPr>
            <a:spLocks xmlns:a="http://schemas.openxmlformats.org/drawingml/2006/main" noGrp="1"/>
          </p:cNvSpPr>
          <p:nvPr/>
        </p:nvSpPr>
        <p:spPr>
          <a:xfrm xmlns:a="http://schemas.openxmlformats.org/drawingml/2006/main">
            <a:off x="495300" y="3939540"/>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Keep informed, amplify</a:t>
            </a:r>
          </a:p>
        </p:txBody>
      </p:sp>
      <p:sp>
        <p:nvSpPr>
          <p:cNvPr id="19" name="e.g. residents, local NGOs">
            <a:extLst xmlns:a="http://schemas.openxmlformats.org/drawingml/2006/main">
              <a:ext uri="{FF2B5EF4-FFF2-40B4-BE49-F238E27FC236}">
                <a16:creationId xmlns:a16="http://schemas.microsoft.com/office/drawing/2014/main" id="{12C7577E-E85E-4418-A7F1-957D7DDEA8F0}"/>
              </a:ext>
            </a:extLst>
          </p:cNvPr>
          <p:cNvSpPr>
            <a:spLocks xmlns:a="http://schemas.openxmlformats.org/drawingml/2006/main" noGrp="1"/>
          </p:cNvSpPr>
          <p:nvPr/>
        </p:nvSpPr>
        <p:spPr>
          <a:xfrm xmlns:a="http://schemas.openxmlformats.org/drawingml/2006/main">
            <a:off x="495300" y="4297680"/>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e.g. residents, local NGOs</a:t>
            </a:r>
          </a:p>
        </p:txBody>
      </p:sp>
      <p:sp>
        <p:nvSpPr>
          <p:cNvPr id="20" name="Editorial frame">
            <a:extLst xmlns:a="http://schemas.openxmlformats.org/drawingml/2006/main">
              <a:ext uri="{FF2B5EF4-FFF2-40B4-BE49-F238E27FC236}">
                <a16:creationId xmlns:a16="http://schemas.microsoft.com/office/drawing/2014/main" id="{7D919898-BEC4-40D9-BDB4-C61681F788DE}"/>
              </a:ext>
            </a:extLst>
          </p:cNvPr>
          <p:cNvSpPr>
            <a:spLocks xmlns:a="http://schemas.openxmlformats.org/drawingml/2006/main" noGrp="1"/>
          </p:cNvSpPr>
          <p:nvPr/>
        </p:nvSpPr>
        <p:spPr>
          <a:xfrm xmlns:a="http://schemas.openxmlformats.org/drawingml/2006/main">
            <a:off x="4543425" y="3335655"/>
            <a:ext cx="4238625" cy="140779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21" name="Editorial frame">
            <a:extLst xmlns:a="http://schemas.openxmlformats.org/drawingml/2006/main">
              <a:ext uri="{FF2B5EF4-FFF2-40B4-BE49-F238E27FC236}">
                <a16:creationId xmlns:a16="http://schemas.microsoft.com/office/drawing/2014/main" id="{3E9FE358-21C8-41D4-B558-997BE94345D3}"/>
              </a:ext>
            </a:extLst>
          </p:cNvPr>
          <p:cNvSpPr>
            <a:spLocks xmlns:a="http://schemas.openxmlformats.org/drawingml/2006/main" noGrp="1"/>
          </p:cNvSpPr>
          <p:nvPr/>
        </p:nvSpPr>
        <p:spPr>
          <a:xfrm xmlns:a="http://schemas.openxmlformats.org/drawingml/2006/main">
            <a:off x="4543425" y="333565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22" name="Low power, low interest">
            <a:extLst xmlns:a="http://schemas.openxmlformats.org/drawingml/2006/main">
              <a:ext uri="{FF2B5EF4-FFF2-40B4-BE49-F238E27FC236}">
                <a16:creationId xmlns:a16="http://schemas.microsoft.com/office/drawing/2014/main" id="{DFA82B32-BDEF-4453-A21B-9A88F500BCE9}"/>
              </a:ext>
            </a:extLst>
          </p:cNvPr>
          <p:cNvSpPr>
            <a:spLocks xmlns:a="http://schemas.openxmlformats.org/drawingml/2006/main" noGrp="1"/>
          </p:cNvSpPr>
          <p:nvPr/>
        </p:nvSpPr>
        <p:spPr>
          <a:xfrm xmlns:a="http://schemas.openxmlformats.org/drawingml/2006/main">
            <a:off x="4676775" y="3516630"/>
            <a:ext cx="397192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Low power, low interest</a:t>
            </a:r>
          </a:p>
        </p:txBody>
      </p:sp>
      <p:sp>
        <p:nvSpPr>
          <p:cNvPr id="23" name="Monitor">
            <a:extLst xmlns:a="http://schemas.openxmlformats.org/drawingml/2006/main">
              <a:ext uri="{FF2B5EF4-FFF2-40B4-BE49-F238E27FC236}">
                <a16:creationId xmlns:a16="http://schemas.microsoft.com/office/drawing/2014/main" id="{3AC5BB04-1185-46CE-A536-5827F84B6A74}"/>
              </a:ext>
            </a:extLst>
          </p:cNvPr>
          <p:cNvSpPr>
            <a:spLocks xmlns:a="http://schemas.openxmlformats.org/drawingml/2006/main" noGrp="1"/>
          </p:cNvSpPr>
          <p:nvPr/>
        </p:nvSpPr>
        <p:spPr>
          <a:xfrm xmlns:a="http://schemas.openxmlformats.org/drawingml/2006/main">
            <a:off x="4676775" y="3939540"/>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Monitor</a:t>
            </a:r>
          </a:p>
        </p:txBody>
      </p:sp>
      <p:sp>
        <p:nvSpPr>
          <p:cNvPr id="24" name="e.g. occasional visitors">
            <a:extLst xmlns:a="http://schemas.openxmlformats.org/drawingml/2006/main">
              <a:ext uri="{FF2B5EF4-FFF2-40B4-BE49-F238E27FC236}">
                <a16:creationId xmlns:a16="http://schemas.microsoft.com/office/drawing/2014/main" id="{4BE7B45D-1F8D-4BF3-96AE-8BB91188ECD1}"/>
              </a:ext>
            </a:extLst>
          </p:cNvPr>
          <p:cNvSpPr>
            <a:spLocks xmlns:a="http://schemas.openxmlformats.org/drawingml/2006/main" noGrp="1"/>
          </p:cNvSpPr>
          <p:nvPr/>
        </p:nvSpPr>
        <p:spPr>
          <a:xfrm xmlns:a="http://schemas.openxmlformats.org/drawingml/2006/main">
            <a:off x="4676775" y="4297680"/>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e.g. occasional visitors</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f91c65ccca3d4a2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6" name="www.newton.university">
            <a:extLst xmlns:a="http://schemas.openxmlformats.org/drawingml/2006/main">
              <a:ext uri="{FF2B5EF4-FFF2-40B4-BE49-F238E27FC236}">
                <a16:creationId xmlns:a16="http://schemas.microsoft.com/office/drawing/2014/main" id="{BE5205B4-54C4-47B0-AC75-6629BC1A79F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7" name="06">
            <a:extLst xmlns:a="http://schemas.openxmlformats.org/drawingml/2006/main">
              <a:ext uri="{FF2B5EF4-FFF2-40B4-BE49-F238E27FC236}">
                <a16:creationId xmlns:a16="http://schemas.microsoft.com/office/drawing/2014/main" id="{7DE9309C-0DAB-4008-9048-B75690771B9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06</a:t>
            </a:r>
          </a:p>
        </p:txBody>
      </p:sp>
    </p:spTree>
    <p:extLst>
      <p:ext uri="{BB962C8B-B14F-4D97-AF65-F5344CB8AC3E}">
        <p14:creationId xmlns:p14="http://schemas.microsoft.com/office/powerpoint/2010/main" val="402746977"/>
      </p:ext>
    </p:extLst>
  </p:cSld>
</p:sld>
</file>

<file path=ppt/slides/slide7.xml><?xml version="1.0" encoding="utf-8"?>
<p:sld xmlns:p="http://schemas.openxmlformats.org/presentationml/2006/main">
  <p:cSld>
    <p:bg>
      <p:bgPr>
        <a:solidFill xmlns:a="http://schemas.openxmlformats.org/drawingml/2006/main">
          <a:srgbClr val="132E29"/>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C0C00E8F-7B23-4132-A3C2-1420C23DA78F}"/>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art 2">
            <a:extLst xmlns:a="http://schemas.openxmlformats.org/drawingml/2006/main">
              <a:ext uri="{FF2B5EF4-FFF2-40B4-BE49-F238E27FC236}">
                <a16:creationId xmlns:a16="http://schemas.microsoft.com/office/drawing/2014/main" id="{04CA9DAB-0F5A-4356-83D8-9677FDB74462}"/>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2</a:t>
            </a:r>
          </a:p>
        </p:txBody>
      </p:sp>
      <p:sp>
        <p:nvSpPr>
          <p:cNvPr id="3" name="02">
            <a:extLst xmlns:a="http://schemas.openxmlformats.org/drawingml/2006/main">
              <a:ext uri="{FF2B5EF4-FFF2-40B4-BE49-F238E27FC236}">
                <a16:creationId xmlns:a16="http://schemas.microsoft.com/office/drawing/2014/main" id="{3B255220-19C8-4BBA-A7D6-C6A7793CD88B}"/>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819E89"/>
                </a:solidFill>
                <a:latin typeface="Georgia"/>
                <a:ea typeface="Georgia"/>
                <a:cs typeface="Georgia"/>
              </a:defRPr>
            </a:pPr>
            <a:r>
              <a:rPr sz="7875" b="0">
                <a:solidFill>
                  <a:srgbClr val="819E89"/>
                </a:solidFill>
                <a:latin typeface="Georgia"/>
                <a:ea typeface="Georgia"/>
                <a:cs typeface="Georgia"/>
              </a:rPr>
              <a:t>02</a:t>
            </a:r>
          </a:p>
        </p:txBody>
      </p:sp>
      <p:sp>
        <p:nvSpPr>
          <p:cNvPr id="4" name="Public Participation and Governance">
            <a:extLst xmlns:a="http://schemas.openxmlformats.org/drawingml/2006/main">
              <a:ext uri="{FF2B5EF4-FFF2-40B4-BE49-F238E27FC236}">
                <a16:creationId xmlns:a16="http://schemas.microsoft.com/office/drawing/2014/main" id="{9DFE627E-8E66-4C14-90E7-205EC41F8C4B}"/>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Public Participation and</a:t>
            </a:r>
          </a:p>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Governance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f889df7d6204eee"/>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46A44481-EF62-48F3-AC6B-22D58AE8773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07">
            <a:extLst xmlns:a="http://schemas.openxmlformats.org/drawingml/2006/main">
              <a:ext uri="{FF2B5EF4-FFF2-40B4-BE49-F238E27FC236}">
                <a16:creationId xmlns:a16="http://schemas.microsoft.com/office/drawing/2014/main" id="{94102E1C-1673-4FA4-93C1-400FF8506B7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07</a:t>
            </a:r>
          </a:p>
        </p:txBody>
      </p:sp>
    </p:spTree>
    <p:extLst>
      <p:ext uri="{BB962C8B-B14F-4D97-AF65-F5344CB8AC3E}">
        <p14:creationId xmlns:p14="http://schemas.microsoft.com/office/powerpoint/2010/main" val="1284950103"/>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Levels of Participation (IAP2 Spectrum)">
            <a:extLst xmlns:a="http://schemas.openxmlformats.org/drawingml/2006/main">
              <a:ext uri="{FF2B5EF4-FFF2-40B4-BE49-F238E27FC236}">
                <a16:creationId xmlns:a16="http://schemas.microsoft.com/office/drawing/2014/main" id="{C7ABB1E3-5A3E-45DB-B64D-823D52CF499B}"/>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Levels of Participation (IAP2 Spectrum)</a:t>
            </a:r>
          </a:p>
        </p:txBody>
      </p:sp>
      <p:sp>
        <p:nvSpPr>
          <p:cNvPr id="2" name="Editorial frame">
            <a:extLst xmlns:a="http://schemas.openxmlformats.org/drawingml/2006/main">
              <a:ext uri="{FF2B5EF4-FFF2-40B4-BE49-F238E27FC236}">
                <a16:creationId xmlns:a16="http://schemas.microsoft.com/office/drawing/2014/main" id="{75A1553D-56ED-41E4-AFD9-DD8D14CB1EC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19EEAEB6-5D41-400B-88E6-1FAA95E277C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DEE84746-98EE-4D36-AEDE-33734A198CA9}"/>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Increasing public influence on the decision">
            <a:extLst xmlns:a="http://schemas.openxmlformats.org/drawingml/2006/main">
              <a:ext uri="{FF2B5EF4-FFF2-40B4-BE49-F238E27FC236}">
                <a16:creationId xmlns:a16="http://schemas.microsoft.com/office/drawing/2014/main" id="{6B79AAAA-232B-4BA4-ADDD-1C5C6687E7E9}"/>
              </a:ext>
            </a:extLst>
          </p:cNvPr>
          <p:cNvSpPr>
            <a:spLocks xmlns:a="http://schemas.openxmlformats.org/drawingml/2006/main" noGrp="1"/>
          </p:cNvSpPr>
          <p:nvPr/>
        </p:nvSpPr>
        <p:spPr>
          <a:xfrm xmlns:a="http://schemas.openxmlformats.org/drawingml/2006/main">
            <a:off x="495300" y="1552575"/>
            <a:ext cx="501967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Increasing public influence on the decision</a:t>
            </a:r>
          </a:p>
        </p:txBody>
      </p:sp>
      <p:sp>
        <p:nvSpPr>
          <p:cNvPr id="6" name="Informing — one-way communication.">
            <a:extLst xmlns:a="http://schemas.openxmlformats.org/drawingml/2006/main">
              <a:ext uri="{FF2B5EF4-FFF2-40B4-BE49-F238E27FC236}">
                <a16:creationId xmlns:a16="http://schemas.microsoft.com/office/drawing/2014/main" id="{BD3374C5-6D27-4FF5-A1BC-B3D54F58D4F3}"/>
              </a:ext>
            </a:extLst>
          </p:cNvPr>
          <p:cNvSpPr>
            <a:spLocks xmlns:a="http://schemas.openxmlformats.org/drawingml/2006/main" noGrp="1"/>
          </p:cNvSpPr>
          <p:nvPr/>
        </p:nvSpPr>
        <p:spPr>
          <a:xfrm xmlns:a="http://schemas.openxmlformats.org/drawingml/2006/main">
            <a:off x="495300" y="2004060"/>
            <a:ext cx="50196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Informing — one-way communication.</a:t>
            </a:r>
          </a:p>
        </p:txBody>
      </p:sp>
      <p:sp>
        <p:nvSpPr>
          <p:cNvPr id="7" name="Consultation — opinions collected, decisions elsew">
            <a:extLst xmlns:a="http://schemas.openxmlformats.org/drawingml/2006/main">
              <a:ext uri="{FF2B5EF4-FFF2-40B4-BE49-F238E27FC236}">
                <a16:creationId xmlns:a16="http://schemas.microsoft.com/office/drawing/2014/main" id="{0CA24807-B51D-4779-A339-C0B783FDD2B7}"/>
              </a:ext>
            </a:extLst>
          </p:cNvPr>
          <p:cNvSpPr>
            <a:spLocks xmlns:a="http://schemas.openxmlformats.org/drawingml/2006/main" noGrp="1"/>
          </p:cNvSpPr>
          <p:nvPr/>
        </p:nvSpPr>
        <p:spPr>
          <a:xfrm xmlns:a="http://schemas.openxmlformats.org/drawingml/2006/main">
            <a:off x="495300" y="2390775"/>
            <a:ext cx="501967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Consultation — opinions collected, decisions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elsewhere.</a:t>
            </a:r>
          </a:p>
        </p:txBody>
      </p:sp>
      <p:sp>
        <p:nvSpPr>
          <p:cNvPr id="8" name="Involvement — stakeholders shape options.">
            <a:extLst xmlns:a="http://schemas.openxmlformats.org/drawingml/2006/main">
              <a:ext uri="{FF2B5EF4-FFF2-40B4-BE49-F238E27FC236}">
                <a16:creationId xmlns:a16="http://schemas.microsoft.com/office/drawing/2014/main" id="{36F0CDDD-D0AA-4F3A-9239-AC22C9EB5CBC}"/>
              </a:ext>
            </a:extLst>
          </p:cNvPr>
          <p:cNvSpPr>
            <a:spLocks xmlns:a="http://schemas.openxmlformats.org/drawingml/2006/main" noGrp="1"/>
          </p:cNvSpPr>
          <p:nvPr/>
        </p:nvSpPr>
        <p:spPr>
          <a:xfrm xmlns:a="http://schemas.openxmlformats.org/drawingml/2006/main">
            <a:off x="495300" y="3040380"/>
            <a:ext cx="50196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Involvement — stakeholders shape options.</a:t>
            </a:r>
          </a:p>
        </p:txBody>
      </p:sp>
      <p:sp>
        <p:nvSpPr>
          <p:cNvPr id="9" name="Collaboration — shared decisions.">
            <a:extLst xmlns:a="http://schemas.openxmlformats.org/drawingml/2006/main">
              <a:ext uri="{FF2B5EF4-FFF2-40B4-BE49-F238E27FC236}">
                <a16:creationId xmlns:a16="http://schemas.microsoft.com/office/drawing/2014/main" id="{1BA46A74-F15F-4882-9EF5-56D112659D32}"/>
              </a:ext>
            </a:extLst>
          </p:cNvPr>
          <p:cNvSpPr>
            <a:spLocks xmlns:a="http://schemas.openxmlformats.org/drawingml/2006/main" noGrp="1"/>
          </p:cNvSpPr>
          <p:nvPr/>
        </p:nvSpPr>
        <p:spPr>
          <a:xfrm xmlns:a="http://schemas.openxmlformats.org/drawingml/2006/main">
            <a:off x="495300" y="3427095"/>
            <a:ext cx="50196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Collaboration — shared decisions.</a:t>
            </a:r>
          </a:p>
        </p:txBody>
      </p:sp>
      <p:sp>
        <p:nvSpPr>
          <p:cNvPr id="10" name="Empowerment — community decides (e.g. participator">
            <a:extLst xmlns:a="http://schemas.openxmlformats.org/drawingml/2006/main">
              <a:ext uri="{FF2B5EF4-FFF2-40B4-BE49-F238E27FC236}">
                <a16:creationId xmlns:a16="http://schemas.microsoft.com/office/drawing/2014/main" id="{5AC2CC53-E630-4A04-9F78-359A1A2AEF5F}"/>
              </a:ext>
            </a:extLst>
          </p:cNvPr>
          <p:cNvSpPr>
            <a:spLocks xmlns:a="http://schemas.openxmlformats.org/drawingml/2006/main" noGrp="1"/>
          </p:cNvSpPr>
          <p:nvPr/>
        </p:nvSpPr>
        <p:spPr>
          <a:xfrm xmlns:a="http://schemas.openxmlformats.org/drawingml/2006/main">
            <a:off x="495300" y="3813810"/>
            <a:ext cx="501967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Empowerment — community decides (e.g.</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participatory budgeting).</a:t>
            </a:r>
          </a:p>
        </p:txBody>
      </p:sp>
      <p:sp>
        <p:nvSpPr>
          <p:cNvPr id="11" name="Discussion">
            <a:extLst xmlns:a="http://schemas.openxmlformats.org/drawingml/2006/main">
              <a:ext uri="{FF2B5EF4-FFF2-40B4-BE49-F238E27FC236}">
                <a16:creationId xmlns:a16="http://schemas.microsoft.com/office/drawing/2014/main" id="{44D12540-BF15-4D47-A031-5CF07E2F0C49}"/>
              </a:ext>
            </a:extLst>
          </p:cNvPr>
          <p:cNvSpPr>
            <a:spLocks xmlns:a="http://schemas.openxmlformats.org/drawingml/2006/main" noGrp="1"/>
          </p:cNvSpPr>
          <p:nvPr/>
        </p:nvSpPr>
        <p:spPr>
          <a:xfrm xmlns:a="http://schemas.openxmlformats.org/drawingml/2006/main">
            <a:off x="6067425" y="1657350"/>
            <a:ext cx="2514600"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Discussion</a:t>
            </a:r>
          </a:p>
        </p:txBody>
      </p:sp>
      <p:sp>
        <p:nvSpPr>
          <p:cNvPr id="12" name="Which level can this project genuinely offer, and ">
            <a:extLst xmlns:a="http://schemas.openxmlformats.org/drawingml/2006/main">
              <a:ext uri="{FF2B5EF4-FFF2-40B4-BE49-F238E27FC236}">
                <a16:creationId xmlns:a16="http://schemas.microsoft.com/office/drawing/2014/main" id="{D78642DF-E381-43EE-AF00-F34A8B291BFF}"/>
              </a:ext>
            </a:extLst>
          </p:cNvPr>
          <p:cNvSpPr>
            <a:spLocks xmlns:a="http://schemas.openxmlformats.org/drawingml/2006/main" noGrp="1"/>
          </p:cNvSpPr>
          <p:nvPr/>
        </p:nvSpPr>
        <p:spPr>
          <a:xfrm xmlns:a="http://schemas.openxmlformats.org/drawingml/2006/main">
            <a:off x="6067425" y="2120265"/>
            <a:ext cx="2514600" cy="12172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Which level can this</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project genuinely</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offer, and who retains</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the final decision?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f6d396ab54f4ff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4" name="www.newton.university">
            <a:extLst xmlns:a="http://schemas.openxmlformats.org/drawingml/2006/main">
              <a:ext uri="{FF2B5EF4-FFF2-40B4-BE49-F238E27FC236}">
                <a16:creationId xmlns:a16="http://schemas.microsoft.com/office/drawing/2014/main" id="{013A131C-820C-46C1-AC7B-FC884DB1418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5" name="08">
            <a:extLst xmlns:a="http://schemas.openxmlformats.org/drawingml/2006/main">
              <a:ext uri="{FF2B5EF4-FFF2-40B4-BE49-F238E27FC236}">
                <a16:creationId xmlns:a16="http://schemas.microsoft.com/office/drawing/2014/main" id="{03C2E4AA-AAD6-469F-BB26-4E8DFDE671A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08</a:t>
            </a:r>
          </a:p>
        </p:txBody>
      </p:sp>
    </p:spTree>
    <p:extLst>
      <p:ext uri="{BB962C8B-B14F-4D97-AF65-F5344CB8AC3E}">
        <p14:creationId xmlns:p14="http://schemas.microsoft.com/office/powerpoint/2010/main" val="1454823427"/>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Why Participation Improves Projects">
            <a:extLst xmlns:a="http://schemas.openxmlformats.org/drawingml/2006/main">
              <a:ext uri="{FF2B5EF4-FFF2-40B4-BE49-F238E27FC236}">
                <a16:creationId xmlns:a16="http://schemas.microsoft.com/office/drawing/2014/main" id="{701EC9EA-4F6F-4B93-A881-DB60C0A68E96}"/>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Why Participation Improves Projects</a:t>
            </a:r>
          </a:p>
        </p:txBody>
      </p:sp>
      <p:sp>
        <p:nvSpPr>
          <p:cNvPr id="2" name="Editorial frame">
            <a:extLst xmlns:a="http://schemas.openxmlformats.org/drawingml/2006/main">
              <a:ext uri="{FF2B5EF4-FFF2-40B4-BE49-F238E27FC236}">
                <a16:creationId xmlns:a16="http://schemas.microsoft.com/office/drawing/2014/main" id="{3D3A7A89-076C-4762-962C-CA8A6F0536B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053CAF4E-C17A-40E1-96F8-68F023BD2281}"/>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1236F36F-D230-43A4-A548-592C59C030C1}"/>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Local knowledge surfaces problems experts miss.">
            <a:extLst xmlns:a="http://schemas.openxmlformats.org/drawingml/2006/main">
              <a:ext uri="{FF2B5EF4-FFF2-40B4-BE49-F238E27FC236}">
                <a16:creationId xmlns:a16="http://schemas.microsoft.com/office/drawing/2014/main" id="{1A16A8CB-599A-4D40-9FE4-B7C6AD03BA47}"/>
              </a:ext>
            </a:extLst>
          </p:cNvPr>
          <p:cNvSpPr>
            <a:spLocks xmlns:a="http://schemas.openxmlformats.org/drawingml/2006/main" noGrp="1"/>
          </p:cNvSpPr>
          <p:nvPr/>
        </p:nvSpPr>
        <p:spPr>
          <a:xfrm xmlns:a="http://schemas.openxmlformats.org/drawingml/2006/main">
            <a:off x="495300" y="155257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Local knowledge surfaces problems experts</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miss.</a:t>
            </a:r>
          </a:p>
        </p:txBody>
      </p:sp>
      <p:sp>
        <p:nvSpPr>
          <p:cNvPr id="6" name="Early involvement can reveal concerns and reduce a">
            <a:extLst xmlns:a="http://schemas.openxmlformats.org/drawingml/2006/main">
              <a:ext uri="{FF2B5EF4-FFF2-40B4-BE49-F238E27FC236}">
                <a16:creationId xmlns:a16="http://schemas.microsoft.com/office/drawing/2014/main" id="{D4BE950A-EDB8-436E-B38B-9CE30FBECD67}"/>
              </a:ext>
            </a:extLst>
          </p:cNvPr>
          <p:cNvSpPr>
            <a:spLocks xmlns:a="http://schemas.openxmlformats.org/drawingml/2006/main" noGrp="1"/>
          </p:cNvSpPr>
          <p:nvPr/>
        </p:nvSpPr>
        <p:spPr>
          <a:xfrm xmlns:a="http://schemas.openxmlformats.org/drawingml/2006/main">
            <a:off x="495300" y="222504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Early involvement can reveal concerns and</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reduce avoidable delays.</a:t>
            </a:r>
          </a:p>
        </p:txBody>
      </p:sp>
      <p:sp>
        <p:nvSpPr>
          <p:cNvPr id="7" name="Shared ownership means better maintenance and care">
            <a:extLst xmlns:a="http://schemas.openxmlformats.org/drawingml/2006/main">
              <a:ext uri="{FF2B5EF4-FFF2-40B4-BE49-F238E27FC236}">
                <a16:creationId xmlns:a16="http://schemas.microsoft.com/office/drawing/2014/main" id="{8BC1EE41-0523-4020-8FAA-0E0781362E3C}"/>
              </a:ext>
            </a:extLst>
          </p:cNvPr>
          <p:cNvSpPr>
            <a:spLocks xmlns:a="http://schemas.openxmlformats.org/drawingml/2006/main" noGrp="1"/>
          </p:cNvSpPr>
          <p:nvPr/>
        </p:nvSpPr>
        <p:spPr>
          <a:xfrm xmlns:a="http://schemas.openxmlformats.org/drawingml/2006/main">
            <a:off x="495300" y="289750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Shared ownership means better maintenance</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and care.</a:t>
            </a:r>
          </a:p>
        </p:txBody>
      </p:sp>
      <p:sp>
        <p:nvSpPr>
          <p:cNvPr id="8" name="Legitimacy: decisions have a clearer and more tran">
            <a:extLst xmlns:a="http://schemas.openxmlformats.org/drawingml/2006/main">
              <a:ext uri="{FF2B5EF4-FFF2-40B4-BE49-F238E27FC236}">
                <a16:creationId xmlns:a16="http://schemas.microsoft.com/office/drawing/2014/main" id="{E9DAD39F-68D9-4041-835A-196BBB635BF9}"/>
              </a:ext>
            </a:extLst>
          </p:cNvPr>
          <p:cNvSpPr>
            <a:spLocks xmlns:a="http://schemas.openxmlformats.org/drawingml/2006/main" noGrp="1"/>
          </p:cNvSpPr>
          <p:nvPr/>
        </p:nvSpPr>
        <p:spPr>
          <a:xfrm xmlns:a="http://schemas.openxmlformats.org/drawingml/2006/main">
            <a:off x="495300" y="356997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Legitimacy: decisions have a clearer and more</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transparent basis.</a:t>
            </a:r>
          </a:p>
        </p:txBody>
      </p:sp>
      <p:sp>
        <p:nvSpPr>
          <p:cNvPr id="9" name="The cost of skipping it">
            <a:extLst xmlns:a="http://schemas.openxmlformats.org/drawingml/2006/main">
              <a:ext uri="{FF2B5EF4-FFF2-40B4-BE49-F238E27FC236}">
                <a16:creationId xmlns:a16="http://schemas.microsoft.com/office/drawing/2014/main" id="{07D4F420-2DBD-4E7C-A478-31C7AAFE5FF9}"/>
              </a:ext>
            </a:extLst>
          </p:cNvPr>
          <p:cNvSpPr>
            <a:spLocks xmlns:a="http://schemas.openxmlformats.org/drawingml/2006/main" noGrp="1"/>
          </p:cNvSpPr>
          <p:nvPr/>
        </p:nvSpPr>
        <p:spPr>
          <a:xfrm xmlns:a="http://schemas.openxmlformats.org/drawingml/2006/main">
            <a:off x="6067425" y="1657350"/>
            <a:ext cx="2514600" cy="6686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The cost of skipping</a:t>
            </a:r>
          </a:p>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it</a:t>
            </a:r>
          </a:p>
        </p:txBody>
      </p:sp>
      <p:sp>
        <p:nvSpPr>
          <p:cNvPr id="10" name="Projects imposed without engagement meet petitions">
            <a:extLst xmlns:a="http://schemas.openxmlformats.org/drawingml/2006/main">
              <a:ext uri="{FF2B5EF4-FFF2-40B4-BE49-F238E27FC236}">
                <a16:creationId xmlns:a16="http://schemas.microsoft.com/office/drawing/2014/main" id="{BE91FE68-B4EF-47BF-94AC-777C5E32AC44}"/>
              </a:ext>
            </a:extLst>
          </p:cNvPr>
          <p:cNvSpPr>
            <a:spLocks xmlns:a="http://schemas.openxmlformats.org/drawingml/2006/main" noGrp="1"/>
          </p:cNvSpPr>
          <p:nvPr/>
        </p:nvSpPr>
        <p:spPr>
          <a:xfrm xmlns:a="http://schemas.openxmlformats.org/drawingml/2006/main">
            <a:off x="6067425" y="2440305"/>
            <a:ext cx="2514600" cy="18116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Projects imposed</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without engagement</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meet petitions,</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protests and courts —</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often losing years and</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budgets.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66c1249b67d4ae5"/>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B89D6F74-DE88-45AE-BB69-69024CA98F77}"/>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09">
            <a:extLst xmlns:a="http://schemas.openxmlformats.org/drawingml/2006/main">
              <a:ext uri="{FF2B5EF4-FFF2-40B4-BE49-F238E27FC236}">
                <a16:creationId xmlns:a16="http://schemas.microsoft.com/office/drawing/2014/main" id="{EC1C3923-9E42-40A5-B87F-E2154DEE0696}"/>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09</a:t>
            </a:r>
          </a:p>
        </p:txBody>
      </p:sp>
    </p:spTree>
    <p:extLst>
      <p:ext uri="{BB962C8B-B14F-4D97-AF65-F5344CB8AC3E}">
        <p14:creationId xmlns:p14="http://schemas.microsoft.com/office/powerpoint/2010/main" val="1152072380"/>
      </p:ext>
    </p:extLst>
  </p:cSld>
</p:sld>
</file>

<file path=ppt/slides/slide10.xml><?xml version="1.0" encoding="utf-8"?>
<p:sld xmlns:p="http://schemas.openxmlformats.org/presentationml/2006/main">
  <p:cSld>
    <p:bg>
      <p:bgPr>
        <a:solidFill xmlns:a="http://schemas.openxmlformats.org/drawingml/2006/main">
          <a:srgbClr val="132E29"/>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D041589E-B562-4B6E-88FC-D37A97E80554}"/>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a8a8bca30bc42ef"/>
          <a:srcRect xmlns:a="http://schemas.openxmlformats.org/drawingml/2006/main" l="0" t="276" r="0" b="276"/>
          <a:stretch xmlns:a="http://schemas.openxmlformats.org/drawingml/2006/main">
            <a:fillRect l="0" t="0" r="0" b="0"/>
          </a:stretch>
        </p:blipFill>
        <p:spPr>
          <a:xfrm xmlns:a="http://schemas.openxmlformats.org/drawingml/2006/main">
            <a:off x="5695950" y="0"/>
            <a:ext cx="3448050" cy="5143500"/>
          </a:xfrm>
          <a:prstGeom xmlns:a="http://schemas.openxmlformats.org/drawingml/2006/main" prst="rect">
            <a:avLst/>
          </a:prstGeom>
        </p:spPr>
      </p:pic>
      <p:sp>
        <p:nvSpPr>
          <p:cNvPr id="3" name="Part 3">
            <a:extLst xmlns:a="http://schemas.openxmlformats.org/drawingml/2006/main">
              <a:ext uri="{FF2B5EF4-FFF2-40B4-BE49-F238E27FC236}">
                <a16:creationId xmlns:a16="http://schemas.microsoft.com/office/drawing/2014/main" id="{BB4A3A2C-F0BA-43FF-B30A-809A2AD4263A}"/>
              </a:ext>
            </a:extLst>
          </p:cNvPr>
          <p:cNvSpPr>
            <a:spLocks xmlns:a="http://schemas.openxmlformats.org/drawingml/2006/main" noGrp="1"/>
          </p:cNvSpPr>
          <p:nvPr/>
        </p:nvSpPr>
        <p:spPr>
          <a:xfrm xmlns:a="http://schemas.openxmlformats.org/drawingml/2006/main">
            <a:off x="495300" y="7143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3</a:t>
            </a:r>
          </a:p>
        </p:txBody>
      </p:sp>
      <p:sp>
        <p:nvSpPr>
          <p:cNvPr id="4" name="Prague Debates">
            <a:extLst xmlns:a="http://schemas.openxmlformats.org/drawingml/2006/main">
              <a:ext uri="{FF2B5EF4-FFF2-40B4-BE49-F238E27FC236}">
                <a16:creationId xmlns:a16="http://schemas.microsoft.com/office/drawing/2014/main" id="{0D415EFA-167E-4B08-A71F-F8F42FC0DDBC}"/>
              </a:ext>
            </a:extLst>
          </p:cNvPr>
          <p:cNvSpPr>
            <a:spLocks xmlns:a="http://schemas.openxmlformats.org/drawingml/2006/main" noGrp="1"/>
          </p:cNvSpPr>
          <p:nvPr/>
        </p:nvSpPr>
        <p:spPr>
          <a:xfrm xmlns:a="http://schemas.openxmlformats.org/drawingml/2006/main">
            <a:off x="495300" y="1876425"/>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Prague Debates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89bd89b94ad4df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0A66C2CD-9462-41AB-B487-0041473AA4F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10">
            <a:extLst xmlns:a="http://schemas.openxmlformats.org/drawingml/2006/main">
              <a:ext uri="{FF2B5EF4-FFF2-40B4-BE49-F238E27FC236}">
                <a16:creationId xmlns:a16="http://schemas.microsoft.com/office/drawing/2014/main" id="{06DE5E31-CC70-49FA-AA12-BA29C71E408D}"/>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10</a:t>
            </a:r>
          </a:p>
        </p:txBody>
      </p:sp>
    </p:spTree>
    <p:extLst>
      <p:ext uri="{BB962C8B-B14F-4D97-AF65-F5344CB8AC3E}">
        <p14:creationId xmlns:p14="http://schemas.microsoft.com/office/powerpoint/2010/main" val="2071434961"/>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Prague: Where Interests Collide">
            <a:extLst xmlns:a="http://schemas.openxmlformats.org/drawingml/2006/main">
              <a:ext uri="{FF2B5EF4-FFF2-40B4-BE49-F238E27FC236}">
                <a16:creationId xmlns:a16="http://schemas.microsoft.com/office/drawing/2014/main" id="{8176E61A-4006-4BD6-9F7E-E915BBB3FFF6}"/>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Prague: Where Interests Collide</a:t>
            </a:r>
          </a:p>
        </p:txBody>
      </p:sp>
      <p:sp>
        <p:nvSpPr>
          <p:cNvPr id="2" name="Editorial frame">
            <a:extLst xmlns:a="http://schemas.openxmlformats.org/drawingml/2006/main">
              <a:ext uri="{FF2B5EF4-FFF2-40B4-BE49-F238E27FC236}">
                <a16:creationId xmlns:a16="http://schemas.microsoft.com/office/drawing/2014/main" id="{40887729-83B3-40FD-96A8-2331D73E62D8}"/>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090084A8-179C-4CAB-86A6-384A4CCE907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06b12dc0ab9456f"/>
          <a:stretch xmlns:a="http://schemas.openxmlformats.org/drawingml/2006/main"/>
        </p:blipFill>
        <p:spPr>
          <a:xfrm xmlns:a="http://schemas.openxmlformats.org/drawingml/2006/main">
            <a:off x="5286375" y="2256043"/>
            <a:ext cx="3362325" cy="1031463"/>
          </a:xfrm>
          <a:prstGeom xmlns:a="http://schemas.openxmlformats.org/drawingml/2006/main" prst="rect">
            <a:avLst/>
          </a:prstGeom>
        </p:spPr>
      </p:pic>
      <p:sp>
        <p:nvSpPr>
          <p:cNvPr id="5" name="Riverfront, parks, development — everyone has a st">
            <a:extLst xmlns:a="http://schemas.openxmlformats.org/drawingml/2006/main">
              <a:ext uri="{FF2B5EF4-FFF2-40B4-BE49-F238E27FC236}">
                <a16:creationId xmlns:a16="http://schemas.microsoft.com/office/drawing/2014/main" id="{67CE3E0A-5340-46D8-9FB0-D94719597CAC}"/>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Riverfront, parks, development — everyone has</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a stake</a:t>
            </a:r>
          </a:p>
        </p:txBody>
      </p:sp>
      <p:sp>
        <p:nvSpPr>
          <p:cNvPr id="6" name="Recurring public debates">
            <a:extLst xmlns:a="http://schemas.openxmlformats.org/drawingml/2006/main">
              <a:ext uri="{FF2B5EF4-FFF2-40B4-BE49-F238E27FC236}">
                <a16:creationId xmlns:a16="http://schemas.microsoft.com/office/drawing/2014/main" id="{CAA0D8AF-B2E2-43A7-A24D-2F8DF3F53B89}"/>
              </a:ext>
            </a:extLst>
          </p:cNvPr>
          <p:cNvSpPr>
            <a:spLocks xmlns:a="http://schemas.openxmlformats.org/drawingml/2006/main" noGrp="1"/>
          </p:cNvSpPr>
          <p:nvPr/>
        </p:nvSpPr>
        <p:spPr>
          <a:xfrm xmlns:a="http://schemas.openxmlformats.org/drawingml/2006/main">
            <a:off x="495300" y="1524000"/>
            <a:ext cx="4333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Recurring public debates</a:t>
            </a:r>
          </a:p>
        </p:txBody>
      </p:sp>
      <p:sp>
        <p:nvSpPr>
          <p:cNvPr id="7" name="Densification projects near parks and the river.">
            <a:extLst xmlns:a="http://schemas.openxmlformats.org/drawingml/2006/main">
              <a:ext uri="{FF2B5EF4-FFF2-40B4-BE49-F238E27FC236}">
                <a16:creationId xmlns:a16="http://schemas.microsoft.com/office/drawing/2014/main" id="{B9494DA1-050A-464D-8F4D-B7FC32FDB309}"/>
              </a:ext>
            </a:extLst>
          </p:cNvPr>
          <p:cNvSpPr>
            <a:spLocks xmlns:a="http://schemas.openxmlformats.org/drawingml/2006/main" noGrp="1"/>
          </p:cNvSpPr>
          <p:nvPr/>
        </p:nvSpPr>
        <p:spPr>
          <a:xfrm xmlns:a="http://schemas.openxmlformats.org/drawingml/2006/main">
            <a:off x="495300" y="1952625"/>
            <a:ext cx="433387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Densification projects near parks and the river.</a:t>
            </a:r>
          </a:p>
        </p:txBody>
      </p:sp>
      <p:sp>
        <p:nvSpPr>
          <p:cNvPr id="8" name="Protection of green wedges against construction.">
            <a:extLst xmlns:a="http://schemas.openxmlformats.org/drawingml/2006/main">
              <a:ext uri="{FF2B5EF4-FFF2-40B4-BE49-F238E27FC236}">
                <a16:creationId xmlns:a16="http://schemas.microsoft.com/office/drawing/2014/main" id="{AD362127-4E5A-476D-924C-C64FEFE84A40}"/>
              </a:ext>
            </a:extLst>
          </p:cNvPr>
          <p:cNvSpPr>
            <a:spLocks xmlns:a="http://schemas.openxmlformats.org/drawingml/2006/main" noGrp="1"/>
          </p:cNvSpPr>
          <p:nvPr/>
        </p:nvSpPr>
        <p:spPr>
          <a:xfrm xmlns:a="http://schemas.openxmlformats.org/drawingml/2006/main">
            <a:off x="495300" y="2316480"/>
            <a:ext cx="433387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Protection of green wedges against</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construction.</a:t>
            </a:r>
          </a:p>
        </p:txBody>
      </p:sp>
      <p:sp>
        <p:nvSpPr>
          <p:cNvPr id="9" name="Riverfront redevelopment: recreation vs commercial">
            <a:extLst xmlns:a="http://schemas.openxmlformats.org/drawingml/2006/main">
              <a:ext uri="{FF2B5EF4-FFF2-40B4-BE49-F238E27FC236}">
                <a16:creationId xmlns:a16="http://schemas.microsoft.com/office/drawing/2014/main" id="{FF810389-FD27-4C4D-80EE-0CB0C9BC4D8E}"/>
              </a:ext>
            </a:extLst>
          </p:cNvPr>
          <p:cNvSpPr>
            <a:spLocks xmlns:a="http://schemas.openxmlformats.org/drawingml/2006/main" noGrp="1"/>
          </p:cNvSpPr>
          <p:nvPr/>
        </p:nvSpPr>
        <p:spPr>
          <a:xfrm xmlns:a="http://schemas.openxmlformats.org/drawingml/2006/main">
            <a:off x="495300" y="2920365"/>
            <a:ext cx="433387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Riverfront redevelopment: recreation vs</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commercial use.</a:t>
            </a:r>
          </a:p>
        </p:txBody>
      </p:sp>
      <p:sp>
        <p:nvSpPr>
          <p:cNvPr id="10" name="Observation">
            <a:extLst xmlns:a="http://schemas.openxmlformats.org/drawingml/2006/main">
              <a:ext uri="{FF2B5EF4-FFF2-40B4-BE49-F238E27FC236}">
                <a16:creationId xmlns:a16="http://schemas.microsoft.com/office/drawing/2014/main" id="{8E4DAC0E-F1EB-4BFF-97A9-280DEC0A1E47}"/>
              </a:ext>
            </a:extLst>
          </p:cNvPr>
          <p:cNvSpPr>
            <a:spLocks xmlns:a="http://schemas.openxmlformats.org/drawingml/2006/main" noGrp="1"/>
          </p:cNvSpPr>
          <p:nvPr/>
        </p:nvSpPr>
        <p:spPr>
          <a:xfrm xmlns:a="http://schemas.openxmlformats.org/drawingml/2006/main">
            <a:off x="495300" y="3524250"/>
            <a:ext cx="433387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Observation</a:t>
            </a:r>
          </a:p>
        </p:txBody>
      </p:sp>
      <p:sp>
        <p:nvSpPr>
          <p:cNvPr id="11" name="Every debate is a stakeholder map waiting to be dr">
            <a:extLst xmlns:a="http://schemas.openxmlformats.org/drawingml/2006/main">
              <a:ext uri="{FF2B5EF4-FFF2-40B4-BE49-F238E27FC236}">
                <a16:creationId xmlns:a16="http://schemas.microsoft.com/office/drawing/2014/main" id="{F518F1CC-AECD-4A74-952E-7B4D67CFCB42}"/>
              </a:ext>
            </a:extLst>
          </p:cNvPr>
          <p:cNvSpPr>
            <a:spLocks xmlns:a="http://schemas.openxmlformats.org/drawingml/2006/main" noGrp="1"/>
          </p:cNvSpPr>
          <p:nvPr/>
        </p:nvSpPr>
        <p:spPr>
          <a:xfrm xmlns:a="http://schemas.openxmlformats.org/drawingml/2006/main">
            <a:off x="495300" y="3888105"/>
            <a:ext cx="433387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Every debate is a stakeholder map waiting to</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be drawn.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019226b74494cce"/>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54912C3B-F443-45A9-9C0F-E5EE8DCAD15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11">
            <a:extLst xmlns:a="http://schemas.openxmlformats.org/drawingml/2006/main">
              <a:ext uri="{FF2B5EF4-FFF2-40B4-BE49-F238E27FC236}">
                <a16:creationId xmlns:a16="http://schemas.microsoft.com/office/drawing/2014/main" id="{E3FD7050-F690-4E66-BAD2-4471BE21A2D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11</a:t>
            </a:r>
          </a:p>
        </p:txBody>
      </p:sp>
    </p:spTree>
    <p:extLst>
      <p:ext uri="{BB962C8B-B14F-4D97-AF65-F5344CB8AC3E}">
        <p14:creationId xmlns:p14="http://schemas.microsoft.com/office/powerpoint/2010/main" val="1036573699"/>
      </p:ext>
    </p:extLst>
  </p:cSld>
</p:sld>
</file>

<file path=ppt/slides/slide12.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17" name="Activity: Map Your Site's Stakeholders">
            <a:extLst xmlns:a="http://schemas.openxmlformats.org/drawingml/2006/main">
              <a:ext uri="{FF2B5EF4-FFF2-40B4-BE49-F238E27FC236}">
                <a16:creationId xmlns:a16="http://schemas.microsoft.com/office/drawing/2014/main" id="{32F920BE-389D-44D6-919A-DDAA55D57A9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Activity: Map Your Site's Stakeholders</a:t>
            </a:r>
          </a:p>
        </p:txBody>
      </p:sp>
      <p:sp>
        <p:nvSpPr>
          <p:cNvPr id="2" name="Editorial frame">
            <a:extLst xmlns:a="http://schemas.openxmlformats.org/drawingml/2006/main">
              <a:ext uri="{FF2B5EF4-FFF2-40B4-BE49-F238E27FC236}">
                <a16:creationId xmlns:a16="http://schemas.microsoft.com/office/drawing/2014/main" id="{FDE6B09C-FB87-4223-B0C7-592C75907C3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2FC10CB7-3B8B-47A0-A4B0-ED398589C28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55C12CAA-6A5C-4740-9024-98ECB761947F}"/>
              </a:ext>
            </a:extLst>
          </p:cNvPr>
          <p:cNvSpPr>
            <a:spLocks xmlns:a="http://schemas.openxmlformats.org/drawingml/2006/main" noGrp="1"/>
          </p:cNvSpPr>
          <p:nvPr/>
        </p:nvSpPr>
        <p:spPr>
          <a:xfrm xmlns:a="http://schemas.openxmlformats.org/drawingml/2006/main">
            <a:off x="361950" y="1476375"/>
            <a:ext cx="2305050" cy="3190875"/>
          </a:xfrm>
          <a:prstGeom xmlns:a="http://schemas.openxmlformats.org/drawingml/2006/main" prst="rect">
            <a:avLst/>
          </a:prstGeom>
          <a:solidFill xmlns:a="http://schemas.openxmlformats.org/drawingml/2006/main">
            <a:srgbClr val="C7D5BE"/>
          </a:solidFill>
          <a:ln xmlns:a="http://schemas.openxmlformats.org/drawingml/2006/main" w="7620">
            <a:solidFill>
              <a:srgbClr val="B7C3B1"/>
            </a:solidFill>
          </a:ln>
        </p:spPr>
      </p:sp>
      <p:sp>
        <p:nvSpPr>
          <p:cNvPr id="5" name="25">
            <a:extLst xmlns:a="http://schemas.openxmlformats.org/drawingml/2006/main">
              <a:ext uri="{FF2B5EF4-FFF2-40B4-BE49-F238E27FC236}">
                <a16:creationId xmlns:a16="http://schemas.microsoft.com/office/drawing/2014/main" id="{7064F60F-5216-4D91-888F-39C8C9FE92B6}"/>
              </a:ext>
            </a:extLst>
          </p:cNvPr>
          <p:cNvSpPr>
            <a:spLocks xmlns:a="http://schemas.openxmlformats.org/drawingml/2006/main" noGrp="1"/>
          </p:cNvSpPr>
          <p:nvPr/>
        </p:nvSpPr>
        <p:spPr>
          <a:xfrm xmlns:a="http://schemas.openxmlformats.org/drawingml/2006/main">
            <a:off x="533400" y="1914525"/>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00" b="0">
                <a:solidFill>
                  <a:srgbClr val="173E35"/>
                </a:solidFill>
                <a:latin typeface="Georgia"/>
                <a:ea typeface="Georgia"/>
                <a:cs typeface="Georgia"/>
              </a:defRPr>
            </a:pPr>
            <a:r>
              <a:rPr sz="7800" b="0">
                <a:solidFill>
                  <a:srgbClr val="173E35"/>
                </a:solidFill>
                <a:latin typeface="Georgia"/>
                <a:ea typeface="Georgia"/>
                <a:cs typeface="Georgia"/>
              </a:rPr>
              <a:t>25</a:t>
            </a:r>
          </a:p>
        </p:txBody>
      </p:sp>
      <p:sp>
        <p:nvSpPr>
          <p:cNvPr id="6" name="minutes">
            <a:extLst xmlns:a="http://schemas.openxmlformats.org/drawingml/2006/main">
              <a:ext uri="{FF2B5EF4-FFF2-40B4-BE49-F238E27FC236}">
                <a16:creationId xmlns:a16="http://schemas.microsoft.com/office/drawing/2014/main" id="{E6696775-8C7C-46BC-A07A-8ADCAC2FE639}"/>
              </a:ext>
            </a:extLst>
          </p:cNvPr>
          <p:cNvSpPr>
            <a:spLocks xmlns:a="http://schemas.openxmlformats.org/drawingml/2006/main" noGrp="1"/>
          </p:cNvSpPr>
          <p:nvPr/>
        </p:nvSpPr>
        <p:spPr>
          <a:xfrm xmlns:a="http://schemas.openxmlformats.org/drawingml/2006/main">
            <a:off x="581025" y="331470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173E35"/>
                </a:solidFill>
                <a:latin typeface="Georgia"/>
                <a:ea typeface="Georgia"/>
                <a:cs typeface="Georgia"/>
              </a:defRPr>
            </a:pPr>
            <a:r>
              <a:rPr sz="2325" b="0">
                <a:solidFill>
                  <a:srgbClr val="173E35"/>
                </a:solidFill>
                <a:latin typeface="Georgia"/>
                <a:ea typeface="Georgia"/>
                <a:cs typeface="Georgia"/>
              </a:rPr>
              <a:t>minutes</a:t>
            </a:r>
          </a:p>
        </p:txBody>
      </p:sp>
      <p:sp>
        <p:nvSpPr>
          <p:cNvPr id="7" name="Project groups">
            <a:extLst xmlns:a="http://schemas.openxmlformats.org/drawingml/2006/main">
              <a:ext uri="{FF2B5EF4-FFF2-40B4-BE49-F238E27FC236}">
                <a16:creationId xmlns:a16="http://schemas.microsoft.com/office/drawing/2014/main" id="{E89B568F-B009-4FAC-98EB-AC1337966BBD}"/>
              </a:ext>
            </a:extLst>
          </p:cNvPr>
          <p:cNvSpPr>
            <a:spLocks xmlns:a="http://schemas.openxmlformats.org/drawingml/2006/main" noGrp="1"/>
          </p:cNvSpPr>
          <p:nvPr/>
        </p:nvSpPr>
        <p:spPr>
          <a:xfrm xmlns:a="http://schemas.openxmlformats.org/drawingml/2006/main">
            <a:off x="581025" y="3914775"/>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8665B"/>
                </a:solidFill>
                <a:latin typeface="Arial"/>
                <a:ea typeface="Arial"/>
                <a:cs typeface="Arial"/>
              </a:defRPr>
            </a:pPr>
            <a:r>
              <a:rPr sz="1575" b="0">
                <a:solidFill>
                  <a:srgbClr val="58665B"/>
                </a:solidFill>
                <a:latin typeface="Arial"/>
                <a:ea typeface="Arial"/>
                <a:cs typeface="Arial"/>
              </a:rPr>
              <a:t>Project groups</a:t>
            </a:r>
          </a:p>
        </p:txBody>
      </p:sp>
      <p:sp>
        <p:nvSpPr>
          <p:cNvPr id="8" name="feeds directly into Seminar 4">
            <a:extLst xmlns:a="http://schemas.openxmlformats.org/drawingml/2006/main">
              <a:ext uri="{FF2B5EF4-FFF2-40B4-BE49-F238E27FC236}">
                <a16:creationId xmlns:a16="http://schemas.microsoft.com/office/drawing/2014/main" id="{E16953CD-75F4-4860-BFA9-A1F2D5710B3C}"/>
              </a:ext>
            </a:extLst>
          </p:cNvPr>
          <p:cNvSpPr>
            <a:spLocks xmlns:a="http://schemas.openxmlformats.org/drawingml/2006/main" noGrp="1"/>
          </p:cNvSpPr>
          <p:nvPr/>
        </p:nvSpPr>
        <p:spPr>
          <a:xfrm xmlns:a="http://schemas.openxmlformats.org/drawingml/2006/main">
            <a:off x="581025" y="43053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0">
                <a:solidFill>
                  <a:srgbClr val="58665B"/>
                </a:solidFill>
                <a:latin typeface="Arial"/>
                <a:ea typeface="Arial"/>
                <a:cs typeface="Arial"/>
              </a:defRPr>
            </a:pPr>
            <a:r>
              <a:rPr sz="1125" b="0">
                <a:solidFill>
                  <a:srgbClr val="58665B"/>
                </a:solidFill>
                <a:latin typeface="Arial"/>
                <a:ea typeface="Arial"/>
                <a:cs typeface="Arial"/>
              </a:rPr>
              <a:t>feeds directly into Seminar 4</a:t>
            </a:r>
          </a:p>
        </p:txBody>
      </p:sp>
      <p:sp>
        <p:nvSpPr>
          <p:cNvPr id="9" name="For your semester case-study site:">
            <a:extLst xmlns:a="http://schemas.openxmlformats.org/drawingml/2006/main">
              <a:ext uri="{FF2B5EF4-FFF2-40B4-BE49-F238E27FC236}">
                <a16:creationId xmlns:a16="http://schemas.microsoft.com/office/drawing/2014/main" id="{1A35497C-A43A-4E13-AAB2-96220CAEAA74}"/>
              </a:ext>
            </a:extLst>
          </p:cNvPr>
          <p:cNvSpPr>
            <a:spLocks xmlns:a="http://schemas.openxmlformats.org/drawingml/2006/main" noGrp="1"/>
          </p:cNvSpPr>
          <p:nvPr/>
        </p:nvSpPr>
        <p:spPr>
          <a:xfrm xmlns:a="http://schemas.openxmlformats.org/drawingml/2006/main">
            <a:off x="3076575" y="1628775"/>
            <a:ext cx="554355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For your semester case-study site:</a:t>
            </a:r>
          </a:p>
        </p:txBody>
      </p:sp>
      <p:sp>
        <p:nvSpPr>
          <p:cNvPr id="10" name="List every stakeholder: residents, businesses, mun">
            <a:extLst xmlns:a="http://schemas.openxmlformats.org/drawingml/2006/main">
              <a:ext uri="{FF2B5EF4-FFF2-40B4-BE49-F238E27FC236}">
                <a16:creationId xmlns:a16="http://schemas.microsoft.com/office/drawing/2014/main" id="{DA8E77AC-C065-4A56-86F5-82D7717DCAB4}"/>
              </a:ext>
            </a:extLst>
          </p:cNvPr>
          <p:cNvSpPr>
            <a:spLocks xmlns:a="http://schemas.openxmlformats.org/drawingml/2006/main" noGrp="1"/>
          </p:cNvSpPr>
          <p:nvPr/>
        </p:nvSpPr>
        <p:spPr>
          <a:xfrm xmlns:a="http://schemas.openxmlformats.org/drawingml/2006/main">
            <a:off x="3076575" y="2080260"/>
            <a:ext cx="554355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List every stakeholder: residents, businesses,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municipality, tourists, NGOs.</a:t>
            </a:r>
          </a:p>
        </p:txBody>
      </p:sp>
      <p:sp>
        <p:nvSpPr>
          <p:cNvPr id="11" name="Place them on the power–interest grid.">
            <a:extLst xmlns:a="http://schemas.openxmlformats.org/drawingml/2006/main">
              <a:ext uri="{FF2B5EF4-FFF2-40B4-BE49-F238E27FC236}">
                <a16:creationId xmlns:a16="http://schemas.microsoft.com/office/drawing/2014/main" id="{CE134303-BD5D-49BC-8E0E-30EB0EDDB782}"/>
              </a:ext>
            </a:extLst>
          </p:cNvPr>
          <p:cNvSpPr>
            <a:spLocks xmlns:a="http://schemas.openxmlformats.org/drawingml/2006/main" noGrp="1"/>
          </p:cNvSpPr>
          <p:nvPr/>
        </p:nvSpPr>
        <p:spPr>
          <a:xfrm xmlns:a="http://schemas.openxmlformats.org/drawingml/2006/main">
            <a:off x="3076575" y="2729865"/>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Place them on the power–interest grid.</a:t>
            </a:r>
          </a:p>
        </p:txBody>
      </p:sp>
      <p:sp>
        <p:nvSpPr>
          <p:cNvPr id="12" name="For the top three: what do they want, what do they">
            <a:extLst xmlns:a="http://schemas.openxmlformats.org/drawingml/2006/main">
              <a:ext uri="{FF2B5EF4-FFF2-40B4-BE49-F238E27FC236}">
                <a16:creationId xmlns:a16="http://schemas.microsoft.com/office/drawing/2014/main" id="{43C6B759-F141-494D-8E1F-DF4A3B842A6E}"/>
              </a:ext>
            </a:extLst>
          </p:cNvPr>
          <p:cNvSpPr>
            <a:spLocks xmlns:a="http://schemas.openxmlformats.org/drawingml/2006/main" noGrp="1"/>
          </p:cNvSpPr>
          <p:nvPr/>
        </p:nvSpPr>
        <p:spPr>
          <a:xfrm xmlns:a="http://schemas.openxmlformats.org/drawingml/2006/main">
            <a:off x="3076575" y="3116580"/>
            <a:ext cx="554355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For the top three: what do they want, what do they</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fear?</a:t>
            </a:r>
          </a:p>
        </p:txBody>
      </p:sp>
      <p:sp>
        <p:nvSpPr>
          <p:cNvPr id="13" name="Choose an engagement approach for each.">
            <a:extLst xmlns:a="http://schemas.openxmlformats.org/drawingml/2006/main">
              <a:ext uri="{FF2B5EF4-FFF2-40B4-BE49-F238E27FC236}">
                <a16:creationId xmlns:a16="http://schemas.microsoft.com/office/drawing/2014/main" id="{37070FF1-3382-4114-81A6-98ECB07F112A}"/>
              </a:ext>
            </a:extLst>
          </p:cNvPr>
          <p:cNvSpPr>
            <a:spLocks xmlns:a="http://schemas.openxmlformats.org/drawingml/2006/main" noGrp="1"/>
          </p:cNvSpPr>
          <p:nvPr/>
        </p:nvSpPr>
        <p:spPr>
          <a:xfrm xmlns:a="http://schemas.openxmlformats.org/drawingml/2006/main">
            <a:off x="3076575" y="3766185"/>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Choose an engagement approach for each.</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56a65aa078642f0"/>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5" name="www.newton.university">
            <a:extLst xmlns:a="http://schemas.openxmlformats.org/drawingml/2006/main">
              <a:ext uri="{FF2B5EF4-FFF2-40B4-BE49-F238E27FC236}">
                <a16:creationId xmlns:a16="http://schemas.microsoft.com/office/drawing/2014/main" id="{394BD8E5-E0FD-4F2D-AFB0-765FBC310E61}"/>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6" name="12">
            <a:extLst xmlns:a="http://schemas.openxmlformats.org/drawingml/2006/main">
              <a:ext uri="{FF2B5EF4-FFF2-40B4-BE49-F238E27FC236}">
                <a16:creationId xmlns:a16="http://schemas.microsoft.com/office/drawing/2014/main" id="{377907CE-5A60-4832-86E3-6BF0D53F65E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12</a:t>
            </a:r>
          </a:p>
        </p:txBody>
      </p:sp>
    </p:spTree>
    <p:extLst>
      <p:ext uri="{BB962C8B-B14F-4D97-AF65-F5344CB8AC3E}">
        <p14:creationId xmlns:p14="http://schemas.microsoft.com/office/powerpoint/2010/main" val="1965162854"/>
      </p:ext>
    </p:extLst>
  </p:cSld>
</p:sld>
</file>

<file path=ppt/slides/slide13.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6A19B55E-A346-4C1F-91FF-05A8EFA2000B}"/>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Break">
            <a:extLst xmlns:a="http://schemas.openxmlformats.org/drawingml/2006/main">
              <a:ext uri="{FF2B5EF4-FFF2-40B4-BE49-F238E27FC236}">
                <a16:creationId xmlns:a16="http://schemas.microsoft.com/office/drawing/2014/main" id="{78A062CF-AF7B-48A2-9DB2-E48DC138A8D9}"/>
              </a:ext>
            </a:extLst>
          </p:cNvPr>
          <p:cNvSpPr>
            <a:spLocks xmlns:a="http://schemas.openxmlformats.org/drawingml/2006/main" noGrp="1"/>
          </p:cNvSpPr>
          <p:nvPr/>
        </p:nvSpPr>
        <p:spPr>
          <a:xfrm xmlns:a="http://schemas.openxmlformats.org/drawingml/2006/main">
            <a:off x="495300" y="962025"/>
            <a:ext cx="714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950" b="0">
                <a:solidFill>
                  <a:srgbClr val="173E35"/>
                </a:solidFill>
                <a:latin typeface="Georgia"/>
                <a:ea typeface="Georgia"/>
                <a:cs typeface="Georgia"/>
              </a:defRPr>
            </a:pPr>
            <a:r>
              <a:rPr sz="7950" b="0">
                <a:solidFill>
                  <a:srgbClr val="173E35"/>
                </a:solidFill>
                <a:latin typeface="Georgia"/>
                <a:ea typeface="Georgia"/>
                <a:cs typeface="Georgia"/>
              </a:rPr>
              <a:t>Break</a:t>
            </a:r>
          </a:p>
        </p:txBody>
      </p:sp>
      <p:sp>
        <p:nvSpPr>
          <p:cNvPr id="3" name="Editorial frame">
            <a:extLst xmlns:a="http://schemas.openxmlformats.org/drawingml/2006/main">
              <a:ext uri="{FF2B5EF4-FFF2-40B4-BE49-F238E27FC236}">
                <a16:creationId xmlns:a16="http://schemas.microsoft.com/office/drawing/2014/main" id="{3F387080-B019-43AE-88B3-8C0EB1571695}"/>
              </a:ext>
            </a:extLst>
          </p:cNvPr>
          <p:cNvSpPr>
            <a:spLocks xmlns:a="http://schemas.openxmlformats.org/drawingml/2006/main" noGrp="1"/>
          </p:cNvSpPr>
          <p:nvPr/>
        </p:nvSpPr>
        <p:spPr>
          <a:xfrm xmlns:a="http://schemas.openxmlformats.org/drawingml/2006/main">
            <a:off x="495300" y="2819400"/>
            <a:ext cx="1714500" cy="952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4" name="Second half — Sustainability Communication, Smart ">
            <a:extLst xmlns:a="http://schemas.openxmlformats.org/drawingml/2006/main">
              <a:ext uri="{FF2B5EF4-FFF2-40B4-BE49-F238E27FC236}">
                <a16:creationId xmlns:a16="http://schemas.microsoft.com/office/drawing/2014/main" id="{0E13EF74-67E2-441F-AA6B-BADEB1325EAB}"/>
              </a:ext>
            </a:extLst>
          </p:cNvPr>
          <p:cNvSpPr>
            <a:spLocks xmlns:a="http://schemas.openxmlformats.org/drawingml/2006/main" noGrp="1"/>
          </p:cNvSpPr>
          <p:nvPr/>
        </p:nvSpPr>
        <p:spPr>
          <a:xfrm xmlns:a="http://schemas.openxmlformats.org/drawingml/2006/main">
            <a:off x="523875" y="3228975"/>
            <a:ext cx="742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73E35"/>
                </a:solidFill>
                <a:latin typeface="Arial"/>
                <a:ea typeface="Arial"/>
                <a:cs typeface="Arial"/>
              </a:defRPr>
            </a:pPr>
            <a:r>
              <a:rPr sz="2175" b="0">
                <a:solidFill>
                  <a:srgbClr val="173E35"/>
                </a:solidFill>
                <a:latin typeface="Arial"/>
                <a:ea typeface="Arial"/>
                <a:cs typeface="Arial"/>
              </a:rPr>
              <a:t>Second half — Sustainability Communication, Smart Cities</a:t>
            </a:r>
          </a:p>
          <a:p xmlns:a="http://schemas.openxmlformats.org/drawingml/2006/main">
            <a:pPr>
              <a:defRPr sz="2175" b="0">
                <a:solidFill>
                  <a:srgbClr val="173E35"/>
                </a:solidFill>
                <a:latin typeface="Arial"/>
                <a:ea typeface="Arial"/>
                <a:cs typeface="Arial"/>
              </a:defRPr>
            </a:pPr>
            <a:r>
              <a:rPr sz="2175" b="0">
                <a:solidFill>
                  <a:srgbClr val="173E35"/>
                </a:solidFill>
                <a:latin typeface="Arial"/>
                <a:ea typeface="Arial"/>
                <a:cs typeface="Arial"/>
              </a:rPr>
              <a:t>and Green Infrastructure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7cce7540aff485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6D4F1FEB-8EAF-4A1A-9D7E-EAED8DCB162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13">
            <a:extLst xmlns:a="http://schemas.openxmlformats.org/drawingml/2006/main">
              <a:ext uri="{FF2B5EF4-FFF2-40B4-BE49-F238E27FC236}">
                <a16:creationId xmlns:a16="http://schemas.microsoft.com/office/drawing/2014/main" id="{44B966B4-07CB-45F9-A40B-BF6872943F02}"/>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13</a:t>
            </a:r>
          </a:p>
        </p:txBody>
      </p:sp>
    </p:spTree>
    <p:extLst>
      <p:ext uri="{BB962C8B-B14F-4D97-AF65-F5344CB8AC3E}">
        <p14:creationId xmlns:p14="http://schemas.microsoft.com/office/powerpoint/2010/main" val="50076820"/>
      </p:ext>
    </p:extLst>
  </p:cSld>
</p:sld>
</file>

<file path=ppt/slides/slide14.xml><?xml version="1.0" encoding="utf-8"?>
<p:sld xmlns:p="http://schemas.openxmlformats.org/presentationml/2006/main">
  <p:cSld>
    <p:bg>
      <p:bgPr>
        <a:solidFill xmlns:a="http://schemas.openxmlformats.org/drawingml/2006/main">
          <a:srgbClr val="203C45"/>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0106BD5B-381D-428B-BBE0-F2C7BFA57F6C}"/>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art 4">
            <a:extLst xmlns:a="http://schemas.openxmlformats.org/drawingml/2006/main">
              <a:ext uri="{FF2B5EF4-FFF2-40B4-BE49-F238E27FC236}">
                <a16:creationId xmlns:a16="http://schemas.microsoft.com/office/drawing/2014/main" id="{627C22AF-BB0B-4396-BA4A-5F1555FB8D86}"/>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4</a:t>
            </a:r>
          </a:p>
        </p:txBody>
      </p:sp>
      <p:sp>
        <p:nvSpPr>
          <p:cNvPr id="3" name="04">
            <a:extLst xmlns:a="http://schemas.openxmlformats.org/drawingml/2006/main">
              <a:ext uri="{FF2B5EF4-FFF2-40B4-BE49-F238E27FC236}">
                <a16:creationId xmlns:a16="http://schemas.microsoft.com/office/drawing/2014/main" id="{9796E79E-8D9D-4DDC-B323-8EB8AE2A46E7}"/>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819E89"/>
                </a:solidFill>
                <a:latin typeface="Georgia"/>
                <a:ea typeface="Georgia"/>
                <a:cs typeface="Georgia"/>
              </a:defRPr>
            </a:pPr>
            <a:r>
              <a:rPr sz="7875" b="0">
                <a:solidFill>
                  <a:srgbClr val="819E89"/>
                </a:solidFill>
                <a:latin typeface="Georgia"/>
                <a:ea typeface="Georgia"/>
                <a:cs typeface="Georgia"/>
              </a:rPr>
              <a:t>04</a:t>
            </a:r>
          </a:p>
        </p:txBody>
      </p:sp>
      <p:sp>
        <p:nvSpPr>
          <p:cNvPr id="4" name="Communicating Sustainability">
            <a:extLst xmlns:a="http://schemas.openxmlformats.org/drawingml/2006/main">
              <a:ext uri="{FF2B5EF4-FFF2-40B4-BE49-F238E27FC236}">
                <a16:creationId xmlns:a16="http://schemas.microsoft.com/office/drawing/2014/main" id="{2CFDE0DE-C501-465E-B9CA-6F11E88C2C51}"/>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Communicating Sustainability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c8c71366cf34d57"/>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DFE6669B-B805-4E3E-8618-DFE6D6D82BC7}"/>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14">
            <a:extLst xmlns:a="http://schemas.openxmlformats.org/drawingml/2006/main">
              <a:ext uri="{FF2B5EF4-FFF2-40B4-BE49-F238E27FC236}">
                <a16:creationId xmlns:a16="http://schemas.microsoft.com/office/drawing/2014/main" id="{1434FDAB-981E-45D9-9808-DE534006C0F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14</a:t>
            </a:r>
          </a:p>
        </p:txBody>
      </p:sp>
    </p:spTree>
    <p:extLst>
      <p:ext uri="{BB962C8B-B14F-4D97-AF65-F5344CB8AC3E}">
        <p14:creationId xmlns:p14="http://schemas.microsoft.com/office/powerpoint/2010/main" val="413593566"/>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Principles of Credible Communication">
            <a:extLst xmlns:a="http://schemas.openxmlformats.org/drawingml/2006/main">
              <a:ext uri="{FF2B5EF4-FFF2-40B4-BE49-F238E27FC236}">
                <a16:creationId xmlns:a16="http://schemas.microsoft.com/office/drawing/2014/main" id="{7598D2B4-1314-4FBA-8D16-D09011CA0FD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Principles of Credible Communication</a:t>
            </a:r>
          </a:p>
        </p:txBody>
      </p:sp>
      <p:sp>
        <p:nvSpPr>
          <p:cNvPr id="2" name="Editorial frame">
            <a:extLst xmlns:a="http://schemas.openxmlformats.org/drawingml/2006/main">
              <a:ext uri="{FF2B5EF4-FFF2-40B4-BE49-F238E27FC236}">
                <a16:creationId xmlns:a16="http://schemas.microsoft.com/office/drawing/2014/main" id="{48615992-F2D3-4602-9FF1-A8FCC30C4532}"/>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F324D97E-9CC7-48ED-A190-D775D3532B8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028E526A-8576-48D8-8D6F-9D9E33E048EE}"/>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Be specific: a claim needs a metric, boundary, bas">
            <a:extLst xmlns:a="http://schemas.openxmlformats.org/drawingml/2006/main">
              <a:ext uri="{FF2B5EF4-FFF2-40B4-BE49-F238E27FC236}">
                <a16:creationId xmlns:a16="http://schemas.microsoft.com/office/drawing/2014/main" id="{9561DCF2-3B06-4449-B1EB-5FAD30AD460F}"/>
              </a:ext>
            </a:extLst>
          </p:cNvPr>
          <p:cNvSpPr>
            <a:spLocks xmlns:a="http://schemas.openxmlformats.org/drawingml/2006/main" noGrp="1"/>
          </p:cNvSpPr>
          <p:nvPr/>
        </p:nvSpPr>
        <p:spPr>
          <a:xfrm xmlns:a="http://schemas.openxmlformats.org/drawingml/2006/main">
            <a:off x="495300" y="155257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Be specific: a claim needs a metric, boundary,</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baseline and period.</a:t>
            </a:r>
          </a:p>
        </p:txBody>
      </p:sp>
      <p:sp>
        <p:nvSpPr>
          <p:cNvPr id="6" name="Evidence attached: data, methodology, third-party ">
            <a:extLst xmlns:a="http://schemas.openxmlformats.org/drawingml/2006/main">
              <a:ext uri="{FF2B5EF4-FFF2-40B4-BE49-F238E27FC236}">
                <a16:creationId xmlns:a16="http://schemas.microsoft.com/office/drawing/2014/main" id="{1FF7E108-FE22-4DC2-BFBE-8DB01A2F9C9A}"/>
              </a:ext>
            </a:extLst>
          </p:cNvPr>
          <p:cNvSpPr>
            <a:spLocks xmlns:a="http://schemas.openxmlformats.org/drawingml/2006/main" noGrp="1"/>
          </p:cNvSpPr>
          <p:nvPr/>
        </p:nvSpPr>
        <p:spPr>
          <a:xfrm xmlns:a="http://schemas.openxmlformats.org/drawingml/2006/main">
            <a:off x="495300" y="222504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Evidence attached: data, methodology,</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third-party verification.</a:t>
            </a:r>
          </a:p>
        </p:txBody>
      </p:sp>
      <p:sp>
        <p:nvSpPr>
          <p:cNvPr id="7" name="Whole picture: report the misses, not only the win">
            <a:extLst xmlns:a="http://schemas.openxmlformats.org/drawingml/2006/main">
              <a:ext uri="{FF2B5EF4-FFF2-40B4-BE49-F238E27FC236}">
                <a16:creationId xmlns:a16="http://schemas.microsoft.com/office/drawing/2014/main" id="{D5B75A27-F478-4BC0-8C18-2BE40A30448D}"/>
              </a:ext>
            </a:extLst>
          </p:cNvPr>
          <p:cNvSpPr>
            <a:spLocks xmlns:a="http://schemas.openxmlformats.org/drawingml/2006/main" noGrp="1"/>
          </p:cNvSpPr>
          <p:nvPr/>
        </p:nvSpPr>
        <p:spPr>
          <a:xfrm xmlns:a="http://schemas.openxmlformats.org/drawingml/2006/main">
            <a:off x="495300" y="289750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Whole picture: report the misses, not only the</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wins.</a:t>
            </a:r>
          </a:p>
        </p:txBody>
      </p:sp>
      <p:sp>
        <p:nvSpPr>
          <p:cNvPr id="8" name="Audience-fit: investors need numbers, citizens nee">
            <a:extLst xmlns:a="http://schemas.openxmlformats.org/drawingml/2006/main">
              <a:ext uri="{FF2B5EF4-FFF2-40B4-BE49-F238E27FC236}">
                <a16:creationId xmlns:a16="http://schemas.microsoft.com/office/drawing/2014/main" id="{D447CD3D-8337-4012-94DC-D3DEA2F6FAD6}"/>
              </a:ext>
            </a:extLst>
          </p:cNvPr>
          <p:cNvSpPr>
            <a:spLocks xmlns:a="http://schemas.openxmlformats.org/drawingml/2006/main" noGrp="1"/>
          </p:cNvSpPr>
          <p:nvPr/>
        </p:nvSpPr>
        <p:spPr>
          <a:xfrm xmlns:a="http://schemas.openxmlformats.org/drawingml/2006/main">
            <a:off x="495300" y="356997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Audience-fit: investors need numbers, citizens</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need stories, both need honesty.</a:t>
            </a:r>
          </a:p>
        </p:txBody>
      </p:sp>
      <p:sp>
        <p:nvSpPr>
          <p:cNvPr id="9" name="Discussion">
            <a:extLst xmlns:a="http://schemas.openxmlformats.org/drawingml/2006/main">
              <a:ext uri="{FF2B5EF4-FFF2-40B4-BE49-F238E27FC236}">
                <a16:creationId xmlns:a16="http://schemas.microsoft.com/office/drawing/2014/main" id="{A0498D58-9AFC-4DA4-924C-3DA739351EF1}"/>
              </a:ext>
            </a:extLst>
          </p:cNvPr>
          <p:cNvSpPr>
            <a:spLocks xmlns:a="http://schemas.openxmlformats.org/drawingml/2006/main" noGrp="1"/>
          </p:cNvSpPr>
          <p:nvPr/>
        </p:nvSpPr>
        <p:spPr>
          <a:xfrm xmlns:a="http://schemas.openxmlformats.org/drawingml/2006/main">
            <a:off x="6067425" y="1657350"/>
            <a:ext cx="2514600"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Discussion</a:t>
            </a:r>
          </a:p>
        </p:txBody>
      </p:sp>
      <p:sp>
        <p:nvSpPr>
          <p:cNvPr id="10" name="Find a sustainability claim in an ad you have seen">
            <a:extLst xmlns:a="http://schemas.openxmlformats.org/drawingml/2006/main">
              <a:ext uri="{FF2B5EF4-FFF2-40B4-BE49-F238E27FC236}">
                <a16:creationId xmlns:a16="http://schemas.microsoft.com/office/drawing/2014/main" id="{4F5F2E7D-8461-4E68-ADE2-9915E6AC3BA9}"/>
              </a:ext>
            </a:extLst>
          </p:cNvPr>
          <p:cNvSpPr>
            <a:spLocks xmlns:a="http://schemas.openxmlformats.org/drawingml/2006/main" noGrp="1"/>
          </p:cNvSpPr>
          <p:nvPr/>
        </p:nvSpPr>
        <p:spPr>
          <a:xfrm xmlns:a="http://schemas.openxmlformats.org/drawingml/2006/main">
            <a:off x="6067425" y="2120265"/>
            <a:ext cx="25146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Find a sustainability</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claim in an ad you</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have seen recently.</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Would it survive these</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tests?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9acbc89eefc4748"/>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41919C9D-D69D-489A-A38B-2ECBBF6A3CBE}"/>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15">
            <a:extLst xmlns:a="http://schemas.openxmlformats.org/drawingml/2006/main">
              <a:ext uri="{FF2B5EF4-FFF2-40B4-BE49-F238E27FC236}">
                <a16:creationId xmlns:a16="http://schemas.microsoft.com/office/drawing/2014/main" id="{03AC5C92-A708-4EE2-980F-AF04B8CD138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15</a:t>
            </a:r>
          </a:p>
        </p:txBody>
      </p:sp>
    </p:spTree>
    <p:extLst>
      <p:ext uri="{BB962C8B-B14F-4D97-AF65-F5344CB8AC3E}">
        <p14:creationId xmlns:p14="http://schemas.microsoft.com/office/powerpoint/2010/main" val="1217025957"/>
      </p:ext>
    </p:extLst>
  </p:cSld>
</p:sld>
</file>

<file path=ppt/slides/slide16.xml><?xml version="1.0" encoding="utf-8"?>
<p:sld xmlns:p="http://schemas.openxmlformats.org/presentationml/2006/main">
  <p:cSld>
    <p:bg>
      <p:bgPr>
        <a:solidFill xmlns:a="http://schemas.openxmlformats.org/drawingml/2006/main">
          <a:srgbClr val="F0E9DA"/>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9A047859-15B5-420F-8A30-6695F0F869C4}"/>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Part 5">
            <a:extLst xmlns:a="http://schemas.openxmlformats.org/drawingml/2006/main">
              <a:ext uri="{FF2B5EF4-FFF2-40B4-BE49-F238E27FC236}">
                <a16:creationId xmlns:a16="http://schemas.microsoft.com/office/drawing/2014/main" id="{66A7A178-8CC1-4013-8C0C-03B7368B79A9}"/>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8665B"/>
                </a:solidFill>
                <a:latin typeface="Arial"/>
                <a:ea typeface="Arial"/>
                <a:cs typeface="Arial"/>
              </a:defRPr>
            </a:pPr>
            <a:r>
              <a:rPr sz="1500" b="0">
                <a:solidFill>
                  <a:srgbClr val="58665B"/>
                </a:solidFill>
                <a:latin typeface="Arial"/>
                <a:ea typeface="Arial"/>
                <a:cs typeface="Arial"/>
              </a:rPr>
              <a:t>Part 5</a:t>
            </a:r>
          </a:p>
        </p:txBody>
      </p:sp>
      <p:sp>
        <p:nvSpPr>
          <p:cNvPr id="3" name="05">
            <a:extLst xmlns:a="http://schemas.openxmlformats.org/drawingml/2006/main">
              <a:ext uri="{FF2B5EF4-FFF2-40B4-BE49-F238E27FC236}">
                <a16:creationId xmlns:a16="http://schemas.microsoft.com/office/drawing/2014/main" id="{60020C6E-56AD-40C5-B768-12B84753E5DA}"/>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B56647"/>
                </a:solidFill>
                <a:latin typeface="Georgia"/>
                <a:ea typeface="Georgia"/>
                <a:cs typeface="Georgia"/>
              </a:defRPr>
            </a:pPr>
            <a:r>
              <a:rPr sz="7875" b="0">
                <a:solidFill>
                  <a:srgbClr val="B56647"/>
                </a:solidFill>
                <a:latin typeface="Georgia"/>
                <a:ea typeface="Georgia"/>
                <a:cs typeface="Georgia"/>
              </a:rPr>
              <a:t>05</a:t>
            </a:r>
          </a:p>
        </p:txBody>
      </p:sp>
      <p:sp>
        <p:nvSpPr>
          <p:cNvPr id="4" name="Greenwashing">
            <a:extLst xmlns:a="http://schemas.openxmlformats.org/drawingml/2006/main">
              <a:ext uri="{FF2B5EF4-FFF2-40B4-BE49-F238E27FC236}">
                <a16:creationId xmlns:a16="http://schemas.microsoft.com/office/drawing/2014/main" id="{DAFDF0B7-2000-40F5-A0C0-50B764E591D9}"/>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Greenwashing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f41e166b6d945cd"/>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695FB29B-C364-4B62-8210-A9737C5CC95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16">
            <a:extLst xmlns:a="http://schemas.openxmlformats.org/drawingml/2006/main">
              <a:ext uri="{FF2B5EF4-FFF2-40B4-BE49-F238E27FC236}">
                <a16:creationId xmlns:a16="http://schemas.microsoft.com/office/drawing/2014/main" id="{944BE87F-7992-47D4-A82F-0BE78FD0D1C9}"/>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16</a:t>
            </a:r>
          </a:p>
        </p:txBody>
      </p:sp>
    </p:spTree>
    <p:extLst>
      <p:ext uri="{BB962C8B-B14F-4D97-AF65-F5344CB8AC3E}">
        <p14:creationId xmlns:p14="http://schemas.microsoft.com/office/powerpoint/2010/main" val="1905681730"/>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The Seven Sins of Greenwashing">
            <a:extLst xmlns:a="http://schemas.openxmlformats.org/drawingml/2006/main">
              <a:ext uri="{FF2B5EF4-FFF2-40B4-BE49-F238E27FC236}">
                <a16:creationId xmlns:a16="http://schemas.microsoft.com/office/drawing/2014/main" id="{DEC5890C-3ACB-4814-930E-C17B7ECD3101}"/>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The Seven Sins of Greenwashing</a:t>
            </a:r>
          </a:p>
        </p:txBody>
      </p:sp>
      <p:sp>
        <p:nvSpPr>
          <p:cNvPr id="2" name="Editorial frame">
            <a:extLst xmlns:a="http://schemas.openxmlformats.org/drawingml/2006/main">
              <a:ext uri="{FF2B5EF4-FFF2-40B4-BE49-F238E27FC236}">
                <a16:creationId xmlns:a16="http://schemas.microsoft.com/office/drawing/2014/main" id="{EB596C13-BA3F-43DB-89AA-886037C98C99}"/>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A8A41B0B-42FA-48FE-93AC-3AC1C16BC8F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TerraChoice's teaching taxonomy for recognizing mi">
            <a:extLst xmlns:a="http://schemas.openxmlformats.org/drawingml/2006/main">
              <a:ext uri="{FF2B5EF4-FFF2-40B4-BE49-F238E27FC236}">
                <a16:creationId xmlns:a16="http://schemas.microsoft.com/office/drawing/2014/main" id="{2DD5C143-C119-43CF-A2E3-2A1715D2759F}"/>
              </a:ext>
            </a:extLst>
          </p:cNvPr>
          <p:cNvSpPr>
            <a:spLocks xmlns:a="http://schemas.openxmlformats.org/drawingml/2006/main" noGrp="1"/>
          </p:cNvSpPr>
          <p:nvPr/>
        </p:nvSpPr>
        <p:spPr>
          <a:xfrm xmlns:a="http://schemas.openxmlformats.org/drawingml/2006/main">
            <a:off x="495300" y="1476375"/>
            <a:ext cx="80486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TerraChoice's teaching taxonomy for recognizing misleading claims:</a:t>
            </a:r>
          </a:p>
        </p:txBody>
      </p:sp>
      <p:sp>
        <p:nvSpPr>
          <p:cNvPr id="5" name="Editorial frame">
            <a:extLst xmlns:a="http://schemas.openxmlformats.org/drawingml/2006/main">
              <a:ext uri="{FF2B5EF4-FFF2-40B4-BE49-F238E27FC236}">
                <a16:creationId xmlns:a16="http://schemas.microsoft.com/office/drawing/2014/main" id="{6E1E80B5-5379-4880-BF86-24DF7BF88D3F}"/>
              </a:ext>
            </a:extLst>
          </p:cNvPr>
          <p:cNvSpPr>
            <a:spLocks xmlns:a="http://schemas.openxmlformats.org/drawingml/2006/main" noGrp="1"/>
          </p:cNvSpPr>
          <p:nvPr/>
        </p:nvSpPr>
        <p:spPr>
          <a:xfrm xmlns:a="http://schemas.openxmlformats.org/drawingml/2006/main">
            <a:off x="361950" y="1946910"/>
            <a:ext cx="4238625" cy="2796540"/>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5CE1690F-3FF5-410B-8388-7287F844482A}"/>
              </a:ext>
            </a:extLst>
          </p:cNvPr>
          <p:cNvSpPr>
            <a:spLocks xmlns:a="http://schemas.openxmlformats.org/drawingml/2006/main" noGrp="1"/>
          </p:cNvSpPr>
          <p:nvPr/>
        </p:nvSpPr>
        <p:spPr>
          <a:xfrm xmlns:a="http://schemas.openxmlformats.org/drawingml/2006/main">
            <a:off x="361950" y="1946910"/>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7" name="Common sins">
            <a:extLst xmlns:a="http://schemas.openxmlformats.org/drawingml/2006/main">
              <a:ext uri="{FF2B5EF4-FFF2-40B4-BE49-F238E27FC236}">
                <a16:creationId xmlns:a16="http://schemas.microsoft.com/office/drawing/2014/main" id="{9CD2AD86-B7D8-4BAB-8FBE-8B2402AF87FF}"/>
              </a:ext>
            </a:extLst>
          </p:cNvPr>
          <p:cNvSpPr>
            <a:spLocks xmlns:a="http://schemas.openxmlformats.org/drawingml/2006/main" noGrp="1"/>
          </p:cNvSpPr>
          <p:nvPr/>
        </p:nvSpPr>
        <p:spPr>
          <a:xfrm xmlns:a="http://schemas.openxmlformats.org/drawingml/2006/main">
            <a:off x="495300" y="2127885"/>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Common sins</a:t>
            </a:r>
          </a:p>
        </p:txBody>
      </p:sp>
      <p:sp>
        <p:nvSpPr>
          <p:cNvPr id="8" name="Hidden trade-off">
            <a:extLst xmlns:a="http://schemas.openxmlformats.org/drawingml/2006/main">
              <a:ext uri="{FF2B5EF4-FFF2-40B4-BE49-F238E27FC236}">
                <a16:creationId xmlns:a16="http://schemas.microsoft.com/office/drawing/2014/main" id="{CEDA5FD5-7FBD-4D07-ACED-42DE473A998D}"/>
              </a:ext>
            </a:extLst>
          </p:cNvPr>
          <p:cNvSpPr>
            <a:spLocks xmlns:a="http://schemas.openxmlformats.org/drawingml/2006/main" noGrp="1"/>
          </p:cNvSpPr>
          <p:nvPr/>
        </p:nvSpPr>
        <p:spPr>
          <a:xfrm xmlns:a="http://schemas.openxmlformats.org/drawingml/2006/main">
            <a:off x="495300" y="257937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Hidden trade-off</a:t>
            </a:r>
          </a:p>
        </p:txBody>
      </p:sp>
      <p:sp>
        <p:nvSpPr>
          <p:cNvPr id="9" name="No proof">
            <a:extLst xmlns:a="http://schemas.openxmlformats.org/drawingml/2006/main">
              <a:ext uri="{FF2B5EF4-FFF2-40B4-BE49-F238E27FC236}">
                <a16:creationId xmlns:a16="http://schemas.microsoft.com/office/drawing/2014/main" id="{DD9BFFC3-47E6-4F55-A064-3C597BE5E1CF}"/>
              </a:ext>
            </a:extLst>
          </p:cNvPr>
          <p:cNvSpPr>
            <a:spLocks xmlns:a="http://schemas.openxmlformats.org/drawingml/2006/main" noGrp="1"/>
          </p:cNvSpPr>
          <p:nvPr/>
        </p:nvSpPr>
        <p:spPr>
          <a:xfrm xmlns:a="http://schemas.openxmlformats.org/drawingml/2006/main">
            <a:off x="495300" y="296608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No proof</a:t>
            </a:r>
          </a:p>
        </p:txBody>
      </p:sp>
      <p:sp>
        <p:nvSpPr>
          <p:cNvPr id="10" name="Vagueness">
            <a:extLst xmlns:a="http://schemas.openxmlformats.org/drawingml/2006/main">
              <a:ext uri="{FF2B5EF4-FFF2-40B4-BE49-F238E27FC236}">
                <a16:creationId xmlns:a16="http://schemas.microsoft.com/office/drawing/2014/main" id="{E118FABF-215D-4CCE-BF25-AE7292D0B203}"/>
              </a:ext>
            </a:extLst>
          </p:cNvPr>
          <p:cNvSpPr>
            <a:spLocks xmlns:a="http://schemas.openxmlformats.org/drawingml/2006/main" noGrp="1"/>
          </p:cNvSpPr>
          <p:nvPr/>
        </p:nvSpPr>
        <p:spPr>
          <a:xfrm xmlns:a="http://schemas.openxmlformats.org/drawingml/2006/main">
            <a:off x="495300" y="335280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Vagueness</a:t>
            </a:r>
          </a:p>
        </p:txBody>
      </p:sp>
      <p:sp>
        <p:nvSpPr>
          <p:cNvPr id="11" name="Irrelevance">
            <a:extLst xmlns:a="http://schemas.openxmlformats.org/drawingml/2006/main">
              <a:ext uri="{FF2B5EF4-FFF2-40B4-BE49-F238E27FC236}">
                <a16:creationId xmlns:a16="http://schemas.microsoft.com/office/drawing/2014/main" id="{84E0A252-5B1F-4C32-9C74-0AF0D32AFEC9}"/>
              </a:ext>
            </a:extLst>
          </p:cNvPr>
          <p:cNvSpPr>
            <a:spLocks xmlns:a="http://schemas.openxmlformats.org/drawingml/2006/main" noGrp="1"/>
          </p:cNvSpPr>
          <p:nvPr/>
        </p:nvSpPr>
        <p:spPr>
          <a:xfrm xmlns:a="http://schemas.openxmlformats.org/drawingml/2006/main">
            <a:off x="495300" y="373951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Irrelevance</a:t>
            </a:r>
          </a:p>
        </p:txBody>
      </p:sp>
      <p:sp>
        <p:nvSpPr>
          <p:cNvPr id="12" name="Editorial frame">
            <a:extLst xmlns:a="http://schemas.openxmlformats.org/drawingml/2006/main">
              <a:ext uri="{FF2B5EF4-FFF2-40B4-BE49-F238E27FC236}">
                <a16:creationId xmlns:a16="http://schemas.microsoft.com/office/drawing/2014/main" id="{D5825F51-6602-4017-8FAC-C6E961186EE7}"/>
              </a:ext>
            </a:extLst>
          </p:cNvPr>
          <p:cNvSpPr>
            <a:spLocks xmlns:a="http://schemas.openxmlformats.org/drawingml/2006/main" noGrp="1"/>
          </p:cNvSpPr>
          <p:nvPr/>
        </p:nvSpPr>
        <p:spPr>
          <a:xfrm xmlns:a="http://schemas.openxmlformats.org/drawingml/2006/main">
            <a:off x="4543425" y="1946910"/>
            <a:ext cx="4238625" cy="2796540"/>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3" name="Editorial frame">
            <a:extLst xmlns:a="http://schemas.openxmlformats.org/drawingml/2006/main">
              <a:ext uri="{FF2B5EF4-FFF2-40B4-BE49-F238E27FC236}">
                <a16:creationId xmlns:a16="http://schemas.microsoft.com/office/drawing/2014/main" id="{F09122F3-594E-49DD-B42A-EF8BEE23268F}"/>
              </a:ext>
            </a:extLst>
          </p:cNvPr>
          <p:cNvSpPr>
            <a:spLocks xmlns:a="http://schemas.openxmlformats.org/drawingml/2006/main" noGrp="1"/>
          </p:cNvSpPr>
          <p:nvPr/>
        </p:nvSpPr>
        <p:spPr>
          <a:xfrm xmlns:a="http://schemas.openxmlformats.org/drawingml/2006/main">
            <a:off x="4543425" y="1946910"/>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4" name="Worse sins">
            <a:extLst xmlns:a="http://schemas.openxmlformats.org/drawingml/2006/main">
              <a:ext uri="{FF2B5EF4-FFF2-40B4-BE49-F238E27FC236}">
                <a16:creationId xmlns:a16="http://schemas.microsoft.com/office/drawing/2014/main" id="{56F7B593-D372-4E12-943D-66A3E29F74BB}"/>
              </a:ext>
            </a:extLst>
          </p:cNvPr>
          <p:cNvSpPr>
            <a:spLocks xmlns:a="http://schemas.openxmlformats.org/drawingml/2006/main" noGrp="1"/>
          </p:cNvSpPr>
          <p:nvPr/>
        </p:nvSpPr>
        <p:spPr>
          <a:xfrm xmlns:a="http://schemas.openxmlformats.org/drawingml/2006/main">
            <a:off x="4676775" y="2127885"/>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Worse sins</a:t>
            </a:r>
          </a:p>
        </p:txBody>
      </p:sp>
      <p:sp>
        <p:nvSpPr>
          <p:cNvPr id="15" name="Lesser of two evils">
            <a:extLst xmlns:a="http://schemas.openxmlformats.org/drawingml/2006/main">
              <a:ext uri="{FF2B5EF4-FFF2-40B4-BE49-F238E27FC236}">
                <a16:creationId xmlns:a16="http://schemas.microsoft.com/office/drawing/2014/main" id="{F737A699-C2CC-47DE-91A4-28AE40ED5754}"/>
              </a:ext>
            </a:extLst>
          </p:cNvPr>
          <p:cNvSpPr>
            <a:spLocks xmlns:a="http://schemas.openxmlformats.org/drawingml/2006/main" noGrp="1"/>
          </p:cNvSpPr>
          <p:nvPr/>
        </p:nvSpPr>
        <p:spPr>
          <a:xfrm xmlns:a="http://schemas.openxmlformats.org/drawingml/2006/main">
            <a:off x="4676775" y="257937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Lesser of two evils</a:t>
            </a:r>
          </a:p>
        </p:txBody>
      </p:sp>
      <p:sp>
        <p:nvSpPr>
          <p:cNvPr id="16" name="Fibbing">
            <a:extLst xmlns:a="http://schemas.openxmlformats.org/drawingml/2006/main">
              <a:ext uri="{FF2B5EF4-FFF2-40B4-BE49-F238E27FC236}">
                <a16:creationId xmlns:a16="http://schemas.microsoft.com/office/drawing/2014/main" id="{1BE851B2-CDED-4D88-99F9-42B0FE8F72FC}"/>
              </a:ext>
            </a:extLst>
          </p:cNvPr>
          <p:cNvSpPr>
            <a:spLocks xmlns:a="http://schemas.openxmlformats.org/drawingml/2006/main" noGrp="1"/>
          </p:cNvSpPr>
          <p:nvPr/>
        </p:nvSpPr>
        <p:spPr>
          <a:xfrm xmlns:a="http://schemas.openxmlformats.org/drawingml/2006/main">
            <a:off x="4676775" y="296608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Fibbing</a:t>
            </a:r>
          </a:p>
        </p:txBody>
      </p:sp>
      <p:sp>
        <p:nvSpPr>
          <p:cNvPr id="17" name="False labels">
            <a:extLst xmlns:a="http://schemas.openxmlformats.org/drawingml/2006/main">
              <a:ext uri="{FF2B5EF4-FFF2-40B4-BE49-F238E27FC236}">
                <a16:creationId xmlns:a16="http://schemas.microsoft.com/office/drawing/2014/main" id="{8DC7E432-F6B5-42BF-8BD3-0F755D0EF069}"/>
              </a:ext>
            </a:extLst>
          </p:cNvPr>
          <p:cNvSpPr>
            <a:spLocks xmlns:a="http://schemas.openxmlformats.org/drawingml/2006/main" noGrp="1"/>
          </p:cNvSpPr>
          <p:nvPr/>
        </p:nvSpPr>
        <p:spPr>
          <a:xfrm xmlns:a="http://schemas.openxmlformats.org/drawingml/2006/main">
            <a:off x="4676775" y="335280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False labels</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fb38bdafa0843fd"/>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9" name="www.newton.university">
            <a:extLst xmlns:a="http://schemas.openxmlformats.org/drawingml/2006/main">
              <a:ext uri="{FF2B5EF4-FFF2-40B4-BE49-F238E27FC236}">
                <a16:creationId xmlns:a16="http://schemas.microsoft.com/office/drawing/2014/main" id="{8A4534FF-C3D4-4756-8B23-C93FC356F03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0" name="17">
            <a:extLst xmlns:a="http://schemas.openxmlformats.org/drawingml/2006/main">
              <a:ext uri="{FF2B5EF4-FFF2-40B4-BE49-F238E27FC236}">
                <a16:creationId xmlns:a16="http://schemas.microsoft.com/office/drawing/2014/main" id="{413B3616-B829-4004-AB91-56CFD51FE759}"/>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17</a:t>
            </a:r>
          </a:p>
        </p:txBody>
      </p:sp>
    </p:spTree>
    <p:extLst>
      <p:ext uri="{BB962C8B-B14F-4D97-AF65-F5344CB8AC3E}">
        <p14:creationId xmlns:p14="http://schemas.microsoft.com/office/powerpoint/2010/main" val="1065952012"/>
      </p:ext>
    </p:extLst>
  </p:cSld>
</p:sld>
</file>

<file path=ppt/slides/slide1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Environmental Claims and EU Rules">
            <a:extLst xmlns:a="http://schemas.openxmlformats.org/drawingml/2006/main">
              <a:ext uri="{FF2B5EF4-FFF2-40B4-BE49-F238E27FC236}">
                <a16:creationId xmlns:a16="http://schemas.microsoft.com/office/drawing/2014/main" id="{4689CA56-AF56-46F2-A4FB-EFCC61A96489}"/>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Environmental Claims and EU Rules</a:t>
            </a:r>
          </a:p>
        </p:txBody>
      </p:sp>
      <p:sp>
        <p:nvSpPr>
          <p:cNvPr id="2" name="Editorial frame">
            <a:extLst xmlns:a="http://schemas.openxmlformats.org/drawingml/2006/main">
              <a:ext uri="{FF2B5EF4-FFF2-40B4-BE49-F238E27FC236}">
                <a16:creationId xmlns:a16="http://schemas.microsoft.com/office/drawing/2014/main" id="{83DE8D7F-7202-4C16-91C0-DF2173CC6600}"/>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13E39328-2546-4E16-8CFF-0A2976A1781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89A96CF9-EA21-48A2-8C3D-023B7C98E7BB}"/>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Directive (EU) 2024/825: national measures apply f">
            <a:extLst xmlns:a="http://schemas.openxmlformats.org/drawingml/2006/main">
              <a:ext uri="{FF2B5EF4-FFF2-40B4-BE49-F238E27FC236}">
                <a16:creationId xmlns:a16="http://schemas.microsoft.com/office/drawing/2014/main" id="{C3F4B904-C632-42A2-9584-D9012938535D}"/>
              </a:ext>
            </a:extLst>
          </p:cNvPr>
          <p:cNvSpPr>
            <a:spLocks xmlns:a="http://schemas.openxmlformats.org/drawingml/2006/main" noGrp="1"/>
          </p:cNvSpPr>
          <p:nvPr/>
        </p:nvSpPr>
        <p:spPr>
          <a:xfrm xmlns:a="http://schemas.openxmlformats.org/drawingml/2006/main">
            <a:off x="495300" y="155257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Directive (EU) 2024/825: national measures</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apply from 27 September 2026.</a:t>
            </a:r>
          </a:p>
        </p:txBody>
      </p:sp>
      <p:sp>
        <p:nvSpPr>
          <p:cNvPr id="6" name="Generic environmental claims require recognized ex">
            <a:extLst xmlns:a="http://schemas.openxmlformats.org/drawingml/2006/main">
              <a:ext uri="{FF2B5EF4-FFF2-40B4-BE49-F238E27FC236}">
                <a16:creationId xmlns:a16="http://schemas.microsoft.com/office/drawing/2014/main" id="{2EA3C17C-5C2F-4172-8089-8A82DF264A2D}"/>
              </a:ext>
            </a:extLst>
          </p:cNvPr>
          <p:cNvSpPr>
            <a:spLocks xmlns:a="http://schemas.openxmlformats.org/drawingml/2006/main" noGrp="1"/>
          </p:cNvSpPr>
          <p:nvPr/>
        </p:nvSpPr>
        <p:spPr>
          <a:xfrm xmlns:a="http://schemas.openxmlformats.org/drawingml/2006/main">
            <a:off x="495300" y="2225040"/>
            <a:ext cx="5019675" cy="851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Generic environmental claims require</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recognized excellent environmental</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performance.</a:t>
            </a:r>
          </a:p>
        </p:txBody>
      </p:sp>
      <p:sp>
        <p:nvSpPr>
          <p:cNvPr id="7" name="Product climate claims based on offsetting emissio">
            <a:extLst xmlns:a="http://schemas.openxmlformats.org/drawingml/2006/main">
              <a:ext uri="{FF2B5EF4-FFF2-40B4-BE49-F238E27FC236}">
                <a16:creationId xmlns:a16="http://schemas.microsoft.com/office/drawing/2014/main" id="{6C8B2091-2279-41E1-882B-13344B7A83E2}"/>
              </a:ext>
            </a:extLst>
          </p:cNvPr>
          <p:cNvSpPr>
            <a:spLocks xmlns:a="http://schemas.openxmlformats.org/drawingml/2006/main" noGrp="1"/>
          </p:cNvSpPr>
          <p:nvPr/>
        </p:nvSpPr>
        <p:spPr>
          <a:xfrm xmlns:a="http://schemas.openxmlformats.org/drawingml/2006/main">
            <a:off x="495300" y="317182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Product climate claims based on offsetting</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emissions are prohibited.</a:t>
            </a:r>
          </a:p>
        </p:txBody>
      </p:sp>
      <p:sp>
        <p:nvSpPr>
          <p:cNvPr id="8" name="Management action">
            <a:extLst xmlns:a="http://schemas.openxmlformats.org/drawingml/2006/main">
              <a:ext uri="{FF2B5EF4-FFF2-40B4-BE49-F238E27FC236}">
                <a16:creationId xmlns:a16="http://schemas.microsoft.com/office/drawing/2014/main" id="{59E5F55E-688F-4ABC-BAF9-AD3C7B9BD5D2}"/>
              </a:ext>
            </a:extLst>
          </p:cNvPr>
          <p:cNvSpPr>
            <a:spLocks xmlns:a="http://schemas.openxmlformats.org/drawingml/2006/main" noGrp="1"/>
          </p:cNvSpPr>
          <p:nvPr/>
        </p:nvSpPr>
        <p:spPr>
          <a:xfrm xmlns:a="http://schemas.openxmlformats.org/drawingml/2006/main">
            <a:off x="6067425" y="1657350"/>
            <a:ext cx="2514600"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Management action</a:t>
            </a:r>
          </a:p>
        </p:txBody>
      </p:sp>
      <p:sp>
        <p:nvSpPr>
          <p:cNvPr id="9" name="Check the specific wording, evidence and applicabl">
            <a:extLst xmlns:a="http://schemas.openxmlformats.org/drawingml/2006/main">
              <a:ext uri="{FF2B5EF4-FFF2-40B4-BE49-F238E27FC236}">
                <a16:creationId xmlns:a16="http://schemas.microsoft.com/office/drawing/2014/main" id="{83AAF5CE-5DC4-4B17-9866-8E2DEBD72074}"/>
              </a:ext>
            </a:extLst>
          </p:cNvPr>
          <p:cNvSpPr>
            <a:spLocks xmlns:a="http://schemas.openxmlformats.org/drawingml/2006/main" noGrp="1"/>
          </p:cNvSpPr>
          <p:nvPr/>
        </p:nvSpPr>
        <p:spPr>
          <a:xfrm xmlns:a="http://schemas.openxmlformats.org/drawingml/2006/main">
            <a:off x="6067425" y="2120265"/>
            <a:ext cx="25146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Check the specific</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wording, evidence</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and applicable</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national rules before</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publication.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7d537064185486c"/>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1" name="www.newton.university">
            <a:extLst xmlns:a="http://schemas.openxmlformats.org/drawingml/2006/main">
              <a:ext uri="{FF2B5EF4-FFF2-40B4-BE49-F238E27FC236}">
                <a16:creationId xmlns:a16="http://schemas.microsoft.com/office/drawing/2014/main" id="{B9D998E0-4671-4F28-82F5-19CAEBCACBB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2" name="18">
            <a:extLst xmlns:a="http://schemas.openxmlformats.org/drawingml/2006/main">
              <a:ext uri="{FF2B5EF4-FFF2-40B4-BE49-F238E27FC236}">
                <a16:creationId xmlns:a16="http://schemas.microsoft.com/office/drawing/2014/main" id="{491C614E-4C20-4B52-BAC0-3B06722B05BD}"/>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18</a:t>
            </a:r>
          </a:p>
        </p:txBody>
      </p:sp>
    </p:spTree>
    <p:extLst>
      <p:ext uri="{BB962C8B-B14F-4D97-AF65-F5344CB8AC3E}">
        <p14:creationId xmlns:p14="http://schemas.microsoft.com/office/powerpoint/2010/main" val="982085352"/>
      </p:ext>
    </p:extLst>
  </p:cSld>
</p:sld>
</file>

<file path=ppt/slides/slide19.xml><?xml version="1.0" encoding="utf-8"?>
<p:sld xmlns:p="http://schemas.openxmlformats.org/presentationml/2006/main">
  <p:cSld>
    <p:bg>
      <p:bgPr>
        <a:solidFill xmlns:a="http://schemas.openxmlformats.org/drawingml/2006/main">
          <a:srgbClr val="173E35"/>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BC8F601E-79F3-4C65-A397-203DEEDC925B}"/>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b173d1a78ab4eb1"/>
          <a:srcRect xmlns:a="http://schemas.openxmlformats.org/drawingml/2006/main" l="0" t="276" r="0" b="276"/>
          <a:stretch xmlns:a="http://schemas.openxmlformats.org/drawingml/2006/main">
            <a:fillRect l="0" t="0" r="0" b="0"/>
          </a:stretch>
        </p:blipFill>
        <p:spPr>
          <a:xfrm xmlns:a="http://schemas.openxmlformats.org/drawingml/2006/main">
            <a:off x="5695950" y="0"/>
            <a:ext cx="3448050" cy="5143500"/>
          </a:xfrm>
          <a:prstGeom xmlns:a="http://schemas.openxmlformats.org/drawingml/2006/main" prst="rect">
            <a:avLst/>
          </a:prstGeom>
        </p:spPr>
      </p:pic>
      <p:sp>
        <p:nvSpPr>
          <p:cNvPr id="3" name="Part 6">
            <a:extLst xmlns:a="http://schemas.openxmlformats.org/drawingml/2006/main">
              <a:ext uri="{FF2B5EF4-FFF2-40B4-BE49-F238E27FC236}">
                <a16:creationId xmlns:a16="http://schemas.microsoft.com/office/drawing/2014/main" id="{D14A98F2-3005-43B4-848C-2041E3165CB4}"/>
              </a:ext>
            </a:extLst>
          </p:cNvPr>
          <p:cNvSpPr>
            <a:spLocks xmlns:a="http://schemas.openxmlformats.org/drawingml/2006/main" noGrp="1"/>
          </p:cNvSpPr>
          <p:nvPr/>
        </p:nvSpPr>
        <p:spPr>
          <a:xfrm xmlns:a="http://schemas.openxmlformats.org/drawingml/2006/main">
            <a:off x="495300" y="7143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6</a:t>
            </a:r>
          </a:p>
        </p:txBody>
      </p:sp>
      <p:sp>
        <p:nvSpPr>
          <p:cNvPr id="4" name="Smart Cities and Smart GI">
            <a:extLst xmlns:a="http://schemas.openxmlformats.org/drawingml/2006/main">
              <a:ext uri="{FF2B5EF4-FFF2-40B4-BE49-F238E27FC236}">
                <a16:creationId xmlns:a16="http://schemas.microsoft.com/office/drawing/2014/main" id="{9DC31A08-5976-40CE-BABE-2C695F5046BE}"/>
              </a:ext>
            </a:extLst>
          </p:cNvPr>
          <p:cNvSpPr>
            <a:spLocks xmlns:a="http://schemas.openxmlformats.org/drawingml/2006/main" noGrp="1"/>
          </p:cNvSpPr>
          <p:nvPr/>
        </p:nvSpPr>
        <p:spPr>
          <a:xfrm xmlns:a="http://schemas.openxmlformats.org/drawingml/2006/main">
            <a:off x="495300" y="1876425"/>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Smart Cities and</a:t>
            </a:r>
          </a:p>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Smart GI</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fe688245ef14498"/>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8D9C39B8-D464-4A67-B0B1-C6E4FA8E0CD6}"/>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19">
            <a:extLst xmlns:a="http://schemas.openxmlformats.org/drawingml/2006/main">
              <a:ext uri="{FF2B5EF4-FFF2-40B4-BE49-F238E27FC236}">
                <a16:creationId xmlns:a16="http://schemas.microsoft.com/office/drawing/2014/main" id="{6B0A57FC-66EB-467E-860D-503251706459}"/>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19</a:t>
            </a:r>
          </a:p>
        </p:txBody>
      </p:sp>
    </p:spTree>
    <p:extLst>
      <p:ext uri="{BB962C8B-B14F-4D97-AF65-F5344CB8AC3E}">
        <p14:creationId xmlns:p14="http://schemas.microsoft.com/office/powerpoint/2010/main" val="1643682505"/>
      </p:ext>
    </p:extLst>
  </p:cSld>
</p:sld>
</file>

<file path=ppt/slides/slide2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What Makes a City 'Smart'?">
            <a:extLst xmlns:a="http://schemas.openxmlformats.org/drawingml/2006/main">
              <a:ext uri="{FF2B5EF4-FFF2-40B4-BE49-F238E27FC236}">
                <a16:creationId xmlns:a16="http://schemas.microsoft.com/office/drawing/2014/main" id="{3AF0E225-F91F-46A1-BF71-D43F2259411E}"/>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What Makes a City 'Smart'?</a:t>
            </a:r>
          </a:p>
        </p:txBody>
      </p:sp>
      <p:sp>
        <p:nvSpPr>
          <p:cNvPr id="2" name="Editorial frame">
            <a:extLst xmlns:a="http://schemas.openxmlformats.org/drawingml/2006/main">
              <a:ext uri="{FF2B5EF4-FFF2-40B4-BE49-F238E27FC236}">
                <a16:creationId xmlns:a16="http://schemas.microsoft.com/office/drawing/2014/main" id="{4249045C-FA93-4B5B-A254-20519CED4365}"/>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A9EE4CD3-6268-4899-82F8-C97CC6ABB35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28FB6FE2-BF7D-4B84-97E4-A7F3A581B39E}"/>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4A03CC77-E393-4D4E-8363-237366D36D12}"/>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Definition">
            <a:extLst xmlns:a="http://schemas.openxmlformats.org/drawingml/2006/main">
              <a:ext uri="{FF2B5EF4-FFF2-40B4-BE49-F238E27FC236}">
                <a16:creationId xmlns:a16="http://schemas.microsoft.com/office/drawing/2014/main" id="{1C511616-2D32-4E51-A121-B3921225D787}"/>
              </a:ext>
            </a:extLst>
          </p:cNvPr>
          <p:cNvSpPr>
            <a:spLocks xmlns:a="http://schemas.openxmlformats.org/drawingml/2006/main" noGrp="1"/>
          </p:cNvSpPr>
          <p:nvPr/>
        </p:nvSpPr>
        <p:spPr>
          <a:xfrm xmlns:a="http://schemas.openxmlformats.org/drawingml/2006/main">
            <a:off x="495300"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Definition</a:t>
            </a:r>
          </a:p>
        </p:txBody>
      </p:sp>
      <p:sp>
        <p:nvSpPr>
          <p:cNvPr id="7" name="A city that uses data and technology to improve se">
            <a:extLst xmlns:a="http://schemas.openxmlformats.org/drawingml/2006/main">
              <a:ext uri="{FF2B5EF4-FFF2-40B4-BE49-F238E27FC236}">
                <a16:creationId xmlns:a16="http://schemas.microsoft.com/office/drawing/2014/main" id="{D3429405-E15D-4CC2-AA2F-CC1929A0238D}"/>
              </a:ext>
            </a:extLst>
          </p:cNvPr>
          <p:cNvSpPr>
            <a:spLocks xmlns:a="http://schemas.openxmlformats.org/drawingml/2006/main" noGrp="1"/>
          </p:cNvSpPr>
          <p:nvPr/>
        </p:nvSpPr>
        <p:spPr>
          <a:xfrm xmlns:a="http://schemas.openxmlformats.org/drawingml/2006/main">
            <a:off x="495300" y="2070735"/>
            <a:ext cx="3971925"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 city that uses data and technology to</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improve services, sustainability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quality of life.</a:t>
            </a:r>
          </a:p>
        </p:txBody>
      </p:sp>
      <p:sp>
        <p:nvSpPr>
          <p:cNvPr id="8" name="Editorial frame">
            <a:extLst xmlns:a="http://schemas.openxmlformats.org/drawingml/2006/main">
              <a:ext uri="{FF2B5EF4-FFF2-40B4-BE49-F238E27FC236}">
                <a16:creationId xmlns:a16="http://schemas.microsoft.com/office/drawing/2014/main" id="{B62F8E37-AA66-4E86-8B04-FD2621B17B01}"/>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9" name="Editorial frame">
            <a:extLst xmlns:a="http://schemas.openxmlformats.org/drawingml/2006/main">
              <a:ext uri="{FF2B5EF4-FFF2-40B4-BE49-F238E27FC236}">
                <a16:creationId xmlns:a16="http://schemas.microsoft.com/office/drawing/2014/main" id="{927F9CCF-8D9A-43DD-BF20-5D2A2AE039EE}"/>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0" name="Smart Green Infrastructure">
            <a:extLst xmlns:a="http://schemas.openxmlformats.org/drawingml/2006/main">
              <a:ext uri="{FF2B5EF4-FFF2-40B4-BE49-F238E27FC236}">
                <a16:creationId xmlns:a16="http://schemas.microsoft.com/office/drawing/2014/main" id="{1608203E-CEBA-4879-B0B3-7A05D7E3CE98}"/>
              </a:ext>
            </a:extLst>
          </p:cNvPr>
          <p:cNvSpPr>
            <a:spLocks xmlns:a="http://schemas.openxmlformats.org/drawingml/2006/main" noGrp="1"/>
          </p:cNvSpPr>
          <p:nvPr/>
        </p:nvSpPr>
        <p:spPr>
          <a:xfrm xmlns:a="http://schemas.openxmlformats.org/drawingml/2006/main">
            <a:off x="4676775" y="1619250"/>
            <a:ext cx="3971925" cy="331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88" b="0">
                <a:solidFill>
                  <a:srgbClr val="B56647"/>
                </a:solidFill>
                <a:latin typeface="Georgia"/>
                <a:ea typeface="Georgia"/>
                <a:cs typeface="Georgia"/>
              </a:defRPr>
            </a:pPr>
            <a:r>
              <a:rPr sz="1988" b="0">
                <a:solidFill>
                  <a:srgbClr val="B56647"/>
                </a:solidFill>
                <a:latin typeface="Georgia"/>
                <a:ea typeface="Georgia"/>
                <a:cs typeface="Georgia"/>
              </a:rPr>
              <a:t>Smart Green Infrastructure</a:t>
            </a:r>
          </a:p>
        </p:txBody>
      </p:sp>
      <p:sp>
        <p:nvSpPr>
          <p:cNvPr id="11" name="Sensors monitor soil moisture, temperature and air">
            <a:extLst xmlns:a="http://schemas.openxmlformats.org/drawingml/2006/main">
              <a:ext uri="{FF2B5EF4-FFF2-40B4-BE49-F238E27FC236}">
                <a16:creationId xmlns:a16="http://schemas.microsoft.com/office/drawing/2014/main" id="{F9734A30-061C-45C9-AE65-54C9D19D7631}"/>
              </a:ext>
            </a:extLst>
          </p:cNvPr>
          <p:cNvSpPr>
            <a:spLocks xmlns:a="http://schemas.openxmlformats.org/drawingml/2006/main" noGrp="1"/>
          </p:cNvSpPr>
          <p:nvPr/>
        </p:nvSpPr>
        <p:spPr>
          <a:xfrm xmlns:a="http://schemas.openxmlformats.org/drawingml/2006/main">
            <a:off x="4676775" y="2065020"/>
            <a:ext cx="39719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Sensors monitor soil moisture,</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temperature and air quality in real time.</a:t>
            </a:r>
          </a:p>
        </p:txBody>
      </p:sp>
      <p:sp>
        <p:nvSpPr>
          <p:cNvPr id="12" name="Smart irrigation waters only when needed.">
            <a:extLst xmlns:a="http://schemas.openxmlformats.org/drawingml/2006/main">
              <a:ext uri="{FF2B5EF4-FFF2-40B4-BE49-F238E27FC236}">
                <a16:creationId xmlns:a16="http://schemas.microsoft.com/office/drawing/2014/main" id="{30AB7C8C-8C0F-47CF-869E-695EC158AB35}"/>
              </a:ext>
            </a:extLst>
          </p:cNvPr>
          <p:cNvSpPr>
            <a:spLocks xmlns:a="http://schemas.openxmlformats.org/drawingml/2006/main" noGrp="1"/>
          </p:cNvSpPr>
          <p:nvPr/>
        </p:nvSpPr>
        <p:spPr>
          <a:xfrm xmlns:a="http://schemas.openxmlformats.org/drawingml/2006/main">
            <a:off x="4676775" y="2703195"/>
            <a:ext cx="39719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Smart irrigation waters only when</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needed.</a:t>
            </a:r>
          </a:p>
        </p:txBody>
      </p:sp>
      <p:sp>
        <p:nvSpPr>
          <p:cNvPr id="13" name="Digital twins simulate floods, heat and planting s">
            <a:extLst xmlns:a="http://schemas.openxmlformats.org/drawingml/2006/main">
              <a:ext uri="{FF2B5EF4-FFF2-40B4-BE49-F238E27FC236}">
                <a16:creationId xmlns:a16="http://schemas.microsoft.com/office/drawing/2014/main" id="{6DC901F8-52A9-42EC-98D6-49B1F255BEB8}"/>
              </a:ext>
            </a:extLst>
          </p:cNvPr>
          <p:cNvSpPr>
            <a:spLocks xmlns:a="http://schemas.openxmlformats.org/drawingml/2006/main" noGrp="1"/>
          </p:cNvSpPr>
          <p:nvPr/>
        </p:nvSpPr>
        <p:spPr>
          <a:xfrm xmlns:a="http://schemas.openxmlformats.org/drawingml/2006/main">
            <a:off x="4676775" y="3341370"/>
            <a:ext cx="39719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Digital twins simulate floods, heat and</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planting scenarios before investing.</a:t>
            </a:r>
          </a:p>
        </p:txBody>
      </p:sp>
      <p:sp>
        <p:nvSpPr>
          <p:cNvPr id="14" name="Dashboards show results, methods and gaps for publ">
            <a:extLst xmlns:a="http://schemas.openxmlformats.org/drawingml/2006/main">
              <a:ext uri="{FF2B5EF4-FFF2-40B4-BE49-F238E27FC236}">
                <a16:creationId xmlns:a16="http://schemas.microsoft.com/office/drawing/2014/main" id="{97566EA8-0C34-4EDB-99D8-5891C86996AB}"/>
              </a:ext>
            </a:extLst>
          </p:cNvPr>
          <p:cNvSpPr>
            <a:spLocks xmlns:a="http://schemas.openxmlformats.org/drawingml/2006/main" noGrp="1"/>
          </p:cNvSpPr>
          <p:nvPr/>
        </p:nvSpPr>
        <p:spPr>
          <a:xfrm xmlns:a="http://schemas.openxmlformats.org/drawingml/2006/main">
            <a:off x="4676775" y="3979545"/>
            <a:ext cx="39719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Dashboards show results, methods and</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gaps for public scrutiny.</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2bd2f2b819c4c7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6" name="www.newton.university">
            <a:extLst xmlns:a="http://schemas.openxmlformats.org/drawingml/2006/main">
              <a:ext uri="{FF2B5EF4-FFF2-40B4-BE49-F238E27FC236}">
                <a16:creationId xmlns:a16="http://schemas.microsoft.com/office/drawing/2014/main" id="{30C9A15E-0A3E-428B-834E-99C7E40119C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7" name="20">
            <a:extLst xmlns:a="http://schemas.openxmlformats.org/drawingml/2006/main">
              <a:ext uri="{FF2B5EF4-FFF2-40B4-BE49-F238E27FC236}">
                <a16:creationId xmlns:a16="http://schemas.microsoft.com/office/drawing/2014/main" id="{E105903B-1A92-4260-B6DD-0FFC2B5C6046}"/>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20</a:t>
            </a:r>
          </a:p>
        </p:txBody>
      </p:sp>
    </p:spTree>
    <p:extLst>
      <p:ext uri="{BB962C8B-B14F-4D97-AF65-F5344CB8AC3E}">
        <p14:creationId xmlns:p14="http://schemas.microsoft.com/office/powerpoint/2010/main" val="1007325390"/>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Singapore: Nature and Building Operations">
            <a:extLst xmlns:a="http://schemas.openxmlformats.org/drawingml/2006/main">
              <a:ext uri="{FF2B5EF4-FFF2-40B4-BE49-F238E27FC236}">
                <a16:creationId xmlns:a16="http://schemas.microsoft.com/office/drawing/2014/main" id="{F9F36881-A465-4845-9CD3-16C10A941821}"/>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Singapore: Nature and Building Operations</a:t>
            </a:r>
          </a:p>
        </p:txBody>
      </p:sp>
      <p:sp>
        <p:nvSpPr>
          <p:cNvPr id="2" name="Editorial frame">
            <a:extLst xmlns:a="http://schemas.openxmlformats.org/drawingml/2006/main">
              <a:ext uri="{FF2B5EF4-FFF2-40B4-BE49-F238E27FC236}">
                <a16:creationId xmlns:a16="http://schemas.microsoft.com/office/drawing/2014/main" id="{62320814-A225-4E7F-83EB-75AEB3B925B1}"/>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7AD876AC-BF75-4DEA-878E-40164FDDF5FF}"/>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285c37e97814d08"/>
          <a:stretch xmlns:a="http://schemas.openxmlformats.org/drawingml/2006/main"/>
        </p:blipFill>
        <p:spPr>
          <a:xfrm xmlns:a="http://schemas.openxmlformats.org/drawingml/2006/main">
            <a:off x="5286375" y="1826121"/>
            <a:ext cx="3362325" cy="1891308"/>
          </a:xfrm>
          <a:prstGeom xmlns:a="http://schemas.openxmlformats.org/drawingml/2006/main" prst="rect">
            <a:avLst/>
          </a:prstGeom>
        </p:spPr>
      </p:pic>
      <p:sp>
        <p:nvSpPr>
          <p:cNvPr id="5" name="Gardens by the Bay: engineered systems and plantin">
            <a:extLst xmlns:a="http://schemas.openxmlformats.org/drawingml/2006/main">
              <a:ext uri="{FF2B5EF4-FFF2-40B4-BE49-F238E27FC236}">
                <a16:creationId xmlns:a16="http://schemas.microsoft.com/office/drawing/2014/main" id="{764AEF29-D826-43A4-9849-A9FDE72B41D4}"/>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Gardens by the Bay: engineered systems and</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planting at one site</a:t>
            </a:r>
          </a:p>
        </p:txBody>
      </p:sp>
      <p:sp>
        <p:nvSpPr>
          <p:cNvPr id="6" name="Some Supertrees use photovoltaic cells; others sup">
            <a:extLst xmlns:a="http://schemas.openxmlformats.org/drawingml/2006/main">
              <a:ext uri="{FF2B5EF4-FFF2-40B4-BE49-F238E27FC236}">
                <a16:creationId xmlns:a16="http://schemas.microsoft.com/office/drawing/2014/main" id="{6E018470-2A2E-4613-AA2A-3C0AF337C49D}"/>
              </a:ext>
            </a:extLst>
          </p:cNvPr>
          <p:cNvSpPr>
            <a:spLocks xmlns:a="http://schemas.openxmlformats.org/drawingml/2006/main" noGrp="1"/>
          </p:cNvSpPr>
          <p:nvPr/>
        </p:nvSpPr>
        <p:spPr>
          <a:xfrm xmlns:a="http://schemas.openxmlformats.org/drawingml/2006/main">
            <a:off x="495300" y="1524000"/>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Some Supertrees use photovoltaic cells;</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others support ventilation.</a:t>
            </a:r>
          </a:p>
        </p:txBody>
      </p:sp>
      <p:sp>
        <p:nvSpPr>
          <p:cNvPr id="7" name="Water and energy systems link the landscape with s">
            <a:extLst xmlns:a="http://schemas.openxmlformats.org/drawingml/2006/main">
              <a:ext uri="{FF2B5EF4-FFF2-40B4-BE49-F238E27FC236}">
                <a16:creationId xmlns:a16="http://schemas.microsoft.com/office/drawing/2014/main" id="{458D5CAB-11C7-4356-810E-5B1153E74D89}"/>
              </a:ext>
            </a:extLst>
          </p:cNvPr>
          <p:cNvSpPr>
            <a:spLocks xmlns:a="http://schemas.openxmlformats.org/drawingml/2006/main" noGrp="1"/>
          </p:cNvSpPr>
          <p:nvPr/>
        </p:nvSpPr>
        <p:spPr>
          <a:xfrm xmlns:a="http://schemas.openxmlformats.org/drawingml/2006/main">
            <a:off x="495300" y="2150745"/>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Water and energy systems link the</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landscape with site operations.</a:t>
            </a:r>
          </a:p>
        </p:txBody>
      </p:sp>
      <p:sp>
        <p:nvSpPr>
          <p:cNvPr id="8" name="For a business: specify the operating outcome befo">
            <a:extLst xmlns:a="http://schemas.openxmlformats.org/drawingml/2006/main">
              <a:ext uri="{FF2B5EF4-FFF2-40B4-BE49-F238E27FC236}">
                <a16:creationId xmlns:a16="http://schemas.microsoft.com/office/drawing/2014/main" id="{1414951E-7428-4233-A34B-8DF5E292BE8C}"/>
              </a:ext>
            </a:extLst>
          </p:cNvPr>
          <p:cNvSpPr>
            <a:spLocks xmlns:a="http://schemas.openxmlformats.org/drawingml/2006/main" noGrp="1"/>
          </p:cNvSpPr>
          <p:nvPr/>
        </p:nvSpPr>
        <p:spPr>
          <a:xfrm xmlns:a="http://schemas.openxmlformats.org/drawingml/2006/main">
            <a:off x="495300" y="2777490"/>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For a business: specify the operating</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outcome before buying technology.</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873d65e0c374799"/>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0" name="www.newton.university">
            <a:extLst xmlns:a="http://schemas.openxmlformats.org/drawingml/2006/main">
              <a:ext uri="{FF2B5EF4-FFF2-40B4-BE49-F238E27FC236}">
                <a16:creationId xmlns:a16="http://schemas.microsoft.com/office/drawing/2014/main" id="{F1E2ABB8-2274-4196-8409-E5C0BEA45C0E}"/>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1" name="21">
            <a:extLst xmlns:a="http://schemas.openxmlformats.org/drawingml/2006/main">
              <a:ext uri="{FF2B5EF4-FFF2-40B4-BE49-F238E27FC236}">
                <a16:creationId xmlns:a16="http://schemas.microsoft.com/office/drawing/2014/main" id="{D69855F6-B3BA-4411-B0F9-748C1626A3A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21</a:t>
            </a:r>
          </a:p>
        </p:txBody>
      </p:sp>
    </p:spTree>
    <p:extLst>
      <p:ext uri="{BB962C8B-B14F-4D97-AF65-F5344CB8AC3E}">
        <p14:creationId xmlns:p14="http://schemas.microsoft.com/office/powerpoint/2010/main" val="2106578496"/>
      </p:ext>
    </p:extLst>
  </p:cSld>
</p:sld>
</file>

<file path=ppt/slides/slide2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Copenhagen: Managing Cloudburst Risk">
            <a:extLst xmlns:a="http://schemas.openxmlformats.org/drawingml/2006/main">
              <a:ext uri="{FF2B5EF4-FFF2-40B4-BE49-F238E27FC236}">
                <a16:creationId xmlns:a16="http://schemas.microsoft.com/office/drawing/2014/main" id="{A226B320-79E4-4D10-BC31-C816CF1AD988}"/>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Copenhagen: Managing Cloudburst Risk</a:t>
            </a:r>
          </a:p>
        </p:txBody>
      </p:sp>
      <p:sp>
        <p:nvSpPr>
          <p:cNvPr id="2" name="Editorial frame">
            <a:extLst xmlns:a="http://schemas.openxmlformats.org/drawingml/2006/main">
              <a:ext uri="{FF2B5EF4-FFF2-40B4-BE49-F238E27FC236}">
                <a16:creationId xmlns:a16="http://schemas.microsoft.com/office/drawing/2014/main" id="{D66AEAE3-788B-46B8-810A-8048A587769D}"/>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DB59B34C-EF4F-4FBE-A044-03F45393B074}"/>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b8b0fae1062414d"/>
          <a:stretch xmlns:a="http://schemas.openxmlformats.org/drawingml/2006/main"/>
        </p:blipFill>
        <p:spPr>
          <a:xfrm xmlns:a="http://schemas.openxmlformats.org/drawingml/2006/main">
            <a:off x="5286375" y="1510903"/>
            <a:ext cx="3362325" cy="2521744"/>
          </a:xfrm>
          <a:prstGeom xmlns:a="http://schemas.openxmlformats.org/drawingml/2006/main" prst="rect">
            <a:avLst/>
          </a:prstGeom>
        </p:spPr>
      </p:pic>
      <p:sp>
        <p:nvSpPr>
          <p:cNvPr id="5" name="Copenhagen harbour bath: public-waterfront context">
            <a:extLst xmlns:a="http://schemas.openxmlformats.org/drawingml/2006/main">
              <a:ext uri="{FF2B5EF4-FFF2-40B4-BE49-F238E27FC236}">
                <a16:creationId xmlns:a16="http://schemas.microsoft.com/office/drawing/2014/main" id="{10F53AFD-3172-4AC8-8AA8-4495E51FE320}"/>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Copenhagen harbour bath: public-waterfront</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context, not a cloudburst installation</a:t>
            </a:r>
          </a:p>
        </p:txBody>
      </p:sp>
      <p:sp>
        <p:nvSpPr>
          <p:cNvPr id="6" name="The cloudburst plan combines surface routes, stora">
            <a:extLst xmlns:a="http://schemas.openxmlformats.org/drawingml/2006/main">
              <a:ext uri="{FF2B5EF4-FFF2-40B4-BE49-F238E27FC236}">
                <a16:creationId xmlns:a16="http://schemas.microsoft.com/office/drawing/2014/main" id="{0B10A025-4624-41D5-9FFF-B777B37D036E}"/>
              </a:ext>
            </a:extLst>
          </p:cNvPr>
          <p:cNvSpPr>
            <a:spLocks xmlns:a="http://schemas.openxmlformats.org/drawingml/2006/main" noGrp="1"/>
          </p:cNvSpPr>
          <p:nvPr/>
        </p:nvSpPr>
        <p:spPr>
          <a:xfrm xmlns:a="http://schemas.openxmlformats.org/drawingml/2006/main">
            <a:off x="495300" y="1524000"/>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The cloudburst plan combines surface</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routes, storage and drainage.</a:t>
            </a:r>
          </a:p>
        </p:txBody>
      </p:sp>
      <p:sp>
        <p:nvSpPr>
          <p:cNvPr id="7" name="Rainfall and flood models help prioritize investme">
            <a:extLst xmlns:a="http://schemas.openxmlformats.org/drawingml/2006/main">
              <a:ext uri="{FF2B5EF4-FFF2-40B4-BE49-F238E27FC236}">
                <a16:creationId xmlns:a16="http://schemas.microsoft.com/office/drawing/2014/main" id="{3FB38A74-E382-4F97-85D0-B75BE5FFB7AB}"/>
              </a:ext>
            </a:extLst>
          </p:cNvPr>
          <p:cNvSpPr>
            <a:spLocks xmlns:a="http://schemas.openxmlformats.org/drawingml/2006/main" noGrp="1"/>
          </p:cNvSpPr>
          <p:nvPr/>
        </p:nvSpPr>
        <p:spPr>
          <a:xfrm xmlns:a="http://schemas.openxmlformats.org/drawingml/2006/main">
            <a:off x="495300" y="2150745"/>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Rainfall and flood models help prioritize</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investment.</a:t>
            </a:r>
          </a:p>
        </p:txBody>
      </p:sp>
      <p:sp>
        <p:nvSpPr>
          <p:cNvPr id="8" name="For a company: examine access, drainage and flood ">
            <a:extLst xmlns:a="http://schemas.openxmlformats.org/drawingml/2006/main">
              <a:ext uri="{FF2B5EF4-FFF2-40B4-BE49-F238E27FC236}">
                <a16:creationId xmlns:a16="http://schemas.microsoft.com/office/drawing/2014/main" id="{309712BC-B2B8-4E59-AAAB-D938DA1CCEAA}"/>
              </a:ext>
            </a:extLst>
          </p:cNvPr>
          <p:cNvSpPr>
            <a:spLocks xmlns:a="http://schemas.openxmlformats.org/drawingml/2006/main" noGrp="1"/>
          </p:cNvSpPr>
          <p:nvPr/>
        </p:nvSpPr>
        <p:spPr>
          <a:xfrm xmlns:a="http://schemas.openxmlformats.org/drawingml/2006/main">
            <a:off x="495300" y="2777490"/>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For a company: examine access, drainage</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and flood exposure together.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ccb70f4204e469c"/>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0" name="www.newton.university">
            <a:extLst xmlns:a="http://schemas.openxmlformats.org/drawingml/2006/main">
              <a:ext uri="{FF2B5EF4-FFF2-40B4-BE49-F238E27FC236}">
                <a16:creationId xmlns:a16="http://schemas.microsoft.com/office/drawing/2014/main" id="{A699A3E9-DADE-4B12-932E-0AD524F125EF}"/>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1" name="22">
            <a:extLst xmlns:a="http://schemas.openxmlformats.org/drawingml/2006/main">
              <a:ext uri="{FF2B5EF4-FFF2-40B4-BE49-F238E27FC236}">
                <a16:creationId xmlns:a16="http://schemas.microsoft.com/office/drawing/2014/main" id="{35332A98-E632-4EEF-AD7A-966749996F1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22</a:t>
            </a:r>
          </a:p>
        </p:txBody>
      </p:sp>
    </p:spTree>
    <p:extLst>
      <p:ext uri="{BB962C8B-B14F-4D97-AF65-F5344CB8AC3E}">
        <p14:creationId xmlns:p14="http://schemas.microsoft.com/office/powerpoint/2010/main" val="142316435"/>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Rotterdam and Barcelona: Decisions to Measure">
            <a:extLst xmlns:a="http://schemas.openxmlformats.org/drawingml/2006/main">
              <a:ext uri="{FF2B5EF4-FFF2-40B4-BE49-F238E27FC236}">
                <a16:creationId xmlns:a16="http://schemas.microsoft.com/office/drawing/2014/main" id="{4DC7F4BC-B77F-4F3E-8825-1582682C9124}"/>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Rotterdam and Barcelona: Decisions to Measure</a:t>
            </a:r>
          </a:p>
        </p:txBody>
      </p:sp>
      <p:sp>
        <p:nvSpPr>
          <p:cNvPr id="2" name="Editorial frame">
            <a:extLst xmlns:a="http://schemas.openxmlformats.org/drawingml/2006/main">
              <a:ext uri="{FF2B5EF4-FFF2-40B4-BE49-F238E27FC236}">
                <a16:creationId xmlns:a16="http://schemas.microsoft.com/office/drawing/2014/main" id="{665915B9-4BC5-4CE5-BBEF-20AB876BC85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1AB2F6A5-3E1F-4199-9A84-3F6F8303B66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2aadd53c713475d"/>
          <a:stretch xmlns:a="http://schemas.openxmlformats.org/drawingml/2006/main"/>
        </p:blipFill>
        <p:spPr>
          <a:xfrm xmlns:a="http://schemas.openxmlformats.org/drawingml/2006/main">
            <a:off x="5286375" y="1510903"/>
            <a:ext cx="3362325" cy="2521744"/>
          </a:xfrm>
          <a:prstGeom xmlns:a="http://schemas.openxmlformats.org/drawingml/2006/main" prst="rect">
            <a:avLst/>
          </a:prstGeom>
        </p:spPr>
      </p:pic>
      <p:sp>
        <p:nvSpPr>
          <p:cNvPr id="5" name="Barcelona superblock: a public-space and mobility ">
            <a:extLst xmlns:a="http://schemas.openxmlformats.org/drawingml/2006/main">
              <a:ext uri="{FF2B5EF4-FFF2-40B4-BE49-F238E27FC236}">
                <a16:creationId xmlns:a16="http://schemas.microsoft.com/office/drawing/2014/main" id="{B6E15B59-2EB4-4202-8E81-40418407E36A}"/>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Barcelona superblock: a public-space and</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mobility case</a:t>
            </a:r>
          </a:p>
        </p:txBody>
      </p:sp>
      <p:sp>
        <p:nvSpPr>
          <p:cNvPr id="6" name="Rotterdam">
            <a:extLst xmlns:a="http://schemas.openxmlformats.org/drawingml/2006/main">
              <a:ext uri="{FF2B5EF4-FFF2-40B4-BE49-F238E27FC236}">
                <a16:creationId xmlns:a16="http://schemas.microsoft.com/office/drawing/2014/main" id="{BFF873B6-4F72-44CF-8D1A-297BB82459A1}"/>
              </a:ext>
            </a:extLst>
          </p:cNvPr>
          <p:cNvSpPr>
            <a:spLocks xmlns:a="http://schemas.openxmlformats.org/drawingml/2006/main" noGrp="1"/>
          </p:cNvSpPr>
          <p:nvPr/>
        </p:nvSpPr>
        <p:spPr>
          <a:xfrm xmlns:a="http://schemas.openxmlformats.org/drawingml/2006/main">
            <a:off x="495300" y="1524000"/>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B56647"/>
                </a:solidFill>
                <a:latin typeface="Georgia"/>
                <a:ea typeface="Georgia"/>
                <a:cs typeface="Georgia"/>
              </a:defRPr>
            </a:pPr>
            <a:r>
              <a:rPr sz="1688" b="0">
                <a:solidFill>
                  <a:srgbClr val="B56647"/>
                </a:solidFill>
                <a:latin typeface="Georgia"/>
                <a:ea typeface="Georgia"/>
                <a:cs typeface="Georgia"/>
              </a:rPr>
              <a:t>Rotterdam</a:t>
            </a:r>
          </a:p>
        </p:txBody>
      </p:sp>
      <p:sp>
        <p:nvSpPr>
          <p:cNvPr id="7" name="Water squares combine public use with stormwater s">
            <a:extLst xmlns:a="http://schemas.openxmlformats.org/drawingml/2006/main">
              <a:ext uri="{FF2B5EF4-FFF2-40B4-BE49-F238E27FC236}">
                <a16:creationId xmlns:a16="http://schemas.microsoft.com/office/drawing/2014/main" id="{8E7D4DA1-A38E-4E78-A7A0-0AA3248A2765}"/>
              </a:ext>
            </a:extLst>
          </p:cNvPr>
          <p:cNvSpPr>
            <a:spLocks xmlns:a="http://schemas.openxmlformats.org/drawingml/2006/main" noGrp="1"/>
          </p:cNvSpPr>
          <p:nvPr/>
        </p:nvSpPr>
        <p:spPr>
          <a:xfrm xmlns:a="http://schemas.openxmlformats.org/drawingml/2006/main">
            <a:off x="495300" y="1924050"/>
            <a:ext cx="4333875" cy="451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Water squares combine public use with stormwater</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storage.</a:t>
            </a:r>
          </a:p>
        </p:txBody>
      </p:sp>
      <p:sp>
        <p:nvSpPr>
          <p:cNvPr id="8" name="Barcelona">
            <a:extLst xmlns:a="http://schemas.openxmlformats.org/drawingml/2006/main">
              <a:ext uri="{FF2B5EF4-FFF2-40B4-BE49-F238E27FC236}">
                <a16:creationId xmlns:a16="http://schemas.microsoft.com/office/drawing/2014/main" id="{4621156E-AF48-447F-BC5F-2527CB3B2B7B}"/>
              </a:ext>
            </a:extLst>
          </p:cNvPr>
          <p:cNvSpPr>
            <a:spLocks xmlns:a="http://schemas.openxmlformats.org/drawingml/2006/main" noGrp="1"/>
          </p:cNvSpPr>
          <p:nvPr/>
        </p:nvSpPr>
        <p:spPr>
          <a:xfrm xmlns:a="http://schemas.openxmlformats.org/drawingml/2006/main">
            <a:off x="495300" y="254698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B56647"/>
                </a:solidFill>
                <a:latin typeface="Georgia"/>
                <a:ea typeface="Georgia"/>
                <a:cs typeface="Georgia"/>
              </a:defRPr>
            </a:pPr>
            <a:r>
              <a:rPr sz="1688" b="0">
                <a:solidFill>
                  <a:srgbClr val="B56647"/>
                </a:solidFill>
                <a:latin typeface="Georgia"/>
                <a:ea typeface="Georgia"/>
                <a:cs typeface="Georgia"/>
              </a:rPr>
              <a:t>Barcelona</a:t>
            </a:r>
          </a:p>
        </p:txBody>
      </p:sp>
      <p:sp>
        <p:nvSpPr>
          <p:cNvPr id="9" name="Superblocks reduce through-traffic in selected are">
            <a:extLst xmlns:a="http://schemas.openxmlformats.org/drawingml/2006/main">
              <a:ext uri="{FF2B5EF4-FFF2-40B4-BE49-F238E27FC236}">
                <a16:creationId xmlns:a16="http://schemas.microsoft.com/office/drawing/2014/main" id="{F55A995B-7904-4C5D-8126-14DCD3A62FE4}"/>
              </a:ext>
            </a:extLst>
          </p:cNvPr>
          <p:cNvSpPr>
            <a:spLocks xmlns:a="http://schemas.openxmlformats.org/drawingml/2006/main" noGrp="1"/>
          </p:cNvSpPr>
          <p:nvPr/>
        </p:nvSpPr>
        <p:spPr>
          <a:xfrm xmlns:a="http://schemas.openxmlformats.org/drawingml/2006/main">
            <a:off x="495300" y="2947035"/>
            <a:ext cx="43338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Superblocks reduce through-traffic in selected areas.</a:t>
            </a:r>
          </a:p>
        </p:txBody>
      </p:sp>
      <p:sp>
        <p:nvSpPr>
          <p:cNvPr id="10" name="Management question">
            <a:extLst xmlns:a="http://schemas.openxmlformats.org/drawingml/2006/main">
              <a:ext uri="{FF2B5EF4-FFF2-40B4-BE49-F238E27FC236}">
                <a16:creationId xmlns:a16="http://schemas.microsoft.com/office/drawing/2014/main" id="{271D5E2B-21F7-4CF3-BFA5-3D84618A31A4}"/>
              </a:ext>
            </a:extLst>
          </p:cNvPr>
          <p:cNvSpPr>
            <a:spLocks xmlns:a="http://schemas.openxmlformats.org/drawingml/2006/main" noGrp="1"/>
          </p:cNvSpPr>
          <p:nvPr/>
        </p:nvSpPr>
        <p:spPr>
          <a:xfrm xmlns:a="http://schemas.openxmlformats.org/drawingml/2006/main">
            <a:off x="495300" y="335851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B56647"/>
                </a:solidFill>
                <a:latin typeface="Georgia"/>
                <a:ea typeface="Georgia"/>
                <a:cs typeface="Georgia"/>
              </a:defRPr>
            </a:pPr>
            <a:r>
              <a:rPr sz="1688" b="0">
                <a:solidFill>
                  <a:srgbClr val="B56647"/>
                </a:solidFill>
                <a:latin typeface="Georgia"/>
                <a:ea typeface="Georgia"/>
                <a:cs typeface="Georgia"/>
              </a:rPr>
              <a:t>Management question</a:t>
            </a:r>
          </a:p>
        </p:txBody>
      </p:sp>
      <p:sp>
        <p:nvSpPr>
          <p:cNvPr id="11" name="How do we test effects on access, trade, comfort a">
            <a:extLst xmlns:a="http://schemas.openxmlformats.org/drawingml/2006/main">
              <a:ext uri="{FF2B5EF4-FFF2-40B4-BE49-F238E27FC236}">
                <a16:creationId xmlns:a16="http://schemas.microsoft.com/office/drawing/2014/main" id="{6C31E8CE-5AD3-4691-9302-7CF9187E0314}"/>
              </a:ext>
            </a:extLst>
          </p:cNvPr>
          <p:cNvSpPr>
            <a:spLocks xmlns:a="http://schemas.openxmlformats.org/drawingml/2006/main" noGrp="1"/>
          </p:cNvSpPr>
          <p:nvPr/>
        </p:nvSpPr>
        <p:spPr>
          <a:xfrm xmlns:a="http://schemas.openxmlformats.org/drawingml/2006/main">
            <a:off x="495300" y="3758565"/>
            <a:ext cx="4333875"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How do we test effects on access, trade, comfort and</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maintenance? Compare local data before claiming</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results.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e262378eb3047ef"/>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AF1562EB-9A9E-4A29-AE62-AAECE664C718}"/>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23">
            <a:extLst xmlns:a="http://schemas.openxmlformats.org/drawingml/2006/main">
              <a:ext uri="{FF2B5EF4-FFF2-40B4-BE49-F238E27FC236}">
                <a16:creationId xmlns:a16="http://schemas.microsoft.com/office/drawing/2014/main" id="{7F911A7B-15CC-44EC-B862-9B84D8A4729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23</a:t>
            </a:r>
          </a:p>
        </p:txBody>
      </p:sp>
    </p:spTree>
    <p:extLst>
      <p:ext uri="{BB962C8B-B14F-4D97-AF65-F5344CB8AC3E}">
        <p14:creationId xmlns:p14="http://schemas.microsoft.com/office/powerpoint/2010/main" val="89243873"/>
      </p:ext>
    </p:extLst>
  </p:cSld>
</p:sld>
</file>

<file path=ppt/slides/slide2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Vienna — and Prague's Opportunity">
            <a:extLst xmlns:a="http://schemas.openxmlformats.org/drawingml/2006/main">
              <a:ext uri="{FF2B5EF4-FFF2-40B4-BE49-F238E27FC236}">
                <a16:creationId xmlns:a16="http://schemas.microsoft.com/office/drawing/2014/main" id="{16D3532A-A8D7-4B78-876B-5CA8F66F23CF}"/>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Vienna — and Prague's Opportunity</a:t>
            </a:r>
          </a:p>
        </p:txBody>
      </p:sp>
      <p:sp>
        <p:nvSpPr>
          <p:cNvPr id="2" name="Editorial frame">
            <a:extLst xmlns:a="http://schemas.openxmlformats.org/drawingml/2006/main">
              <a:ext uri="{FF2B5EF4-FFF2-40B4-BE49-F238E27FC236}">
                <a16:creationId xmlns:a16="http://schemas.microsoft.com/office/drawing/2014/main" id="{6F356523-275F-4F22-9DC1-83C620E245F2}"/>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1124B3B9-BACA-4D76-93B2-BA9A8FFB5331}"/>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10d21597abc4193"/>
          <a:stretch xmlns:a="http://schemas.openxmlformats.org/drawingml/2006/main"/>
        </p:blipFill>
        <p:spPr>
          <a:xfrm xmlns:a="http://schemas.openxmlformats.org/drawingml/2006/main">
            <a:off x="5286375" y="1826121"/>
            <a:ext cx="3362325" cy="1891308"/>
          </a:xfrm>
          <a:prstGeom xmlns:a="http://schemas.openxmlformats.org/drawingml/2006/main" prst="rect">
            <a:avLst/>
          </a:prstGeom>
        </p:spPr>
      </p:pic>
      <p:sp>
        <p:nvSpPr>
          <p:cNvPr id="5" name="Vienna's Danube Island: green corridor, flood defe">
            <a:extLst xmlns:a="http://schemas.openxmlformats.org/drawingml/2006/main">
              <a:ext uri="{FF2B5EF4-FFF2-40B4-BE49-F238E27FC236}">
                <a16:creationId xmlns:a16="http://schemas.microsoft.com/office/drawing/2014/main" id="{1D4930B2-EB6C-4931-A618-C0C812076F54}"/>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Vienna's Danube Island: green corridor, flood</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defence, playground</a:t>
            </a:r>
          </a:p>
        </p:txBody>
      </p:sp>
      <p:sp>
        <p:nvSpPr>
          <p:cNvPr id="6" name="Vienna">
            <a:extLst xmlns:a="http://schemas.openxmlformats.org/drawingml/2006/main">
              <a:ext uri="{FF2B5EF4-FFF2-40B4-BE49-F238E27FC236}">
                <a16:creationId xmlns:a16="http://schemas.microsoft.com/office/drawing/2014/main" id="{F1F66E85-B8E2-4A6B-81C6-8F924F522147}"/>
              </a:ext>
            </a:extLst>
          </p:cNvPr>
          <p:cNvSpPr>
            <a:spLocks xmlns:a="http://schemas.openxmlformats.org/drawingml/2006/main" noGrp="1"/>
          </p:cNvSpPr>
          <p:nvPr/>
        </p:nvSpPr>
        <p:spPr>
          <a:xfrm xmlns:a="http://schemas.openxmlformats.org/drawingml/2006/main">
            <a:off x="495300" y="1524000"/>
            <a:ext cx="43338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Vienna</a:t>
            </a:r>
          </a:p>
        </p:txBody>
      </p:sp>
      <p:sp>
        <p:nvSpPr>
          <p:cNvPr id="7" name="The Danube Island combines flood protection and pu">
            <a:extLst xmlns:a="http://schemas.openxmlformats.org/drawingml/2006/main">
              <a:ext uri="{FF2B5EF4-FFF2-40B4-BE49-F238E27FC236}">
                <a16:creationId xmlns:a16="http://schemas.microsoft.com/office/drawing/2014/main" id="{263DECBF-5A7C-48D3-8925-25045E21266A}"/>
              </a:ext>
            </a:extLst>
          </p:cNvPr>
          <p:cNvSpPr>
            <a:spLocks xmlns:a="http://schemas.openxmlformats.org/drawingml/2006/main" noGrp="1"/>
          </p:cNvSpPr>
          <p:nvPr/>
        </p:nvSpPr>
        <p:spPr>
          <a:xfrm xmlns:a="http://schemas.openxmlformats.org/drawingml/2006/main">
            <a:off x="495300" y="1946910"/>
            <a:ext cx="4333875"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The Danube Island combines flood protection</a:t>
            </a:r>
          </a:p>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and public recreation.</a:t>
            </a:r>
          </a:p>
        </p:txBody>
      </p:sp>
      <p:sp>
        <p:nvSpPr>
          <p:cNvPr id="8" name="Prague's opening">
            <a:extLst xmlns:a="http://schemas.openxmlformats.org/drawingml/2006/main">
              <a:ext uri="{FF2B5EF4-FFF2-40B4-BE49-F238E27FC236}">
                <a16:creationId xmlns:a16="http://schemas.microsoft.com/office/drawing/2014/main" id="{4316777B-3D65-4BEB-8426-95C996B366E6}"/>
              </a:ext>
            </a:extLst>
          </p:cNvPr>
          <p:cNvSpPr>
            <a:spLocks xmlns:a="http://schemas.openxmlformats.org/drawingml/2006/main" noGrp="1"/>
          </p:cNvSpPr>
          <p:nvPr/>
        </p:nvSpPr>
        <p:spPr>
          <a:xfrm xmlns:a="http://schemas.openxmlformats.org/drawingml/2006/main">
            <a:off x="495300" y="2615565"/>
            <a:ext cx="43338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Prague's opening</a:t>
            </a:r>
          </a:p>
        </p:txBody>
      </p:sp>
      <p:sp>
        <p:nvSpPr>
          <p:cNvPr id="9" name="Strong natural assets: river, wooded valleys, larg">
            <a:extLst xmlns:a="http://schemas.openxmlformats.org/drawingml/2006/main">
              <a:ext uri="{FF2B5EF4-FFF2-40B4-BE49-F238E27FC236}">
                <a16:creationId xmlns:a16="http://schemas.microsoft.com/office/drawing/2014/main" id="{0A9E8697-8526-4677-9729-8E9F2EA2F452}"/>
              </a:ext>
            </a:extLst>
          </p:cNvPr>
          <p:cNvSpPr>
            <a:spLocks xmlns:a="http://schemas.openxmlformats.org/drawingml/2006/main" noGrp="1"/>
          </p:cNvSpPr>
          <p:nvPr/>
        </p:nvSpPr>
        <p:spPr>
          <a:xfrm xmlns:a="http://schemas.openxmlformats.org/drawingml/2006/main">
            <a:off x="495300" y="3038475"/>
            <a:ext cx="4333875"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Strong natural assets: river, wooded valleys,</a:t>
            </a:r>
          </a:p>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large parks.</a:t>
            </a:r>
          </a:p>
        </p:txBody>
      </p:sp>
      <p:sp>
        <p:nvSpPr>
          <p:cNvPr id="10" name="Climate Plan 2030 creates the policy frame.">
            <a:extLst xmlns:a="http://schemas.openxmlformats.org/drawingml/2006/main">
              <a:ext uri="{FF2B5EF4-FFF2-40B4-BE49-F238E27FC236}">
                <a16:creationId xmlns:a16="http://schemas.microsoft.com/office/drawing/2014/main" id="{37901EC2-E19A-4261-8D15-237B03262CFD}"/>
              </a:ext>
            </a:extLst>
          </p:cNvPr>
          <p:cNvSpPr>
            <a:spLocks xmlns:a="http://schemas.openxmlformats.org/drawingml/2006/main" noGrp="1"/>
          </p:cNvSpPr>
          <p:nvPr/>
        </p:nvSpPr>
        <p:spPr>
          <a:xfrm xmlns:a="http://schemas.openxmlformats.org/drawingml/2006/main">
            <a:off x="495300" y="3630930"/>
            <a:ext cx="433387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Climate Plan 2030 creates the policy frame.</a:t>
            </a:r>
          </a:p>
        </p:txBody>
      </p:sp>
      <p:sp>
        <p:nvSpPr>
          <p:cNvPr id="11" name="Opportunity to investigate: where would better dat">
            <a:extLst xmlns:a="http://schemas.openxmlformats.org/drawingml/2006/main">
              <a:ext uri="{FF2B5EF4-FFF2-40B4-BE49-F238E27FC236}">
                <a16:creationId xmlns:a16="http://schemas.microsoft.com/office/drawing/2014/main" id="{063DD9F3-89F8-430C-9CF3-ADA9B55B5598}"/>
              </a:ext>
            </a:extLst>
          </p:cNvPr>
          <p:cNvSpPr>
            <a:spLocks xmlns:a="http://schemas.openxmlformats.org/drawingml/2006/main" noGrp="1"/>
          </p:cNvSpPr>
          <p:nvPr/>
        </p:nvSpPr>
        <p:spPr>
          <a:xfrm xmlns:a="http://schemas.openxmlformats.org/drawingml/2006/main">
            <a:off x="495300" y="3989070"/>
            <a:ext cx="4333875"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Opportunity to investigate: where would better</a:t>
            </a:r>
          </a:p>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data improve site management?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67a5aa3a0b8475b"/>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B0569D72-87E8-4C46-A512-72C6AF4573D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24">
            <a:extLst xmlns:a="http://schemas.openxmlformats.org/drawingml/2006/main">
              <a:ext uri="{FF2B5EF4-FFF2-40B4-BE49-F238E27FC236}">
                <a16:creationId xmlns:a16="http://schemas.microsoft.com/office/drawing/2014/main" id="{0D637C41-BBD6-4F20-BF88-C00CB960DBC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24</a:t>
            </a:r>
          </a:p>
        </p:txBody>
      </p:sp>
    </p:spTree>
    <p:extLst>
      <p:ext uri="{BB962C8B-B14F-4D97-AF65-F5344CB8AC3E}">
        <p14:creationId xmlns:p14="http://schemas.microsoft.com/office/powerpoint/2010/main" val="746470978"/>
      </p:ext>
    </p:extLst>
  </p:cSld>
</p:sld>
</file>

<file path=ppt/slides/slide2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The Technology Stack">
            <a:extLst xmlns:a="http://schemas.openxmlformats.org/drawingml/2006/main">
              <a:ext uri="{FF2B5EF4-FFF2-40B4-BE49-F238E27FC236}">
                <a16:creationId xmlns:a16="http://schemas.microsoft.com/office/drawing/2014/main" id="{E3A81769-FBD6-4DA5-BA98-80AB1E6BD763}"/>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The Technology Stack</a:t>
            </a:r>
          </a:p>
        </p:txBody>
      </p:sp>
      <p:sp>
        <p:nvSpPr>
          <p:cNvPr id="2" name="Editorial frame">
            <a:extLst xmlns:a="http://schemas.openxmlformats.org/drawingml/2006/main">
              <a:ext uri="{FF2B5EF4-FFF2-40B4-BE49-F238E27FC236}">
                <a16:creationId xmlns:a16="http://schemas.microsoft.com/office/drawing/2014/main" id="{769C3C2D-9BAE-448B-ABC4-04BF69427151}"/>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93C585CF-1B7C-4C4B-8C44-3697C8BD0604}"/>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217b8430963417d"/>
          <a:stretch xmlns:a="http://schemas.openxmlformats.org/drawingml/2006/main"/>
        </p:blipFill>
        <p:spPr>
          <a:xfrm xmlns:a="http://schemas.openxmlformats.org/drawingml/2006/main">
            <a:off x="5286375" y="1828748"/>
            <a:ext cx="3362325" cy="1886054"/>
          </a:xfrm>
          <a:prstGeom xmlns:a="http://schemas.openxmlformats.org/drawingml/2006/main" prst="rect">
            <a:avLst/>
          </a:prstGeom>
        </p:spPr>
      </p:pic>
      <p:sp>
        <p:nvSpPr>
          <p:cNvPr id="5" name="A useful system connects each data source to an op">
            <a:extLst xmlns:a="http://schemas.openxmlformats.org/drawingml/2006/main">
              <a:ext uri="{FF2B5EF4-FFF2-40B4-BE49-F238E27FC236}">
                <a16:creationId xmlns:a16="http://schemas.microsoft.com/office/drawing/2014/main" id="{A61A6047-A2A2-4FA5-8A62-3E137EDCED92}"/>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A useful system connects each data source to</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an operating decision</a:t>
            </a:r>
          </a:p>
        </p:txBody>
      </p:sp>
      <p:sp>
        <p:nvSpPr>
          <p:cNvPr id="6" name="GIS: QGIS, ArcGIS — where is the green, who can re">
            <a:extLst xmlns:a="http://schemas.openxmlformats.org/drawingml/2006/main">
              <a:ext uri="{FF2B5EF4-FFF2-40B4-BE49-F238E27FC236}">
                <a16:creationId xmlns:a16="http://schemas.microsoft.com/office/drawing/2014/main" id="{C1B52052-EA58-494C-93A3-030AA88C0D9A}"/>
              </a:ext>
            </a:extLst>
          </p:cNvPr>
          <p:cNvSpPr>
            <a:spLocks xmlns:a="http://schemas.openxmlformats.org/drawingml/2006/main" noGrp="1"/>
          </p:cNvSpPr>
          <p:nvPr/>
        </p:nvSpPr>
        <p:spPr>
          <a:xfrm xmlns:a="http://schemas.openxmlformats.org/drawingml/2006/main">
            <a:off x="495300" y="1524000"/>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GIS: QGIS, ArcGIS — where is the green,</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who can reach it?</a:t>
            </a:r>
          </a:p>
        </p:txBody>
      </p:sp>
      <p:sp>
        <p:nvSpPr>
          <p:cNvPr id="7" name="IoT sensors — what needs action, and who maintains">
            <a:extLst xmlns:a="http://schemas.openxmlformats.org/drawingml/2006/main">
              <a:ext uri="{FF2B5EF4-FFF2-40B4-BE49-F238E27FC236}">
                <a16:creationId xmlns:a16="http://schemas.microsoft.com/office/drawing/2014/main" id="{4BBCE6D0-0147-46AC-9DC2-10C5FF418197}"/>
              </a:ext>
            </a:extLst>
          </p:cNvPr>
          <p:cNvSpPr>
            <a:spLocks xmlns:a="http://schemas.openxmlformats.org/drawingml/2006/main" noGrp="1"/>
          </p:cNvSpPr>
          <p:nvPr/>
        </p:nvSpPr>
        <p:spPr>
          <a:xfrm xmlns:a="http://schemas.openxmlformats.org/drawingml/2006/main">
            <a:off x="495300" y="2150745"/>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IoT sensors — what needs action, and who</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maintains the devices?</a:t>
            </a:r>
          </a:p>
        </p:txBody>
      </p:sp>
      <p:sp>
        <p:nvSpPr>
          <p:cNvPr id="8" name="Digital twins — what happens if we change it?">
            <a:extLst xmlns:a="http://schemas.openxmlformats.org/drawingml/2006/main">
              <a:ext uri="{FF2B5EF4-FFF2-40B4-BE49-F238E27FC236}">
                <a16:creationId xmlns:a16="http://schemas.microsoft.com/office/drawing/2014/main" id="{1F93D069-F9BD-438E-9EEA-A902274D67D7}"/>
              </a:ext>
            </a:extLst>
          </p:cNvPr>
          <p:cNvSpPr>
            <a:spLocks xmlns:a="http://schemas.openxmlformats.org/drawingml/2006/main" noGrp="1"/>
          </p:cNvSpPr>
          <p:nvPr/>
        </p:nvSpPr>
        <p:spPr>
          <a:xfrm xmlns:a="http://schemas.openxmlformats.org/drawingml/2006/main">
            <a:off x="495300" y="2777490"/>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Digital twins — what happens if we change</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it?</a:t>
            </a:r>
          </a:p>
        </p:txBody>
      </p:sp>
      <p:sp>
        <p:nvSpPr>
          <p:cNvPr id="9" name="Power BI dashboards — is the strategy working?">
            <a:extLst xmlns:a="http://schemas.openxmlformats.org/drawingml/2006/main">
              <a:ext uri="{FF2B5EF4-FFF2-40B4-BE49-F238E27FC236}">
                <a16:creationId xmlns:a16="http://schemas.microsoft.com/office/drawing/2014/main" id="{0661E65C-8AD2-43BC-9102-1A4294D4DDD3}"/>
              </a:ext>
            </a:extLst>
          </p:cNvPr>
          <p:cNvSpPr>
            <a:spLocks xmlns:a="http://schemas.openxmlformats.org/drawingml/2006/main" noGrp="1"/>
          </p:cNvSpPr>
          <p:nvPr/>
        </p:nvSpPr>
        <p:spPr>
          <a:xfrm xmlns:a="http://schemas.openxmlformats.org/drawingml/2006/main">
            <a:off x="495300" y="3404235"/>
            <a:ext cx="43338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Power BI dashboards — is the strategy</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working?</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85d3c1cc3d7461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1" name="www.newton.university">
            <a:extLst xmlns:a="http://schemas.openxmlformats.org/drawingml/2006/main">
              <a:ext uri="{FF2B5EF4-FFF2-40B4-BE49-F238E27FC236}">
                <a16:creationId xmlns:a16="http://schemas.microsoft.com/office/drawing/2014/main" id="{2CE54779-A5F9-4A1E-906D-A3851F30DD36}"/>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2" name="25">
            <a:extLst xmlns:a="http://schemas.openxmlformats.org/drawingml/2006/main">
              <a:ext uri="{FF2B5EF4-FFF2-40B4-BE49-F238E27FC236}">
                <a16:creationId xmlns:a16="http://schemas.microsoft.com/office/drawing/2014/main" id="{9705A43B-BCD9-43DB-ABA8-4F94A072871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25</a:t>
            </a:r>
          </a:p>
        </p:txBody>
      </p:sp>
    </p:spTree>
    <p:extLst>
      <p:ext uri="{BB962C8B-B14F-4D97-AF65-F5344CB8AC3E}">
        <p14:creationId xmlns:p14="http://schemas.microsoft.com/office/powerpoint/2010/main" val="77633115"/>
      </p:ext>
    </p:extLst>
  </p:cSld>
</p:sld>
</file>

<file path=ppt/slides/slide2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0" name="Key Messages">
            <a:extLst xmlns:a="http://schemas.openxmlformats.org/drawingml/2006/main">
              <a:ext uri="{FF2B5EF4-FFF2-40B4-BE49-F238E27FC236}">
                <a16:creationId xmlns:a16="http://schemas.microsoft.com/office/drawing/2014/main" id="{94DFA2A0-165A-45AC-88EA-F4C37D5FD8F5}"/>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Key Messages</a:t>
            </a:r>
          </a:p>
        </p:txBody>
      </p:sp>
      <p:sp>
        <p:nvSpPr>
          <p:cNvPr id="2" name="Editorial frame">
            <a:extLst xmlns:a="http://schemas.openxmlformats.org/drawingml/2006/main">
              <a:ext uri="{FF2B5EF4-FFF2-40B4-BE49-F238E27FC236}">
                <a16:creationId xmlns:a16="http://schemas.microsoft.com/office/drawing/2014/main" id="{60BBBD31-DAE8-475E-A0F5-6751E73049A9}"/>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341B8FFF-9EE9-476B-AB24-4481F59D3393}"/>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679556AB-2ED8-4130-979B-C49C82452AB5}"/>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01">
            <a:extLst xmlns:a="http://schemas.openxmlformats.org/drawingml/2006/main">
              <a:ext uri="{FF2B5EF4-FFF2-40B4-BE49-F238E27FC236}">
                <a16:creationId xmlns:a16="http://schemas.microsoft.com/office/drawing/2014/main" id="{5C6878D4-44C9-4E83-AE58-24F45B1E1E1D}"/>
              </a:ext>
            </a:extLst>
          </p:cNvPr>
          <p:cNvSpPr>
            <a:spLocks xmlns:a="http://schemas.openxmlformats.org/drawingml/2006/main" noGrp="1"/>
          </p:cNvSpPr>
          <p:nvPr/>
        </p:nvSpPr>
        <p:spPr>
          <a:xfrm xmlns:a="http://schemas.openxmlformats.org/drawingml/2006/main">
            <a:off x="495300" y="15335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01</a:t>
            </a:r>
          </a:p>
        </p:txBody>
      </p:sp>
      <p:sp>
        <p:nvSpPr>
          <p:cNvPr id="6" name="Stakeholders can stop a project — or carry it.">
            <a:extLst xmlns:a="http://schemas.openxmlformats.org/drawingml/2006/main">
              <a:ext uri="{FF2B5EF4-FFF2-40B4-BE49-F238E27FC236}">
                <a16:creationId xmlns:a16="http://schemas.microsoft.com/office/drawing/2014/main" id="{EC7381F8-D850-4B2A-945A-01CD504774D6}"/>
              </a:ext>
            </a:extLst>
          </p:cNvPr>
          <p:cNvSpPr>
            <a:spLocks xmlns:a="http://schemas.openxmlformats.org/drawingml/2006/main" noGrp="1"/>
          </p:cNvSpPr>
          <p:nvPr/>
        </p:nvSpPr>
        <p:spPr>
          <a:xfrm xmlns:a="http://schemas.openxmlformats.org/drawingml/2006/main">
            <a:off x="952500" y="1533525"/>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Stakeholders can stop a project —</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or carry it.</a:t>
            </a:r>
          </a:p>
        </p:txBody>
      </p:sp>
      <p:sp>
        <p:nvSpPr>
          <p:cNvPr id="7" name="Editorial frame">
            <a:extLst xmlns:a="http://schemas.openxmlformats.org/drawingml/2006/main">
              <a:ext uri="{FF2B5EF4-FFF2-40B4-BE49-F238E27FC236}">
                <a16:creationId xmlns:a16="http://schemas.microsoft.com/office/drawing/2014/main" id="{AA90A66E-84A5-48F8-B5D2-2D4B0AE3F657}"/>
              </a:ext>
            </a:extLst>
          </p:cNvPr>
          <p:cNvSpPr>
            <a:spLocks xmlns:a="http://schemas.openxmlformats.org/drawingml/2006/main" noGrp="1"/>
          </p:cNvSpPr>
          <p:nvPr/>
        </p:nvSpPr>
        <p:spPr>
          <a:xfrm xmlns:a="http://schemas.openxmlformats.org/drawingml/2006/main">
            <a:off x="952500" y="2216944"/>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8" name="02">
            <a:extLst xmlns:a="http://schemas.openxmlformats.org/drawingml/2006/main">
              <a:ext uri="{FF2B5EF4-FFF2-40B4-BE49-F238E27FC236}">
                <a16:creationId xmlns:a16="http://schemas.microsoft.com/office/drawing/2014/main" id="{41BCB2C0-1E54-42A9-BAF5-976D7A4DEBB7}"/>
              </a:ext>
            </a:extLst>
          </p:cNvPr>
          <p:cNvSpPr>
            <a:spLocks xmlns:a="http://schemas.openxmlformats.org/drawingml/2006/main" noGrp="1"/>
          </p:cNvSpPr>
          <p:nvPr/>
        </p:nvSpPr>
        <p:spPr>
          <a:xfrm xmlns:a="http://schemas.openxmlformats.org/drawingml/2006/main">
            <a:off x="495300" y="2331244"/>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02</a:t>
            </a:r>
          </a:p>
        </p:txBody>
      </p:sp>
      <p:sp>
        <p:nvSpPr>
          <p:cNvPr id="9" name="The power–interest grid turns a crowd into a strat">
            <a:extLst xmlns:a="http://schemas.openxmlformats.org/drawingml/2006/main">
              <a:ext uri="{FF2B5EF4-FFF2-40B4-BE49-F238E27FC236}">
                <a16:creationId xmlns:a16="http://schemas.microsoft.com/office/drawing/2014/main" id="{7F4DC443-1E0B-40C5-B8A3-506560FF2994}"/>
              </a:ext>
            </a:extLst>
          </p:cNvPr>
          <p:cNvSpPr>
            <a:spLocks xmlns:a="http://schemas.openxmlformats.org/drawingml/2006/main" noGrp="1"/>
          </p:cNvSpPr>
          <p:nvPr/>
        </p:nvSpPr>
        <p:spPr>
          <a:xfrm xmlns:a="http://schemas.openxmlformats.org/drawingml/2006/main">
            <a:off x="952500" y="2331244"/>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The power–interest grid turns a</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crowd into a strategy.</a:t>
            </a:r>
          </a:p>
        </p:txBody>
      </p:sp>
      <p:sp>
        <p:nvSpPr>
          <p:cNvPr id="10" name="Editorial frame">
            <a:extLst xmlns:a="http://schemas.openxmlformats.org/drawingml/2006/main">
              <a:ext uri="{FF2B5EF4-FFF2-40B4-BE49-F238E27FC236}">
                <a16:creationId xmlns:a16="http://schemas.microsoft.com/office/drawing/2014/main" id="{B435DCBD-8DD9-49CF-A6F7-6AF45031A08F}"/>
              </a:ext>
            </a:extLst>
          </p:cNvPr>
          <p:cNvSpPr>
            <a:spLocks xmlns:a="http://schemas.openxmlformats.org/drawingml/2006/main" noGrp="1"/>
          </p:cNvSpPr>
          <p:nvPr/>
        </p:nvSpPr>
        <p:spPr>
          <a:xfrm xmlns:a="http://schemas.openxmlformats.org/drawingml/2006/main">
            <a:off x="952500" y="3014663"/>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1" name="03">
            <a:extLst xmlns:a="http://schemas.openxmlformats.org/drawingml/2006/main">
              <a:ext uri="{FF2B5EF4-FFF2-40B4-BE49-F238E27FC236}">
                <a16:creationId xmlns:a16="http://schemas.microsoft.com/office/drawing/2014/main" id="{D67997C1-5BB0-46BC-8BAA-7E83655B8754}"/>
              </a:ext>
            </a:extLst>
          </p:cNvPr>
          <p:cNvSpPr>
            <a:spLocks xmlns:a="http://schemas.openxmlformats.org/drawingml/2006/main" noGrp="1"/>
          </p:cNvSpPr>
          <p:nvPr/>
        </p:nvSpPr>
        <p:spPr>
          <a:xfrm xmlns:a="http://schemas.openxmlformats.org/drawingml/2006/main">
            <a:off x="495300" y="3128963"/>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03</a:t>
            </a:r>
          </a:p>
        </p:txBody>
      </p:sp>
      <p:sp>
        <p:nvSpPr>
          <p:cNvPr id="12" name="Real participation beats consultation theatre.">
            <a:extLst xmlns:a="http://schemas.openxmlformats.org/drawingml/2006/main">
              <a:ext uri="{FF2B5EF4-FFF2-40B4-BE49-F238E27FC236}">
                <a16:creationId xmlns:a16="http://schemas.microsoft.com/office/drawing/2014/main" id="{7AB5076C-66FC-4784-A76C-554AFC76FBEC}"/>
              </a:ext>
            </a:extLst>
          </p:cNvPr>
          <p:cNvSpPr>
            <a:spLocks xmlns:a="http://schemas.openxmlformats.org/drawingml/2006/main" noGrp="1"/>
          </p:cNvSpPr>
          <p:nvPr/>
        </p:nvSpPr>
        <p:spPr>
          <a:xfrm xmlns:a="http://schemas.openxmlformats.org/drawingml/2006/main">
            <a:off x="952500" y="3128963"/>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Real participation beats consultation</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theatre.</a:t>
            </a:r>
          </a:p>
        </p:txBody>
      </p:sp>
      <p:sp>
        <p:nvSpPr>
          <p:cNvPr id="13" name="Editorial frame">
            <a:extLst xmlns:a="http://schemas.openxmlformats.org/drawingml/2006/main">
              <a:ext uri="{FF2B5EF4-FFF2-40B4-BE49-F238E27FC236}">
                <a16:creationId xmlns:a16="http://schemas.microsoft.com/office/drawing/2014/main" id="{04A195D4-1D62-4F14-A90D-8F18B1DDC2E8}"/>
              </a:ext>
            </a:extLst>
          </p:cNvPr>
          <p:cNvSpPr>
            <a:spLocks xmlns:a="http://schemas.openxmlformats.org/drawingml/2006/main" noGrp="1"/>
          </p:cNvSpPr>
          <p:nvPr/>
        </p:nvSpPr>
        <p:spPr>
          <a:xfrm xmlns:a="http://schemas.openxmlformats.org/drawingml/2006/main">
            <a:off x="952500" y="3812381"/>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4" name="04">
            <a:extLst xmlns:a="http://schemas.openxmlformats.org/drawingml/2006/main">
              <a:ext uri="{FF2B5EF4-FFF2-40B4-BE49-F238E27FC236}">
                <a16:creationId xmlns:a16="http://schemas.microsoft.com/office/drawing/2014/main" id="{C0148B9F-E38C-439E-B6EC-8E6FAF5838CA}"/>
              </a:ext>
            </a:extLst>
          </p:cNvPr>
          <p:cNvSpPr>
            <a:spLocks xmlns:a="http://schemas.openxmlformats.org/drawingml/2006/main" noGrp="1"/>
          </p:cNvSpPr>
          <p:nvPr/>
        </p:nvSpPr>
        <p:spPr>
          <a:xfrm xmlns:a="http://schemas.openxmlformats.org/drawingml/2006/main">
            <a:off x="495300" y="3926681"/>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04</a:t>
            </a:r>
          </a:p>
        </p:txBody>
      </p:sp>
      <p:sp>
        <p:nvSpPr>
          <p:cNvPr id="15" name="Prague's green space debates are live case materia">
            <a:extLst xmlns:a="http://schemas.openxmlformats.org/drawingml/2006/main">
              <a:ext uri="{FF2B5EF4-FFF2-40B4-BE49-F238E27FC236}">
                <a16:creationId xmlns:a16="http://schemas.microsoft.com/office/drawing/2014/main" id="{7D4A45DD-F5A7-4F3C-B27A-99CE820E10DB}"/>
              </a:ext>
            </a:extLst>
          </p:cNvPr>
          <p:cNvSpPr>
            <a:spLocks xmlns:a="http://schemas.openxmlformats.org/drawingml/2006/main" noGrp="1"/>
          </p:cNvSpPr>
          <p:nvPr/>
        </p:nvSpPr>
        <p:spPr>
          <a:xfrm xmlns:a="http://schemas.openxmlformats.org/drawingml/2006/main">
            <a:off x="952500" y="3926681"/>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Prague's green space debates are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live case material for your project.</a:t>
            </a:r>
          </a:p>
        </p:txBody>
      </p:sp>
      <p:sp>
        <p:nvSpPr>
          <p:cNvPr id="16" name="05">
            <a:extLst xmlns:a="http://schemas.openxmlformats.org/drawingml/2006/main">
              <a:ext uri="{FF2B5EF4-FFF2-40B4-BE49-F238E27FC236}">
                <a16:creationId xmlns:a16="http://schemas.microsoft.com/office/drawing/2014/main" id="{4F7A3D05-39F3-46A6-8E4C-11C383868094}"/>
              </a:ext>
            </a:extLst>
          </p:cNvPr>
          <p:cNvSpPr>
            <a:spLocks xmlns:a="http://schemas.openxmlformats.org/drawingml/2006/main" noGrp="1"/>
          </p:cNvSpPr>
          <p:nvPr/>
        </p:nvSpPr>
        <p:spPr>
          <a:xfrm xmlns:a="http://schemas.openxmlformats.org/drawingml/2006/main">
            <a:off x="4819650" y="15335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05</a:t>
            </a:r>
          </a:p>
        </p:txBody>
      </p:sp>
      <p:sp>
        <p:nvSpPr>
          <p:cNvPr id="17" name="Credible communication is specific, evidenced and ">
            <a:extLst xmlns:a="http://schemas.openxmlformats.org/drawingml/2006/main">
              <a:ext uri="{FF2B5EF4-FFF2-40B4-BE49-F238E27FC236}">
                <a16:creationId xmlns:a16="http://schemas.microsoft.com/office/drawing/2014/main" id="{57E01B0E-B7D7-4D62-B0E9-81DF30C0C86C}"/>
              </a:ext>
            </a:extLst>
          </p:cNvPr>
          <p:cNvSpPr>
            <a:spLocks xmlns:a="http://schemas.openxmlformats.org/drawingml/2006/main" noGrp="1"/>
          </p:cNvSpPr>
          <p:nvPr/>
        </p:nvSpPr>
        <p:spPr>
          <a:xfrm xmlns:a="http://schemas.openxmlformats.org/drawingml/2006/main">
            <a:off x="5276850" y="1533525"/>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Credible communication is specific,</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evidenced and complete.</a:t>
            </a:r>
          </a:p>
        </p:txBody>
      </p:sp>
      <p:sp>
        <p:nvSpPr>
          <p:cNvPr id="18" name="Editorial frame">
            <a:extLst xmlns:a="http://schemas.openxmlformats.org/drawingml/2006/main">
              <a:ext uri="{FF2B5EF4-FFF2-40B4-BE49-F238E27FC236}">
                <a16:creationId xmlns:a16="http://schemas.microsoft.com/office/drawing/2014/main" id="{C40CD4D6-73EA-4F0F-8630-32829F661DE7}"/>
              </a:ext>
            </a:extLst>
          </p:cNvPr>
          <p:cNvSpPr>
            <a:spLocks xmlns:a="http://schemas.openxmlformats.org/drawingml/2006/main" noGrp="1"/>
          </p:cNvSpPr>
          <p:nvPr/>
        </p:nvSpPr>
        <p:spPr>
          <a:xfrm xmlns:a="http://schemas.openxmlformats.org/drawingml/2006/main">
            <a:off x="5276850" y="2216944"/>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9" name="06">
            <a:extLst xmlns:a="http://schemas.openxmlformats.org/drawingml/2006/main">
              <a:ext uri="{FF2B5EF4-FFF2-40B4-BE49-F238E27FC236}">
                <a16:creationId xmlns:a16="http://schemas.microsoft.com/office/drawing/2014/main" id="{7401A3F3-A788-4B3E-8484-FE039CA1A79F}"/>
              </a:ext>
            </a:extLst>
          </p:cNvPr>
          <p:cNvSpPr>
            <a:spLocks xmlns:a="http://schemas.openxmlformats.org/drawingml/2006/main" noGrp="1"/>
          </p:cNvSpPr>
          <p:nvPr/>
        </p:nvSpPr>
        <p:spPr>
          <a:xfrm xmlns:a="http://schemas.openxmlformats.org/drawingml/2006/main">
            <a:off x="4819650" y="2331244"/>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06</a:t>
            </a:r>
          </a:p>
        </p:txBody>
      </p:sp>
      <p:sp>
        <p:nvSpPr>
          <p:cNvPr id="20" name="Greenwashing is now a legal risk, not just a PR ri">
            <a:extLst xmlns:a="http://schemas.openxmlformats.org/drawingml/2006/main">
              <a:ext uri="{FF2B5EF4-FFF2-40B4-BE49-F238E27FC236}">
                <a16:creationId xmlns:a16="http://schemas.microsoft.com/office/drawing/2014/main" id="{D97BC8EA-F863-4482-8619-2848B3D6AFED}"/>
              </a:ext>
            </a:extLst>
          </p:cNvPr>
          <p:cNvSpPr>
            <a:spLocks xmlns:a="http://schemas.openxmlformats.org/drawingml/2006/main" noGrp="1"/>
          </p:cNvSpPr>
          <p:nvPr/>
        </p:nvSpPr>
        <p:spPr>
          <a:xfrm xmlns:a="http://schemas.openxmlformats.org/drawingml/2006/main">
            <a:off x="5276850" y="2331244"/>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Greenwashing is now a legal risk,</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not just a PR risk.</a:t>
            </a:r>
          </a:p>
        </p:txBody>
      </p:sp>
      <p:sp>
        <p:nvSpPr>
          <p:cNvPr id="21" name="Editorial frame">
            <a:extLst xmlns:a="http://schemas.openxmlformats.org/drawingml/2006/main">
              <a:ext uri="{FF2B5EF4-FFF2-40B4-BE49-F238E27FC236}">
                <a16:creationId xmlns:a16="http://schemas.microsoft.com/office/drawing/2014/main" id="{6EFEB0E3-4D70-4354-83E1-96B2767F54F6}"/>
              </a:ext>
            </a:extLst>
          </p:cNvPr>
          <p:cNvSpPr>
            <a:spLocks xmlns:a="http://schemas.openxmlformats.org/drawingml/2006/main" noGrp="1"/>
          </p:cNvSpPr>
          <p:nvPr/>
        </p:nvSpPr>
        <p:spPr>
          <a:xfrm xmlns:a="http://schemas.openxmlformats.org/drawingml/2006/main">
            <a:off x="5276850" y="3014663"/>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2" name="07">
            <a:extLst xmlns:a="http://schemas.openxmlformats.org/drawingml/2006/main">
              <a:ext uri="{FF2B5EF4-FFF2-40B4-BE49-F238E27FC236}">
                <a16:creationId xmlns:a16="http://schemas.microsoft.com/office/drawing/2014/main" id="{62B19665-1447-4F3C-92FA-372525B05F69}"/>
              </a:ext>
            </a:extLst>
          </p:cNvPr>
          <p:cNvSpPr>
            <a:spLocks xmlns:a="http://schemas.openxmlformats.org/drawingml/2006/main" noGrp="1"/>
          </p:cNvSpPr>
          <p:nvPr/>
        </p:nvSpPr>
        <p:spPr>
          <a:xfrm xmlns:a="http://schemas.openxmlformats.org/drawingml/2006/main">
            <a:off x="4819650" y="3128963"/>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07</a:t>
            </a:r>
          </a:p>
        </p:txBody>
      </p:sp>
      <p:sp>
        <p:nvSpPr>
          <p:cNvPr id="23" name="Smart cities make Green Infrastructure measurable ">
            <a:extLst xmlns:a="http://schemas.openxmlformats.org/drawingml/2006/main">
              <a:ext uri="{FF2B5EF4-FFF2-40B4-BE49-F238E27FC236}">
                <a16:creationId xmlns:a16="http://schemas.microsoft.com/office/drawing/2014/main" id="{4C294A4A-3327-4707-BAAF-75446B2C65B4}"/>
              </a:ext>
            </a:extLst>
          </p:cNvPr>
          <p:cNvSpPr>
            <a:spLocks xmlns:a="http://schemas.openxmlformats.org/drawingml/2006/main" noGrp="1"/>
          </p:cNvSpPr>
          <p:nvPr/>
        </p:nvSpPr>
        <p:spPr>
          <a:xfrm xmlns:a="http://schemas.openxmlformats.org/drawingml/2006/main">
            <a:off x="5276850" y="3128963"/>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Smart cities make Green</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Infrastructure measurable and</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manageable.</a:t>
            </a:r>
          </a:p>
        </p:txBody>
      </p:sp>
      <p:sp>
        <p:nvSpPr>
          <p:cNvPr id="24" name="Editorial frame">
            <a:extLst xmlns:a="http://schemas.openxmlformats.org/drawingml/2006/main">
              <a:ext uri="{FF2B5EF4-FFF2-40B4-BE49-F238E27FC236}">
                <a16:creationId xmlns:a16="http://schemas.microsoft.com/office/drawing/2014/main" id="{CB4A4416-3583-4F5D-9D65-3D3A6822911D}"/>
              </a:ext>
            </a:extLst>
          </p:cNvPr>
          <p:cNvSpPr>
            <a:spLocks xmlns:a="http://schemas.openxmlformats.org/drawingml/2006/main" noGrp="1"/>
          </p:cNvSpPr>
          <p:nvPr/>
        </p:nvSpPr>
        <p:spPr>
          <a:xfrm xmlns:a="http://schemas.openxmlformats.org/drawingml/2006/main">
            <a:off x="5276850" y="3812381"/>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5" name="08">
            <a:extLst xmlns:a="http://schemas.openxmlformats.org/drawingml/2006/main">
              <a:ext uri="{FF2B5EF4-FFF2-40B4-BE49-F238E27FC236}">
                <a16:creationId xmlns:a16="http://schemas.microsoft.com/office/drawing/2014/main" id="{4B889676-0A70-4AC2-A509-D593CC965CBD}"/>
              </a:ext>
            </a:extLst>
          </p:cNvPr>
          <p:cNvSpPr>
            <a:spLocks xmlns:a="http://schemas.openxmlformats.org/drawingml/2006/main" noGrp="1"/>
          </p:cNvSpPr>
          <p:nvPr/>
        </p:nvSpPr>
        <p:spPr>
          <a:xfrm xmlns:a="http://schemas.openxmlformats.org/drawingml/2006/main">
            <a:off x="4819650" y="3926681"/>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08</a:t>
            </a:r>
          </a:p>
        </p:txBody>
      </p:sp>
      <p:sp>
        <p:nvSpPr>
          <p:cNvPr id="26" name="Prague pilots should fill evidenced gaps and have ">
            <a:extLst xmlns:a="http://schemas.openxmlformats.org/drawingml/2006/main">
              <a:ext uri="{FF2B5EF4-FFF2-40B4-BE49-F238E27FC236}">
                <a16:creationId xmlns:a16="http://schemas.microsoft.com/office/drawing/2014/main" id="{345E9091-B2EA-451F-A30B-ABD882CA4710}"/>
              </a:ext>
            </a:extLst>
          </p:cNvPr>
          <p:cNvSpPr>
            <a:spLocks xmlns:a="http://schemas.openxmlformats.org/drawingml/2006/main" noGrp="1"/>
          </p:cNvSpPr>
          <p:nvPr/>
        </p:nvSpPr>
        <p:spPr>
          <a:xfrm xmlns:a="http://schemas.openxmlformats.org/drawingml/2006/main">
            <a:off x="5276850" y="3926681"/>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Prague pilots should fill evidenced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gaps and have an operating owner.</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2643d8558f5d4fc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8" name="www.newton.university">
            <a:extLst xmlns:a="http://schemas.openxmlformats.org/drawingml/2006/main">
              <a:ext uri="{FF2B5EF4-FFF2-40B4-BE49-F238E27FC236}">
                <a16:creationId xmlns:a16="http://schemas.microsoft.com/office/drawing/2014/main" id="{3148C81F-9152-4690-B5D3-CE0422407DA0}"/>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9" name="26">
            <a:extLst xmlns:a="http://schemas.openxmlformats.org/drawingml/2006/main">
              <a:ext uri="{FF2B5EF4-FFF2-40B4-BE49-F238E27FC236}">
                <a16:creationId xmlns:a16="http://schemas.microsoft.com/office/drawing/2014/main" id="{0F819D12-14DA-413A-B490-B4B3A761E1E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26</a:t>
            </a:r>
          </a:p>
        </p:txBody>
      </p:sp>
    </p:spTree>
    <p:extLst>
      <p:ext uri="{BB962C8B-B14F-4D97-AF65-F5344CB8AC3E}">
        <p14:creationId xmlns:p14="http://schemas.microsoft.com/office/powerpoint/2010/main" val="1857217675"/>
      </p:ext>
    </p:extLst>
  </p:cSld>
</p:sld>
</file>

<file path=ppt/slides/slide2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Recommended Reading">
            <a:extLst xmlns:a="http://schemas.openxmlformats.org/drawingml/2006/main">
              <a:ext uri="{FF2B5EF4-FFF2-40B4-BE49-F238E27FC236}">
                <a16:creationId xmlns:a16="http://schemas.microsoft.com/office/drawing/2014/main" id="{56F35422-A991-4BF3-A125-98A799AE9C89}"/>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Recommended Reading</a:t>
            </a:r>
          </a:p>
        </p:txBody>
      </p:sp>
      <p:sp>
        <p:nvSpPr>
          <p:cNvPr id="2" name="Editorial frame">
            <a:extLst xmlns:a="http://schemas.openxmlformats.org/drawingml/2006/main">
              <a:ext uri="{FF2B5EF4-FFF2-40B4-BE49-F238E27FC236}">
                <a16:creationId xmlns:a16="http://schemas.microsoft.com/office/drawing/2014/main" id="{455824AA-1C34-449B-9DF8-9C47E92CBA69}"/>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70720445-D705-424E-9037-20E50FA4895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Freeman, R. E. (1984). Strategic Management: A Sta">
            <a:extLst xmlns:a="http://schemas.openxmlformats.org/drawingml/2006/main">
              <a:ext uri="{FF2B5EF4-FFF2-40B4-BE49-F238E27FC236}">
                <a16:creationId xmlns:a16="http://schemas.microsoft.com/office/drawing/2014/main" id="{B550AB14-7857-49F5-AF25-D4AED20ED91F}"/>
              </a:ext>
            </a:extLst>
          </p:cNvPr>
          <p:cNvSpPr>
            <a:spLocks xmlns:a="http://schemas.openxmlformats.org/drawingml/2006/main" noGrp="1"/>
          </p:cNvSpPr>
          <p:nvPr/>
        </p:nvSpPr>
        <p:spPr>
          <a:xfrm xmlns:a="http://schemas.openxmlformats.org/drawingml/2006/main">
            <a:off x="495300" y="1524000"/>
            <a:ext cx="5305425"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Freeman, R. E. (1984). Strategic Management: A Stakeholder Approach.</a:t>
            </a:r>
          </a:p>
        </p:txBody>
      </p:sp>
      <p:sp>
        <p:nvSpPr>
          <p:cNvPr id="5" name="Arnstein, S. (1969). A Ladder of Citizen Participa">
            <a:extLst xmlns:a="http://schemas.openxmlformats.org/drawingml/2006/main">
              <a:ext uri="{FF2B5EF4-FFF2-40B4-BE49-F238E27FC236}">
                <a16:creationId xmlns:a16="http://schemas.microsoft.com/office/drawing/2014/main" id="{93D98CD9-726D-4762-B01A-697903E8B243}"/>
              </a:ext>
            </a:extLst>
          </p:cNvPr>
          <p:cNvSpPr>
            <a:spLocks xmlns:a="http://schemas.openxmlformats.org/drawingml/2006/main" noGrp="1"/>
          </p:cNvSpPr>
          <p:nvPr/>
        </p:nvSpPr>
        <p:spPr>
          <a:xfrm xmlns:a="http://schemas.openxmlformats.org/drawingml/2006/main">
            <a:off x="495300" y="1903095"/>
            <a:ext cx="5305425"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Arnstein, S. (1969). A Ladder of Citizen Participation. JAIP 35(4).</a:t>
            </a:r>
          </a:p>
        </p:txBody>
      </p:sp>
      <p:sp>
        <p:nvSpPr>
          <p:cNvPr id="6" name="Institute of Planning and Development Prague (IPR)">
            <a:extLst xmlns:a="http://schemas.openxmlformats.org/drawingml/2006/main">
              <a:ext uri="{FF2B5EF4-FFF2-40B4-BE49-F238E27FC236}">
                <a16:creationId xmlns:a16="http://schemas.microsoft.com/office/drawing/2014/main" id="{229F7D81-D6FB-4E6F-8EE3-7334017671B4}"/>
              </a:ext>
            </a:extLst>
          </p:cNvPr>
          <p:cNvSpPr>
            <a:spLocks xmlns:a="http://schemas.openxmlformats.org/drawingml/2006/main" noGrp="1"/>
          </p:cNvSpPr>
          <p:nvPr/>
        </p:nvSpPr>
        <p:spPr>
          <a:xfrm xmlns:a="http://schemas.openxmlformats.org/drawingml/2006/main">
            <a:off x="495300" y="2282190"/>
            <a:ext cx="5305425" cy="405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Institute of Planning and Development Prague (IPR) — participation</a:t>
            </a:r>
          </a:p>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manual.</a:t>
            </a:r>
          </a:p>
        </p:txBody>
      </p:sp>
      <p:sp>
        <p:nvSpPr>
          <p:cNvPr id="7" name="European Commission — Directive (EU) 2024/825 on e">
            <a:extLst xmlns:a="http://schemas.openxmlformats.org/drawingml/2006/main">
              <a:ext uri="{FF2B5EF4-FFF2-40B4-BE49-F238E27FC236}">
                <a16:creationId xmlns:a16="http://schemas.microsoft.com/office/drawing/2014/main" id="{32691DA2-1ECC-4953-9857-DD3B5416A8C8}"/>
              </a:ext>
            </a:extLst>
          </p:cNvPr>
          <p:cNvSpPr>
            <a:spLocks xmlns:a="http://schemas.openxmlformats.org/drawingml/2006/main" noGrp="1"/>
          </p:cNvSpPr>
          <p:nvPr/>
        </p:nvSpPr>
        <p:spPr>
          <a:xfrm xmlns:a="http://schemas.openxmlformats.org/drawingml/2006/main">
            <a:off x="495300" y="2849880"/>
            <a:ext cx="5305425" cy="405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European Commission — Directive (EU) 2024/825 on empowering</a:t>
            </a:r>
          </a:p>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consumers for the green transition.</a:t>
            </a:r>
          </a:p>
        </p:txBody>
      </p:sp>
      <p:sp>
        <p:nvSpPr>
          <p:cNvPr id="8" name="City of Copenhagen — Cloudburst Management Plan.">
            <a:extLst xmlns:a="http://schemas.openxmlformats.org/drawingml/2006/main">
              <a:ext uri="{FF2B5EF4-FFF2-40B4-BE49-F238E27FC236}">
                <a16:creationId xmlns:a16="http://schemas.microsoft.com/office/drawing/2014/main" id="{2938AFF6-B862-44C4-A492-C70428C0438F}"/>
              </a:ext>
            </a:extLst>
          </p:cNvPr>
          <p:cNvSpPr>
            <a:spLocks xmlns:a="http://schemas.openxmlformats.org/drawingml/2006/main" noGrp="1"/>
          </p:cNvSpPr>
          <p:nvPr/>
        </p:nvSpPr>
        <p:spPr>
          <a:xfrm xmlns:a="http://schemas.openxmlformats.org/drawingml/2006/main">
            <a:off x="495300" y="3417570"/>
            <a:ext cx="5305425"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City of Copenhagen — Cloudburst Management Plan.</a:t>
            </a:r>
          </a:p>
        </p:txBody>
      </p:sp>
      <p:sp>
        <p:nvSpPr>
          <p:cNvPr id="9" name="Ajuntament de Barcelona — Superblock programme eva">
            <a:extLst xmlns:a="http://schemas.openxmlformats.org/drawingml/2006/main">
              <a:ext uri="{FF2B5EF4-FFF2-40B4-BE49-F238E27FC236}">
                <a16:creationId xmlns:a16="http://schemas.microsoft.com/office/drawing/2014/main" id="{FACB7293-05A9-4E07-8649-03E2888CFFDF}"/>
              </a:ext>
            </a:extLst>
          </p:cNvPr>
          <p:cNvSpPr>
            <a:spLocks xmlns:a="http://schemas.openxmlformats.org/drawingml/2006/main" noGrp="1"/>
          </p:cNvSpPr>
          <p:nvPr/>
        </p:nvSpPr>
        <p:spPr>
          <a:xfrm xmlns:a="http://schemas.openxmlformats.org/drawingml/2006/main">
            <a:off x="495300" y="3796665"/>
            <a:ext cx="5305425"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Ajuntament de Barcelona — Superblock programme evaluations.</a:t>
            </a:r>
          </a:p>
        </p:txBody>
      </p:sp>
      <p:sp>
        <p:nvSpPr>
          <p:cNvPr id="10" name="IAP2 — Spectrum of Public Participation (iap2.org)">
            <a:extLst xmlns:a="http://schemas.openxmlformats.org/drawingml/2006/main">
              <a:ext uri="{FF2B5EF4-FFF2-40B4-BE49-F238E27FC236}">
                <a16:creationId xmlns:a16="http://schemas.microsoft.com/office/drawing/2014/main" id="{1C6F6953-E86C-477B-8AF4-D06FCFF7D54D}"/>
              </a:ext>
            </a:extLst>
          </p:cNvPr>
          <p:cNvSpPr>
            <a:spLocks xmlns:a="http://schemas.openxmlformats.org/drawingml/2006/main" noGrp="1"/>
          </p:cNvSpPr>
          <p:nvPr/>
        </p:nvSpPr>
        <p:spPr>
          <a:xfrm xmlns:a="http://schemas.openxmlformats.org/drawingml/2006/main">
            <a:off x="495300" y="4175760"/>
            <a:ext cx="5305425"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38" b="0">
                <a:solidFill>
                  <a:srgbClr val="173E35"/>
                </a:solidFill>
                <a:latin typeface="Arial"/>
                <a:ea typeface="Arial"/>
                <a:cs typeface="Arial"/>
              </a:defRPr>
            </a:pPr>
            <a:r>
              <a:rPr sz="1238" b="0">
                <a:solidFill>
                  <a:srgbClr val="173E35"/>
                </a:solidFill>
                <a:latin typeface="Arial"/>
                <a:ea typeface="Arial"/>
                <a:cs typeface="Arial"/>
              </a:rPr>
              <a:t>IAP2 — Spectrum of Public Participation (iap2.org).</a:t>
            </a:r>
          </a:p>
        </p:txBody>
      </p:sp>
      <p:sp>
        <p:nvSpPr>
          <p:cNvPr id="11" name="Editorial frame">
            <a:extLst xmlns:a="http://schemas.openxmlformats.org/drawingml/2006/main">
              <a:ext uri="{FF2B5EF4-FFF2-40B4-BE49-F238E27FC236}">
                <a16:creationId xmlns:a16="http://schemas.microsoft.com/office/drawing/2014/main" id="{ED863B38-19B9-46FE-B857-9A478178B43A}"/>
              </a:ext>
            </a:extLst>
          </p:cNvPr>
          <p:cNvSpPr>
            <a:spLocks xmlns:a="http://schemas.openxmlformats.org/drawingml/2006/main" noGrp="1"/>
          </p:cNvSpPr>
          <p:nvPr/>
        </p:nvSpPr>
        <p:spPr>
          <a:xfrm xmlns:a="http://schemas.openxmlformats.org/drawingml/2006/main">
            <a:off x="6076950" y="1438275"/>
            <a:ext cx="2714625" cy="3248025"/>
          </a:xfrm>
          <a:prstGeom xmlns:a="http://schemas.openxmlformats.org/drawingml/2006/main" prst="rect">
            <a:avLst/>
          </a:prstGeom>
          <a:solidFill xmlns:a="http://schemas.openxmlformats.org/drawingml/2006/main">
            <a:srgbClr val="E3E9D9"/>
          </a:solidFill>
          <a:ln xmlns:a="http://schemas.openxmlformats.org/drawingml/2006/main" w="7620">
            <a:solidFill>
              <a:srgbClr val="B7C3B1"/>
            </a:solidFill>
          </a:ln>
        </p:spPr>
      </p:sp>
      <p:sp>
        <p:nvSpPr>
          <p:cNvPr id="12" name="Seminar 4 preview">
            <a:extLst xmlns:a="http://schemas.openxmlformats.org/drawingml/2006/main">
              <a:ext uri="{FF2B5EF4-FFF2-40B4-BE49-F238E27FC236}">
                <a16:creationId xmlns:a16="http://schemas.microsoft.com/office/drawing/2014/main" id="{53D93B15-0E39-4D6C-B197-9AC93B1145A8}"/>
              </a:ext>
            </a:extLst>
          </p:cNvPr>
          <p:cNvSpPr>
            <a:spLocks xmlns:a="http://schemas.openxmlformats.org/drawingml/2006/main" noGrp="1"/>
          </p:cNvSpPr>
          <p:nvPr/>
        </p:nvSpPr>
        <p:spPr>
          <a:xfrm xmlns:a="http://schemas.openxmlformats.org/drawingml/2006/main">
            <a:off x="6267450" y="1638300"/>
            <a:ext cx="2324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B56647"/>
                </a:solidFill>
                <a:latin typeface="Georgia"/>
                <a:ea typeface="Georgia"/>
                <a:cs typeface="Georgia"/>
              </a:defRPr>
            </a:pPr>
            <a:r>
              <a:rPr sz="1725" b="0">
                <a:solidFill>
                  <a:srgbClr val="B56647"/>
                </a:solidFill>
                <a:latin typeface="Georgia"/>
                <a:ea typeface="Georgia"/>
                <a:cs typeface="Georgia"/>
              </a:rPr>
              <a:t>Seminar 4 preview</a:t>
            </a:r>
          </a:p>
        </p:txBody>
      </p:sp>
      <p:sp>
        <p:nvSpPr>
          <p:cNvPr id="13" name="Communicating sustainability for your case-study s">
            <a:extLst xmlns:a="http://schemas.openxmlformats.org/drawingml/2006/main">
              <a:ext uri="{FF2B5EF4-FFF2-40B4-BE49-F238E27FC236}">
                <a16:creationId xmlns:a16="http://schemas.microsoft.com/office/drawing/2014/main" id="{5DDA3566-77AA-4DE5-B64C-01576216914E}"/>
              </a:ext>
            </a:extLst>
          </p:cNvPr>
          <p:cNvSpPr>
            <a:spLocks xmlns:a="http://schemas.openxmlformats.org/drawingml/2006/main" noGrp="1"/>
          </p:cNvSpPr>
          <p:nvPr/>
        </p:nvSpPr>
        <p:spPr>
          <a:xfrm xmlns:a="http://schemas.openxmlformats.org/drawingml/2006/main">
            <a:off x="6267450" y="2044065"/>
            <a:ext cx="2324100" cy="897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Communicating</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sustainability for your</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case-study site's</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stakeholders.</a:t>
            </a:r>
          </a:p>
        </p:txBody>
      </p:sp>
      <p:sp>
        <p:nvSpPr>
          <p:cNvPr id="14" name="Next lecture">
            <a:extLst xmlns:a="http://schemas.openxmlformats.org/drawingml/2006/main">
              <a:ext uri="{FF2B5EF4-FFF2-40B4-BE49-F238E27FC236}">
                <a16:creationId xmlns:a16="http://schemas.microsoft.com/office/drawing/2014/main" id="{33600FE5-76F8-4021-8595-D14100AF2267}"/>
              </a:ext>
            </a:extLst>
          </p:cNvPr>
          <p:cNvSpPr>
            <a:spLocks xmlns:a="http://schemas.openxmlformats.org/drawingml/2006/main" noGrp="1"/>
          </p:cNvSpPr>
          <p:nvPr/>
        </p:nvSpPr>
        <p:spPr>
          <a:xfrm xmlns:a="http://schemas.openxmlformats.org/drawingml/2006/main">
            <a:off x="6267450" y="3131820"/>
            <a:ext cx="2324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B56647"/>
                </a:solidFill>
                <a:latin typeface="Georgia"/>
                <a:ea typeface="Georgia"/>
                <a:cs typeface="Georgia"/>
              </a:defRPr>
            </a:pPr>
            <a:r>
              <a:rPr sz="1725" b="0">
                <a:solidFill>
                  <a:srgbClr val="B56647"/>
                </a:solidFill>
                <a:latin typeface="Georgia"/>
                <a:ea typeface="Georgia"/>
                <a:cs typeface="Georgia"/>
              </a:rPr>
              <a:t>Next lecture</a:t>
            </a:r>
          </a:p>
        </p:txBody>
      </p:sp>
      <p:sp>
        <p:nvSpPr>
          <p:cNvPr id="15" name="ESG, Regulation and the Future of Urban Developmen">
            <a:extLst xmlns:a="http://schemas.openxmlformats.org/drawingml/2006/main">
              <a:ext uri="{FF2B5EF4-FFF2-40B4-BE49-F238E27FC236}">
                <a16:creationId xmlns:a16="http://schemas.microsoft.com/office/drawing/2014/main" id="{BFBA6A6E-80F4-4B8D-AD11-0827D20BA089}"/>
              </a:ext>
            </a:extLst>
          </p:cNvPr>
          <p:cNvSpPr>
            <a:spLocks xmlns:a="http://schemas.openxmlformats.org/drawingml/2006/main" noGrp="1"/>
          </p:cNvSpPr>
          <p:nvPr/>
        </p:nvSpPr>
        <p:spPr>
          <a:xfrm xmlns:a="http://schemas.openxmlformats.org/drawingml/2006/main">
            <a:off x="6267450" y="3537585"/>
            <a:ext cx="2324100" cy="6800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ESG, Regulation and the</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Future of Urban</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Development.</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079b5cdb0ca49be"/>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7" name="www.newton.university">
            <a:extLst xmlns:a="http://schemas.openxmlformats.org/drawingml/2006/main">
              <a:ext uri="{FF2B5EF4-FFF2-40B4-BE49-F238E27FC236}">
                <a16:creationId xmlns:a16="http://schemas.microsoft.com/office/drawing/2014/main" id="{E21C5A55-C877-4B54-A948-6287E08B8EC7}"/>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8" name="27">
            <a:extLst xmlns:a="http://schemas.openxmlformats.org/drawingml/2006/main">
              <a:ext uri="{FF2B5EF4-FFF2-40B4-BE49-F238E27FC236}">
                <a16:creationId xmlns:a16="http://schemas.microsoft.com/office/drawing/2014/main" id="{BB36D16A-D20E-43F2-8E9F-2B89B75A014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27</a:t>
            </a:r>
          </a:p>
        </p:txBody>
      </p:sp>
    </p:spTree>
    <p:extLst>
      <p:ext uri="{BB962C8B-B14F-4D97-AF65-F5344CB8AC3E}">
        <p14:creationId xmlns:p14="http://schemas.microsoft.com/office/powerpoint/2010/main" val="652127897"/>
      </p:ext>
    </p:extLst>
  </p:cSld>
</p:sld>
</file>

<file path=ppt/slides/slide2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efa96a8c3d24575"/>
          <a:srcRect xmlns:a="http://schemas.openxmlformats.org/drawingml/2006/main" l="2500" t="0" r="2500" b="0"/>
          <a:stretch xmlns:a="http://schemas.openxmlformats.org/drawingml/2006/main">
            <a:fillRect l="0" t="0" r="0" b="0"/>
          </a:stretch>
        </p:blipFill>
        <p:spPr>
          <a:xfrm xmlns:a="http://schemas.openxmlformats.org/drawingml/2006/main">
            <a:off x="5886450" y="0"/>
            <a:ext cx="3257550" cy="5143500"/>
          </a:xfrm>
          <a:prstGeom xmlns:a="http://schemas.openxmlformats.org/drawingml/2006/main" prst="rect">
            <a:avLst/>
          </a:prstGeom>
        </p:spPr>
      </p:pic>
      <p:sp>
        <p:nvSpPr>
          <p:cNvPr id="2" name="Any&#10;questions?">
            <a:extLst xmlns:a="http://schemas.openxmlformats.org/drawingml/2006/main">
              <a:ext uri="{FF2B5EF4-FFF2-40B4-BE49-F238E27FC236}">
                <a16:creationId xmlns:a16="http://schemas.microsoft.com/office/drawing/2014/main" id="{4862A6BA-0C36-499E-87B9-1CCE96BC69C6}"/>
              </a:ext>
            </a:extLst>
          </p:cNvPr>
          <p:cNvSpPr>
            <a:spLocks xmlns:a="http://schemas.openxmlformats.org/drawingml/2006/main" noGrp="1"/>
          </p:cNvSpPr>
          <p:nvPr/>
        </p:nvSpPr>
        <p:spPr>
          <a:xfrm xmlns:a="http://schemas.openxmlformats.org/drawingml/2006/main">
            <a:off x="495300" y="1381125"/>
            <a:ext cx="5143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700" b="0">
                <a:solidFill>
                  <a:srgbClr val="173E35"/>
                </a:solidFill>
                <a:latin typeface="Georgia"/>
                <a:ea typeface="Georgia"/>
                <a:cs typeface="Georgia"/>
              </a:defRPr>
            </a:pPr>
            <a:r>
              <a:rPr sz="5700" b="0">
                <a:solidFill>
                  <a:srgbClr val="173E35"/>
                </a:solidFill>
                <a:latin typeface="Georgia"/>
                <a:ea typeface="Georgia"/>
                <a:cs typeface="Georgia"/>
              </a:rPr>
              <a:t>Any</a:t>
            </a:r>
          </a:p>
          <a:p xmlns:a="http://schemas.openxmlformats.org/drawingml/2006/main">
            <a:pPr>
              <a:defRPr sz="5700" b="0">
                <a:solidFill>
                  <a:srgbClr val="173E35"/>
                </a:solidFill>
                <a:latin typeface="Georgia"/>
                <a:ea typeface="Georgia"/>
                <a:cs typeface="Georgia"/>
              </a:defRPr>
            </a:pPr>
            <a:r>
              <a:rPr sz="5700" b="0">
                <a:solidFill>
                  <a:srgbClr val="173E35"/>
                </a:solidFill>
                <a:latin typeface="Georgia"/>
                <a:ea typeface="Georgia"/>
                <a:cs typeface="Georgia"/>
              </a:rPr>
              <a:t>questions?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dcae1d292684225"/>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4" name="www.newton.university">
            <a:extLst xmlns:a="http://schemas.openxmlformats.org/drawingml/2006/main">
              <a:ext uri="{FF2B5EF4-FFF2-40B4-BE49-F238E27FC236}">
                <a16:creationId xmlns:a16="http://schemas.microsoft.com/office/drawing/2014/main" id="{7B27E59E-EBF1-4518-9615-74A561F8378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5" name="28">
            <a:extLst xmlns:a="http://schemas.openxmlformats.org/drawingml/2006/main">
              <a:ext uri="{FF2B5EF4-FFF2-40B4-BE49-F238E27FC236}">
                <a16:creationId xmlns:a16="http://schemas.microsoft.com/office/drawing/2014/main" id="{B4955DC2-6833-4B81-8CE8-AA463E5B305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28</a:t>
            </a:r>
          </a:p>
        </p:txBody>
      </p:sp>
    </p:spTree>
    <p:extLst>
      <p:ext uri="{BB962C8B-B14F-4D97-AF65-F5344CB8AC3E}">
        <p14:creationId xmlns:p14="http://schemas.microsoft.com/office/powerpoint/2010/main" val="1061847277"/>
      </p:ext>
    </p:extLst>
  </p:cSld>
</p:sld>
</file>

<file path=ppt/slides/slide2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Image credits">
            <a:extLst xmlns:a="http://schemas.openxmlformats.org/drawingml/2006/main">
              <a:ext uri="{FF2B5EF4-FFF2-40B4-BE49-F238E27FC236}">
                <a16:creationId xmlns:a16="http://schemas.microsoft.com/office/drawing/2014/main" id="{884400D8-9393-47FE-AA61-141ACB5FCAC4}"/>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Image credits</a:t>
            </a:r>
          </a:p>
        </p:txBody>
      </p:sp>
      <p:sp>
        <p:nvSpPr>
          <p:cNvPr id="2" name="Editorial frame">
            <a:extLst xmlns:a="http://schemas.openxmlformats.org/drawingml/2006/main">
              <a:ext uri="{FF2B5EF4-FFF2-40B4-BE49-F238E27FC236}">
                <a16:creationId xmlns:a16="http://schemas.microsoft.com/office/drawing/2014/main" id="{4110075D-409A-42AA-9627-BA590EB8173C}"/>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C0DB155D-DB74-4D97-A6DC-5A6F264AE98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Prague - view from Charles Bridge (by Pudelek).jpg">
            <a:extLst xmlns:a="http://schemas.openxmlformats.org/drawingml/2006/main">
              <a:ext uri="{FF2B5EF4-FFF2-40B4-BE49-F238E27FC236}">
                <a16:creationId xmlns:a16="http://schemas.microsoft.com/office/drawing/2014/main" id="{086A9131-E246-412F-8065-4421175C6A8F}"/>
              </a:ext>
            </a:extLst>
          </p:cNvPr>
          <p:cNvSpPr>
            <a:spLocks xmlns:a="http://schemas.openxmlformats.org/drawingml/2006/main" noGrp="1"/>
          </p:cNvSpPr>
          <p:nvPr/>
        </p:nvSpPr>
        <p:spPr>
          <a:xfrm xmlns:a="http://schemas.openxmlformats.org/drawingml/2006/main">
            <a:off x="495300" y="156210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Prague - view from Charles Bridge (by Pudelek).jpg — CC BY-SA 3.0, Wikimedia Commons</a:t>
            </a:r>
          </a:p>
        </p:txBody>
      </p:sp>
      <p:sp>
        <p:nvSpPr>
          <p:cNvPr id="5" name="Supertree Grove, Gardens by the Bay, Singapore1.jp">
            <a:extLst xmlns:a="http://schemas.openxmlformats.org/drawingml/2006/main">
              <a:ext uri="{FF2B5EF4-FFF2-40B4-BE49-F238E27FC236}">
                <a16:creationId xmlns:a16="http://schemas.microsoft.com/office/drawing/2014/main" id="{25A0946B-8332-4577-AAC3-2207A14F7215}"/>
              </a:ext>
            </a:extLst>
          </p:cNvPr>
          <p:cNvSpPr>
            <a:spLocks xmlns:a="http://schemas.openxmlformats.org/drawingml/2006/main" noGrp="1"/>
          </p:cNvSpPr>
          <p:nvPr/>
        </p:nvSpPr>
        <p:spPr>
          <a:xfrm xmlns:a="http://schemas.openxmlformats.org/drawingml/2006/main">
            <a:off x="495300" y="192595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Supertree Grove, Gardens by the Bay, Singapore1.jpg — CC0, Wikimedia Commons</a:t>
            </a:r>
          </a:p>
        </p:txBody>
      </p:sp>
      <p:sp>
        <p:nvSpPr>
          <p:cNvPr id="6" name="Harbour Bath, Islands Brygge.jpg — CC BY 2.0, Wiki">
            <a:extLst xmlns:a="http://schemas.openxmlformats.org/drawingml/2006/main">
              <a:ext uri="{FF2B5EF4-FFF2-40B4-BE49-F238E27FC236}">
                <a16:creationId xmlns:a16="http://schemas.microsoft.com/office/drawing/2014/main" id="{53E747DF-A502-4BE0-9789-6FBBCEB904C4}"/>
              </a:ext>
            </a:extLst>
          </p:cNvPr>
          <p:cNvSpPr>
            <a:spLocks xmlns:a="http://schemas.openxmlformats.org/drawingml/2006/main" noGrp="1"/>
          </p:cNvSpPr>
          <p:nvPr/>
        </p:nvSpPr>
        <p:spPr>
          <a:xfrm xmlns:a="http://schemas.openxmlformats.org/drawingml/2006/main">
            <a:off x="495300" y="228981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Harbour Bath, Islands Brygge.jpg — CC BY 2.0, Wikimedia Commons</a:t>
            </a:r>
          </a:p>
        </p:txBody>
      </p:sp>
      <p:sp>
        <p:nvSpPr>
          <p:cNvPr id="7" name="Superilla del barri de Sant Antoni, Barcelona 2.jp">
            <a:extLst xmlns:a="http://schemas.openxmlformats.org/drawingml/2006/main">
              <a:ext uri="{FF2B5EF4-FFF2-40B4-BE49-F238E27FC236}">
                <a16:creationId xmlns:a16="http://schemas.microsoft.com/office/drawing/2014/main" id="{F74FFFB1-F18A-4A6E-A805-E86692A933FC}"/>
              </a:ext>
            </a:extLst>
          </p:cNvPr>
          <p:cNvSpPr>
            <a:spLocks xmlns:a="http://schemas.openxmlformats.org/drawingml/2006/main" noGrp="1"/>
          </p:cNvSpPr>
          <p:nvPr/>
        </p:nvSpPr>
        <p:spPr>
          <a:xfrm xmlns:a="http://schemas.openxmlformats.org/drawingml/2006/main">
            <a:off x="495300" y="265366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Superilla del barri de Sant Antoni, Barcelona 2.jpg — CC BY-SA 4.0, Wikimedia Commons</a:t>
            </a:r>
          </a:p>
        </p:txBody>
      </p:sp>
      <p:sp>
        <p:nvSpPr>
          <p:cNvPr id="8" name="Wien - Donauinsel mit den Donaubrücken.JPG — CC BY">
            <a:extLst xmlns:a="http://schemas.openxmlformats.org/drawingml/2006/main">
              <a:ext uri="{FF2B5EF4-FFF2-40B4-BE49-F238E27FC236}">
                <a16:creationId xmlns:a16="http://schemas.microsoft.com/office/drawing/2014/main" id="{7F85F46B-E226-4A1F-B109-678A12B2EB27}"/>
              </a:ext>
            </a:extLst>
          </p:cNvPr>
          <p:cNvSpPr>
            <a:spLocks xmlns:a="http://schemas.openxmlformats.org/drawingml/2006/main" noGrp="1"/>
          </p:cNvSpPr>
          <p:nvPr/>
        </p:nvSpPr>
        <p:spPr>
          <a:xfrm xmlns:a="http://schemas.openxmlformats.org/drawingml/2006/main">
            <a:off x="495300" y="301752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Wien - Donauinsel mit den Donaubrücken.JPG — CC BY-SA 4.0, Wikimedia Commons</a:t>
            </a:r>
          </a:p>
        </p:txBody>
      </p:sp>
      <p:sp>
        <p:nvSpPr>
          <p:cNvPr id="9" name="QGIS Interface Screenshot with Map of Median Incom">
            <a:extLst xmlns:a="http://schemas.openxmlformats.org/drawingml/2006/main">
              <a:ext uri="{FF2B5EF4-FFF2-40B4-BE49-F238E27FC236}">
                <a16:creationId xmlns:a16="http://schemas.microsoft.com/office/drawing/2014/main" id="{D2B1E4CA-B97A-413F-8425-955061D3483B}"/>
              </a:ext>
            </a:extLst>
          </p:cNvPr>
          <p:cNvSpPr>
            <a:spLocks xmlns:a="http://schemas.openxmlformats.org/drawingml/2006/main" noGrp="1"/>
          </p:cNvSpPr>
          <p:nvPr/>
        </p:nvSpPr>
        <p:spPr>
          <a:xfrm xmlns:a="http://schemas.openxmlformats.org/drawingml/2006/main">
            <a:off x="495300" y="338137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QGIS Interface Screenshot with Map of Median Income in Houston (2010).png — CC0, Wikimedia Commons</a:t>
            </a:r>
          </a:p>
        </p:txBody>
      </p:sp>
      <p:sp>
        <p:nvSpPr>
          <p:cNvPr id="10" name="Conceptual cover and leaf artwork: OpenAI image ge">
            <a:extLst xmlns:a="http://schemas.openxmlformats.org/drawingml/2006/main">
              <a:ext uri="{FF2B5EF4-FFF2-40B4-BE49-F238E27FC236}">
                <a16:creationId xmlns:a16="http://schemas.microsoft.com/office/drawing/2014/main" id="{B8DA9ED6-B7EA-4B6D-BCEF-A9AF0782D0F6}"/>
              </a:ext>
            </a:extLst>
          </p:cNvPr>
          <p:cNvSpPr>
            <a:spLocks xmlns:a="http://schemas.openxmlformats.org/drawingml/2006/main" noGrp="1"/>
          </p:cNvSpPr>
          <p:nvPr/>
        </p:nvSpPr>
        <p:spPr>
          <a:xfrm xmlns:a="http://schemas.openxmlformats.org/drawingml/2006/main">
            <a:off x="495300" y="374523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Conceptual cover and leaf artwork: OpenAI image generation, September 2026. Reused from approved Lecture 1.</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d81a0620c3c4e30"/>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E4C7CDD2-6234-4C54-9AA8-58041B66C41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29">
            <a:extLst xmlns:a="http://schemas.openxmlformats.org/drawingml/2006/main">
              <a:ext uri="{FF2B5EF4-FFF2-40B4-BE49-F238E27FC236}">
                <a16:creationId xmlns:a16="http://schemas.microsoft.com/office/drawing/2014/main" id="{88403FD9-CA28-43A0-B32B-45CE88F632F8}"/>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29</a:t>
            </a:r>
          </a:p>
        </p:txBody>
      </p:sp>
    </p:spTree>
    <p:extLst>
      <p:ext uri="{BB962C8B-B14F-4D97-AF65-F5344CB8AC3E}">
        <p14:creationId xmlns:p14="http://schemas.microsoft.com/office/powerpoint/2010/main" val="10849960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2026-10-05T17:23:00.3100000Z</dcterms:created>
  <dcterms:modified xsi:type="dcterms:W3CDTF">2026-10-05T17:23:00.3100000Z</dcterms:modified>
</coreProperties>
</file>