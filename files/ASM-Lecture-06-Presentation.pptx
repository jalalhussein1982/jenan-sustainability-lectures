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97733ce9794616" /><Relationship Type="http://schemas.openxmlformats.org/officeDocument/2006/relationships/extended-properties" Target="/docProps/app.xml" Id="R9d27fdfebf784483" /><Relationship Type="http://schemas.openxmlformats.org/officeDocument/2006/relationships/officeDocument" Target="/ppt/presentation.xml" Id="R9e9e2141027845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4d6293fe0f4e4f"/>
  </p:sldMasterIdLst>
  <p:notesMasterIdLst>
    <p:notesMasterId xmlns:r="http://schemas.openxmlformats.org/officeDocument/2006/relationships" r:id="Rd4f4545ef6524102"/>
  </p:notesMasterIdLst>
  <p:sldIdLst>
    <p:sldId xmlns:r="http://schemas.openxmlformats.org/officeDocument/2006/relationships" id="256" r:id="Refeb8c2af3344f4d"/>
    <p:sldId xmlns:r="http://schemas.openxmlformats.org/officeDocument/2006/relationships" id="257" r:id="Rc13ca72b712543aa"/>
    <p:sldId xmlns:r="http://schemas.openxmlformats.org/officeDocument/2006/relationships" id="258" r:id="R9daab77d62094b20"/>
    <p:sldId xmlns:r="http://schemas.openxmlformats.org/officeDocument/2006/relationships" id="259" r:id="R825291b1199a45ad"/>
    <p:sldId xmlns:r="http://schemas.openxmlformats.org/officeDocument/2006/relationships" id="260" r:id="R2955d236c63446e7"/>
    <p:sldId xmlns:r="http://schemas.openxmlformats.org/officeDocument/2006/relationships" id="261" r:id="Rdd0e49a47eb4470d"/>
    <p:sldId xmlns:r="http://schemas.openxmlformats.org/officeDocument/2006/relationships" id="262" r:id="R3b7f58f3cb5c461c"/>
    <p:sldId xmlns:r="http://schemas.openxmlformats.org/officeDocument/2006/relationships" id="263" r:id="Red1ce8daf6a94078"/>
    <p:sldId xmlns:r="http://schemas.openxmlformats.org/officeDocument/2006/relationships" id="264" r:id="R0ba0f484cd9d4422"/>
    <p:sldId xmlns:r="http://schemas.openxmlformats.org/officeDocument/2006/relationships" id="265" r:id="Rf1f25fa8958b4efb"/>
    <p:sldId xmlns:r="http://schemas.openxmlformats.org/officeDocument/2006/relationships" id="266" r:id="R2d923ef29f99403e"/>
    <p:sldId xmlns:r="http://schemas.openxmlformats.org/officeDocument/2006/relationships" id="267" r:id="R06b9319445554f91"/>
    <p:sldId xmlns:r="http://schemas.openxmlformats.org/officeDocument/2006/relationships" id="268" r:id="Ra26154f573d7438e"/>
    <p:sldId xmlns:r="http://schemas.openxmlformats.org/officeDocument/2006/relationships" id="269" r:id="Rbba6ec6e31184b69"/>
    <p:sldId xmlns:r="http://schemas.openxmlformats.org/officeDocument/2006/relationships" id="270" r:id="Rfc189d5bb79b4f20"/>
    <p:sldId xmlns:r="http://schemas.openxmlformats.org/officeDocument/2006/relationships" id="271" r:id="R4a0ef084757b4465"/>
    <p:sldId xmlns:r="http://schemas.openxmlformats.org/officeDocument/2006/relationships" id="272" r:id="Rae5800ebd53f44ce"/>
    <p:sldId xmlns:r="http://schemas.openxmlformats.org/officeDocument/2006/relationships" id="273" r:id="R025344571dc34a9f"/>
    <p:sldId xmlns:r="http://schemas.openxmlformats.org/officeDocument/2006/relationships" id="274" r:id="R6af021cfb165416b"/>
    <p:sldId xmlns:r="http://schemas.openxmlformats.org/officeDocument/2006/relationships" id="275" r:id="Re030c2daeb6c447e"/>
    <p:sldId xmlns:r="http://schemas.openxmlformats.org/officeDocument/2006/relationships" id="276" r:id="R77bba7d278c04f3b"/>
    <p:sldId xmlns:r="http://schemas.openxmlformats.org/officeDocument/2006/relationships" id="277" r:id="Rfc6f6bbe4df34006"/>
    <p:sldId xmlns:r="http://schemas.openxmlformats.org/officeDocument/2006/relationships" id="278" r:id="Re918ad5b48bd4a83"/>
    <p:sldId xmlns:r="http://schemas.openxmlformats.org/officeDocument/2006/relationships" id="279" r:id="R6b2e1dcc6fdd4b12"/>
    <p:sldId xmlns:r="http://schemas.openxmlformats.org/officeDocument/2006/relationships" id="280" r:id="R9a230eec55824bb1"/>
    <p:sldId xmlns:r="http://schemas.openxmlformats.org/officeDocument/2006/relationships" id="281" r:id="R6de1e0689df1463a"/>
    <p:sldId xmlns:r="http://schemas.openxmlformats.org/officeDocument/2006/relationships" id="282" r:id="Rdf3c275d81c74d1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9743199df6423f" /><Relationship Type="http://schemas.openxmlformats.org/officeDocument/2006/relationships/slideMaster" Target="/ppt/slideMasters/slideMaster1.xml" Id="R104d6293fe0f4e4f" /><Relationship Type="http://schemas.openxmlformats.org/officeDocument/2006/relationships/notesMaster" Target="/ppt/notesMasters/notesMaster1.xml" Id="Rd4f4545ef6524102" /><Relationship Type="http://schemas.openxmlformats.org/officeDocument/2006/relationships/presProps" Target="/ppt/presProps.xml" Id="R6e01a46b20f2438d" /><Relationship Type="http://schemas.openxmlformats.org/officeDocument/2006/relationships/tableStyles" Target="/ppt/tableStyles.xml" Id="Rae059a28b0a24d39" /><Relationship Type="http://schemas.openxmlformats.org/officeDocument/2006/relationships/slide" Target="/ppt/slides/slide1.xml" Id="Refeb8c2af3344f4d" /><Relationship Type="http://schemas.openxmlformats.org/officeDocument/2006/relationships/slide" Target="/ppt/slides/slide2.xml" Id="Rc13ca72b712543aa" /><Relationship Type="http://schemas.openxmlformats.org/officeDocument/2006/relationships/slide" Target="/ppt/slides/slide3.xml" Id="R9daab77d62094b20" /><Relationship Type="http://schemas.openxmlformats.org/officeDocument/2006/relationships/slide" Target="/ppt/slides/slide4.xml" Id="R825291b1199a45ad" /><Relationship Type="http://schemas.openxmlformats.org/officeDocument/2006/relationships/slide" Target="/ppt/slides/slide5.xml" Id="R2955d236c63446e7" /><Relationship Type="http://schemas.openxmlformats.org/officeDocument/2006/relationships/slide" Target="/ppt/slides/slide6.xml" Id="Rdd0e49a47eb4470d" /><Relationship Type="http://schemas.openxmlformats.org/officeDocument/2006/relationships/slide" Target="/ppt/slides/slide7.xml" Id="R3b7f58f3cb5c461c" /><Relationship Type="http://schemas.openxmlformats.org/officeDocument/2006/relationships/slide" Target="/ppt/slides/slide8.xml" Id="Red1ce8daf6a94078" /><Relationship Type="http://schemas.openxmlformats.org/officeDocument/2006/relationships/slide" Target="/ppt/slides/slide9.xml" Id="R0ba0f484cd9d4422" /><Relationship Type="http://schemas.openxmlformats.org/officeDocument/2006/relationships/slide" Target="/ppt/slides/slide10.xml" Id="Rf1f25fa8958b4efb" /><Relationship Type="http://schemas.openxmlformats.org/officeDocument/2006/relationships/slide" Target="/ppt/slides/slide11.xml" Id="R2d923ef29f99403e" /><Relationship Type="http://schemas.openxmlformats.org/officeDocument/2006/relationships/slide" Target="/ppt/slides/slide12.xml" Id="R06b9319445554f91" /><Relationship Type="http://schemas.openxmlformats.org/officeDocument/2006/relationships/slide" Target="/ppt/slides/slide13.xml" Id="Ra26154f573d7438e" /><Relationship Type="http://schemas.openxmlformats.org/officeDocument/2006/relationships/slide" Target="/ppt/slides/slide14.xml" Id="Rbba6ec6e31184b69" /><Relationship Type="http://schemas.openxmlformats.org/officeDocument/2006/relationships/slide" Target="/ppt/slides/slide15.xml" Id="Rfc189d5bb79b4f20" /><Relationship Type="http://schemas.openxmlformats.org/officeDocument/2006/relationships/slide" Target="/ppt/slides/slide16.xml" Id="R4a0ef084757b4465" /><Relationship Type="http://schemas.openxmlformats.org/officeDocument/2006/relationships/slide" Target="/ppt/slides/slide17.xml" Id="Rae5800ebd53f44ce" /><Relationship Type="http://schemas.openxmlformats.org/officeDocument/2006/relationships/slide" Target="/ppt/slides/slide18.xml" Id="R025344571dc34a9f" /><Relationship Type="http://schemas.openxmlformats.org/officeDocument/2006/relationships/slide" Target="/ppt/slides/slide19.xml" Id="R6af021cfb165416b" /><Relationship Type="http://schemas.openxmlformats.org/officeDocument/2006/relationships/slide" Target="/ppt/slides/slide20.xml" Id="Re030c2daeb6c447e" /><Relationship Type="http://schemas.openxmlformats.org/officeDocument/2006/relationships/slide" Target="/ppt/slides/slide21.xml" Id="R77bba7d278c04f3b" /><Relationship Type="http://schemas.openxmlformats.org/officeDocument/2006/relationships/slide" Target="/ppt/slides/slide22.xml" Id="Rfc6f6bbe4df34006" /><Relationship Type="http://schemas.openxmlformats.org/officeDocument/2006/relationships/slide" Target="/ppt/slides/slide23.xml" Id="Re918ad5b48bd4a83" /><Relationship Type="http://schemas.openxmlformats.org/officeDocument/2006/relationships/slide" Target="/ppt/slides/slide24.xml" Id="R6b2e1dcc6fdd4b12" /><Relationship Type="http://schemas.openxmlformats.org/officeDocument/2006/relationships/slide" Target="/ppt/slides/slide25.xml" Id="R9a230eec55824bb1" /><Relationship Type="http://schemas.openxmlformats.org/officeDocument/2006/relationships/slide" Target="/ppt/slides/slide26.xml" Id="R6de1e0689df1463a" /><Relationship Type="http://schemas.openxmlformats.org/officeDocument/2006/relationships/slide" Target="/ppt/slides/slide27.xml" Id="Rdf3c275d81c74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f162b5e0ba4f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617b9187b54f10" /><Relationship Type="http://schemas.openxmlformats.org/officeDocument/2006/relationships/notesMaster" Target="/ppt/notesMasters/notesMaster1.xml" Id="Rf07da5a624f441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f0f652419f4fe9" /><Relationship Type="http://schemas.openxmlformats.org/officeDocument/2006/relationships/notesMaster" Target="/ppt/notesMasters/notesMaster1.xml" Id="R8dcdad17e91448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7c28a5e03d4b8c" /><Relationship Type="http://schemas.openxmlformats.org/officeDocument/2006/relationships/notesMaster" Target="/ppt/notesMasters/notesMaster1.xml" Id="Rda4b3c63735d42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cbdcee0bf749fa" /><Relationship Type="http://schemas.openxmlformats.org/officeDocument/2006/relationships/notesMaster" Target="/ppt/notesMasters/notesMaster1.xml" Id="R6ed6968b49e84d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a09f295aa74a5d" /><Relationship Type="http://schemas.openxmlformats.org/officeDocument/2006/relationships/notesMaster" Target="/ppt/notesMasters/notesMaster1.xml" Id="R67850f50c4c74b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6f6967f6eb4147" /><Relationship Type="http://schemas.openxmlformats.org/officeDocument/2006/relationships/notesMaster" Target="/ppt/notesMasters/notesMaster1.xml" Id="R3a04c6d4238942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a5bc81608443b8" /><Relationship Type="http://schemas.openxmlformats.org/officeDocument/2006/relationships/notesMaster" Target="/ppt/notesMasters/notesMaster1.xml" Id="Rb10309f43fa740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e38cd96b844946" /><Relationship Type="http://schemas.openxmlformats.org/officeDocument/2006/relationships/notesMaster" Target="/ppt/notesMasters/notesMaster1.xml" Id="Raa6acd0cd43044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23b66187a74653" /><Relationship Type="http://schemas.openxmlformats.org/officeDocument/2006/relationships/notesMaster" Target="/ppt/notesMasters/notesMaster1.xml" Id="R374476a6fbe445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c6118997624b63" /><Relationship Type="http://schemas.openxmlformats.org/officeDocument/2006/relationships/notesMaster" Target="/ppt/notesMasters/notesMaster1.xml" Id="Rec46d89633b047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4fbffd98414a4a" /><Relationship Type="http://schemas.openxmlformats.org/officeDocument/2006/relationships/notesMaster" Target="/ppt/notesMasters/notesMaster1.xml" Id="R9858c7423edd4c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a0ffd741884e7d" /><Relationship Type="http://schemas.openxmlformats.org/officeDocument/2006/relationships/notesMaster" Target="/ppt/notesMasters/notesMaster1.xml" Id="R42b64c4eb68e45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bc1be3ac1147da" /><Relationship Type="http://schemas.openxmlformats.org/officeDocument/2006/relationships/notesMaster" Target="/ppt/notesMasters/notesMaster1.xml" Id="Rbb8565ec8a684e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35e1883a164c29" /><Relationship Type="http://schemas.openxmlformats.org/officeDocument/2006/relationships/notesMaster" Target="/ppt/notesMasters/notesMaster1.xml" Id="R802b1263004340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2bbe4da2574ab2" /><Relationship Type="http://schemas.openxmlformats.org/officeDocument/2006/relationships/notesMaster" Target="/ppt/notesMasters/notesMaster1.xml" Id="R80ab5306cd4a4b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ed4922dfdb4a3c" /><Relationship Type="http://schemas.openxmlformats.org/officeDocument/2006/relationships/notesMaster" Target="/ppt/notesMasters/notesMaster1.xml" Id="R55084a754e9f43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615711ba4d43c9" /><Relationship Type="http://schemas.openxmlformats.org/officeDocument/2006/relationships/notesMaster" Target="/ppt/notesMasters/notesMaster1.xml" Id="Rcd76868f487547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4a3725faa343ba" /><Relationship Type="http://schemas.openxmlformats.org/officeDocument/2006/relationships/notesMaster" Target="/ppt/notesMasters/notesMaster1.xml" Id="R8df5a23c8a264a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3c3353265647d5" /><Relationship Type="http://schemas.openxmlformats.org/officeDocument/2006/relationships/notesMaster" Target="/ppt/notesMasters/notesMaster1.xml" Id="R3de93d60b728468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79e4084af340a7" /><Relationship Type="http://schemas.openxmlformats.org/officeDocument/2006/relationships/notesMaster" Target="/ppt/notesMasters/notesMaster1.xml" Id="Rb7bef6cf8810428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b02ff5501d415f" /><Relationship Type="http://schemas.openxmlformats.org/officeDocument/2006/relationships/notesMaster" Target="/ppt/notesMasters/notesMaster1.xml" Id="R702d834976984c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d3de9717b044be" /><Relationship Type="http://schemas.openxmlformats.org/officeDocument/2006/relationships/notesMaster" Target="/ppt/notesMasters/notesMaster1.xml" Id="Ra4eae67c4c43445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3f32f629bb64977" /><Relationship Type="http://schemas.openxmlformats.org/officeDocument/2006/relationships/notesMaster" Target="/ppt/notesMasters/notesMaster1.xml" Id="R6c20fa446fce40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8daaff05bf41a0" /><Relationship Type="http://schemas.openxmlformats.org/officeDocument/2006/relationships/notesMaster" Target="/ppt/notesMasters/notesMaster1.xml" Id="R91af75b07edb4d9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9e0213b6224e06" /><Relationship Type="http://schemas.openxmlformats.org/officeDocument/2006/relationships/notesMaster" Target="/ppt/notesMasters/notesMaster1.xml" Id="R452f6b9c4cf54dc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038952be20481a" /><Relationship Type="http://schemas.openxmlformats.org/officeDocument/2006/relationships/notesMaster" Target="/ppt/notesMasters/notesMaster1.xml" Id="R810e86a910c645c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5925c6f83094646" /><Relationship Type="http://schemas.openxmlformats.org/officeDocument/2006/relationships/notesMaster" Target="/ppt/notesMasters/notesMaster1.xml" Id="R323ebf9d216149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1: Applied Sustainability in Business and Management</a:t>
            </a:r>
          </a:p>
          <a:p xmlns:a="http://schemas.openxmlformats.org/drawingml/2006/main">
            <a:r>
              <a:t>Suggested time: 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Welcome to the last lecture. Say that today you connect everything to the two  forces that make sustainability compulsory: investors and the law. And you finish with the  future of Prague.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Decorative artwork reused from the approved Lecture 1 design. AI-generated with OpenAI, September 2026; not a photograph of a documented 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2: Learning Objectives</a:t>
            </a:r>
          </a:p>
          <a:p xmlns:a="http://schemas.openxmlformats.org/drawingml/2006/main">
            <a:r>
              <a:t>Suggested time: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the seven objectives. Connect each to a decision a manager needs to make. The first half introduces the tools and business problem; the second half applies them to the cases and activities. Students will use the same tools for their Prague semester 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3: Today's Lecture Agenda</a:t>
            </a:r>
          </a:p>
          <a:p xmlns:a="http://schemas.openxmlformats.org/drawingml/2006/main">
            <a:r>
              <a:t>Suggested time: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Six parts, an exercise before the break, the Prague 2035 discussion and the course  wrap-up at the 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4: Part 1 — The ESG Framework</a:t>
            </a:r>
          </a:p>
          <a:p xmlns:a="http://schemas.openxmlformats.org/drawingml/2006/main">
            <a:r>
              <a:t>Suggested time: 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Announce the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5: What is ESG?</a:t>
            </a:r>
          </a:p>
          <a:p xmlns:a="http://schemas.openxmlformats.org/drawingml/2006/main">
            <a:r>
              <a:t>Suggested time: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ESG is a lens investors use. Three pillars. Environmental: climate and emissions,  water and resources, biodiversity and land use. Social: employees and communities,  health and safety, human rights. Governance: board oversight, transparency and ethics,  stakeholder rights. Say that ESG is not the same as sustainability — it is sustainability  seen from the investor's chair: which of these could cost us money?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6: Why Investors Care</a:t>
            </a:r>
          </a:p>
          <a:p xmlns:a="http://schemas.openxmlformats.org/drawingml/2006/main">
            <a:r>
              <a:t>Suggested time: 10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Environmental and social issues can affect cash flow, disruption and reputation. Investors use different ESG approaches, so a rating is not a universal sustainability verdict or a guaranteed financing discount. Ask students to examine what a rating actually measures.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Can a company manage its financial risks well while still causing serious harm?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7: Part 2 — Reporting and Materiality</a:t>
            </a:r>
          </a:p>
          <a:p xmlns:a="http://schemas.openxmlformats.org/drawingml/2006/main">
            <a:r>
              <a:t>Suggested time: 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Announce the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8: CSRD, ESRS and Double Materiality</a:t>
            </a:r>
          </a:p>
          <a:p xmlns:a="http://schemas.openxmlformats.org/drawingml/2006/main">
            <a:r>
              <a:t>Suggested time: 14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Separate scope, content and evidence. The 2026 amendment narrows the main EU-company reporting scope, while group, non-EU, transition and national rules need separate checking. ESRS describe the reporting content. Limited assurance on sustainability statements is different from the reasonable assurance normally associated with a financial-statement audit. For materiality, assess both directions; a matter can be material from either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Tip: Use the dated official sources below and check the specific company and reporting year before making a compliance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checked 5 October 2026:</a:t>
            </a:r>
          </a:p>
          <a:p xmlns:a="http://schemas.openxmlformats.org/drawingml/2006/main">
            <a:r>
              <a:t>https://www.consilium.europa.eu/en/press/press-releases/2026/02/24/council-signs-off-simplification-of-sustainability-reporting-and-due-diligence-requirements-to-boost-eu-competitiveness/</a:t>
            </a:r>
          </a:p>
          <a:p xmlns:a="http://schemas.openxmlformats.org/drawingml/2006/main">
            <a:r>
              <a:t>https://knowledgehub.efrag.org/eng/interactive/ig/ig1/09-2025/75</a:t>
            </a:r>
          </a:p>
          <a:p xmlns:a="http://schemas.openxmlformats.org/drawingml/2006/main">
            <a:r>
              <a:t>https://eur-lex.europa.eu/eli/dir/2026/470/oj/eng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9: Part 3 — Green Infrastructure in ESG</a:t>
            </a:r>
          </a:p>
          <a:p xmlns:a="http://schemas.openxmlformats.org/drawingml/2006/main">
            <a:r>
              <a:t>Suggested time: 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Announce the part.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Decorative artwork reused from the approved Lecture 1 design. AI-generated with OpenAI, September 2026; not a photograph of a documented 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10: How GI Shows Up in Each Pillar</a:t>
            </a:r>
          </a:p>
          <a:p xmlns:a="http://schemas.openxmlformats.org/drawingml/2006/main">
            <a:r>
              <a:t>Suggested time: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Take a green roof or a company park and walk through the pillars. E: carbon stored, stormwater managed, biodiversity gains (this is exactly what ESRS E4 asks for), climate adaptation of the asset. S: community wellbeing, employee health, access to green space, heat protection for vulnerable people. G: stakeholder participation, transparent monitoring, partnerships with the city and NGOs. One project, three pillars.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11: GI in a Company Sustainability Report</a:t>
            </a:r>
          </a:p>
          <a:p xmlns:a="http://schemas.openxmlformats.org/drawingml/2006/main">
            <a:r>
              <a:t>Suggested time: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 photograph is evidence of an asset, not of its impact. The report needs an appropriate baseline, measurements, methods and controls. A project may be relevant to adaptation or biodiversity disclosures when material, but it does not automatically satisfy ESRS or offset unrelated impacts.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would an independent reviewer need to verify this claim?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 credit: St Edmund Hall Living Wall.jpg — CC BY-SA 4.0, Wikimedia Commons</a:t>
            </a:r>
          </a:p>
          <a:p xmlns:a="http://schemas.openxmlformats.org/drawingml/2006/main">
            <a:r>
              <a:t>https://commons.wikimedia.org/wiki/File:St_Edmund_Hall_Living_Wall.jpg</a:t>
            </a:r>
          </a:p>
          <a:p xmlns:a="http://schemas.openxmlformats.org/drawingml/2006/main">
            <a:r>
              <a:t>Source image retained from the original lecture.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checked 5 October 2026:</a:t>
            </a:r>
          </a:p>
          <a:p xmlns:a="http://schemas.openxmlformats.org/drawingml/2006/main">
            <a:r>
              <a:t>https://knowledgehub.efrag.org/eng/interactive/ig/ig1/09-2025/75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12: Practical Exercise: ESG Indicators</a:t>
            </a:r>
          </a:p>
          <a:p xmlns:a="http://schemas.openxmlformats.org/drawingml/2006/main">
            <a:r>
              <a:t>Suggested time: 30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Project groups imagine a company investing in a GI project at their site and define three E indicators, two S, two G, and one honest sentence for the annual report. Details in section 3. This is the last building block of the seminar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13: Break</a:t>
            </a:r>
          </a:p>
          <a:p xmlns:a="http://schemas.openxmlformats.org/drawingml/2006/main">
            <a:r>
              <a:t>Suggested time: 15–20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After the break: the law above the reports, the money, and the future.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14: Part 4 — The European Regulatory Landscape</a:t>
            </a:r>
          </a:p>
          <a:p xmlns:a="http://schemas.openxmlformats.org/drawingml/2006/main">
            <a:r>
              <a:t>Suggested time: 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Announce the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15: The European Green Deal</a:t>
            </a:r>
          </a:p>
          <a:p xmlns:a="http://schemas.openxmlformats.org/drawingml/2006/main">
            <a:r>
              <a:t>Suggested time: 10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Distinguish policy strategies from binding legal acts. The Nature Restoration Regulation sets Member State obligations, including no net loss by 2030 in specified national urban-green-space and tree-cover measures against 2024, with stated exceptions, then increasing trends. Do not translate this into an identical no-net-loss rule for every individual development. A company must check the applicable local and project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checked 5 October 2026:</a:t>
            </a:r>
          </a:p>
          <a:p xmlns:a="http://schemas.openxmlformats.org/drawingml/2006/main">
            <a:r>
              <a:t>https://environment.ec.europa.eu/topics/nature-and-biodiversity/nature-restoration-regulation_en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16: EU Rules and Company Decisions</a:t>
            </a:r>
          </a:p>
          <a:p xmlns:a="http://schemas.openxmlformats.org/drawingml/2006/main">
            <a:r>
              <a:t>Suggested time: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The company first determines which obligations apply. Taxonomy eligibility is not the same as alignment, and a taxonomy classification is not an operating permit. CSRD reporting and consumer claims are separate duties. Directives need national transposition; EU regulations generally apply directly, with national enforcement arrangements. The CSRD section earlier in this lecture is Part 2, not Part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checked 5 October 2026:</a:t>
            </a:r>
          </a:p>
          <a:p xmlns:a="http://schemas.openxmlformats.org/drawingml/2006/main">
            <a:r>
              <a:t>https://www.consilium.europa.eu/en/press/press-releases/2026/02/24/council-signs-off-simplification-of-sustainability-reporting-and-due-diligence-requirements-to-boost-eu-competitiveness/</a:t>
            </a:r>
          </a:p>
          <a:p xmlns:a="http://schemas.openxmlformats.org/drawingml/2006/main">
            <a:r>
              <a:t>https://eur-lex.europa.eu/eli/dir/2024/825/oj/eng</a:t>
            </a:r>
          </a:p>
          <a:p xmlns:a="http://schemas.openxmlformats.org/drawingml/2006/main">
            <a:r>
              <a:t>https://finance.ec.europa.eu/sustainable-finance/tools-and-standards/eu-taxonomy-sustainable-activities_en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17: Part 5 — Sustainable Finance</a:t>
            </a:r>
          </a:p>
          <a:p xmlns:a="http://schemas.openxmlformats.org/drawingml/2006/main">
            <a:r>
              <a:t>Suggested time: 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Announce the part: follow the money.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18: Finance for a GI Investment</a:t>
            </a:r>
          </a:p>
          <a:p xmlns:a="http://schemas.openxmlformats.org/drawingml/2006/main">
            <a:r>
              <a:t>Suggested time: 10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 green bond directs proceeds to eligible projects and involves allocation and impact reporting. It does not mean every project is automatically verified. A sustainability-linked loan changes agreed terms according to performance; the result can include penalties. Grants and EU programmes depend on current calls, eligibility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Who can borrow or apply, how will a park repay debt, and which costs must a business or city cover?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 credit: Field of Solar Panels near Ogwell.jpg — CC BY-SA 4.0, Wikimedia Commons</a:t>
            </a:r>
          </a:p>
          <a:p xmlns:a="http://schemas.openxmlformats.org/drawingml/2006/main">
            <a:r>
              <a:t>https://commons.wikimedia.org/wiki/File:Field_of_Solar_Panels_near_Ogwell.jpg</a:t>
            </a:r>
          </a:p>
          <a:p xmlns:a="http://schemas.openxmlformats.org/drawingml/2006/main">
            <a:r>
              <a:t>Source image retained from the original lecture.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checked 5 October 2026:</a:t>
            </a:r>
          </a:p>
          <a:p xmlns:a="http://schemas.openxmlformats.org/drawingml/2006/main">
            <a:r>
              <a:t>https://www.icmagroup.org/sustainable-finance/the-principles-guidelines-and-handbooks/green-bond-principles-gbp/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19: Part 6 — Future Trends</a:t>
            </a:r>
          </a:p>
          <a:p xmlns:a="http://schemas.openxmlformats.org/drawingml/2006/main">
            <a:r>
              <a:t>Suggested time: 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Announce the part.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Decorative artwork reused from the approved Lecture 1 design. AI-generated with OpenAI, September 2026; not a photograph of a documented 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20: Where Urban Development is Heading</a:t>
            </a:r>
          </a:p>
          <a:p xmlns:a="http://schemas.openxmlformats.org/drawingml/2006/main">
            <a:r>
              <a:t>Suggested time: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Present these as approaches and ambitions, not universal legal requirements or guaranteed predictions. Nature-positive proposals need a baseline and evidence of recovery; regenerative projects restore damaged systems; smart management uses data where it improves operations. TNFD is a nature-related disclosure framework, not a biodiversity sensor.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21: The Decade of Urban Nature</a:t>
            </a:r>
          </a:p>
          <a:p xmlns:a="http://schemas.openxmlformats.org/drawingml/2006/main">
            <a:r>
              <a:t>Suggested time: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This is a 2035 scenario for debate, not a forecast proven by the course. Ask what evidence would show that climate resilience affects a company’s location choice, and weigh it against costs, infrastructure, customers and skills.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 credit: Riverview-Fisk Park Jersey City November 2021 001.jpg — CC BY-SA 4.0, Wikimedia Commons</a:t>
            </a:r>
          </a:p>
          <a:p xmlns:a="http://schemas.openxmlformats.org/drawingml/2006/main">
            <a:r>
              <a:t>https://commons.wikimedia.org/wiki/File:Riverview-Fisk_Park_Jersey_City_November_2021_001.jpg</a:t>
            </a:r>
          </a:p>
          <a:p xmlns:a="http://schemas.openxmlformats.org/drawingml/2006/main">
            <a:r>
              <a:t>Source image retained from the original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22: Final Discussion: Prague 2035</a:t>
            </a:r>
          </a:p>
          <a:p xmlns:a="http://schemas.openxmlformats.org/drawingml/2006/main">
            <a:r>
              <a:t>Suggested time: 20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Groups argue for a Prague 2035 proposal using evidence from the course. Distinguish documented assets and policy frameworks from possible gaps that need investigation. Ask each group to name an action, a responsible organisation, a funding route and a measure of success. Retain the 20-minute discussion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 credit: Prague - view from Charles Bridge (by Pudelek).jpg — CC BY-SA 3.0, Wikimedia Commons</a:t>
            </a:r>
          </a:p>
          <a:p xmlns:a="http://schemas.openxmlformats.org/drawingml/2006/main">
            <a:r>
              <a:t>https://commons.wikimedia.org/wiki/File:Prague_-_view_from_Charles_Bridge_(by_Pudelek).jpg</a:t>
            </a:r>
          </a:p>
          <a:p xmlns:a="http://schemas.openxmlformats.org/drawingml/2006/main">
            <a:r>
              <a:t>Source image retained from the original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23: Course Wrap-Up</a:t>
            </a:r>
          </a:p>
          <a:p xmlns:a="http://schemas.openxmlformats.org/drawingml/2006/main">
            <a:r>
              <a:t>Suggested time: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What students can now do: analyse how business, city and nature interact; use SWOT, stakeholder mapping, KPIs, LCA and ESG as working tools; propose GI solutions grounded in real policy. Before the exam: the seminar paper deadline (check the project brief for the structure) and the exam — a written test plus an oral part covering all six lectures. Say the dates out loud and answer questions about the exam now.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24: Key Messages</a:t>
            </a:r>
          </a:p>
          <a:p xmlns:a="http://schemas.openxmlformats.org/drawingml/2006/main">
            <a:r>
              <a:t>Suggested time: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Work through the eight messages. Ask students to connect each to a decision, example or tool from this lecture. Distinguish potential benefits from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25: Recommended Reading</a:t>
            </a:r>
          </a:p>
          <a:p xmlns:a="http://schemas.openxmlformats.org/drawingml/2006/main">
            <a:r>
              <a:t>Suggested time: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EFRAG's ESRS E4 is the biodiversity reporting standard; TNFD is the nature-risk framework. Both are free online.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26: Thank you — and good luck with your projects!</a:t>
            </a:r>
          </a:p>
          <a:p xmlns:a="http://schemas.openxmlformats.org/drawingml/2006/main">
            <a:r>
              <a:t>Suggested time: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Thank the students. Remind them of Seminar 5 (group plan) and Seminar 6 (presentations). Take final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Decorative artwork reused from the approved Lecture 1 design. AI-generated with OpenAI, September 2026; not a photograph of a documented 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6, slide 27: Image credits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No need to show.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754385adb48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ecced2bad04ff3" /><Relationship Type="http://schemas.openxmlformats.org/officeDocument/2006/relationships/slideLayout" Target="/ppt/slideLayouts/slideLayout1.xml" Id="R8ee539039bf042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e539039bf042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92e4281e34b19" /><Relationship Type="http://schemas.openxmlformats.org/officeDocument/2006/relationships/image" Target="/ppt/media/image.png" Id="R90a9996241734e6d" /><Relationship Type="http://schemas.openxmlformats.org/officeDocument/2006/relationships/image" Target="/ppt/media/image2.png" Id="Rcc06fbea1dda492e" /><Relationship Type="http://schemas.openxmlformats.org/officeDocument/2006/relationships/notesSlide" Target="/ppt/notesSlides/notesSlide1.xml" Id="R56b76bd8bae84b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ecc007ef34f8c" /><Relationship Type="http://schemas.openxmlformats.org/officeDocument/2006/relationships/image" Target="/ppt/media/image3.png" Id="R49a6d4fdc46f4968" /><Relationship Type="http://schemas.openxmlformats.org/officeDocument/2006/relationships/notesSlide" Target="/ppt/notesSlides/notesSlide2.xml" Id="Rd0013141aceb47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5cefdaf114d2e" /><Relationship Type="http://schemas.openxmlformats.org/officeDocument/2006/relationships/image" Target="/ppt/media/image4.png" Id="Rabd30eed89374c5d" /><Relationship Type="http://schemas.openxmlformats.org/officeDocument/2006/relationships/notesSlide" Target="/ppt/notesSlides/notesSlide3.xml" Id="Rf856c9e8784b4c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ecb56c71f475e" /><Relationship Type="http://schemas.openxmlformats.org/officeDocument/2006/relationships/image" Target="/ppt/media/image5.png" Id="Rc45e0a9caad848fa" /><Relationship Type="http://schemas.openxmlformats.org/officeDocument/2006/relationships/notesSlide" Target="/ppt/notesSlides/notesSlide4.xml" Id="Rf225a88de2e74e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812fe44b24182" /><Relationship Type="http://schemas.openxmlformats.org/officeDocument/2006/relationships/image" Target="/ppt/media/image6.png" Id="R597485e618774a80" /><Relationship Type="http://schemas.openxmlformats.org/officeDocument/2006/relationships/notesSlide" Target="/ppt/notesSlides/notesSlide5.xml" Id="Rc6b2edbd896942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2e7254c754829" /><Relationship Type="http://schemas.openxmlformats.org/officeDocument/2006/relationships/image" Target="/ppt/media/image7.png" Id="R3abf31d7ff124931" /><Relationship Type="http://schemas.openxmlformats.org/officeDocument/2006/relationships/notesSlide" Target="/ppt/notesSlides/notesSlide6.xml" Id="R79da28d82ce34c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44115bc5f4b40" /><Relationship Type="http://schemas.openxmlformats.org/officeDocument/2006/relationships/image" Target="/ppt/media/image8.png" Id="Rdd1cd009a1ad4ec3" /><Relationship Type="http://schemas.openxmlformats.org/officeDocument/2006/relationships/notesSlide" Target="/ppt/notesSlides/notesSlide7.xml" Id="Rc40f371624f243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15d6aa37d4af4" /><Relationship Type="http://schemas.openxmlformats.org/officeDocument/2006/relationships/image" Target="/ppt/media/image9.png" Id="R45df755543674c09" /><Relationship Type="http://schemas.openxmlformats.org/officeDocument/2006/relationships/notesSlide" Target="/ppt/notesSlides/notesSlide8.xml" Id="R9ac330fe7f7e4d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125aaf7004064" /><Relationship Type="http://schemas.openxmlformats.org/officeDocument/2006/relationships/image" Target="/ppt/media/image10.png" Id="Re9383e0a08b44741" /><Relationship Type="http://schemas.openxmlformats.org/officeDocument/2006/relationships/image" Target="/ppt/media/image11.png" Id="R8c607b77b6a64100" /><Relationship Type="http://schemas.openxmlformats.org/officeDocument/2006/relationships/notesSlide" Target="/ppt/notesSlides/notesSlide9.xml" Id="R870c3d6d6f4b40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c90d730a54c87" /><Relationship Type="http://schemas.openxmlformats.org/officeDocument/2006/relationships/image" Target="/ppt/media/image12.png" Id="Rab6ee74c3c774789" /><Relationship Type="http://schemas.openxmlformats.org/officeDocument/2006/relationships/notesSlide" Target="/ppt/notesSlides/notesSlide10.xml" Id="Rd8eee8ccabaa42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e4e3d7cb046a6" /><Relationship Type="http://schemas.openxmlformats.org/officeDocument/2006/relationships/image" Target="/ppt/media/image.jpeg" Id="R31310a0adcfc460b" /><Relationship Type="http://schemas.openxmlformats.org/officeDocument/2006/relationships/image" Target="/ppt/media/image13.png" Id="Rcd34660620174476" /><Relationship Type="http://schemas.openxmlformats.org/officeDocument/2006/relationships/notesSlide" Target="/ppt/notesSlides/notesSlide11.xml" Id="R7255ad36355c49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72ece25a440c2" /><Relationship Type="http://schemas.openxmlformats.org/officeDocument/2006/relationships/image" Target="/ppt/media/image14.png" Id="R75209acedf314a39" /><Relationship Type="http://schemas.openxmlformats.org/officeDocument/2006/relationships/notesSlide" Target="/ppt/notesSlides/notesSlide12.xml" Id="R52cb15d2c1d344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c4d2b4e8d467b" /><Relationship Type="http://schemas.openxmlformats.org/officeDocument/2006/relationships/image" Target="/ppt/media/image15.png" Id="Ra9334c4572fe43f7" /><Relationship Type="http://schemas.openxmlformats.org/officeDocument/2006/relationships/notesSlide" Target="/ppt/notesSlides/notesSlide13.xml" Id="R5ef891717ff643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dfeb2908140bd" /><Relationship Type="http://schemas.openxmlformats.org/officeDocument/2006/relationships/image" Target="/ppt/media/image16.png" Id="R69fede0d6f444b81" /><Relationship Type="http://schemas.openxmlformats.org/officeDocument/2006/relationships/notesSlide" Target="/ppt/notesSlides/notesSlide14.xml" Id="R2c82bcde55ff41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000efd5df4f24" /><Relationship Type="http://schemas.openxmlformats.org/officeDocument/2006/relationships/image" Target="/ppt/media/image17.png" Id="R0deb5f6d3cc142b0" /><Relationship Type="http://schemas.openxmlformats.org/officeDocument/2006/relationships/notesSlide" Target="/ppt/notesSlides/notesSlide15.xml" Id="Rd70b2850e8504c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590123a3f4fae" /><Relationship Type="http://schemas.openxmlformats.org/officeDocument/2006/relationships/image" Target="/ppt/media/image18.png" Id="R5032259f61be4740" /><Relationship Type="http://schemas.openxmlformats.org/officeDocument/2006/relationships/notesSlide" Target="/ppt/notesSlides/notesSlide16.xml" Id="R76211f966cd249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b8179a9644b33" /><Relationship Type="http://schemas.openxmlformats.org/officeDocument/2006/relationships/image" Target="/ppt/media/image19.png" Id="Raf8d28d399cb4ed8" /><Relationship Type="http://schemas.openxmlformats.org/officeDocument/2006/relationships/notesSlide" Target="/ppt/notesSlides/notesSlide17.xml" Id="R2d6f0c45d8b647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ef0cebd7e4139" /><Relationship Type="http://schemas.openxmlformats.org/officeDocument/2006/relationships/image" Target="/ppt/media/image2.jpeg" Id="Raf30e077cb5c49fd" /><Relationship Type="http://schemas.openxmlformats.org/officeDocument/2006/relationships/image" Target="/ppt/media/image20.png" Id="Rc2d89d6ddbb34915" /><Relationship Type="http://schemas.openxmlformats.org/officeDocument/2006/relationships/notesSlide" Target="/ppt/notesSlides/notesSlide18.xml" Id="R7d136681724b41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848d46d7646a5" /><Relationship Type="http://schemas.openxmlformats.org/officeDocument/2006/relationships/image" Target="/ppt/media/image21.png" Id="R8b3eb271cd0942ea" /><Relationship Type="http://schemas.openxmlformats.org/officeDocument/2006/relationships/image" Target="/ppt/media/image22.png" Id="R1906dd7684aa496a" /><Relationship Type="http://schemas.openxmlformats.org/officeDocument/2006/relationships/notesSlide" Target="/ppt/notesSlides/notesSlide19.xml" Id="R8d3b62f3885e42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41115abcf467f" /><Relationship Type="http://schemas.openxmlformats.org/officeDocument/2006/relationships/image" Target="/ppt/media/image23.png" Id="R635f8e2103fe4ab8" /><Relationship Type="http://schemas.openxmlformats.org/officeDocument/2006/relationships/notesSlide" Target="/ppt/notesSlides/notesSlide20.xml" Id="Rcfadadd3e1374f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c682e181f4791" /><Relationship Type="http://schemas.openxmlformats.org/officeDocument/2006/relationships/image" Target="/ppt/media/image3.jpeg" Id="R007dcf07d58b4c20" /><Relationship Type="http://schemas.openxmlformats.org/officeDocument/2006/relationships/image" Target="/ppt/media/image24.png" Id="Radca83aa49c64c47" /><Relationship Type="http://schemas.openxmlformats.org/officeDocument/2006/relationships/notesSlide" Target="/ppt/notesSlides/notesSlide21.xml" Id="R10f5d3e4c6da44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1d4c2d38948cf" /><Relationship Type="http://schemas.openxmlformats.org/officeDocument/2006/relationships/image" Target="/ppt/media/image4.jpeg" Id="R16d3a67811014b67" /><Relationship Type="http://schemas.openxmlformats.org/officeDocument/2006/relationships/image" Target="/ppt/media/image25.png" Id="Rb5310a82b9e045ed" /><Relationship Type="http://schemas.openxmlformats.org/officeDocument/2006/relationships/notesSlide" Target="/ppt/notesSlides/notesSlide22.xml" Id="R8202a454d72f4f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b2d4eb29041c4" /><Relationship Type="http://schemas.openxmlformats.org/officeDocument/2006/relationships/image" Target="/ppt/media/image26.png" Id="R392937baa9794b18" /><Relationship Type="http://schemas.openxmlformats.org/officeDocument/2006/relationships/notesSlide" Target="/ppt/notesSlides/notesSlide23.xml" Id="R945a45c00f63450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74a8e93784930" /><Relationship Type="http://schemas.openxmlformats.org/officeDocument/2006/relationships/image" Target="/ppt/media/image27.png" Id="Rc428e8e36be74259" /><Relationship Type="http://schemas.openxmlformats.org/officeDocument/2006/relationships/notesSlide" Target="/ppt/notesSlides/notesSlide24.xml" Id="Rf10da8de3d8b4d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33d1c0ef24a5c" /><Relationship Type="http://schemas.openxmlformats.org/officeDocument/2006/relationships/image" Target="/ppt/media/image28.png" Id="Rf20b2bafd8f043de" /><Relationship Type="http://schemas.openxmlformats.org/officeDocument/2006/relationships/notesSlide" Target="/ppt/notesSlides/notesSlide25.xml" Id="Rd11c78fe53ef436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2a6bbe482452a" /><Relationship Type="http://schemas.openxmlformats.org/officeDocument/2006/relationships/image" Target="/ppt/media/image29.png" Id="Rf52098127e8046e9" /><Relationship Type="http://schemas.openxmlformats.org/officeDocument/2006/relationships/image" Target="/ppt/media/image30.png" Id="R0a418622fa3349ea" /><Relationship Type="http://schemas.openxmlformats.org/officeDocument/2006/relationships/notesSlide" Target="/ppt/notesSlides/notesSlide26.xml" Id="Rc0968ecfc39c439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5b7e99b5d4afa" /><Relationship Type="http://schemas.openxmlformats.org/officeDocument/2006/relationships/image" Target="/ppt/media/image31.png" Id="Rdfbe36848c384e7c" /><Relationship Type="http://schemas.openxmlformats.org/officeDocument/2006/relationships/notesSlide" Target="/ppt/notesSlides/notesSlide27.xml" Id="R3fe2e9fae6f145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4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9996241734e6d"/>
          <a:srcRect xmlns:a="http://schemas.openxmlformats.org/drawingml/2006/main" l="28634" t="0" r="28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0" y="0"/>
            <a:ext cx="3905250" cy="51435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6fbea1dda492e"/>
          <a:stretch xmlns:a="http://schemas.openxmlformats.org/drawingml/2006/main"/>
        </p:blipFill>
        <p:spPr>
          <a:xfrm xmlns:a="http://schemas.openxmlformats.org/drawingml/2006/main">
            <a:off x="495300" y="328666"/>
            <a:ext cx="1790700" cy="323742"/>
          </a:xfrm>
          <a:prstGeom xmlns:a="http://schemas.openxmlformats.org/drawingml/2006/main" prst="rect">
            <a:avLst/>
          </a:prstGeom>
        </p:spPr>
      </p:pic>
      <p:sp>
        <p:nvSpPr>
          <p:cNvPr id="3" name="Applied Sustainability in Business and Management">
            <a:extLst xmlns:a="http://schemas.openxmlformats.org/drawingml/2006/main">
              <a:ext uri="{FF2B5EF4-FFF2-40B4-BE49-F238E27FC236}">
                <a16:creationId xmlns:a16="http://schemas.microsoft.com/office/drawing/2014/main" id="{9299E7C3-471C-4844-8E96-2C0D7BE5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4419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Applied Sustainability</a:t>
            </a:r>
          </a:p>
          <a:p xmlns:a="http://schemas.openxmlformats.org/drawingml/2006/main">
            <a:pPr>
              <a:defRPr sz="3150" b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in Business and</a:t>
            </a:r>
          </a:p>
          <a:p xmlns:a="http://schemas.openxmlformats.org/drawingml/2006/main">
            <a:pPr>
              <a:defRPr sz="3150" b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Management</a:t>
            </a:r>
          </a:p>
        </p:txBody>
      </p:sp>
      <p:sp>
        <p:nvSpPr>
          <p:cNvPr id="4" name="Lecture 6 — ESG, Regulation and the Future of Urba">
            <a:extLst xmlns:a="http://schemas.openxmlformats.org/drawingml/2006/main">
              <a:ext uri="{FF2B5EF4-FFF2-40B4-BE49-F238E27FC236}">
                <a16:creationId xmlns:a16="http://schemas.microsoft.com/office/drawing/2014/main" id="{9AE6AFE1-7CF2-40A0-88A2-7FB719EC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4238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Lecture 6 — ESG, Regulation and the</a:t>
            </a:r>
          </a:p>
          <a:p xmlns:a="http://schemas.openxmlformats.org/drawingml/2006/main">
            <a:pPr>
              <a:defRPr sz="187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Future of Urban Development</a:t>
            </a:r>
          </a:p>
        </p:txBody>
      </p:sp>
      <p:sp>
        <p:nvSpPr>
          <p:cNvPr id="5" name="Ing. Arch. Jenan Hussein, MSc, PhD">
            <a:extLst xmlns:a="http://schemas.openxmlformats.org/drawingml/2006/main">
              <a:ext uri="{FF2B5EF4-FFF2-40B4-BE49-F238E27FC236}">
                <a16:creationId xmlns:a16="http://schemas.microsoft.com/office/drawing/2014/main" id="{B2DC7454-A759-45A1-B62E-DE8B6E17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00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7D0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7D0C6"/>
                </a:solidFill>
                <a:latin typeface="Arial"/>
                <a:ea typeface="Arial"/>
                <a:cs typeface="Arial"/>
              </a:rPr>
              <a:t>Ing. Arch. Jenan Hussein, MSc, PhD</a:t>
            </a:r>
          </a:p>
        </p:txBody>
      </p:sp>
      <p:sp>
        <p:nvSpPr>
          <p:cNvPr id="6" name="jenanhussein83@gmail.com">
            <a:extLst xmlns:a="http://schemas.openxmlformats.org/drawingml/2006/main">
              <a:ext uri="{FF2B5EF4-FFF2-40B4-BE49-F238E27FC236}">
                <a16:creationId xmlns:a16="http://schemas.microsoft.com/office/drawing/2014/main" id="{36E2E11B-426C-43EC-AB11-68FE4D63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9582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7D0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7D0C6"/>
                </a:solidFill>
                <a:latin typeface="Arial"/>
                <a:ea typeface="Arial"/>
                <a:cs typeface="Arial"/>
              </a:rPr>
              <a:t>jenanhussein83@gmail.com</a:t>
            </a:r>
          </a:p>
        </p:txBody>
      </p:sp>
    </p:spTree>
    <p:extLst>
      <p:ext uri="{BB962C8B-B14F-4D97-AF65-F5344CB8AC3E}">
        <p14:creationId xmlns:p14="http://schemas.microsoft.com/office/powerpoint/2010/main" val="1267878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Learning Objectives">
            <a:extLst xmlns:a="http://schemas.openxmlformats.org/drawingml/2006/main">
              <a:ext uri="{FF2B5EF4-FFF2-40B4-BE49-F238E27FC236}">
                <a16:creationId xmlns:a16="http://schemas.microsoft.com/office/drawing/2014/main" id="{A5E80AF1-9B7C-41B2-A620-34E0243D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Learning Objectives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4208908-FB40-4FEB-A525-14AEA181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1B8F6C51-7AEC-44DB-AB56-12DF17C0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By the end of this lecture you will be able to:">
            <a:extLst xmlns:a="http://schemas.openxmlformats.org/drawingml/2006/main">
              <a:ext uri="{FF2B5EF4-FFF2-40B4-BE49-F238E27FC236}">
                <a16:creationId xmlns:a16="http://schemas.microsoft.com/office/drawing/2014/main" id="{87446A33-633B-4370-A249-19D83BC6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By the end of this lecture you will be able to:</a:t>
            </a:r>
          </a:p>
        </p:txBody>
      </p:sp>
      <p:sp>
        <p:nvSpPr>
          <p:cNvPr id="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63F73389-6076-44FA-A178-2B305981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19075"/>
            <a:ext cx="87058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6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77BF633-D781-411C-8CB1-BA4AFCB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57375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C2B9478E-E027-491E-99F8-ECD91702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288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Explain ESG and the limits of investor ratings.">
            <a:extLst xmlns:a="http://schemas.openxmlformats.org/drawingml/2006/main">
              <a:ext uri="{FF2B5EF4-FFF2-40B4-BE49-F238E27FC236}">
                <a16:creationId xmlns:a16="http://schemas.microsoft.com/office/drawing/2014/main" id="{E57234AD-1C67-488C-8E1D-3FB97208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28825"/>
            <a:ext cx="337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Explain ESG and the limits of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investor ratings.</a:t>
            </a:r>
          </a:p>
        </p:txBody>
      </p:sp>
      <p:sp>
        <p:nvSpPr>
          <p:cNvPr id="9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124816F7-C45B-4419-A823-77272E36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5DB951A7-2B30-45DA-B146-77ED5CBC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55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istinguish CSRD, ESRS and double materiality.">
            <a:extLst xmlns:a="http://schemas.openxmlformats.org/drawingml/2006/main">
              <a:ext uri="{FF2B5EF4-FFF2-40B4-BE49-F238E27FC236}">
                <a16:creationId xmlns:a16="http://schemas.microsoft.com/office/drawing/2014/main" id="{CCA217FB-DB6F-4872-AA22-FC510B98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95575"/>
            <a:ext cx="337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Distinguish CSRD, ESRS and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double materiality.</a:t>
            </a:r>
          </a:p>
        </p:txBody>
      </p:sp>
      <p:sp>
        <p:nvSpPr>
          <p:cNvPr id="1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C2BD8FE7-64B5-4F01-98C7-3D420667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84DD38B4-F078-434E-BBC9-D16DA1A3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623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Design GI indicators with evidence and accountabil">
            <a:extLst xmlns:a="http://schemas.openxmlformats.org/drawingml/2006/main">
              <a:ext uri="{FF2B5EF4-FFF2-40B4-BE49-F238E27FC236}">
                <a16:creationId xmlns:a16="http://schemas.microsoft.com/office/drawing/2014/main" id="{B64462CA-BC54-406F-B2B4-B2F4A969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2325"/>
            <a:ext cx="337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Design GI indicators with evidence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and accountability.</a:t>
            </a:r>
          </a:p>
        </p:txBody>
      </p:sp>
      <p:sp>
        <p:nvSpPr>
          <p:cNvPr id="1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DCB80B46-568B-49A6-B63E-66F40971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D61EE7E7-E492-4DEE-A96B-DAD090EC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Map the EU rules relevant to a company and its pro">
            <a:extLst xmlns:a="http://schemas.openxmlformats.org/drawingml/2006/main">
              <a:ext uri="{FF2B5EF4-FFF2-40B4-BE49-F238E27FC236}">
                <a16:creationId xmlns:a16="http://schemas.microsoft.com/office/drawing/2014/main" id="{027F9683-BC02-4A4E-8B0A-5CB94C09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337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Map the EU rules relevant to a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company and its projects.</a:t>
            </a:r>
          </a:p>
        </p:txBody>
      </p:sp>
      <p:sp>
        <p:nvSpPr>
          <p:cNvPr id="18" name="05">
            <a:extLst xmlns:a="http://schemas.openxmlformats.org/drawingml/2006/main">
              <a:ext uri="{FF2B5EF4-FFF2-40B4-BE49-F238E27FC236}">
                <a16:creationId xmlns:a16="http://schemas.microsoft.com/office/drawing/2014/main" id="{475E3A4A-A95B-47A2-BCF8-AB2413D4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288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Compare finance options using eligibility, costs a">
            <a:extLst xmlns:a="http://schemas.openxmlformats.org/drawingml/2006/main">
              <a:ext uri="{FF2B5EF4-FFF2-40B4-BE49-F238E27FC236}">
                <a16:creationId xmlns:a16="http://schemas.microsoft.com/office/drawing/2014/main" id="{A535D7D9-4427-4F8B-B6D6-5744DC1A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28825"/>
            <a:ext cx="3371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Compare finance options using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eligibility, costs and reporting.</a:t>
            </a:r>
          </a:p>
        </p:txBody>
      </p:sp>
      <p:sp>
        <p:nvSpPr>
          <p:cNvPr id="20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AC3C822C-983B-4B83-A59C-1B31B496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21" name="06">
            <a:extLst xmlns:a="http://schemas.openxmlformats.org/drawingml/2006/main">
              <a:ext uri="{FF2B5EF4-FFF2-40B4-BE49-F238E27FC236}">
                <a16:creationId xmlns:a16="http://schemas.microsoft.com/office/drawing/2014/main" id="{66E06300-492C-4D4C-ACEB-15AE33AD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Assess nature-positive and smart development propo">
            <a:extLst xmlns:a="http://schemas.openxmlformats.org/drawingml/2006/main">
              <a:ext uri="{FF2B5EF4-FFF2-40B4-BE49-F238E27FC236}">
                <a16:creationId xmlns:a16="http://schemas.microsoft.com/office/drawing/2014/main" id="{42B0154A-E9D7-4912-8DFE-3AD0EDC7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38450"/>
            <a:ext cx="3371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Assess nature-positive and smart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development proposals.</a:t>
            </a:r>
          </a:p>
        </p:txBody>
      </p:sp>
      <p:sp>
        <p:nvSpPr>
          <p:cNvPr id="2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BAFCA577-A99A-4F92-8ED6-D47CFDD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3377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24" name="07">
            <a:extLst xmlns:a="http://schemas.openxmlformats.org/drawingml/2006/main">
              <a:ext uri="{FF2B5EF4-FFF2-40B4-BE49-F238E27FC236}">
                <a16:creationId xmlns:a16="http://schemas.microsoft.com/office/drawing/2014/main" id="{3C485261-D3D4-4F60-8108-BB874A79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480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5" name="Defend a Prague 2035 proposal using evidence from ">
            <a:extLst xmlns:a="http://schemas.openxmlformats.org/drawingml/2006/main">
              <a:ext uri="{FF2B5EF4-FFF2-40B4-BE49-F238E27FC236}">
                <a16:creationId xmlns:a16="http://schemas.microsoft.com/office/drawing/2014/main" id="{500F517F-BEE0-4C2E-9D9E-B200A021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48075"/>
            <a:ext cx="3371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Defend a Prague 2035 proposal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using evidence from the course.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6d4fdc46f4968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27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C1EAEB54-2027-4108-850E-44A1A8DD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28" name="02">
            <a:extLst xmlns:a="http://schemas.openxmlformats.org/drawingml/2006/main">
              <a:ext uri="{FF2B5EF4-FFF2-40B4-BE49-F238E27FC236}">
                <a16:creationId xmlns:a16="http://schemas.microsoft.com/office/drawing/2014/main" id="{7D13D182-C79B-4EAD-B637-DB6B5AC9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1665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day's Lecture Agenda">
            <a:extLst xmlns:a="http://schemas.openxmlformats.org/drawingml/2006/main">
              <a:ext uri="{FF2B5EF4-FFF2-40B4-BE49-F238E27FC236}">
                <a16:creationId xmlns:a16="http://schemas.microsoft.com/office/drawing/2014/main" id="{52093A4B-4F08-49A1-A9C4-3C103915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Today's Lecture Agenda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FE8DC071-A694-4C5A-8C73-88308DD8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30876B42-1A77-4A44-9305-9AA87D18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5E016480-4C39-4A5F-B689-8C842BF2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19075"/>
            <a:ext cx="87058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5" name="Before the break">
            <a:extLst xmlns:a="http://schemas.openxmlformats.org/drawingml/2006/main">
              <a:ext uri="{FF2B5EF4-FFF2-40B4-BE49-F238E27FC236}">
                <a16:creationId xmlns:a16="http://schemas.microsoft.com/office/drawing/2014/main" id="{3E969911-856C-4268-9668-4C01BEA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Before the break</a:t>
            </a:r>
          </a:p>
        </p:txBody>
      </p:sp>
      <p:sp>
        <p:nvSpPr>
          <p:cNvPr id="6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76392A2C-E182-4E32-86D7-C1AC6179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14525"/>
            <a:ext cx="381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7" name="Part 1 — The ESG Framework">
            <a:extLst xmlns:a="http://schemas.openxmlformats.org/drawingml/2006/main">
              <a:ext uri="{FF2B5EF4-FFF2-40B4-BE49-F238E27FC236}">
                <a16:creationId xmlns:a16="http://schemas.microsoft.com/office/drawing/2014/main" id="{4E9EC8AE-2409-4964-882D-F7BCC7B0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3781425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Part 1 — The ESG Framework</a:t>
            </a:r>
          </a:p>
        </p:txBody>
      </p:sp>
      <p:sp>
        <p:nvSpPr>
          <p:cNvPr id="8" name="Part 2 — Reporting and Materiality">
            <a:extLst xmlns:a="http://schemas.openxmlformats.org/drawingml/2006/main">
              <a:ext uri="{FF2B5EF4-FFF2-40B4-BE49-F238E27FC236}">
                <a16:creationId xmlns:a16="http://schemas.microsoft.com/office/drawing/2014/main" id="{E3CE30FC-19D2-430C-A7CD-96AD8FA1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8405"/>
            <a:ext cx="3781425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Part 2 — Reporting and Materiality</a:t>
            </a:r>
          </a:p>
        </p:txBody>
      </p:sp>
      <p:sp>
        <p:nvSpPr>
          <p:cNvPr id="9" name="Part 3 — Green Infrastructure in ESG">
            <a:extLst xmlns:a="http://schemas.openxmlformats.org/drawingml/2006/main">
              <a:ext uri="{FF2B5EF4-FFF2-40B4-BE49-F238E27FC236}">
                <a16:creationId xmlns:a16="http://schemas.microsoft.com/office/drawing/2014/main" id="{C8852842-9C2F-4AC2-BCA6-2158A42D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0360"/>
            <a:ext cx="3781425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Part 3 — Green Infrastructure in ESG</a:t>
            </a:r>
          </a:p>
        </p:txBody>
      </p:sp>
      <p:sp>
        <p:nvSpPr>
          <p:cNvPr id="10" name="Practical Exercise — ESG Indicators for a Prague G">
            <a:extLst xmlns:a="http://schemas.openxmlformats.org/drawingml/2006/main">
              <a:ext uri="{FF2B5EF4-FFF2-40B4-BE49-F238E27FC236}">
                <a16:creationId xmlns:a16="http://schemas.microsoft.com/office/drawing/2014/main" id="{22DF9921-55A0-4FD9-B211-19318D07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82315"/>
            <a:ext cx="3781425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Practical Exercise — ESG Indicators for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 Prague GI Project</a:t>
            </a:r>
          </a:p>
        </p:txBody>
      </p:sp>
      <p:sp>
        <p:nvSpPr>
          <p:cNvPr id="11" name="After the break">
            <a:extLst xmlns:a="http://schemas.openxmlformats.org/drawingml/2006/main">
              <a:ext uri="{FF2B5EF4-FFF2-40B4-BE49-F238E27FC236}">
                <a16:creationId xmlns:a16="http://schemas.microsoft.com/office/drawing/2014/main" id="{AF631525-5CAE-4FFB-A85A-1FFA8417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90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After the break</a:t>
            </a:r>
          </a:p>
        </p:txBody>
      </p:sp>
      <p:sp>
        <p:nvSpPr>
          <p:cNvPr id="1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A726AADE-5FFC-438B-ADF8-0B7622D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14525"/>
            <a:ext cx="381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13" name="Part 4 — The European Regulatory Landscape">
            <a:extLst xmlns:a="http://schemas.openxmlformats.org/drawingml/2006/main">
              <a:ext uri="{FF2B5EF4-FFF2-40B4-BE49-F238E27FC236}">
                <a16:creationId xmlns:a16="http://schemas.microsoft.com/office/drawing/2014/main" id="{CE719B77-CAE9-49A1-8C26-D1A03C95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76450"/>
            <a:ext cx="3781425" cy="45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Part 4 — The European Regulatory</a:t>
            </a:r>
          </a:p>
          <a:p xmlns:a="http://schemas.openxmlformats.org/drawingml/2006/main">
            <a:pPr>
              <a:defRPr sz="13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Landscape</a:t>
            </a:r>
          </a:p>
        </p:txBody>
      </p:sp>
      <p:sp>
        <p:nvSpPr>
          <p:cNvPr id="14" name="Part 5 — Sustainable Finance">
            <a:extLst xmlns:a="http://schemas.openxmlformats.org/drawingml/2006/main">
              <a:ext uri="{FF2B5EF4-FFF2-40B4-BE49-F238E27FC236}">
                <a16:creationId xmlns:a16="http://schemas.microsoft.com/office/drawing/2014/main" id="{7FB74C4E-6F81-444F-B040-5A5F87C5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61285"/>
            <a:ext cx="37814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Part 5 — Sustainable Finance</a:t>
            </a:r>
          </a:p>
        </p:txBody>
      </p:sp>
      <p:sp>
        <p:nvSpPr>
          <p:cNvPr id="15" name="Part 6 — Future Trends in Urban Development">
            <a:extLst xmlns:a="http://schemas.openxmlformats.org/drawingml/2006/main">
              <a:ext uri="{FF2B5EF4-FFF2-40B4-BE49-F238E27FC236}">
                <a16:creationId xmlns:a16="http://schemas.microsoft.com/office/drawing/2014/main" id="{0BA9E352-755D-4FCC-B64D-4CE00D5C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34665"/>
            <a:ext cx="37814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Part 6 — Future Trends in Urban Development</a:t>
            </a:r>
          </a:p>
        </p:txBody>
      </p:sp>
      <p:sp>
        <p:nvSpPr>
          <p:cNvPr id="16" name="Final Discussion — Prague 2035">
            <a:extLst xmlns:a="http://schemas.openxmlformats.org/drawingml/2006/main">
              <a:ext uri="{FF2B5EF4-FFF2-40B4-BE49-F238E27FC236}">
                <a16:creationId xmlns:a16="http://schemas.microsoft.com/office/drawing/2014/main" id="{D3F5EF40-03D8-447C-99D2-E29AFFD0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08045"/>
            <a:ext cx="37814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Final Discussion — Prague 2035</a:t>
            </a:r>
          </a:p>
        </p:txBody>
      </p:sp>
      <p:sp>
        <p:nvSpPr>
          <p:cNvPr id="17" name="Course Wrap-Up">
            <a:extLst xmlns:a="http://schemas.openxmlformats.org/drawingml/2006/main">
              <a:ext uri="{FF2B5EF4-FFF2-40B4-BE49-F238E27FC236}">
                <a16:creationId xmlns:a16="http://schemas.microsoft.com/office/drawing/2014/main" id="{59246783-1C3E-4E8E-BE40-41081EC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781425"/>
            <a:ext cx="37814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Course Wrap-Up</a:t>
            </a:r>
          </a:p>
        </p:txBody>
      </p:sp>
      <p:sp>
        <p:nvSpPr>
          <p:cNvPr id="18" name="Key Messages and Reading">
            <a:extLst xmlns:a="http://schemas.openxmlformats.org/drawingml/2006/main">
              <a:ext uri="{FF2B5EF4-FFF2-40B4-BE49-F238E27FC236}">
                <a16:creationId xmlns:a16="http://schemas.microsoft.com/office/drawing/2014/main" id="{C13E7F2C-78BE-4A65-88A9-79E8E32A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154805"/>
            <a:ext cx="37814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Key Messages and Reading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30eed89374c5d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20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4E8886A2-7D80-4367-BE33-14FC363D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21" name="03">
            <a:extLst xmlns:a="http://schemas.openxmlformats.org/drawingml/2006/main">
              <a:ext uri="{FF2B5EF4-FFF2-40B4-BE49-F238E27FC236}">
                <a16:creationId xmlns:a16="http://schemas.microsoft.com/office/drawing/2014/main" id="{7D8F28FB-03EF-4EE9-ADC1-22DAA541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0003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DCBA6F8E-8C2A-4912-A0E6-5C0F0105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19075"/>
            <a:ext cx="87058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2" name="Part 1">
            <a:extLst xmlns:a="http://schemas.openxmlformats.org/drawingml/2006/main">
              <a:ext uri="{FF2B5EF4-FFF2-40B4-BE49-F238E27FC236}">
                <a16:creationId xmlns:a16="http://schemas.microsoft.com/office/drawing/2014/main" id="{E2409C07-51B5-4BA6-908D-EF5F95CF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Part 1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B4D4141B-810F-4670-BCAB-CF8DEC19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1600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7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787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" name="The ESG Framework">
            <a:extLst xmlns:a="http://schemas.openxmlformats.org/drawingml/2006/main">
              <a:ext uri="{FF2B5EF4-FFF2-40B4-BE49-F238E27FC236}">
                <a16:creationId xmlns:a16="http://schemas.microsoft.com/office/drawing/2014/main" id="{11A47254-9070-4D59-9026-F3FC8BD9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78105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The ESG Framework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e0a9caad848fa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6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13ED47D3-D58B-402C-9139-4FC3C168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7" name="04">
            <a:extLst xmlns:a="http://schemas.openxmlformats.org/drawingml/2006/main">
              <a:ext uri="{FF2B5EF4-FFF2-40B4-BE49-F238E27FC236}">
                <a16:creationId xmlns:a16="http://schemas.microsoft.com/office/drawing/2014/main" id="{CA3DC332-B1B9-4511-8868-7651A016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8906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What is ESG?">
            <a:extLst xmlns:a="http://schemas.openxmlformats.org/drawingml/2006/main">
              <a:ext uri="{FF2B5EF4-FFF2-40B4-BE49-F238E27FC236}">
                <a16:creationId xmlns:a16="http://schemas.microsoft.com/office/drawing/2014/main" id="{043FEA33-0E96-4059-B44A-A8E0CD57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What is ESG?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FC8D6DF0-CB25-412B-ACC8-611F0B2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B8B97D60-EEE6-4A24-8989-56C63A50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A framework for assessing environmental, social an">
            <a:extLst xmlns:a="http://schemas.openxmlformats.org/drawingml/2006/main">
              <a:ext uri="{FF2B5EF4-FFF2-40B4-BE49-F238E27FC236}">
                <a16:creationId xmlns:a16="http://schemas.microsoft.com/office/drawing/2014/main" id="{1198A3B5-CD1B-4794-8828-2F26C096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804862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A framework for assessing environmental, social and governance issues, including</a:t>
            </a:r>
          </a:p>
          <a:p xmlns:a="http://schemas.openxmlformats.org/drawingml/2006/main">
            <a:pPr>
              <a:defRPr sz="16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their financial effects:</a:t>
            </a:r>
          </a:p>
        </p:txBody>
      </p:sp>
      <p:sp>
        <p:nvSpPr>
          <p:cNvPr id="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957FC070-8C11-4E4A-B4B4-6186D789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8370"/>
            <a:ext cx="2844800" cy="2545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F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6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EFFDDEF4-BADA-4929-BAB3-DE1F5FE6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8370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35"/>
          </a:solidFill>
          <a:ln xmlns:a="http://schemas.openxmlformats.org/drawingml/2006/main" w="0">
            <a:noFill/>
          </a:ln>
        </p:spPr>
      </p:sp>
      <p:sp>
        <p:nvSpPr>
          <p:cNvPr id="7" name="Environmental">
            <a:extLst xmlns:a="http://schemas.openxmlformats.org/drawingml/2006/main">
              <a:ext uri="{FF2B5EF4-FFF2-40B4-BE49-F238E27FC236}">
                <a16:creationId xmlns:a16="http://schemas.microsoft.com/office/drawing/2014/main" id="{0AED5D06-C6A7-49B5-B049-C20D43A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9345"/>
            <a:ext cx="257810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Environmental</a:t>
            </a:r>
          </a:p>
        </p:txBody>
      </p:sp>
      <p:sp>
        <p:nvSpPr>
          <p:cNvPr id="8" name="Climate and emissions">
            <a:extLst xmlns:a="http://schemas.openxmlformats.org/drawingml/2006/main">
              <a:ext uri="{FF2B5EF4-FFF2-40B4-BE49-F238E27FC236}">
                <a16:creationId xmlns:a16="http://schemas.microsoft.com/office/drawing/2014/main" id="{0F02ED42-A4C7-4D50-A419-86560D23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0830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Climate and emissions</a:t>
            </a:r>
          </a:p>
        </p:txBody>
      </p:sp>
      <p:sp>
        <p:nvSpPr>
          <p:cNvPr id="9" name="Water and resources">
            <a:extLst xmlns:a="http://schemas.openxmlformats.org/drawingml/2006/main">
              <a:ext uri="{FF2B5EF4-FFF2-40B4-BE49-F238E27FC236}">
                <a16:creationId xmlns:a16="http://schemas.microsoft.com/office/drawing/2014/main" id="{5ED14A9A-620F-421C-9EEA-0D839CCD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7545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Water and resources</a:t>
            </a:r>
          </a:p>
        </p:txBody>
      </p:sp>
      <p:sp>
        <p:nvSpPr>
          <p:cNvPr id="10" name="Biodiversity and land use">
            <a:extLst xmlns:a="http://schemas.openxmlformats.org/drawingml/2006/main">
              <a:ext uri="{FF2B5EF4-FFF2-40B4-BE49-F238E27FC236}">
                <a16:creationId xmlns:a16="http://schemas.microsoft.com/office/drawing/2014/main" id="{90704C0C-A3E3-47CF-8D4D-10BDA1B3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4260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Biodiversity and land use</a:t>
            </a:r>
          </a:p>
        </p:txBody>
      </p:sp>
      <p:sp>
        <p:nvSpPr>
          <p:cNvPr id="11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D0DCDD2D-83CD-42B7-AE7D-796D61C8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2198370"/>
            <a:ext cx="2844800" cy="2545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D8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1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32B58E62-2EC6-421B-A8FF-3C389479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2198370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13" name="Social">
            <a:extLst xmlns:a="http://schemas.openxmlformats.org/drawingml/2006/main">
              <a:ext uri="{FF2B5EF4-FFF2-40B4-BE49-F238E27FC236}">
                <a16:creationId xmlns:a16="http://schemas.microsoft.com/office/drawing/2014/main" id="{F6864A4A-D68F-4E71-B722-8139F318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2379345"/>
            <a:ext cx="257810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Social</a:t>
            </a:r>
          </a:p>
        </p:txBody>
      </p:sp>
      <p:sp>
        <p:nvSpPr>
          <p:cNvPr id="14" name="Employees and communities">
            <a:extLst xmlns:a="http://schemas.openxmlformats.org/drawingml/2006/main">
              <a:ext uri="{FF2B5EF4-FFF2-40B4-BE49-F238E27FC236}">
                <a16:creationId xmlns:a16="http://schemas.microsoft.com/office/drawing/2014/main" id="{19DBB0B8-D2CD-4134-986C-130D4AC0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2830830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Employees and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communities</a:t>
            </a:r>
          </a:p>
        </p:txBody>
      </p:sp>
      <p:sp>
        <p:nvSpPr>
          <p:cNvPr id="15" name="Health and safety">
            <a:extLst xmlns:a="http://schemas.openxmlformats.org/drawingml/2006/main">
              <a:ext uri="{FF2B5EF4-FFF2-40B4-BE49-F238E27FC236}">
                <a16:creationId xmlns:a16="http://schemas.microsoft.com/office/drawing/2014/main" id="{54FEF7AD-CA73-4C32-8CCB-754E79EE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3480435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Health and safety</a:t>
            </a:r>
          </a:p>
        </p:txBody>
      </p:sp>
      <p:sp>
        <p:nvSpPr>
          <p:cNvPr id="16" name="Human rights">
            <a:extLst xmlns:a="http://schemas.openxmlformats.org/drawingml/2006/main">
              <a:ext uri="{FF2B5EF4-FFF2-40B4-BE49-F238E27FC236}">
                <a16:creationId xmlns:a16="http://schemas.microsoft.com/office/drawing/2014/main" id="{B6B988D4-75B3-488E-BEF4-65C7A339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3867150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Human rights</a:t>
            </a:r>
          </a:p>
        </p:txBody>
      </p:sp>
      <p:sp>
        <p:nvSpPr>
          <p:cNvPr id="17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8E26A482-5E37-429F-B18E-EDD712B0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0" y="2198370"/>
            <a:ext cx="2844800" cy="2545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9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1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5FD7F934-93D0-4610-988F-C955CD7B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0" y="2198370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5C"/>
          </a:solidFill>
          <a:ln xmlns:a="http://schemas.openxmlformats.org/drawingml/2006/main" w="0">
            <a:noFill/>
          </a:ln>
        </p:spPr>
      </p:sp>
      <p:sp>
        <p:nvSpPr>
          <p:cNvPr id="19" name="Governance">
            <a:extLst xmlns:a="http://schemas.openxmlformats.org/drawingml/2006/main">
              <a:ext uri="{FF2B5EF4-FFF2-40B4-BE49-F238E27FC236}">
                <a16:creationId xmlns:a16="http://schemas.microsoft.com/office/drawing/2014/main" id="{133911E0-3413-48CA-A9DA-D73B93C2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379345"/>
            <a:ext cx="257810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Governance</a:t>
            </a:r>
          </a:p>
        </p:txBody>
      </p:sp>
      <p:sp>
        <p:nvSpPr>
          <p:cNvPr id="20" name="Board oversight">
            <a:extLst xmlns:a="http://schemas.openxmlformats.org/drawingml/2006/main">
              <a:ext uri="{FF2B5EF4-FFF2-40B4-BE49-F238E27FC236}">
                <a16:creationId xmlns:a16="http://schemas.microsoft.com/office/drawing/2014/main" id="{49E8F3F6-063C-4353-BF08-05BCA1ED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830830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Board oversight</a:t>
            </a:r>
          </a:p>
        </p:txBody>
      </p:sp>
      <p:sp>
        <p:nvSpPr>
          <p:cNvPr id="21" name="Transparency and ethics">
            <a:extLst xmlns:a="http://schemas.openxmlformats.org/drawingml/2006/main">
              <a:ext uri="{FF2B5EF4-FFF2-40B4-BE49-F238E27FC236}">
                <a16:creationId xmlns:a16="http://schemas.microsoft.com/office/drawing/2014/main" id="{A27EDC95-43C7-435E-ADEA-EE6F3171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217545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Transparency and ethics</a:t>
            </a:r>
          </a:p>
        </p:txBody>
      </p:sp>
      <p:sp>
        <p:nvSpPr>
          <p:cNvPr id="22" name="Stakeholder rights">
            <a:extLst xmlns:a="http://schemas.openxmlformats.org/drawingml/2006/main">
              <a:ext uri="{FF2B5EF4-FFF2-40B4-BE49-F238E27FC236}">
                <a16:creationId xmlns:a16="http://schemas.microsoft.com/office/drawing/2014/main" id="{57021105-3792-4AE1-8521-BFE8FA38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604260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Stakeholder rights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485e618774a80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24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D6BB89A9-B237-413D-A7AF-FC44C247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25" name="05">
            <a:extLst xmlns:a="http://schemas.openxmlformats.org/drawingml/2006/main">
              <a:ext uri="{FF2B5EF4-FFF2-40B4-BE49-F238E27FC236}">
                <a16:creationId xmlns:a16="http://schemas.microsoft.com/office/drawing/2014/main" id="{212C08F3-E11E-4679-A9BC-A0E26F08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5208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y Investors Care">
            <a:extLst xmlns:a="http://schemas.openxmlformats.org/drawingml/2006/main">
              <a:ext uri="{FF2B5EF4-FFF2-40B4-BE49-F238E27FC236}">
                <a16:creationId xmlns:a16="http://schemas.microsoft.com/office/drawing/2014/main" id="{E5C85EF4-749C-43C8-8459-06455FAD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Why Investors Care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CADD6C7B-D075-4273-8D67-7B2EA91A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4B6C2C3-2BB8-4D8F-B3F5-9B5547EB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8B632179-B638-4431-B7AD-F2C4A41D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423862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F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6F91685-E4B8-43EB-A4E3-40980B38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423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35"/>
          </a:solidFill>
          <a:ln xmlns:a="http://schemas.openxmlformats.org/drawingml/2006/main" w="0">
            <a:noFill/>
          </a:ln>
        </p:spPr>
      </p:sp>
      <p:sp>
        <p:nvSpPr>
          <p:cNvPr id="6" name="ESG risks are financial risks: floods close factor">
            <a:extLst xmlns:a="http://schemas.openxmlformats.org/drawingml/2006/main">
              <a:ext uri="{FF2B5EF4-FFF2-40B4-BE49-F238E27FC236}">
                <a16:creationId xmlns:a16="http://schemas.microsoft.com/office/drawing/2014/main" id="{84D86F63-5C78-4E42-87A0-6F362077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971925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ESG risks are financial risks: floods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close factories, scandals sink brands.</a:t>
            </a:r>
          </a:p>
        </p:txBody>
      </p:sp>
      <p:sp>
        <p:nvSpPr>
          <p:cNvPr id="7" name="Investors may use ESG information in risk and allo">
            <a:extLst xmlns:a="http://schemas.openxmlformats.org/drawingml/2006/main">
              <a:ext uri="{FF2B5EF4-FFF2-40B4-BE49-F238E27FC236}">
                <a16:creationId xmlns:a16="http://schemas.microsoft.com/office/drawing/2014/main" id="{7DF60E25-5ECA-432C-AB1B-6F5014B6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8855"/>
            <a:ext cx="3971925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Investors may use ESG information in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risk and allocation decisions.</a:t>
            </a:r>
          </a:p>
        </p:txBody>
      </p:sp>
      <p:sp>
        <p:nvSpPr>
          <p:cNvPr id="8" name="Ratings such as MSCI and Sustainalytics use differ">
            <a:extLst xmlns:a="http://schemas.openxmlformats.org/drawingml/2006/main">
              <a:ext uri="{FF2B5EF4-FFF2-40B4-BE49-F238E27FC236}">
                <a16:creationId xmlns:a16="http://schemas.microsoft.com/office/drawing/2014/main" id="{1AF36ED1-8D75-4E63-B35F-17C51433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8460"/>
            <a:ext cx="3971925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Ratings such as MSCI and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Sustainalytics use different methods.</a:t>
            </a:r>
          </a:p>
        </p:txBody>
      </p:sp>
      <p:sp>
        <p:nvSpPr>
          <p:cNvPr id="9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D6710A68-7265-440D-AA3F-B2BE2C2E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38275"/>
            <a:ext cx="423862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D8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10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40D21B61-19FD-4F1E-904A-83333A7C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38275"/>
            <a:ext cx="423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11" name="But note the critique">
            <a:extLst xmlns:a="http://schemas.openxmlformats.org/drawingml/2006/main">
              <a:ext uri="{FF2B5EF4-FFF2-40B4-BE49-F238E27FC236}">
                <a16:creationId xmlns:a16="http://schemas.microsoft.com/office/drawing/2014/main" id="{720512A6-9329-4374-82FD-8C35C10B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619250"/>
            <a:ext cx="397192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But note the critique</a:t>
            </a:r>
          </a:p>
        </p:txBody>
      </p:sp>
      <p:sp>
        <p:nvSpPr>
          <p:cNvPr id="12" name="Ratings disagree with each other; 'ESG' can hide b">
            <a:extLst xmlns:a="http://schemas.openxmlformats.org/drawingml/2006/main">
              <a:ext uri="{FF2B5EF4-FFF2-40B4-BE49-F238E27FC236}">
                <a16:creationId xmlns:a16="http://schemas.microsoft.com/office/drawing/2014/main" id="{2147D21B-1762-4385-8147-C030289C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70735"/>
            <a:ext cx="3971925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Ratings disagree with each other;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'ESG' can hide box-ticking.</a:t>
            </a:r>
          </a:p>
        </p:txBody>
      </p:sp>
      <p:sp>
        <p:nvSpPr>
          <p:cNvPr id="13" name="Discussion: is a high ESG score the same thing as ">
            <a:extLst xmlns:a="http://schemas.openxmlformats.org/drawingml/2006/main">
              <a:ext uri="{FF2B5EF4-FFF2-40B4-BE49-F238E27FC236}">
                <a16:creationId xmlns:a16="http://schemas.microsoft.com/office/drawing/2014/main" id="{33D1016E-1986-48A0-804C-02307F3D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20340"/>
            <a:ext cx="3971925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Discussion: is a high ESG score the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same thing as being sustainable?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f31d7ff124931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5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120239B7-4B93-448D-8E3C-D3E302AD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16" name="06">
            <a:extLst xmlns:a="http://schemas.openxmlformats.org/drawingml/2006/main">
              <a:ext uri="{FF2B5EF4-FFF2-40B4-BE49-F238E27FC236}">
                <a16:creationId xmlns:a16="http://schemas.microsoft.com/office/drawing/2014/main" id="{D458AA7E-377E-493D-AC7A-2EFF769B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5345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2E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8CFE742-5D6B-42A8-A820-A8F23F86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19075"/>
            <a:ext cx="87058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A8878"/>
            </a:solidFill>
          </a:ln>
        </p:spPr>
      </p:sp>
      <p:sp>
        <p:nvSpPr>
          <p:cNvPr id="2" name="Part 2">
            <a:extLst xmlns:a="http://schemas.openxmlformats.org/drawingml/2006/main">
              <a:ext uri="{FF2B5EF4-FFF2-40B4-BE49-F238E27FC236}">
                <a16:creationId xmlns:a16="http://schemas.microsoft.com/office/drawing/2014/main" id="{9ACAC390-2F27-4932-8C05-9828D98B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7D0C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0C6"/>
                </a:solidFill>
                <a:latin typeface="Arial"/>
                <a:ea typeface="Arial"/>
                <a:cs typeface="Arial"/>
              </a:rPr>
              <a:t>Part 2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94048AE0-22AA-49E1-BAF0-23C1FD4B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1600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75" b="0">
                <a:solidFill>
                  <a:srgbClr val="819E89"/>
                </a:solidFill>
                <a:latin typeface="Georgia"/>
                <a:ea typeface="Georgia"/>
                <a:cs typeface="Georgia"/>
              </a:defRPr>
            </a:pPr>
            <a:r>
              <a:rPr sz="7875" b="0">
                <a:solidFill>
                  <a:srgbClr val="819E89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" name="Reporting and Materiality">
            <a:extLst xmlns:a="http://schemas.openxmlformats.org/drawingml/2006/main">
              <a:ext uri="{FF2B5EF4-FFF2-40B4-BE49-F238E27FC236}">
                <a16:creationId xmlns:a16="http://schemas.microsoft.com/office/drawing/2014/main" id="{DE6AD713-5FC1-41E0-8647-79E80C36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78105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Reporting and Materiality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cd009a1ad4ec3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6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F4636D58-6BCA-43FA-B11B-6E3E15CC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7D0C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7D0C6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7" name="07">
            <a:extLst xmlns:a="http://schemas.openxmlformats.org/drawingml/2006/main">
              <a:ext uri="{FF2B5EF4-FFF2-40B4-BE49-F238E27FC236}">
                <a16:creationId xmlns:a16="http://schemas.microsoft.com/office/drawing/2014/main" id="{0FBCBC61-3CFB-4EDA-AE65-FD8D306C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7907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SRD, ESRS and Double Materiality">
            <a:extLst xmlns:a="http://schemas.openxmlformats.org/drawingml/2006/main">
              <a:ext uri="{FF2B5EF4-FFF2-40B4-BE49-F238E27FC236}">
                <a16:creationId xmlns:a16="http://schemas.microsoft.com/office/drawing/2014/main" id="{46FF8191-E2D5-4B2A-9658-41EF8B43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CSRD, ESRS and Double Materiality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B41447B0-4D0D-4AB2-892C-FEA23C1D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CA340003-26D7-4E94-8022-FBFB02EE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5FEAF2D0-0613-4F5F-81EC-48ED92CB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28448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F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2EB7066-2A79-400A-A2BA-FD05CEC7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35"/>
          </a:solidFill>
          <a:ln xmlns:a="http://schemas.openxmlformats.org/drawingml/2006/main" w="0">
            <a:noFill/>
          </a:ln>
        </p:spPr>
      </p:sp>
      <p:sp>
        <p:nvSpPr>
          <p:cNvPr id="6" name="CSRD scope">
            <a:extLst xmlns:a="http://schemas.openxmlformats.org/drawingml/2006/main">
              <a:ext uri="{FF2B5EF4-FFF2-40B4-BE49-F238E27FC236}">
                <a16:creationId xmlns:a16="http://schemas.microsoft.com/office/drawing/2014/main" id="{1701FC8D-74FB-4E97-8DE7-0F5A9701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5781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88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1988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CSRD scope</a:t>
            </a:r>
          </a:p>
        </p:txBody>
      </p:sp>
      <p:sp>
        <p:nvSpPr>
          <p:cNvPr id="7" name="2026 EU amendment: more than 1,000 employees and o">
            <a:extLst xmlns:a="http://schemas.openxmlformats.org/drawingml/2006/main">
              <a:ext uri="{FF2B5EF4-FFF2-40B4-BE49-F238E27FC236}">
                <a16:creationId xmlns:a16="http://schemas.microsoft.com/office/drawing/2014/main" id="{287DD2E0-C81E-41B8-9CA9-00EFE406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5020"/>
            <a:ext cx="2578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2026 EU amendment:</a:t>
            </a:r>
          </a:p>
          <a:p xmlns:a="http://schemas.openxmlformats.org/drawingml/2006/main">
            <a:pPr>
              <a:defRPr sz="16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more than 1,000</a:t>
            </a:r>
          </a:p>
          <a:p xmlns:a="http://schemas.openxmlformats.org/drawingml/2006/main">
            <a:pPr>
              <a:defRPr sz="16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employees and over</a:t>
            </a:r>
          </a:p>
          <a:p xmlns:a="http://schemas.openxmlformats.org/drawingml/2006/main">
            <a:pPr>
              <a:defRPr sz="16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€450m net annual</a:t>
            </a:r>
          </a:p>
          <a:p xmlns:a="http://schemas.openxmlformats.org/drawingml/2006/main">
            <a:pPr>
              <a:defRPr sz="16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turnover for the main</a:t>
            </a:r>
          </a:p>
          <a:p xmlns:a="http://schemas.openxmlformats.org/drawingml/2006/main">
            <a:pPr>
              <a:defRPr sz="16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EU-company scope.</a:t>
            </a:r>
          </a:p>
        </p:txBody>
      </p:sp>
      <p:sp>
        <p:nvSpPr>
          <p:cNvPr id="8" name="Check entity, group, transition and national appli">
            <a:extLst xmlns:a="http://schemas.openxmlformats.org/drawingml/2006/main">
              <a:ext uri="{FF2B5EF4-FFF2-40B4-BE49-F238E27FC236}">
                <a16:creationId xmlns:a16="http://schemas.microsoft.com/office/drawing/2014/main" id="{212480F2-5952-46E5-9BEE-2EE0779B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1895"/>
            <a:ext cx="2578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Check entity, group,</a:t>
            </a:r>
          </a:p>
          <a:p xmlns:a="http://schemas.openxmlformats.org/drawingml/2006/main">
            <a:pPr>
              <a:defRPr sz="16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transition and national</a:t>
            </a:r>
          </a:p>
          <a:p xmlns:a="http://schemas.openxmlformats.org/drawingml/2006/main">
            <a:pPr>
              <a:defRPr sz="168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application rules.</a:t>
            </a:r>
          </a:p>
        </p:txBody>
      </p:sp>
      <p:sp>
        <p:nvSpPr>
          <p:cNvPr id="9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C4C9BF44-5CF9-4E13-8036-9AC40547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1438275"/>
            <a:ext cx="28448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D8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10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A7B8C7C2-91F8-4AD9-8B09-98D7E1E3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1438275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11" name="ESRS and evidence">
            <a:extLst xmlns:a="http://schemas.openxmlformats.org/drawingml/2006/main">
              <a:ext uri="{FF2B5EF4-FFF2-40B4-BE49-F238E27FC236}">
                <a16:creationId xmlns:a16="http://schemas.microsoft.com/office/drawing/2014/main" id="{E2E03CAB-9806-42C3-BDED-6E9B9F30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1619250"/>
            <a:ext cx="257810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ESRS and evidence</a:t>
            </a:r>
          </a:p>
        </p:txBody>
      </p:sp>
      <p:sp>
        <p:nvSpPr>
          <p:cNvPr id="12" name="Standards set the reporting requirements.">
            <a:extLst xmlns:a="http://schemas.openxmlformats.org/drawingml/2006/main">
              <a:ext uri="{FF2B5EF4-FFF2-40B4-BE49-F238E27FC236}">
                <a16:creationId xmlns:a16="http://schemas.microsoft.com/office/drawing/2014/main" id="{79E574EF-5930-49F9-85A5-83EB1FCF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2070735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Standards set the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reporting requirements.</a:t>
            </a:r>
          </a:p>
        </p:txBody>
      </p:sp>
      <p:sp>
        <p:nvSpPr>
          <p:cNvPr id="13" name="Sustainability statements are subject to limited a">
            <a:extLst xmlns:a="http://schemas.openxmlformats.org/drawingml/2006/main">
              <a:ext uri="{FF2B5EF4-FFF2-40B4-BE49-F238E27FC236}">
                <a16:creationId xmlns:a16="http://schemas.microsoft.com/office/drawing/2014/main" id="{6D1033BC-8223-4BCB-BD85-EAAEB7B3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2720340"/>
            <a:ext cx="2578100" cy="817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Sustainability statements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are subject to limited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assurance.</a:t>
            </a:r>
          </a:p>
        </p:txBody>
      </p:sp>
      <p:sp>
        <p:nvSpPr>
          <p:cNvPr id="1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6D0B3FC7-9393-4276-9DF5-B5D1D113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0" y="1438275"/>
            <a:ext cx="28448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9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1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B50F218B-9752-4F6E-B3F2-105B78DA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0" y="1438275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5C"/>
          </a:solidFill>
          <a:ln xmlns:a="http://schemas.openxmlformats.org/drawingml/2006/main" w="0">
            <a:noFill/>
          </a:ln>
        </p:spPr>
      </p:sp>
      <p:sp>
        <p:nvSpPr>
          <p:cNvPr id="16" name="Double materiality">
            <a:extLst xmlns:a="http://schemas.openxmlformats.org/drawingml/2006/main">
              <a:ext uri="{FF2B5EF4-FFF2-40B4-BE49-F238E27FC236}">
                <a16:creationId xmlns:a16="http://schemas.microsoft.com/office/drawing/2014/main" id="{777E4F6F-42D1-4B8B-ADE2-4EEE6BA8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619250"/>
            <a:ext cx="257810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Double materiality</a:t>
            </a:r>
          </a:p>
        </p:txBody>
      </p:sp>
      <p:sp>
        <p:nvSpPr>
          <p:cNvPr id="17" name="Assess impacts on people and nature, and financial">
            <a:extLst xmlns:a="http://schemas.openxmlformats.org/drawingml/2006/main">
              <a:ext uri="{FF2B5EF4-FFF2-40B4-BE49-F238E27FC236}">
                <a16:creationId xmlns:a16="http://schemas.microsoft.com/office/drawing/2014/main" id="{178C149F-2C9C-4A71-939B-0779343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70735"/>
            <a:ext cx="2578100" cy="1605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Assess impacts on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people and nature, and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financial risks or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opportunities. Either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perspective can make a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matter material.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f755543674c09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9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38E8934B-2447-431E-991C-01F1F99A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20" name="08">
            <a:extLst xmlns:a="http://schemas.openxmlformats.org/drawingml/2006/main">
              <a:ext uri="{FF2B5EF4-FFF2-40B4-BE49-F238E27FC236}">
                <a16:creationId xmlns:a16="http://schemas.microsoft.com/office/drawing/2014/main" id="{D8364633-2FFE-4C6B-8196-0F44FEC3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3348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2E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39CD67C0-A65F-4B95-9D7C-8A7B14AB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19075"/>
            <a:ext cx="87058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A8878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83e0a08b44741"/>
          <a:srcRect xmlns:a="http://schemas.openxmlformats.org/drawingml/2006/main" l="0" t="276" r="0" b="2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0"/>
            <a:ext cx="344805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Part 3">
            <a:extLst xmlns:a="http://schemas.openxmlformats.org/drawingml/2006/main">
              <a:ext uri="{FF2B5EF4-FFF2-40B4-BE49-F238E27FC236}">
                <a16:creationId xmlns:a16="http://schemas.microsoft.com/office/drawing/2014/main" id="{1F8A7A49-9B90-4FA4-BFAE-1B535087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7D0C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0C6"/>
                </a:solidFill>
                <a:latin typeface="Arial"/>
                <a:ea typeface="Arial"/>
                <a:cs typeface="Arial"/>
              </a:rPr>
              <a:t>Part 3</a:t>
            </a:r>
          </a:p>
        </p:txBody>
      </p:sp>
      <p:sp>
        <p:nvSpPr>
          <p:cNvPr id="4" name="Green Infrastructure in ESG">
            <a:extLst xmlns:a="http://schemas.openxmlformats.org/drawingml/2006/main">
              <a:ext uri="{FF2B5EF4-FFF2-40B4-BE49-F238E27FC236}">
                <a16:creationId xmlns:a16="http://schemas.microsoft.com/office/drawing/2014/main" id="{873CC7EB-E27C-44C1-AAC9-54822C48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76425"/>
            <a:ext cx="4857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Green Infrastructure</a:t>
            </a:r>
          </a:p>
          <a:p xmlns:a="http://schemas.openxmlformats.org/drawingml/2006/main">
            <a:pPr>
              <a:defRPr sz="3675" b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in ESG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07b77b6a64100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6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A1A88A09-549B-43AD-B0C2-94BB85E9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7D0C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7D0C6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7" name="09">
            <a:extLst xmlns:a="http://schemas.openxmlformats.org/drawingml/2006/main">
              <a:ext uri="{FF2B5EF4-FFF2-40B4-BE49-F238E27FC236}">
                <a16:creationId xmlns:a16="http://schemas.microsoft.com/office/drawing/2014/main" id="{077A6EDF-8B01-4CCE-84C3-64DFCABF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76163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How GI Shows Up in Each Pillar">
            <a:extLst xmlns:a="http://schemas.openxmlformats.org/drawingml/2006/main">
              <a:ext uri="{FF2B5EF4-FFF2-40B4-BE49-F238E27FC236}">
                <a16:creationId xmlns:a16="http://schemas.microsoft.com/office/drawing/2014/main" id="{0F439B73-F169-4560-B5B3-97FF0DFD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How GI Shows Up in Each Pillar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90E1B982-2849-4ED5-A6AD-B84712D2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C77BAC75-AAD6-4F70-93A3-D09B8AED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75FD5AAB-4327-4E2C-9E4D-2B3B763E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28448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F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539090A8-4A46-48E1-87E7-EFA572B2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35"/>
          </a:solidFill>
          <a:ln xmlns:a="http://schemas.openxmlformats.org/drawingml/2006/main" w="0">
            <a:noFill/>
          </a:ln>
        </p:spPr>
      </p:sp>
      <p:sp>
        <p:nvSpPr>
          <p:cNvPr id="6" name="E">
            <a:extLst xmlns:a="http://schemas.openxmlformats.org/drawingml/2006/main">
              <a:ext uri="{FF2B5EF4-FFF2-40B4-BE49-F238E27FC236}">
                <a16:creationId xmlns:a16="http://schemas.microsoft.com/office/drawing/2014/main" id="{5D717944-D114-4CBE-86A1-EEEF264B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57810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E</a:t>
            </a:r>
          </a:p>
        </p:txBody>
      </p:sp>
      <p:sp>
        <p:nvSpPr>
          <p:cNvPr id="7" name="Carbon sequestration">
            <a:extLst xmlns:a="http://schemas.openxmlformats.org/drawingml/2006/main">
              <a:ext uri="{FF2B5EF4-FFF2-40B4-BE49-F238E27FC236}">
                <a16:creationId xmlns:a16="http://schemas.microsoft.com/office/drawing/2014/main" id="{1450B4EF-5880-4120-B791-C320CED5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0735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Carbon sequestration</a:t>
            </a:r>
          </a:p>
        </p:txBody>
      </p:sp>
      <p:sp>
        <p:nvSpPr>
          <p:cNvPr id="8" name="Stormwater management">
            <a:extLst xmlns:a="http://schemas.openxmlformats.org/drawingml/2006/main">
              <a:ext uri="{FF2B5EF4-FFF2-40B4-BE49-F238E27FC236}">
                <a16:creationId xmlns:a16="http://schemas.microsoft.com/office/drawing/2014/main" id="{BA7FED10-A5F9-49E3-B359-A27CBAFA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Stormwater management</a:t>
            </a:r>
          </a:p>
        </p:txBody>
      </p:sp>
      <p:sp>
        <p:nvSpPr>
          <p:cNvPr id="9" name="Biodiversity gains (ESRS E4)">
            <a:extLst xmlns:a="http://schemas.openxmlformats.org/drawingml/2006/main">
              <a:ext uri="{FF2B5EF4-FFF2-40B4-BE49-F238E27FC236}">
                <a16:creationId xmlns:a16="http://schemas.microsoft.com/office/drawing/2014/main" id="{3A5C491E-41BF-415A-A01B-620032B5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44165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Biodiversity gains (ESRS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E4)</a:t>
            </a:r>
          </a:p>
        </p:txBody>
      </p:sp>
      <p:sp>
        <p:nvSpPr>
          <p:cNvPr id="10" name="Climate adaptation of assets">
            <a:extLst xmlns:a="http://schemas.openxmlformats.org/drawingml/2006/main">
              <a:ext uri="{FF2B5EF4-FFF2-40B4-BE49-F238E27FC236}">
                <a16:creationId xmlns:a16="http://schemas.microsoft.com/office/drawing/2014/main" id="{3208155D-64EC-4A5D-879A-2B8F2FA6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93770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Climate adaptation of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11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E79CC43B-FFA4-467F-96A4-A66F9402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1438275"/>
            <a:ext cx="28448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D8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1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27DDE2C8-5CF6-4F43-B483-6C932889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1438275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13" name="S">
            <a:extLst xmlns:a="http://schemas.openxmlformats.org/drawingml/2006/main">
              <a:ext uri="{FF2B5EF4-FFF2-40B4-BE49-F238E27FC236}">
                <a16:creationId xmlns:a16="http://schemas.microsoft.com/office/drawing/2014/main" id="{83A3861C-E63D-4942-94EF-66051D58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1619250"/>
            <a:ext cx="257810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S</a:t>
            </a:r>
          </a:p>
        </p:txBody>
      </p:sp>
      <p:sp>
        <p:nvSpPr>
          <p:cNvPr id="14" name="Community wellbeing">
            <a:extLst xmlns:a="http://schemas.openxmlformats.org/drawingml/2006/main">
              <a:ext uri="{FF2B5EF4-FFF2-40B4-BE49-F238E27FC236}">
                <a16:creationId xmlns:a16="http://schemas.microsoft.com/office/drawing/2014/main" id="{1AE56459-440A-4BE0-B876-87D467BD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2070735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Community wellbeing</a:t>
            </a:r>
          </a:p>
        </p:txBody>
      </p:sp>
      <p:sp>
        <p:nvSpPr>
          <p:cNvPr id="15" name="Employee health">
            <a:extLst xmlns:a="http://schemas.openxmlformats.org/drawingml/2006/main">
              <a:ext uri="{FF2B5EF4-FFF2-40B4-BE49-F238E27FC236}">
                <a16:creationId xmlns:a16="http://schemas.microsoft.com/office/drawing/2014/main" id="{91597E2A-32BA-49FB-904A-C50F4DF1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2457450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Employee health</a:t>
            </a:r>
          </a:p>
        </p:txBody>
      </p:sp>
      <p:sp>
        <p:nvSpPr>
          <p:cNvPr id="16" name="Access to green space">
            <a:extLst xmlns:a="http://schemas.openxmlformats.org/drawingml/2006/main">
              <a:ext uri="{FF2B5EF4-FFF2-40B4-BE49-F238E27FC236}">
                <a16:creationId xmlns:a16="http://schemas.microsoft.com/office/drawing/2014/main" id="{9049F9D1-BD65-4B1D-AD6C-897CE63D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2844165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Access to green space</a:t>
            </a:r>
          </a:p>
        </p:txBody>
      </p:sp>
      <p:sp>
        <p:nvSpPr>
          <p:cNvPr id="17" name="Heat protection for vulnerable groups">
            <a:extLst xmlns:a="http://schemas.openxmlformats.org/drawingml/2006/main">
              <a:ext uri="{FF2B5EF4-FFF2-40B4-BE49-F238E27FC236}">
                <a16:creationId xmlns:a16="http://schemas.microsoft.com/office/drawing/2014/main" id="{0E83EB9F-7B3E-4390-A040-E3F3BC4E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3230880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Heat protection for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vulnerable groups</a:t>
            </a:r>
          </a:p>
        </p:txBody>
      </p:sp>
      <p:sp>
        <p:nvSpPr>
          <p:cNvPr id="1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52B9828E-9459-4626-9F0C-F7FC21D3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0" y="1438275"/>
            <a:ext cx="28448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9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19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9BC1580-EBA9-4CD8-ABBB-7C108657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0" y="1438275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5C"/>
          </a:solidFill>
          <a:ln xmlns:a="http://schemas.openxmlformats.org/drawingml/2006/main" w="0">
            <a:noFill/>
          </a:ln>
        </p:spPr>
      </p:sp>
      <p:sp>
        <p:nvSpPr>
          <p:cNvPr id="20" name="G">
            <a:extLst xmlns:a="http://schemas.openxmlformats.org/drawingml/2006/main">
              <a:ext uri="{FF2B5EF4-FFF2-40B4-BE49-F238E27FC236}">
                <a16:creationId xmlns:a16="http://schemas.microsoft.com/office/drawing/2014/main" id="{BAFC39FE-F722-47E1-9AA6-03C22C07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619250"/>
            <a:ext cx="257810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G</a:t>
            </a:r>
          </a:p>
        </p:txBody>
      </p:sp>
      <p:sp>
        <p:nvSpPr>
          <p:cNvPr id="21" name="Stakeholder participation">
            <a:extLst xmlns:a="http://schemas.openxmlformats.org/drawingml/2006/main">
              <a:ext uri="{FF2B5EF4-FFF2-40B4-BE49-F238E27FC236}">
                <a16:creationId xmlns:a16="http://schemas.microsoft.com/office/drawing/2014/main" id="{8688EB7B-E5D2-4E65-B7A5-42A1DF42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70735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Stakeholder participation</a:t>
            </a:r>
          </a:p>
        </p:txBody>
      </p:sp>
      <p:sp>
        <p:nvSpPr>
          <p:cNvPr id="22" name="Transparent monitoring">
            <a:extLst xmlns:a="http://schemas.openxmlformats.org/drawingml/2006/main">
              <a:ext uri="{FF2B5EF4-FFF2-40B4-BE49-F238E27FC236}">
                <a16:creationId xmlns:a16="http://schemas.microsoft.com/office/drawing/2014/main" id="{F81D76F9-C541-4E2C-B4A1-CC4AAE9E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457450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Transparent monitoring</a:t>
            </a:r>
          </a:p>
        </p:txBody>
      </p:sp>
      <p:sp>
        <p:nvSpPr>
          <p:cNvPr id="23" name="Partnerships with city and NGOs">
            <a:extLst xmlns:a="http://schemas.openxmlformats.org/drawingml/2006/main">
              <a:ext uri="{FF2B5EF4-FFF2-40B4-BE49-F238E27FC236}">
                <a16:creationId xmlns:a16="http://schemas.microsoft.com/office/drawing/2014/main" id="{B48FC620-6AE8-4FBF-9D62-29343450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844165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Partnerships with city and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NGOs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ee74c3c774789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25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BD775881-6137-4835-81EC-B660238C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26" name="10">
            <a:extLst xmlns:a="http://schemas.openxmlformats.org/drawingml/2006/main">
              <a:ext uri="{FF2B5EF4-FFF2-40B4-BE49-F238E27FC236}">
                <a16:creationId xmlns:a16="http://schemas.microsoft.com/office/drawing/2014/main" id="{F5A153D1-2202-4524-91B6-58834048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59446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I in a Company Sustainability Report">
            <a:extLst xmlns:a="http://schemas.openxmlformats.org/drawingml/2006/main">
              <a:ext uri="{FF2B5EF4-FFF2-40B4-BE49-F238E27FC236}">
                <a16:creationId xmlns:a16="http://schemas.microsoft.com/office/drawing/2014/main" id="{79711F3C-1BF1-438A-A124-FC0F9FD7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GI in a Company Sustainability Report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BC360ABF-BDDC-4C2C-8021-1F1D182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824D4419-5201-4C42-9C5D-9816AA13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10a0adcfc460b"/>
          <a:stretch xmlns:a="http://schemas.openxmlformats.org/drawingml/2006/main"/>
        </p:blipFill>
        <p:spPr>
          <a:xfrm xmlns:a="http://schemas.openxmlformats.org/drawingml/2006/main">
            <a:off x="6500813" y="1495425"/>
            <a:ext cx="1914525" cy="2552700"/>
          </a:xfrm>
          <a:prstGeom xmlns:a="http://schemas.openxmlformats.org/drawingml/2006/main" prst="rect">
            <a:avLst/>
          </a:prstGeom>
        </p:spPr>
      </p:pic>
      <p:sp>
        <p:nvSpPr>
          <p:cNvPr id="5" name="Evidence to collect">
            <a:extLst xmlns:a="http://schemas.openxmlformats.org/drawingml/2006/main">
              <a:ext uri="{FF2B5EF4-FFF2-40B4-BE49-F238E27FC236}">
                <a16:creationId xmlns:a16="http://schemas.microsoft.com/office/drawing/2014/main" id="{81880BE1-2820-4377-A6B4-A9B94535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2959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13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1913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Evidence to collect</a:t>
            </a:r>
          </a:p>
        </p:txBody>
      </p:sp>
      <p:sp>
        <p:nvSpPr>
          <p:cNvPr id="6" name="A baseline, defined boundary and measurement metho">
            <a:extLst xmlns:a="http://schemas.openxmlformats.org/drawingml/2006/main">
              <a:ext uri="{FF2B5EF4-FFF2-40B4-BE49-F238E27FC236}">
                <a16:creationId xmlns:a16="http://schemas.microsoft.com/office/drawing/2014/main" id="{FDBD7EE7-FCFD-4447-936F-61483144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8340"/>
            <a:ext cx="52959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13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 baseline, defined boundary and measurement method</a:t>
            </a:r>
          </a:p>
        </p:txBody>
      </p:sp>
      <p:sp>
        <p:nvSpPr>
          <p:cNvPr id="7" name="Observed outcomes, costs and maintenance records">
            <a:extLst xmlns:a="http://schemas.openxmlformats.org/drawingml/2006/main">
              <a:ext uri="{FF2B5EF4-FFF2-40B4-BE49-F238E27FC236}">
                <a16:creationId xmlns:a16="http://schemas.microsoft.com/office/drawing/2014/main" id="{AF9A0637-CBCD-4D40-B7D2-6A5E0A16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7910"/>
            <a:ext cx="52959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13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Observed outcomes, costs and maintenance records</a:t>
            </a:r>
          </a:p>
        </p:txBody>
      </p:sp>
      <p:sp>
        <p:nvSpPr>
          <p:cNvPr id="8" name="A named owner and review process">
            <a:extLst xmlns:a="http://schemas.openxmlformats.org/drawingml/2006/main">
              <a:ext uri="{FF2B5EF4-FFF2-40B4-BE49-F238E27FC236}">
                <a16:creationId xmlns:a16="http://schemas.microsoft.com/office/drawing/2014/main" id="{D593252F-0B29-46BE-9482-07DDA9F9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7480"/>
            <a:ext cx="52959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13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 named owner and review process</a:t>
            </a:r>
          </a:p>
        </p:txBody>
      </p:sp>
      <p:sp>
        <p:nvSpPr>
          <p:cNvPr id="9" name="Materiality first">
            <a:extLst xmlns:a="http://schemas.openxmlformats.org/drawingml/2006/main">
              <a:ext uri="{FF2B5EF4-FFF2-40B4-BE49-F238E27FC236}">
                <a16:creationId xmlns:a16="http://schemas.microsoft.com/office/drawing/2014/main" id="{E42F3E76-40B7-4BBC-8CDA-B1730ACF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52959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13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1913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Materiality first</a:t>
            </a:r>
          </a:p>
        </p:txBody>
      </p:sp>
      <p:sp>
        <p:nvSpPr>
          <p:cNvPr id="10" name="A photograph proves an installation exists. It doe">
            <a:extLst xmlns:a="http://schemas.openxmlformats.org/drawingml/2006/main">
              <a:ext uri="{FF2B5EF4-FFF2-40B4-BE49-F238E27FC236}">
                <a16:creationId xmlns:a16="http://schemas.microsoft.com/office/drawing/2014/main" id="{EBA233D5-A44B-4FF3-B9FA-66ACA6A9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7590"/>
            <a:ext cx="5295900" cy="765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13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 photograph proves an installation exists. It does not</a:t>
            </a:r>
          </a:p>
          <a:p xmlns:a="http://schemas.openxmlformats.org/drawingml/2006/main">
            <a:pPr>
              <a:defRPr sz="1613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prove biodiversity gains, carbon removal or a material</a:t>
            </a:r>
          </a:p>
          <a:p xmlns:a="http://schemas.openxmlformats.org/drawingml/2006/main">
            <a:pPr>
              <a:defRPr sz="1613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improvement across the company.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4660620174476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2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4964A10C-B4DF-4DBA-8EDA-6D4ACC72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13" name="11">
            <a:extLst xmlns:a="http://schemas.openxmlformats.org/drawingml/2006/main">
              <a:ext uri="{FF2B5EF4-FFF2-40B4-BE49-F238E27FC236}">
                <a16:creationId xmlns:a16="http://schemas.microsoft.com/office/drawing/2014/main" id="{B27B69EC-7007-4C34-81ED-C08C553D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09566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DE5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ractical Exercise: ESG Indicators">
            <a:extLst xmlns:a="http://schemas.openxmlformats.org/drawingml/2006/main">
              <a:ext uri="{FF2B5EF4-FFF2-40B4-BE49-F238E27FC236}">
                <a16:creationId xmlns:a16="http://schemas.microsoft.com/office/drawing/2014/main" id="{DB496EFC-3B8F-43E8-9C2E-529CDD12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Practical Exercise: ESG Indicators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E3603360-50B0-457C-9C27-E7F23E26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8D9704D8-30EA-44DF-9FE8-5C5AA3CC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2A784EA-89D4-4091-8ADB-2402B450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76375"/>
            <a:ext cx="2305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BE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5" name="30">
            <a:extLst xmlns:a="http://schemas.openxmlformats.org/drawingml/2006/main">
              <a:ext uri="{FF2B5EF4-FFF2-40B4-BE49-F238E27FC236}">
                <a16:creationId xmlns:a16="http://schemas.microsoft.com/office/drawing/2014/main" id="{97B54B8B-B395-4A36-8E49-411FAC99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2076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78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6" name="minutes">
            <a:extLst xmlns:a="http://schemas.openxmlformats.org/drawingml/2006/main">
              <a:ext uri="{FF2B5EF4-FFF2-40B4-BE49-F238E27FC236}">
                <a16:creationId xmlns:a16="http://schemas.microsoft.com/office/drawing/2014/main" id="{17212645-ABD0-4C54-A849-ADC12D7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147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minutes</a:t>
            </a:r>
          </a:p>
        </p:txBody>
      </p:sp>
      <p:sp>
        <p:nvSpPr>
          <p:cNvPr id="7" name="Project groups">
            <a:extLst xmlns:a="http://schemas.openxmlformats.org/drawingml/2006/main">
              <a:ext uri="{FF2B5EF4-FFF2-40B4-BE49-F238E27FC236}">
                <a16:creationId xmlns:a16="http://schemas.microsoft.com/office/drawing/2014/main" id="{800D7E0B-7369-4276-A378-F64EAEA1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147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Project groups</a:t>
            </a:r>
          </a:p>
        </p:txBody>
      </p:sp>
      <p:sp>
        <p:nvSpPr>
          <p:cNvPr id="8" name="use your semester case-study site">
            <a:extLst xmlns:a="http://schemas.openxmlformats.org/drawingml/2006/main">
              <a:ext uri="{FF2B5EF4-FFF2-40B4-BE49-F238E27FC236}">
                <a16:creationId xmlns:a16="http://schemas.microsoft.com/office/drawing/2014/main" id="{42F76061-CAD0-44C5-AAC4-AA4EB425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053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use your semester</a:t>
            </a:r>
          </a:p>
          <a:p xmlns:a="http://schemas.openxmlformats.org/drawingml/2006/main">
            <a:pPr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case-study site</a:t>
            </a:r>
          </a:p>
        </p:txBody>
      </p:sp>
      <p:sp>
        <p:nvSpPr>
          <p:cNvPr id="9" name="Imagine a company invests in a GI project at your ">
            <a:extLst xmlns:a="http://schemas.openxmlformats.org/drawingml/2006/main">
              <a:ext uri="{FF2B5EF4-FFF2-40B4-BE49-F238E27FC236}">
                <a16:creationId xmlns:a16="http://schemas.microsoft.com/office/drawing/2014/main" id="{D534131F-0171-4783-B257-88B189BE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28775"/>
            <a:ext cx="5543550" cy="64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Imagine a company invests in a GI project at</a:t>
            </a:r>
          </a:p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your site. Define:</a:t>
            </a:r>
          </a:p>
        </p:txBody>
      </p:sp>
      <p:sp>
        <p:nvSpPr>
          <p:cNvPr id="10" name="Three E indicators (with units and data sources).">
            <a:extLst xmlns:a="http://schemas.openxmlformats.org/drawingml/2006/main">
              <a:ext uri="{FF2B5EF4-FFF2-40B4-BE49-F238E27FC236}">
                <a16:creationId xmlns:a16="http://schemas.microsoft.com/office/drawing/2014/main" id="{14F46F24-CF96-4BD1-AD6B-C27BBD8A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88870"/>
            <a:ext cx="55435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Three E indicators (with units and data sources).</a:t>
            </a:r>
          </a:p>
        </p:txBody>
      </p:sp>
      <p:sp>
        <p:nvSpPr>
          <p:cNvPr id="11" name="Two S indicators (who benefits, how measured).">
            <a:extLst xmlns:a="http://schemas.openxmlformats.org/drawingml/2006/main">
              <a:ext uri="{FF2B5EF4-FFF2-40B4-BE49-F238E27FC236}">
                <a16:creationId xmlns:a16="http://schemas.microsoft.com/office/drawing/2014/main" id="{41987E54-47D9-4BF8-BABE-00DAD526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75585"/>
            <a:ext cx="55435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Two S indicators (who benefits, how measured).</a:t>
            </a:r>
          </a:p>
        </p:txBody>
      </p:sp>
      <p:sp>
        <p:nvSpPr>
          <p:cNvPr id="12" name="Two G indicators (who decides, who verifies).">
            <a:extLst xmlns:a="http://schemas.openxmlformats.org/drawingml/2006/main">
              <a:ext uri="{FF2B5EF4-FFF2-40B4-BE49-F238E27FC236}">
                <a16:creationId xmlns:a16="http://schemas.microsoft.com/office/drawing/2014/main" id="{A8B842FD-032A-4D86-B1D3-3A8A527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62300"/>
            <a:ext cx="55435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Two G indicators (who decides, who verifies).</a:t>
            </a:r>
          </a:p>
        </p:txBody>
      </p:sp>
      <p:sp>
        <p:nvSpPr>
          <p:cNvPr id="13" name="One sentence for the annual report — specific, evi">
            <a:extLst xmlns:a="http://schemas.openxmlformats.org/drawingml/2006/main">
              <a:ext uri="{FF2B5EF4-FFF2-40B4-BE49-F238E27FC236}">
                <a16:creationId xmlns:a16="http://schemas.microsoft.com/office/drawing/2014/main" id="{92FCBB3F-03E5-4DD7-99C1-3CE6AC1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49015"/>
            <a:ext cx="554355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One sentence for the annual report — specific,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evidenced, no greenwash.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09acedf314a39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5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D6F6DFA4-893C-41E4-8F68-4A8F3CAC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16" name="12">
            <a:extLst xmlns:a="http://schemas.openxmlformats.org/drawingml/2006/main">
              <a:ext uri="{FF2B5EF4-FFF2-40B4-BE49-F238E27FC236}">
                <a16:creationId xmlns:a16="http://schemas.microsoft.com/office/drawing/2014/main" id="{3476E4AC-662F-4A77-9796-F6BE3695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68771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DE5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5146BE0-A053-41C2-925D-801EFC29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19075"/>
            <a:ext cx="87058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2" name="Break">
            <a:extLst xmlns:a="http://schemas.openxmlformats.org/drawingml/2006/main">
              <a:ext uri="{FF2B5EF4-FFF2-40B4-BE49-F238E27FC236}">
                <a16:creationId xmlns:a16="http://schemas.microsoft.com/office/drawing/2014/main" id="{9613CA0E-4DAA-4DB3-BD60-C022CECE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14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95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795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Break</a:t>
            </a:r>
          </a:p>
        </p:txBody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3F41DC86-6691-41E1-8FCA-9176DF59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194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35"/>
          </a:solidFill>
          <a:ln xmlns:a="http://schemas.openxmlformats.org/drawingml/2006/main" w="0">
            <a:noFill/>
          </a:ln>
        </p:spPr>
      </p:sp>
      <p:sp>
        <p:nvSpPr>
          <p:cNvPr id="4" name="Second half — Sustainability Regulation and Future">
            <a:extLst xmlns:a="http://schemas.openxmlformats.org/drawingml/2006/main">
              <a:ext uri="{FF2B5EF4-FFF2-40B4-BE49-F238E27FC236}">
                <a16:creationId xmlns:a16="http://schemas.microsoft.com/office/drawing/2014/main" id="{E42EAD98-8433-4EA9-966C-1D779225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2897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Second half — Sustainability Regulation and Future Urban</a:t>
            </a:r>
          </a:p>
          <a:p xmlns:a="http://schemas.openxmlformats.org/drawingml/2006/main">
            <a:pPr>
              <a:defRPr sz="21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34c4572fe43f7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6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C02C4A81-C069-4481-9C70-9B13908F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7" name="13">
            <a:extLst xmlns:a="http://schemas.openxmlformats.org/drawingml/2006/main">
              <a:ext uri="{FF2B5EF4-FFF2-40B4-BE49-F238E27FC236}">
                <a16:creationId xmlns:a16="http://schemas.microsoft.com/office/drawing/2014/main" id="{46561B4D-EC2B-4727-A824-9ABEC36C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464859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03C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EB7ED273-3D14-4095-BB5A-41CCBA2B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19075"/>
            <a:ext cx="87058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A8878"/>
            </a:solidFill>
          </a:ln>
        </p:spPr>
      </p:sp>
      <p:sp>
        <p:nvSpPr>
          <p:cNvPr id="2" name="Part 4">
            <a:extLst xmlns:a="http://schemas.openxmlformats.org/drawingml/2006/main">
              <a:ext uri="{FF2B5EF4-FFF2-40B4-BE49-F238E27FC236}">
                <a16:creationId xmlns:a16="http://schemas.microsoft.com/office/drawing/2014/main" id="{CED35D67-7C06-40A7-A5B6-105D8D00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7D0C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0C6"/>
                </a:solidFill>
                <a:latin typeface="Arial"/>
                <a:ea typeface="Arial"/>
                <a:cs typeface="Arial"/>
              </a:rPr>
              <a:t>Part 4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EF7CB1D5-5935-40AE-A01A-AD719350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1600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75" b="0">
                <a:solidFill>
                  <a:srgbClr val="819E89"/>
                </a:solidFill>
                <a:latin typeface="Georgia"/>
                <a:ea typeface="Georgia"/>
                <a:cs typeface="Georgia"/>
              </a:defRPr>
            </a:pPr>
            <a:r>
              <a:rPr sz="7875" b="0">
                <a:solidFill>
                  <a:srgbClr val="819E89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" name="The European Regulatory Landscape">
            <a:extLst xmlns:a="http://schemas.openxmlformats.org/drawingml/2006/main">
              <a:ext uri="{FF2B5EF4-FFF2-40B4-BE49-F238E27FC236}">
                <a16:creationId xmlns:a16="http://schemas.microsoft.com/office/drawing/2014/main" id="{1A628079-E19D-4EFC-B4C4-1900DE23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78105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The European Regulatory</a:t>
            </a:r>
          </a:p>
          <a:p xmlns:a="http://schemas.openxmlformats.org/drawingml/2006/main">
            <a:pPr>
              <a:defRPr sz="4350" b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Landscape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ede0d6f444b81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6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4080D842-5074-4204-9BF2-3DCD3A55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7D0C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7D0C6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7" name="14">
            <a:extLst xmlns:a="http://schemas.openxmlformats.org/drawingml/2006/main">
              <a:ext uri="{FF2B5EF4-FFF2-40B4-BE49-F238E27FC236}">
                <a16:creationId xmlns:a16="http://schemas.microsoft.com/office/drawing/2014/main" id="{34666ED6-DBA3-44F9-BF71-AC5F9368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68307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 European Green Deal">
            <a:extLst xmlns:a="http://schemas.openxmlformats.org/drawingml/2006/main">
              <a:ext uri="{FF2B5EF4-FFF2-40B4-BE49-F238E27FC236}">
                <a16:creationId xmlns:a16="http://schemas.microsoft.com/office/drawing/2014/main" id="{102D3CF2-E673-4311-8344-F6C59114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The European Green Deal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6316AB01-B457-46B9-AD15-6F88C887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3237ABD9-166B-419F-8E80-634A99E1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E234FF7D-3358-4E45-9A49-B87A76FF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423862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F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AB702BF4-F9C2-4CF8-AA11-3CF2C598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423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35"/>
          </a:solidFill>
          <a:ln xmlns:a="http://schemas.openxmlformats.org/drawingml/2006/main" w="0">
            <a:noFill/>
          </a:ln>
        </p:spPr>
      </p:sp>
      <p:sp>
        <p:nvSpPr>
          <p:cNvPr id="6" name="Policy framework">
            <a:extLst xmlns:a="http://schemas.openxmlformats.org/drawingml/2006/main">
              <a:ext uri="{FF2B5EF4-FFF2-40B4-BE49-F238E27FC236}">
                <a16:creationId xmlns:a16="http://schemas.microsoft.com/office/drawing/2014/main" id="{0506300A-86DE-41D2-A6A1-2E5C574A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97192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Policy framework</a:t>
            </a:r>
          </a:p>
        </p:txBody>
      </p:sp>
      <p:sp>
        <p:nvSpPr>
          <p:cNvPr id="7" name="The EU framework for climate neutrality, resource ">
            <a:extLst xmlns:a="http://schemas.openxmlformats.org/drawingml/2006/main">
              <a:ext uri="{FF2B5EF4-FFF2-40B4-BE49-F238E27FC236}">
                <a16:creationId xmlns:a16="http://schemas.microsoft.com/office/drawing/2014/main" id="{44205289-72B9-4D0B-88AF-A21672B6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0735"/>
            <a:ext cx="3971925" cy="817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The EU framework for climate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neutrality, resource efficiency and a fair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transition.</a:t>
            </a:r>
          </a:p>
        </p:txBody>
      </p:sp>
      <p:sp>
        <p:nvSpPr>
          <p:cNvPr id="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9957FE19-263C-44B8-B6F8-99A22ED7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38275"/>
            <a:ext cx="423862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D8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9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BCF2B262-528A-4CF5-8F9C-7E4551FC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38275"/>
            <a:ext cx="423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10" name="Instruments relevant to the course">
            <a:extLst xmlns:a="http://schemas.openxmlformats.org/drawingml/2006/main">
              <a:ext uri="{FF2B5EF4-FFF2-40B4-BE49-F238E27FC236}">
                <a16:creationId xmlns:a16="http://schemas.microsoft.com/office/drawing/2014/main" id="{D2310CA9-F9E0-43E3-96FB-2D2B1069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619250"/>
            <a:ext cx="3971925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38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1838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Instruments relevant to the course</a:t>
            </a:r>
          </a:p>
        </p:txBody>
      </p:sp>
      <p:sp>
        <p:nvSpPr>
          <p:cNvPr id="11" name="Fit for 55: laws supporting the 2030 climate targe">
            <a:extLst xmlns:a="http://schemas.openxmlformats.org/drawingml/2006/main">
              <a:ext uri="{FF2B5EF4-FFF2-40B4-BE49-F238E27FC236}">
                <a16:creationId xmlns:a16="http://schemas.microsoft.com/office/drawing/2014/main" id="{DCDFEE29-273D-442E-8E2E-25389CA6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42160"/>
            <a:ext cx="3971925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3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Fit for 55: laws supporting the 2030 climate</a:t>
            </a:r>
          </a:p>
          <a:p xmlns:a="http://schemas.openxmlformats.org/drawingml/2006/main">
            <a:pPr>
              <a:defRPr sz="153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target.</a:t>
            </a:r>
          </a:p>
        </p:txBody>
      </p:sp>
      <p:sp>
        <p:nvSpPr>
          <p:cNvPr id="12" name="Biodiversity Strategy 2030: an EU policy direction">
            <a:extLst xmlns:a="http://schemas.openxmlformats.org/drawingml/2006/main">
              <a:ext uri="{FF2B5EF4-FFF2-40B4-BE49-F238E27FC236}">
                <a16:creationId xmlns:a16="http://schemas.microsoft.com/office/drawing/2014/main" id="{6A0C3BD6-4764-4213-A57F-1B94B343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34615"/>
            <a:ext cx="3971925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3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Biodiversity Strategy 2030: an EU policy</a:t>
            </a:r>
          </a:p>
          <a:p xmlns:a="http://schemas.openxmlformats.org/drawingml/2006/main">
            <a:pPr>
              <a:defRPr sz="153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direction.</a:t>
            </a:r>
          </a:p>
        </p:txBody>
      </p:sp>
      <p:sp>
        <p:nvSpPr>
          <p:cNvPr id="13" name="Nature Restoration Regulation: binding restoration">
            <a:extLst xmlns:a="http://schemas.openxmlformats.org/drawingml/2006/main">
              <a:ext uri="{FF2B5EF4-FFF2-40B4-BE49-F238E27FC236}">
                <a16:creationId xmlns:a16="http://schemas.microsoft.com/office/drawing/2014/main" id="{BB6C7C6C-B6C3-4D12-8897-810B3EFA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27070"/>
            <a:ext cx="3971925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3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Nature Restoration Regulation: binding</a:t>
            </a:r>
          </a:p>
          <a:p xmlns:a="http://schemas.openxmlformats.org/drawingml/2006/main">
            <a:pPr>
              <a:defRPr sz="153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restoration targets, including urban</a:t>
            </a:r>
          </a:p>
          <a:p xmlns:a="http://schemas.openxmlformats.org/drawingml/2006/main">
            <a:pPr>
              <a:defRPr sz="153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ecosystems.</a:t>
            </a:r>
          </a:p>
        </p:txBody>
      </p:sp>
      <p:sp>
        <p:nvSpPr>
          <p:cNvPr id="14" name="Adaptation Strategy: resilience policy and impleme">
            <a:extLst xmlns:a="http://schemas.openxmlformats.org/drawingml/2006/main">
              <a:ext uri="{FF2B5EF4-FFF2-40B4-BE49-F238E27FC236}">
                <a16:creationId xmlns:a16="http://schemas.microsoft.com/office/drawing/2014/main" id="{60FBD875-1B40-4970-8854-7354460F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053840"/>
            <a:ext cx="3971925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3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Adaptation Strategy: resilience policy and</a:t>
            </a:r>
          </a:p>
          <a:p xmlns:a="http://schemas.openxmlformats.org/drawingml/2006/main">
            <a:pPr>
              <a:defRPr sz="1538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implementation.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b5f6d3cc142b0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6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E5C0A660-A3B0-4495-B777-A0B77BE9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17" name="15">
            <a:extLst xmlns:a="http://schemas.openxmlformats.org/drawingml/2006/main">
              <a:ext uri="{FF2B5EF4-FFF2-40B4-BE49-F238E27FC236}">
                <a16:creationId xmlns:a16="http://schemas.microsoft.com/office/drawing/2014/main" id="{92A8B85D-60CE-4A8B-A6F2-50EEA530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245825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U Rules and Company Decisions">
            <a:extLst xmlns:a="http://schemas.openxmlformats.org/drawingml/2006/main">
              <a:ext uri="{FF2B5EF4-FFF2-40B4-BE49-F238E27FC236}">
                <a16:creationId xmlns:a16="http://schemas.microsoft.com/office/drawing/2014/main" id="{35F4F034-AC74-467C-9A80-7EB9B4C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EU Rules and Company Decisions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FEA2789F-6687-4A44-93F8-43FFF481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03E53B6-4FF0-4479-9D23-84DFA91A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E353EC85-2BD7-4CBB-9B27-974AD9BD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57325"/>
            <a:ext cx="2924175" cy="3248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7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5" name="CSRD: determine reporting scope and responsibiliti">
            <a:extLst xmlns:a="http://schemas.openxmlformats.org/drawingml/2006/main">
              <a:ext uri="{FF2B5EF4-FFF2-40B4-BE49-F238E27FC236}">
                <a16:creationId xmlns:a16="http://schemas.microsoft.com/office/drawing/2014/main" id="{39694E75-7661-4B75-9D88-8E2CE726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52575"/>
            <a:ext cx="5019675" cy="577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CSRD: determine reporting scope and</a:t>
            </a:r>
          </a:p>
          <a:p xmlns:a="http://schemas.openxmlformats.org/drawingml/2006/main">
            <a:pPr>
              <a:defRPr sz="18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responsibilities (Part 2).</a:t>
            </a:r>
          </a:p>
        </p:txBody>
      </p:sp>
      <p:sp>
        <p:nvSpPr>
          <p:cNvPr id="6" name="EU Taxonomy: assess activity eligibility and align">
            <a:extLst xmlns:a="http://schemas.openxmlformats.org/drawingml/2006/main">
              <a:ext uri="{FF2B5EF4-FFF2-40B4-BE49-F238E27FC236}">
                <a16:creationId xmlns:a16="http://schemas.microsoft.com/office/drawing/2014/main" id="{777D7200-F22F-4968-AB7D-A3D543B4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25040"/>
            <a:ext cx="5019675" cy="577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EU Taxonomy: assess activity eligibility and</a:t>
            </a:r>
          </a:p>
          <a:p xmlns:a="http://schemas.openxmlformats.org/drawingml/2006/main">
            <a:pPr>
              <a:defRPr sz="18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alignment criteria.</a:t>
            </a:r>
          </a:p>
        </p:txBody>
      </p:sp>
      <p:sp>
        <p:nvSpPr>
          <p:cNvPr id="7" name="Directive 2024/825: review consumer-facing environ">
            <a:extLst xmlns:a="http://schemas.openxmlformats.org/drawingml/2006/main">
              <a:ext uri="{FF2B5EF4-FFF2-40B4-BE49-F238E27FC236}">
                <a16:creationId xmlns:a16="http://schemas.microsoft.com/office/drawing/2014/main" id="{FDFF51A1-DB58-4ED2-90B0-2B7339D1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7505"/>
            <a:ext cx="5019675" cy="577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Directive 2024/825: review consumer-facing</a:t>
            </a:r>
          </a:p>
          <a:p xmlns:a="http://schemas.openxmlformats.org/drawingml/2006/main">
            <a:pPr>
              <a:defRPr sz="18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environmental claims.</a:t>
            </a:r>
          </a:p>
        </p:txBody>
      </p:sp>
      <p:sp>
        <p:nvSpPr>
          <p:cNvPr id="8" name="Czech law: check national implementation and proje">
            <a:extLst xmlns:a="http://schemas.openxmlformats.org/drawingml/2006/main">
              <a:ext uri="{FF2B5EF4-FFF2-40B4-BE49-F238E27FC236}">
                <a16:creationId xmlns:a16="http://schemas.microsoft.com/office/drawing/2014/main" id="{473FFFB7-9704-482A-B410-6EB9A7FA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9970"/>
            <a:ext cx="5019675" cy="577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Czech law: check national implementation and</a:t>
            </a:r>
          </a:p>
          <a:p xmlns:a="http://schemas.openxmlformats.org/drawingml/2006/main">
            <a:pPr>
              <a:defRPr sz="18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project requirements.</a:t>
            </a:r>
          </a:p>
        </p:txBody>
      </p:sp>
      <p:sp>
        <p:nvSpPr>
          <p:cNvPr id="9" name="Management takeaway">
            <a:extLst xmlns:a="http://schemas.openxmlformats.org/drawingml/2006/main">
              <a:ext uri="{FF2B5EF4-FFF2-40B4-BE49-F238E27FC236}">
                <a16:creationId xmlns:a16="http://schemas.microsoft.com/office/drawing/2014/main" id="{9AFF3916-72B5-449F-9C75-3558E981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57350"/>
            <a:ext cx="2514600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Management</a:t>
            </a:r>
          </a:p>
          <a:p xmlns:a="http://schemas.openxmlformats.org/drawingml/2006/main">
            <a:pPr>
              <a:defRPr sz="2100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takeaway</a:t>
            </a:r>
          </a:p>
        </p:txBody>
      </p:sp>
      <p:sp>
        <p:nvSpPr>
          <p:cNvPr id="10" name="Assign an owner to each applicable obligation and ">
            <a:extLst xmlns:a="http://schemas.openxmlformats.org/drawingml/2006/main">
              <a:ext uri="{FF2B5EF4-FFF2-40B4-BE49-F238E27FC236}">
                <a16:creationId xmlns:a16="http://schemas.microsoft.com/office/drawing/2014/main" id="{9BAE2739-C3F8-441D-8144-62B1AA1F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40305"/>
            <a:ext cx="2514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Assign an owner to</a:t>
            </a:r>
          </a:p>
          <a:p xmlns:a="http://schemas.openxmlformats.org/drawingml/2006/main">
            <a:pPr>
              <a:defRPr sz="19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each applicable</a:t>
            </a:r>
          </a:p>
          <a:p xmlns:a="http://schemas.openxmlformats.org/drawingml/2006/main">
            <a:pPr>
              <a:defRPr sz="19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obligation and keep</a:t>
            </a:r>
          </a:p>
          <a:p xmlns:a="http://schemas.openxmlformats.org/drawingml/2006/main">
            <a:pPr>
              <a:defRPr sz="19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evidence of</a:t>
            </a:r>
          </a:p>
          <a:p xmlns:a="http://schemas.openxmlformats.org/drawingml/2006/main">
            <a:pPr>
              <a:defRPr sz="19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compliance.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2259f61be4740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2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5499E153-2CB3-4CB0-850B-52002F3D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13" name="16">
            <a:extLst xmlns:a="http://schemas.openxmlformats.org/drawingml/2006/main">
              <a:ext uri="{FF2B5EF4-FFF2-40B4-BE49-F238E27FC236}">
                <a16:creationId xmlns:a16="http://schemas.microsoft.com/office/drawing/2014/main" id="{5563CEDD-F938-4B1F-8E3F-D7F718B8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470182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E9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8BCDAF07-591A-4F61-9FA3-EB16FE57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19075"/>
            <a:ext cx="87058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2" name="Part 5">
            <a:extLst xmlns:a="http://schemas.openxmlformats.org/drawingml/2006/main">
              <a:ext uri="{FF2B5EF4-FFF2-40B4-BE49-F238E27FC236}">
                <a16:creationId xmlns:a16="http://schemas.microsoft.com/office/drawing/2014/main" id="{489037D7-EDA7-4191-A55B-44EB438A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Part 5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648697AF-D390-4596-B72A-DE9115EC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1600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7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787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4" name="Sustainable Finance">
            <a:extLst xmlns:a="http://schemas.openxmlformats.org/drawingml/2006/main">
              <a:ext uri="{FF2B5EF4-FFF2-40B4-BE49-F238E27FC236}">
                <a16:creationId xmlns:a16="http://schemas.microsoft.com/office/drawing/2014/main" id="{63CA13FF-D7B9-484F-BE5A-347717EE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78105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Sustainable Finance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d28d399cb4ed8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6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86F9C6CA-C6D1-41AD-8F69-D967F229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7" name="17">
            <a:extLst xmlns:a="http://schemas.openxmlformats.org/drawingml/2006/main">
              <a:ext uri="{FF2B5EF4-FFF2-40B4-BE49-F238E27FC236}">
                <a16:creationId xmlns:a16="http://schemas.microsoft.com/office/drawing/2014/main" id="{3228844F-6F19-4E6A-B869-1AF06694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011897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inance for a GI Investment">
            <a:extLst xmlns:a="http://schemas.openxmlformats.org/drawingml/2006/main">
              <a:ext uri="{FF2B5EF4-FFF2-40B4-BE49-F238E27FC236}">
                <a16:creationId xmlns:a16="http://schemas.microsoft.com/office/drawing/2014/main" id="{F3C9D7AD-9AB3-4926-AB55-7B4310A4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Finance for a GI Investment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49979B58-A919-435D-BE5F-029C3BB7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26BBC972-95FD-4659-A2E0-32BE8A2F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0e077cb5c49fd"/>
          <a:stretch xmlns:a="http://schemas.openxmlformats.org/drawingml/2006/main"/>
        </p:blipFill>
        <p:spPr>
          <a:xfrm xmlns:a="http://schemas.openxmlformats.org/drawingml/2006/main">
            <a:off x="5286375" y="1510903"/>
            <a:ext cx="3362325" cy="2521744"/>
          </a:xfrm>
          <a:prstGeom xmlns:a="http://schemas.openxmlformats.org/drawingml/2006/main" prst="rect">
            <a:avLst/>
          </a:prstGeom>
        </p:spPr>
      </p:pic>
      <p:sp>
        <p:nvSpPr>
          <p:cNvPr id="5" name="Possible instruments">
            <a:extLst xmlns:a="http://schemas.openxmlformats.org/drawingml/2006/main">
              <a:ext uri="{FF2B5EF4-FFF2-40B4-BE49-F238E27FC236}">
                <a16:creationId xmlns:a16="http://schemas.microsoft.com/office/drawing/2014/main" id="{B13A4446-3B5A-4FC4-BB38-CC909438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4333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Possible instruments</a:t>
            </a:r>
          </a:p>
        </p:txBody>
      </p:sp>
      <p:sp>
        <p:nvSpPr>
          <p:cNvPr id="6" name="Green bonds: proceeds allocated to eligible enviro">
            <a:extLst xmlns:a="http://schemas.openxmlformats.org/drawingml/2006/main">
              <a:ext uri="{FF2B5EF4-FFF2-40B4-BE49-F238E27FC236}">
                <a16:creationId xmlns:a16="http://schemas.microsoft.com/office/drawing/2014/main" id="{59C7C18E-AEAD-440C-955F-E17E778F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18335"/>
            <a:ext cx="43338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Green bonds: proceeds allocated to eligible</a:t>
            </a:r>
          </a:p>
          <a:p xmlns:a="http://schemas.openxmlformats.org/drawingml/2006/main">
            <a:pPr>
              <a:defRPr sz="13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environmental projects.</a:t>
            </a:r>
          </a:p>
        </p:txBody>
      </p:sp>
      <p:sp>
        <p:nvSpPr>
          <p:cNvPr id="7" name="Sustainability-linked loans: terms linked to agree">
            <a:extLst xmlns:a="http://schemas.openxmlformats.org/drawingml/2006/main">
              <a:ext uri="{FF2B5EF4-FFF2-40B4-BE49-F238E27FC236}">
                <a16:creationId xmlns:a16="http://schemas.microsoft.com/office/drawing/2014/main" id="{0B2E3D88-D428-433D-9F03-63BBDF83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3640"/>
            <a:ext cx="43338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Sustainability-linked loans: terms linked to agreed</a:t>
            </a:r>
          </a:p>
          <a:p xmlns:a="http://schemas.openxmlformats.org/drawingml/2006/main">
            <a:pPr>
              <a:defRPr sz="13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performance targets.</a:t>
            </a:r>
          </a:p>
        </p:txBody>
      </p:sp>
      <p:sp>
        <p:nvSpPr>
          <p:cNvPr id="8" name="EU programmes: funding subject to the relevant cal">
            <a:extLst xmlns:a="http://schemas.openxmlformats.org/drawingml/2006/main">
              <a:ext uri="{FF2B5EF4-FFF2-40B4-BE49-F238E27FC236}">
                <a16:creationId xmlns:a16="http://schemas.microsoft.com/office/drawing/2014/main" id="{8D395E7B-8CF7-49EF-8067-3CD7A273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88945"/>
            <a:ext cx="43338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EU programmes: funding subject to the relevant call</a:t>
            </a:r>
          </a:p>
          <a:p xmlns:a="http://schemas.openxmlformats.org/drawingml/2006/main">
            <a:pPr>
              <a:defRPr sz="13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and eligibility.</a:t>
            </a:r>
          </a:p>
        </p:txBody>
      </p:sp>
      <p:sp>
        <p:nvSpPr>
          <p:cNvPr id="9" name="Decision criteria">
            <a:extLst xmlns:a="http://schemas.openxmlformats.org/drawingml/2006/main">
              <a:ext uri="{FF2B5EF4-FFF2-40B4-BE49-F238E27FC236}">
                <a16:creationId xmlns:a16="http://schemas.microsoft.com/office/drawing/2014/main" id="{5EC6BBF3-B6F3-4FED-9CD6-CC014609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43338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Decision criteria</a:t>
            </a:r>
          </a:p>
        </p:txBody>
      </p:sp>
      <p:sp>
        <p:nvSpPr>
          <p:cNvPr id="10" name="Compare project eligibility, repayment, borrowing ">
            <a:extLst xmlns:a="http://schemas.openxmlformats.org/drawingml/2006/main">
              <a:ext uri="{FF2B5EF4-FFF2-40B4-BE49-F238E27FC236}">
                <a16:creationId xmlns:a16="http://schemas.microsoft.com/office/drawing/2014/main" id="{681CF02F-3C44-4B26-AF6E-75647E55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94785"/>
            <a:ext cx="4333875" cy="64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Compare project eligibility, repayment, borrowing cost,</a:t>
            </a:r>
          </a:p>
          <a:p xmlns:a="http://schemas.openxmlformats.org/drawingml/2006/main">
            <a:pPr>
              <a:defRPr sz="13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reporting duties and delivery risk. A green label does</a:t>
            </a:r>
          </a:p>
          <a:p xmlns:a="http://schemas.openxmlformats.org/drawingml/2006/main">
            <a:pPr>
              <a:defRPr sz="13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not guarantee cheaper finance.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89d6ddbb34915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2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3D55C4AC-5DFD-4D39-AC13-C8A0E54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13" name="18">
            <a:extLst xmlns:a="http://schemas.openxmlformats.org/drawingml/2006/main">
              <a:ext uri="{FF2B5EF4-FFF2-40B4-BE49-F238E27FC236}">
                <a16:creationId xmlns:a16="http://schemas.microsoft.com/office/drawing/2014/main" id="{F31909EC-C961-4B36-AEA0-F2358A9F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437225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B27C4F8F-496F-403D-9913-FA6BB5DD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19075"/>
            <a:ext cx="87058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A8878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eb271cd0942ea"/>
          <a:srcRect xmlns:a="http://schemas.openxmlformats.org/drawingml/2006/main" l="0" t="276" r="0" b="2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0"/>
            <a:ext cx="344805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Part 6">
            <a:extLst xmlns:a="http://schemas.openxmlformats.org/drawingml/2006/main">
              <a:ext uri="{FF2B5EF4-FFF2-40B4-BE49-F238E27FC236}">
                <a16:creationId xmlns:a16="http://schemas.microsoft.com/office/drawing/2014/main" id="{4B157F6B-0A2A-45A8-83F3-C49A521D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7D0C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0C6"/>
                </a:solidFill>
                <a:latin typeface="Arial"/>
                <a:ea typeface="Arial"/>
                <a:cs typeface="Arial"/>
              </a:rPr>
              <a:t>Part 6</a:t>
            </a:r>
          </a:p>
        </p:txBody>
      </p:sp>
      <p:sp>
        <p:nvSpPr>
          <p:cNvPr id="4" name="Future Trends">
            <a:extLst xmlns:a="http://schemas.openxmlformats.org/drawingml/2006/main">
              <a:ext uri="{FF2B5EF4-FFF2-40B4-BE49-F238E27FC236}">
                <a16:creationId xmlns:a16="http://schemas.microsoft.com/office/drawing/2014/main" id="{CA8CFE8A-1C72-4CC2-B33B-8910E5AC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76425"/>
            <a:ext cx="4857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Future Trends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6dd7684aa496a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6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187D44B0-6489-48F5-9E3C-4334C18C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7D0C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7D0C6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7" name="19">
            <a:extLst xmlns:a="http://schemas.openxmlformats.org/drawingml/2006/main">
              <a:ext uri="{FF2B5EF4-FFF2-40B4-BE49-F238E27FC236}">
                <a16:creationId xmlns:a16="http://schemas.microsoft.com/office/drawing/2014/main" id="{6EA5B121-3949-4F35-93EF-249876EB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5F2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2E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1356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Where Urban Development is Heading">
            <a:extLst xmlns:a="http://schemas.openxmlformats.org/drawingml/2006/main">
              <a:ext uri="{FF2B5EF4-FFF2-40B4-BE49-F238E27FC236}">
                <a16:creationId xmlns:a16="http://schemas.microsoft.com/office/drawing/2014/main" id="{FD33435A-FCF6-47E3-BFC4-ECDB4626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Where Urban Development is Heading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97C58BD2-6CF4-400A-A4AD-89210993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34795833-8053-4205-AC20-BF163E27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9F31206F-0381-4449-9601-5FA748B0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28448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F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4C802F91-99BC-4C26-A613-4F898E1F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35"/>
          </a:solidFill>
          <a:ln xmlns:a="http://schemas.openxmlformats.org/drawingml/2006/main" w="0">
            <a:noFill/>
          </a:ln>
        </p:spPr>
      </p:sp>
      <p:sp>
        <p:nvSpPr>
          <p:cNvPr id="6" name="Nature-positive cities">
            <a:extLst xmlns:a="http://schemas.openxmlformats.org/drawingml/2006/main">
              <a:ext uri="{FF2B5EF4-FFF2-40B4-BE49-F238E27FC236}">
                <a16:creationId xmlns:a16="http://schemas.microsoft.com/office/drawing/2014/main" id="{2A112D5D-3B83-495D-A36E-062AAB83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57810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Nature-positive cities</a:t>
            </a:r>
          </a:p>
        </p:txBody>
      </p:sp>
      <p:sp>
        <p:nvSpPr>
          <p:cNvPr id="7" name="An ambition for measurable nature recovery across ">
            <a:extLst xmlns:a="http://schemas.openxmlformats.org/drawingml/2006/main">
              <a:ext uri="{FF2B5EF4-FFF2-40B4-BE49-F238E27FC236}">
                <a16:creationId xmlns:a16="http://schemas.microsoft.com/office/drawing/2014/main" id="{3AFD9620-CB07-4A51-ACED-0E5C3BE9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0735"/>
            <a:ext cx="257810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An ambition for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measurable nature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recovery across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8" name="Biodiversity as planning KPI">
            <a:extLst xmlns:a="http://schemas.openxmlformats.org/drawingml/2006/main">
              <a:ext uri="{FF2B5EF4-FFF2-40B4-BE49-F238E27FC236}">
                <a16:creationId xmlns:a16="http://schemas.microsoft.com/office/drawing/2014/main" id="{CF097499-DA82-4E3D-A3A8-5BDB5AFB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46120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Biodiversity as planning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KPI</a:t>
            </a:r>
          </a:p>
        </p:txBody>
      </p:sp>
      <p:sp>
        <p:nvSpPr>
          <p:cNvPr id="9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10E76166-4DA7-4B5A-A89B-FD3F6950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1438275"/>
            <a:ext cx="28448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D8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10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306E979-7F4B-4F34-AACF-BC05EBAD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1438275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11" name="Regenerative development">
            <a:extLst xmlns:a="http://schemas.openxmlformats.org/drawingml/2006/main">
              <a:ext uri="{FF2B5EF4-FFF2-40B4-BE49-F238E27FC236}">
                <a16:creationId xmlns:a16="http://schemas.microsoft.com/office/drawing/2014/main" id="{20431BD6-EEA1-42B1-9549-D95A0711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1619250"/>
            <a:ext cx="2578100" cy="64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Regenerative</a:t>
            </a:r>
          </a:p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development</a:t>
            </a:r>
          </a:p>
        </p:txBody>
      </p:sp>
      <p:sp>
        <p:nvSpPr>
          <p:cNvPr id="12" name="Projects that restore soil, water, habitat">
            <a:extLst xmlns:a="http://schemas.openxmlformats.org/drawingml/2006/main">
              <a:ext uri="{FF2B5EF4-FFF2-40B4-BE49-F238E27FC236}">
                <a16:creationId xmlns:a16="http://schemas.microsoft.com/office/drawing/2014/main" id="{4957D35C-157B-4590-8B2E-049EA8D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2379345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Projects that restore soil,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water, habitat</a:t>
            </a:r>
          </a:p>
        </p:txBody>
      </p:sp>
      <p:sp>
        <p:nvSpPr>
          <p:cNvPr id="13" name="Beyond 'less harm'">
            <a:extLst xmlns:a="http://schemas.openxmlformats.org/drawingml/2006/main">
              <a:ext uri="{FF2B5EF4-FFF2-40B4-BE49-F238E27FC236}">
                <a16:creationId xmlns:a16="http://schemas.microsoft.com/office/drawing/2014/main" id="{86AF227C-B5D5-428F-A6F4-A54D07A0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0" y="3028950"/>
            <a:ext cx="25781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Beyond 'less harm'</a:t>
            </a:r>
          </a:p>
        </p:txBody>
      </p:sp>
      <p:sp>
        <p:nvSpPr>
          <p:cNvPr id="1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A7EFE09E-1C32-4C8C-82F3-F87E29C8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0" y="1438275"/>
            <a:ext cx="28448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9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1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44016022-1A6E-46C4-97B0-FD9394AE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0" y="1438275"/>
            <a:ext cx="284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5C"/>
          </a:solidFill>
          <a:ln xmlns:a="http://schemas.openxmlformats.org/drawingml/2006/main" w="0">
            <a:noFill/>
          </a:ln>
        </p:spPr>
      </p:sp>
      <p:sp>
        <p:nvSpPr>
          <p:cNvPr id="16" name="Smart ecosystems">
            <a:extLst xmlns:a="http://schemas.openxmlformats.org/drawingml/2006/main">
              <a:ext uri="{FF2B5EF4-FFF2-40B4-BE49-F238E27FC236}">
                <a16:creationId xmlns:a16="http://schemas.microsoft.com/office/drawing/2014/main" id="{414AE15B-63A7-4A83-AC7D-10EEE639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619250"/>
            <a:ext cx="257810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Smart ecosystems</a:t>
            </a:r>
          </a:p>
        </p:txBody>
      </p:sp>
      <p:sp>
        <p:nvSpPr>
          <p:cNvPr id="17" name="Sensor-managed urban nature">
            <a:extLst xmlns:a="http://schemas.openxmlformats.org/drawingml/2006/main">
              <a:ext uri="{FF2B5EF4-FFF2-40B4-BE49-F238E27FC236}">
                <a16:creationId xmlns:a16="http://schemas.microsoft.com/office/drawing/2014/main" id="{2CBA39F5-F954-422E-81DA-14F4F429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70735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Sensor-managed urban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nature</a:t>
            </a:r>
          </a:p>
        </p:txBody>
      </p:sp>
      <p:sp>
        <p:nvSpPr>
          <p:cNvPr id="18" name="Digital twins for adaptation">
            <a:extLst xmlns:a="http://schemas.openxmlformats.org/drawingml/2006/main">
              <a:ext uri="{FF2B5EF4-FFF2-40B4-BE49-F238E27FC236}">
                <a16:creationId xmlns:a16="http://schemas.microsoft.com/office/drawing/2014/main" id="{616901E2-D9A6-4381-A580-CF2A7ED6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720340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Digital twins for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adaptation</a:t>
            </a:r>
          </a:p>
        </p:txBody>
      </p:sp>
      <p:sp>
        <p:nvSpPr>
          <p:cNvPr id="19" name="Biodiversity reporting (TNFD)">
            <a:extLst xmlns:a="http://schemas.openxmlformats.org/drawingml/2006/main">
              <a:ext uri="{FF2B5EF4-FFF2-40B4-BE49-F238E27FC236}">
                <a16:creationId xmlns:a16="http://schemas.microsoft.com/office/drawing/2014/main" id="{0ACE185B-36CC-43E0-B418-C8A8B7D0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369945"/>
            <a:ext cx="257810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Biodiversity reporting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(TNFD)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f8e2103fe4ab8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C8F58AF4-840F-4608-BE8C-76F543F5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22" name="20">
            <a:extLst xmlns:a="http://schemas.openxmlformats.org/drawingml/2006/main">
              <a:ext uri="{FF2B5EF4-FFF2-40B4-BE49-F238E27FC236}">
                <a16:creationId xmlns:a16="http://schemas.microsoft.com/office/drawing/2014/main" id="{E23C7013-96B0-41C3-A696-77ED4B30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20461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Decade of Urban Nature">
            <a:extLst xmlns:a="http://schemas.openxmlformats.org/drawingml/2006/main">
              <a:ext uri="{FF2B5EF4-FFF2-40B4-BE49-F238E27FC236}">
                <a16:creationId xmlns:a16="http://schemas.microsoft.com/office/drawing/2014/main" id="{BB7DB153-28CF-4D6A-9008-66E9BA12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The Decade of Urban Nature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5824A835-8A36-498C-8C36-56771D68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4836D7EF-8EC1-4027-9989-C7B1AAE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dcf07d58b4c20"/>
          <a:stretch xmlns:a="http://schemas.openxmlformats.org/drawingml/2006/main"/>
        </p:blipFill>
        <p:spPr>
          <a:xfrm xmlns:a="http://schemas.openxmlformats.org/drawingml/2006/main">
            <a:off x="5286375" y="1651000"/>
            <a:ext cx="3362325" cy="2241550"/>
          </a:xfrm>
          <a:prstGeom xmlns:a="http://schemas.openxmlformats.org/drawingml/2006/main" prst="rect">
            <a:avLst/>
          </a:prstGeom>
        </p:spPr>
      </p:pic>
      <p:sp>
        <p:nvSpPr>
          <p:cNvPr id="5" name="A scenario for discussion: resilience may influenc">
            <a:extLst xmlns:a="http://schemas.openxmlformats.org/drawingml/2006/main">
              <a:ext uri="{FF2B5EF4-FFF2-40B4-BE49-F238E27FC236}">
                <a16:creationId xmlns:a16="http://schemas.microsoft.com/office/drawing/2014/main" id="{736E1358-6DBB-40FE-A390-14EAB3F6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71950"/>
            <a:ext cx="33623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A scenario for discussion: resilience may</a:t>
            </a:r>
          </a:p>
          <a:p xmlns:a="http://schemas.openxmlformats.org/drawingml/2006/main">
            <a:pPr>
              <a:defRPr sz="120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influence business location choices</a:t>
            </a:r>
          </a:p>
        </p:txBody>
      </p:sp>
      <p:sp>
        <p:nvSpPr>
          <p:cNvPr id="6" name="Heat, flood exposure and workforce needs can affec">
            <a:extLst xmlns:a="http://schemas.openxmlformats.org/drawingml/2006/main">
              <a:ext uri="{FF2B5EF4-FFF2-40B4-BE49-F238E27FC236}">
                <a16:creationId xmlns:a16="http://schemas.microsoft.com/office/drawing/2014/main" id="{52AF857E-A844-41B0-85D7-804E0D5A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433387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Heat, flood exposure and workforce needs</a:t>
            </a:r>
          </a:p>
          <a:p xmlns:a="http://schemas.openxmlformats.org/drawingml/2006/main">
            <a:pPr>
              <a:defRPr sz="16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can affect location decisions.</a:t>
            </a:r>
          </a:p>
        </p:txBody>
      </p:sp>
      <p:sp>
        <p:nvSpPr>
          <p:cNvPr id="7" name="Regulation (restoration targets) sets the floor; c">
            <a:extLst xmlns:a="http://schemas.openxmlformats.org/drawingml/2006/main">
              <a:ext uri="{FF2B5EF4-FFF2-40B4-BE49-F238E27FC236}">
                <a16:creationId xmlns:a16="http://schemas.microsoft.com/office/drawing/2014/main" id="{DAFD68D8-DBF9-4997-B22E-EB320F35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0745"/>
            <a:ext cx="433387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Regulation (restoration targets) sets the</a:t>
            </a:r>
          </a:p>
          <a:p xmlns:a="http://schemas.openxmlformats.org/drawingml/2006/main">
            <a:pPr>
              <a:defRPr sz="16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floor; competition sets the pace.</a:t>
            </a:r>
          </a:p>
        </p:txBody>
      </p:sp>
      <p:sp>
        <p:nvSpPr>
          <p:cNvPr id="8" name="Businesses will choose locations partly for climat">
            <a:extLst xmlns:a="http://schemas.openxmlformats.org/drawingml/2006/main">
              <a:ext uri="{FF2B5EF4-FFF2-40B4-BE49-F238E27FC236}">
                <a16:creationId xmlns:a16="http://schemas.microsoft.com/office/drawing/2014/main" id="{C503EF2F-D676-4899-BB56-9E34983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77490"/>
            <a:ext cx="433387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Businesses will choose locations partly for</a:t>
            </a:r>
          </a:p>
          <a:p xmlns:a="http://schemas.openxmlformats.org/drawingml/2006/main">
            <a:pPr>
              <a:defRPr sz="16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climate resilience.</a:t>
            </a:r>
          </a:p>
        </p:txBody>
      </p:sp>
      <p:sp>
        <p:nvSpPr>
          <p:cNvPr id="9" name="Which European cities will lead — and what would i">
            <a:extLst xmlns:a="http://schemas.openxmlformats.org/drawingml/2006/main">
              <a:ext uri="{FF2B5EF4-FFF2-40B4-BE49-F238E27FC236}">
                <a16:creationId xmlns:a16="http://schemas.microsoft.com/office/drawing/2014/main" id="{86612AC9-561F-4C23-966F-F620CF49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4235"/>
            <a:ext cx="433387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Which European cities will lead — and what</a:t>
            </a:r>
          </a:p>
          <a:p xmlns:a="http://schemas.openxmlformats.org/drawingml/2006/main">
            <a:pPr>
              <a:defRPr sz="16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would it take to join them?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a83aa49c64c47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1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A28B8394-222D-4A11-9BAD-7101E07F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12" name="21">
            <a:extLst xmlns:a="http://schemas.openxmlformats.org/drawingml/2006/main">
              <a:ext uri="{FF2B5EF4-FFF2-40B4-BE49-F238E27FC236}">
                <a16:creationId xmlns:a16="http://schemas.microsoft.com/office/drawing/2014/main" id="{9B58EE50-50B9-409C-BA2D-80475B4E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143865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inal Discussion: Prague 2035">
            <a:extLst xmlns:a="http://schemas.openxmlformats.org/drawingml/2006/main">
              <a:ext uri="{FF2B5EF4-FFF2-40B4-BE49-F238E27FC236}">
                <a16:creationId xmlns:a16="http://schemas.microsoft.com/office/drawing/2014/main" id="{E31D4324-E53F-4F50-BFF2-0699DD14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Final Discussion: Prague 2035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44EF8C9E-1ECA-4800-B382-CEE9382A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CF2F1260-E75B-410B-94E5-4ECD172B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3a67811014b67"/>
          <a:stretch xmlns:a="http://schemas.openxmlformats.org/drawingml/2006/main"/>
        </p:blipFill>
        <p:spPr>
          <a:xfrm xmlns:a="http://schemas.openxmlformats.org/drawingml/2006/main">
            <a:off x="5286375" y="2256043"/>
            <a:ext cx="3362325" cy="1031463"/>
          </a:xfrm>
          <a:prstGeom xmlns:a="http://schemas.openxmlformats.org/drawingml/2006/main" prst="rect">
            <a:avLst/>
          </a:prstGeom>
        </p:spPr>
      </p:pic>
      <p:sp>
        <p:nvSpPr>
          <p:cNvPr id="5" name="The assets are there. Is the ambition?">
            <a:extLst xmlns:a="http://schemas.openxmlformats.org/drawingml/2006/main">
              <a:ext uri="{FF2B5EF4-FFF2-40B4-BE49-F238E27FC236}">
                <a16:creationId xmlns:a16="http://schemas.microsoft.com/office/drawing/2014/main" id="{EA0E0C3B-5971-46AA-A888-BC47CB84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71950"/>
            <a:ext cx="33623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The assets are there. Is the ambition?</a:t>
            </a:r>
          </a:p>
        </p:txBody>
      </p:sp>
      <p:sp>
        <p:nvSpPr>
          <p:cNvPr id="6" name="Can Prague become one of Europe's leading Green In">
            <a:extLst xmlns:a="http://schemas.openxmlformats.org/drawingml/2006/main">
              <a:ext uri="{FF2B5EF4-FFF2-40B4-BE49-F238E27FC236}">
                <a16:creationId xmlns:a16="http://schemas.microsoft.com/office/drawing/2014/main" id="{51EF64C8-1AFA-46FB-88FD-98A45442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433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Can Prague become one of Europe's leading</a:t>
            </a:r>
          </a:p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Green Infrastructure capitals by 2035?</a:t>
            </a:r>
          </a:p>
        </p:txBody>
      </p:sp>
      <p:sp>
        <p:nvSpPr>
          <p:cNvPr id="7" name="Argue with evidence from the whole course">
            <a:extLst xmlns:a="http://schemas.openxmlformats.org/drawingml/2006/main">
              <a:ext uri="{FF2B5EF4-FFF2-40B4-BE49-F238E27FC236}">
                <a16:creationId xmlns:a16="http://schemas.microsoft.com/office/drawing/2014/main" id="{2CCB650C-7083-426B-8032-80B3B787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4333875" cy="577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Argue with evidence from the whole</a:t>
            </a:r>
          </a:p>
          <a:p xmlns:a="http://schemas.openxmlformats.org/drawingml/2006/main">
            <a:pPr>
              <a:defRPr sz="1800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course</a:t>
            </a:r>
          </a:p>
        </p:txBody>
      </p:sp>
      <p:sp>
        <p:nvSpPr>
          <p:cNvPr id="8" name="Assets: river corridor, wooded valleys, large park">
            <a:extLst xmlns:a="http://schemas.openxmlformats.org/drawingml/2006/main">
              <a:ext uri="{FF2B5EF4-FFF2-40B4-BE49-F238E27FC236}">
                <a16:creationId xmlns:a16="http://schemas.microsoft.com/office/drawing/2014/main" id="{89F90C19-8C57-4B20-B6EE-8E241369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2740"/>
            <a:ext cx="433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Assets: river corridor, wooded valleys, large</a:t>
            </a:r>
          </a:p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parks.</a:t>
            </a:r>
          </a:p>
        </p:txBody>
      </p:sp>
      <p:sp>
        <p:nvSpPr>
          <p:cNvPr id="9" name="Frameworks: Climate Plan 2030, Adaptation Strategy">
            <a:extLst xmlns:a="http://schemas.openxmlformats.org/drawingml/2006/main">
              <a:ext uri="{FF2B5EF4-FFF2-40B4-BE49-F238E27FC236}">
                <a16:creationId xmlns:a16="http://schemas.microsoft.com/office/drawing/2014/main" id="{56DCBC46-7089-47B0-9E6F-25671DF0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53765"/>
            <a:ext cx="433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Frameworks: Climate Plan 2030, Adaptation</a:t>
            </a:r>
          </a:p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Strategy, EU funding.</a:t>
            </a:r>
          </a:p>
        </p:txBody>
      </p:sp>
      <p:sp>
        <p:nvSpPr>
          <p:cNvPr id="10" name="Questions to test: data gaps, business engagement ">
            <a:extLst xmlns:a="http://schemas.openxmlformats.org/drawingml/2006/main">
              <a:ext uri="{FF2B5EF4-FFF2-40B4-BE49-F238E27FC236}">
                <a16:creationId xmlns:a16="http://schemas.microsoft.com/office/drawing/2014/main" id="{C8800476-2FAD-4868-BB93-E5430EC5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4790"/>
            <a:ext cx="433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Questions to test: data gaps, business</a:t>
            </a:r>
          </a:p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engagement and delivery capacity.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10a82b9e045ed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2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5FF29D45-52E1-4C20-A46B-77314ED4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13" name="22">
            <a:extLst xmlns:a="http://schemas.openxmlformats.org/drawingml/2006/main">
              <a:ext uri="{FF2B5EF4-FFF2-40B4-BE49-F238E27FC236}">
                <a16:creationId xmlns:a16="http://schemas.microsoft.com/office/drawing/2014/main" id="{C3BC9665-9965-47AF-807C-E0618F75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256832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urse Wrap-Up">
            <a:extLst xmlns:a="http://schemas.openxmlformats.org/drawingml/2006/main">
              <a:ext uri="{FF2B5EF4-FFF2-40B4-BE49-F238E27FC236}">
                <a16:creationId xmlns:a16="http://schemas.microsoft.com/office/drawing/2014/main" id="{B4E3B4DD-993B-4CB9-B5FC-FC093D95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Course Wrap-Up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D4AEF0DB-9DF9-496A-88AF-CB8D540F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CA001929-EFA9-4997-B6EB-83597D58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14A363C3-16EA-46E1-B344-5D237884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423862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DF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5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4B0BF825-FFC4-4DA8-B32B-53E5C634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38275"/>
            <a:ext cx="423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E35"/>
          </a:solidFill>
          <a:ln xmlns:a="http://schemas.openxmlformats.org/drawingml/2006/main" w="0">
            <a:noFill/>
          </a:ln>
        </p:spPr>
      </p:sp>
      <p:sp>
        <p:nvSpPr>
          <p:cNvPr id="6" name="What you can now do">
            <a:extLst xmlns:a="http://schemas.openxmlformats.org/drawingml/2006/main">
              <a:ext uri="{FF2B5EF4-FFF2-40B4-BE49-F238E27FC236}">
                <a16:creationId xmlns:a16="http://schemas.microsoft.com/office/drawing/2014/main" id="{6A0D9599-8767-4BF0-AAAC-FBDBBAD8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97192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What you can now do</a:t>
            </a:r>
          </a:p>
        </p:txBody>
      </p:sp>
      <p:sp>
        <p:nvSpPr>
          <p:cNvPr id="7" name="Analyze the interaction of business, city and natu">
            <a:extLst xmlns:a="http://schemas.openxmlformats.org/drawingml/2006/main">
              <a:ext uri="{FF2B5EF4-FFF2-40B4-BE49-F238E27FC236}">
                <a16:creationId xmlns:a16="http://schemas.microsoft.com/office/drawing/2014/main" id="{BB1DD698-DF26-4673-883F-27C10CB6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0735"/>
            <a:ext cx="3971925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Analyze the interaction of business, city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and nature.</a:t>
            </a:r>
          </a:p>
        </p:txBody>
      </p:sp>
      <p:sp>
        <p:nvSpPr>
          <p:cNvPr id="8" name="Use SWOT, stakeholder mapping, KPIs, LCA and ESG a">
            <a:extLst xmlns:a="http://schemas.openxmlformats.org/drawingml/2006/main">
              <a:ext uri="{FF2B5EF4-FFF2-40B4-BE49-F238E27FC236}">
                <a16:creationId xmlns:a16="http://schemas.microsoft.com/office/drawing/2014/main" id="{30F6A548-A9C7-4F50-BC75-E78B1BA6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0340"/>
            <a:ext cx="3971925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Use SWOT, stakeholder mapping,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KPIs, LCA and ESG as working tools.</a:t>
            </a:r>
          </a:p>
        </p:txBody>
      </p:sp>
      <p:sp>
        <p:nvSpPr>
          <p:cNvPr id="9" name="Propose GI solutions grounded in real policy.">
            <a:extLst xmlns:a="http://schemas.openxmlformats.org/drawingml/2006/main">
              <a:ext uri="{FF2B5EF4-FFF2-40B4-BE49-F238E27FC236}">
                <a16:creationId xmlns:a16="http://schemas.microsoft.com/office/drawing/2014/main" id="{485A9274-CC88-46BA-9E8B-B19F8CB0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69945"/>
            <a:ext cx="3971925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Propose GI solutions grounded in real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policy.</a:t>
            </a:r>
          </a:p>
        </p:txBody>
      </p:sp>
      <p:sp>
        <p:nvSpPr>
          <p:cNvPr id="10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0B3FD65-EB05-4792-BE9D-48C538D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38275"/>
            <a:ext cx="423862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D8"/>
          </a:solidFill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11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BC9F098-84A0-4C04-B378-C585185B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38275"/>
            <a:ext cx="423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12" name="Before the exam">
            <a:extLst xmlns:a="http://schemas.openxmlformats.org/drawingml/2006/main">
              <a:ext uri="{FF2B5EF4-FFF2-40B4-BE49-F238E27FC236}">
                <a16:creationId xmlns:a16="http://schemas.microsoft.com/office/drawing/2014/main" id="{C90DA9DE-2810-4D68-8FEF-D5EEC276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619250"/>
            <a:ext cx="397192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56647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56647"/>
                </a:solidFill>
                <a:latin typeface="Georgia"/>
                <a:ea typeface="Georgia"/>
                <a:cs typeface="Georgia"/>
              </a:rPr>
              <a:t>Before the exam</a:t>
            </a:r>
          </a:p>
        </p:txBody>
      </p:sp>
      <p:sp>
        <p:nvSpPr>
          <p:cNvPr id="13" name="Seminar paper due — check the project brief for st">
            <a:extLst xmlns:a="http://schemas.openxmlformats.org/drawingml/2006/main">
              <a:ext uri="{FF2B5EF4-FFF2-40B4-BE49-F238E27FC236}">
                <a16:creationId xmlns:a16="http://schemas.microsoft.com/office/drawing/2014/main" id="{BF54AD01-F4DA-405E-9313-E3738F98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70735"/>
            <a:ext cx="3971925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Seminar paper due — check the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project brief for structure.</a:t>
            </a:r>
          </a:p>
        </p:txBody>
      </p:sp>
      <p:sp>
        <p:nvSpPr>
          <p:cNvPr id="14" name="Exam: written test + oral part, covering all six l">
            <a:extLst xmlns:a="http://schemas.openxmlformats.org/drawingml/2006/main">
              <a:ext uri="{FF2B5EF4-FFF2-40B4-BE49-F238E27FC236}">
                <a16:creationId xmlns:a16="http://schemas.microsoft.com/office/drawing/2014/main" id="{4628E98B-4FA8-4358-AC51-06C4C187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20340"/>
            <a:ext cx="3971925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Exam: written test + oral part, covering</a:t>
            </a:r>
          </a:p>
          <a:p xmlns:a="http://schemas.openxmlformats.org/drawingml/2006/main">
            <a:pPr>
              <a:defRPr sz="172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all six lectures.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937baa9794b18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6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3DA65CAD-A3BA-42DB-BFB5-6BFDA7D1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17" name="23">
            <a:extLst xmlns:a="http://schemas.openxmlformats.org/drawingml/2006/main">
              <a:ext uri="{FF2B5EF4-FFF2-40B4-BE49-F238E27FC236}">
                <a16:creationId xmlns:a16="http://schemas.microsoft.com/office/drawing/2014/main" id="{3AD1EEC5-DD64-4E12-9408-CA01E8A9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8161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ey Messages">
            <a:extLst xmlns:a="http://schemas.openxmlformats.org/drawingml/2006/main">
              <a:ext uri="{FF2B5EF4-FFF2-40B4-BE49-F238E27FC236}">
                <a16:creationId xmlns:a16="http://schemas.microsoft.com/office/drawing/2014/main" id="{39E78A64-89C2-4FDB-BF9E-242A90AE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Key Messages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8250CD27-1331-4F23-8CD6-D9FF5357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9D944B2B-E156-475C-81E7-6197E40B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5E07C33B-59CA-4C6C-B539-0A857A43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19075"/>
            <a:ext cx="87058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7C3B1"/>
            </a:solidFill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50FBE2CA-11C2-4EBA-98FA-09A419F6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335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ESG translates sustainability into the language of">
            <a:extLst xmlns:a="http://schemas.openxmlformats.org/drawingml/2006/main">
              <a:ext uri="{FF2B5EF4-FFF2-40B4-BE49-F238E27FC236}">
                <a16:creationId xmlns:a16="http://schemas.microsoft.com/office/drawing/2014/main" id="{4C271540-67B4-42C8-9D71-35557DEC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33525"/>
            <a:ext cx="339090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ESG translates sustainability into the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language of investors.</a:t>
            </a:r>
          </a:p>
        </p:txBody>
      </p:sp>
      <p:sp>
        <p:nvSpPr>
          <p:cNvPr id="7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43B447B-627C-499C-B2A2-F97C9D09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6944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C4A558F9-41CD-4E91-88E6-05A83626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1244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SRD and ESRS connect reporting, double materialit">
            <a:extLst xmlns:a="http://schemas.openxmlformats.org/drawingml/2006/main">
              <a:ext uri="{FF2B5EF4-FFF2-40B4-BE49-F238E27FC236}">
                <a16:creationId xmlns:a16="http://schemas.microsoft.com/office/drawing/2014/main" id="{E8284838-02B4-4B61-AE31-8F47A59C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1244"/>
            <a:ext cx="339090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CSRD and ESRS connect reporting,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double materiality and assurance.</a:t>
            </a:r>
          </a:p>
        </p:txBody>
      </p:sp>
      <p:sp>
        <p:nvSpPr>
          <p:cNvPr id="10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99435E6B-D195-430F-A92D-00C60F94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14663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D2B4AC74-FED2-4FD8-8F18-DD3744DC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8963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GI outcomes need environmental, social and governa">
            <a:extLst xmlns:a="http://schemas.openxmlformats.org/drawingml/2006/main">
              <a:ext uri="{FF2B5EF4-FFF2-40B4-BE49-F238E27FC236}">
                <a16:creationId xmlns:a16="http://schemas.microsoft.com/office/drawing/2014/main" id="{8756CA55-1806-4532-AEA3-377D98C9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8963"/>
            <a:ext cx="339090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GI outcomes need environmental,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social and governance evidence.</a:t>
            </a:r>
          </a:p>
        </p:txBody>
      </p:sp>
      <p:sp>
        <p:nvSpPr>
          <p:cNvPr id="1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19EB9953-065B-4CA1-B6BD-4A6DFC46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2381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87261F13-BF5F-401E-B127-10E9E3DF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6681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Indicators first, claims second.">
            <a:extLst xmlns:a="http://schemas.openxmlformats.org/drawingml/2006/main">
              <a:ext uri="{FF2B5EF4-FFF2-40B4-BE49-F238E27FC236}">
                <a16:creationId xmlns:a16="http://schemas.microsoft.com/office/drawing/2014/main" id="{DE1F8042-142C-4B83-941F-55A6C739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6681"/>
            <a:ext cx="339090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Indicators first, claims second.</a:t>
            </a:r>
          </a:p>
        </p:txBody>
      </p:sp>
      <p:sp>
        <p:nvSpPr>
          <p:cNvPr id="16" name="05">
            <a:extLst xmlns:a="http://schemas.openxmlformats.org/drawingml/2006/main">
              <a:ext uri="{FF2B5EF4-FFF2-40B4-BE49-F238E27FC236}">
                <a16:creationId xmlns:a16="http://schemas.microsoft.com/office/drawing/2014/main" id="{20A2CF29-FBB9-46FE-A032-909D9B13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335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The Green Deal combines policy strategies with bin">
            <a:extLst xmlns:a="http://schemas.openxmlformats.org/drawingml/2006/main">
              <a:ext uri="{FF2B5EF4-FFF2-40B4-BE49-F238E27FC236}">
                <a16:creationId xmlns:a16="http://schemas.microsoft.com/office/drawing/2014/main" id="{F3F9B7F4-4044-491C-B644-20265747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533525"/>
            <a:ext cx="337185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The Green Deal combines policy</a:t>
            </a:r>
          </a:p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strategies with binding legal</a:t>
            </a:r>
          </a:p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instruments.</a:t>
            </a:r>
          </a:p>
        </p:txBody>
      </p:sp>
      <p:sp>
        <p:nvSpPr>
          <p:cNvPr id="18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EFD882BE-24AF-45A7-A999-17940498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16944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19" name="06">
            <a:extLst xmlns:a="http://schemas.openxmlformats.org/drawingml/2006/main">
              <a:ext uri="{FF2B5EF4-FFF2-40B4-BE49-F238E27FC236}">
                <a16:creationId xmlns:a16="http://schemas.microsoft.com/office/drawing/2014/main" id="{42238FF0-8446-443E-BFE6-51E31537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31244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Finance choices depend on eligibility, cost, risk ">
            <a:extLst xmlns:a="http://schemas.openxmlformats.org/drawingml/2006/main">
              <a:ext uri="{FF2B5EF4-FFF2-40B4-BE49-F238E27FC236}">
                <a16:creationId xmlns:a16="http://schemas.microsoft.com/office/drawing/2014/main" id="{17CCDFDB-E667-4285-BE39-DDB55053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31244"/>
            <a:ext cx="337185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Finance choices depend on eligibility,</a:t>
            </a:r>
          </a:p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cost, risk and reporting duties.</a:t>
            </a:r>
          </a:p>
        </p:txBody>
      </p:sp>
      <p:sp>
        <p:nvSpPr>
          <p:cNvPr id="21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B6778DFF-B7DC-4C56-8967-5F5F9D8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14663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22" name="07">
            <a:extLst xmlns:a="http://schemas.openxmlformats.org/drawingml/2006/main">
              <a:ext uri="{FF2B5EF4-FFF2-40B4-BE49-F238E27FC236}">
                <a16:creationId xmlns:a16="http://schemas.microsoft.com/office/drawing/2014/main" id="{079A85F6-20BE-4A20-9257-A9B31521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8963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Nature-positive and smart development are ambition">
            <a:extLst xmlns:a="http://schemas.openxmlformats.org/drawingml/2006/main">
              <a:ext uri="{FF2B5EF4-FFF2-40B4-BE49-F238E27FC236}">
                <a16:creationId xmlns:a16="http://schemas.microsoft.com/office/drawing/2014/main" id="{60E1C126-8822-43F4-9331-E2F2ADA1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28963"/>
            <a:ext cx="337185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Nature-positive and smart</a:t>
            </a:r>
          </a:p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development are ambitions to test and</a:t>
            </a:r>
          </a:p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measure.</a:t>
            </a:r>
          </a:p>
        </p:txBody>
      </p:sp>
      <p:sp>
        <p:nvSpPr>
          <p:cNvPr id="24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4EF7ED00-2EB1-4323-B8B7-563E952F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12381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25" name="08">
            <a:extLst xmlns:a="http://schemas.openxmlformats.org/drawingml/2006/main">
              <a:ext uri="{FF2B5EF4-FFF2-40B4-BE49-F238E27FC236}">
                <a16:creationId xmlns:a16="http://schemas.microsoft.com/office/drawing/2014/main" id="{92D49078-6F49-49B2-823B-8417D0A0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26681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566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5664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6" name="Prague's green future is a choice — and a business">
            <a:extLst xmlns:a="http://schemas.openxmlformats.org/drawingml/2006/main">
              <a:ext uri="{FF2B5EF4-FFF2-40B4-BE49-F238E27FC236}">
                <a16:creationId xmlns:a16="http://schemas.microsoft.com/office/drawing/2014/main" id="{FC91DBF5-69E0-4AAE-B651-8B00556A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26681"/>
            <a:ext cx="3371850" cy="7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Prague's green future is a choice —</a:t>
            </a:r>
          </a:p>
          <a:p xmlns:a="http://schemas.openxmlformats.org/drawingml/2006/main">
            <a:pPr>
              <a:defRPr sz="15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and a business opportunity.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8e8e36be74259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28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853FFFE2-BD32-4A51-B959-14DFD06C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29" name="24">
            <a:extLst xmlns:a="http://schemas.openxmlformats.org/drawingml/2006/main">
              <a:ext uri="{FF2B5EF4-FFF2-40B4-BE49-F238E27FC236}">
                <a16:creationId xmlns:a16="http://schemas.microsoft.com/office/drawing/2014/main" id="{34BBC720-B503-4A0B-AAB0-C2B39660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802719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ommended Reading">
            <a:extLst xmlns:a="http://schemas.openxmlformats.org/drawingml/2006/main">
              <a:ext uri="{FF2B5EF4-FFF2-40B4-BE49-F238E27FC236}">
                <a16:creationId xmlns:a16="http://schemas.microsoft.com/office/drawing/2014/main" id="{C16225E7-23D6-4A2E-8DE5-5AF24A65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Recommended Reading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7D280690-F8F2-41B5-A78A-86933A49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01FBBA81-1FF2-4AA8-BD0B-890D563D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EFRAG — ESRS E4 Biodiversity and Ecosystems standa">
            <a:extLst xmlns:a="http://schemas.openxmlformats.org/drawingml/2006/main">
              <a:ext uri="{FF2B5EF4-FFF2-40B4-BE49-F238E27FC236}">
                <a16:creationId xmlns:a16="http://schemas.microsoft.com/office/drawing/2014/main" id="{27D80502-A434-423B-97A0-D5D482D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07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EFRAG — ESRS E4 Biodiversity and Ecosystems standard.</a:t>
            </a:r>
          </a:p>
        </p:txBody>
      </p:sp>
      <p:sp>
        <p:nvSpPr>
          <p:cNvPr id="5" name="Aghaegbuna et al. (2020). Sustainability in Projec">
            <a:extLst xmlns:a="http://schemas.openxmlformats.org/drawingml/2006/main">
              <a:ext uri="{FF2B5EF4-FFF2-40B4-BE49-F238E27FC236}">
                <a16:creationId xmlns:a16="http://schemas.microsoft.com/office/drawing/2014/main" id="{70B209D2-8780-4CD9-B4B8-38510DFD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807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Aghaegbuna et al. (2020). Sustainability in Project Management Practice.</a:t>
            </a:r>
          </a:p>
        </p:txBody>
      </p:sp>
      <p:sp>
        <p:nvSpPr>
          <p:cNvPr id="6" name="TNFD — Taskforce on Nature-related Financial Discl">
            <a:extLst xmlns:a="http://schemas.openxmlformats.org/drawingml/2006/main">
              <a:ext uri="{FF2B5EF4-FFF2-40B4-BE49-F238E27FC236}">
                <a16:creationId xmlns:a16="http://schemas.microsoft.com/office/drawing/2014/main" id="{0783874A-F795-4D22-9023-AB16B518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807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TNFD — Taskforce on Nature-related Financial Disclosures framework.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b2bafd8f043de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8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CEDD128A-9D3B-48F6-A615-0AD901AD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9" name="25">
            <a:extLst xmlns:a="http://schemas.openxmlformats.org/drawingml/2006/main">
              <a:ext uri="{FF2B5EF4-FFF2-40B4-BE49-F238E27FC236}">
                <a16:creationId xmlns:a16="http://schemas.microsoft.com/office/drawing/2014/main" id="{04E69E3B-3176-48EE-8A67-2FBFD2EE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939278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098127e8046e9"/>
          <a:srcRect xmlns:a="http://schemas.openxmlformats.org/drawingml/2006/main" l="2500" t="0" r="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0"/>
            <a:ext cx="325755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Thank you">
            <a:extLst xmlns:a="http://schemas.openxmlformats.org/drawingml/2006/main">
              <a:ext uri="{FF2B5EF4-FFF2-40B4-BE49-F238E27FC236}">
                <a16:creationId xmlns:a16="http://schemas.microsoft.com/office/drawing/2014/main" id="{1BEE1905-B618-4D60-B94E-A70A25E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4725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3" name="Good luck with your projects">
            <a:extLst xmlns:a="http://schemas.openxmlformats.org/drawingml/2006/main">
              <a:ext uri="{FF2B5EF4-FFF2-40B4-BE49-F238E27FC236}">
                <a16:creationId xmlns:a16="http://schemas.microsoft.com/office/drawing/2014/main" id="{00533AED-2E6C-4348-B88C-4DC7285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4905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Good luck with your projects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18622fa3349ea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5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DDB5D611-716F-4A67-A85E-F8675190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6" name="26">
            <a:extLst xmlns:a="http://schemas.openxmlformats.org/drawingml/2006/main">
              <a:ext uri="{FF2B5EF4-FFF2-40B4-BE49-F238E27FC236}">
                <a16:creationId xmlns:a16="http://schemas.microsoft.com/office/drawing/2014/main" id="{A3D1BF8D-4444-43A2-854D-FCBBCFF9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51557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Image credits">
            <a:extLst xmlns:a="http://schemas.openxmlformats.org/drawingml/2006/main">
              <a:ext uri="{FF2B5EF4-FFF2-40B4-BE49-F238E27FC236}">
                <a16:creationId xmlns:a16="http://schemas.microsoft.com/office/drawing/2014/main" id="{0C041C37-2C0C-460E-A4C2-B1D6A410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815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E3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73E35"/>
                </a:solidFill>
                <a:latin typeface="Georgia"/>
                <a:ea typeface="Georgia"/>
                <a:cs typeface="Georgia"/>
              </a:rPr>
              <a:t>Image credits</a:t>
            </a:r>
          </a:p>
        </p:txBody>
      </p:sp>
      <p:sp>
        <p:nvSpPr>
          <p:cNvPr id="2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1C6F3DCF-4AB5-436B-B6A7-EB167981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3B1"/>
          </a:solidFill>
          <a:ln xmlns:a="http://schemas.openxmlformats.org/drawingml/2006/main" w="0">
            <a:noFill/>
          </a:ln>
        </p:spPr>
      </p:sp>
      <p:sp>
        <p:nvSpPr>
          <p:cNvPr id="3" name="Editorial frame">
            <a:extLst xmlns:a="http://schemas.openxmlformats.org/drawingml/2006/main">
              <a:ext uri="{FF2B5EF4-FFF2-40B4-BE49-F238E27FC236}">
                <a16:creationId xmlns:a16="http://schemas.microsoft.com/office/drawing/2014/main" id="{5395F8E0-A2A8-4BA4-8D88-DD2FD282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647"/>
          </a:solidFill>
          <a:ln xmlns:a="http://schemas.openxmlformats.org/drawingml/2006/main" w="0">
            <a:noFill/>
          </a:ln>
        </p:spPr>
      </p:sp>
      <p:sp>
        <p:nvSpPr>
          <p:cNvPr id="4" name="St Edmund Hall Living Wall.jpg — CC BY-SA 4.0, Wik">
            <a:extLst xmlns:a="http://schemas.openxmlformats.org/drawingml/2006/main">
              <a:ext uri="{FF2B5EF4-FFF2-40B4-BE49-F238E27FC236}">
                <a16:creationId xmlns:a16="http://schemas.microsoft.com/office/drawing/2014/main" id="{DB6F92BA-80C3-401E-9E4C-1C3F1100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8077200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St Edmund Hall Living Wall.jpg — CC BY-SA 4.0, Wikimedia Commons</a:t>
            </a:r>
          </a:p>
        </p:txBody>
      </p:sp>
      <p:sp>
        <p:nvSpPr>
          <p:cNvPr id="5" name="Field of Solar Panels near Ogwell.jpg — CC BY-SA 4">
            <a:extLst xmlns:a="http://schemas.openxmlformats.org/drawingml/2006/main">
              <a:ext uri="{FF2B5EF4-FFF2-40B4-BE49-F238E27FC236}">
                <a16:creationId xmlns:a16="http://schemas.microsoft.com/office/drawing/2014/main" id="{11F8CCA5-77B8-4CB0-95E2-EE2148F9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5955"/>
            <a:ext cx="8077200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Field of Solar Panels near Ogwell.jpg — CC BY-SA 4.0, Wikimedia Commons</a:t>
            </a:r>
          </a:p>
        </p:txBody>
      </p:sp>
      <p:sp>
        <p:nvSpPr>
          <p:cNvPr id="6" name="Riverview-Fisk Park Jersey City November 2021 001.">
            <a:extLst xmlns:a="http://schemas.openxmlformats.org/drawingml/2006/main">
              <a:ext uri="{FF2B5EF4-FFF2-40B4-BE49-F238E27FC236}">
                <a16:creationId xmlns:a16="http://schemas.microsoft.com/office/drawing/2014/main" id="{A48FFB2A-23AE-487A-96D1-3E04D17F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9810"/>
            <a:ext cx="8077200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Riverview-Fisk Park Jersey City November 2021 001.jpg — CC BY-SA 4.0, Wikimedia Commons</a:t>
            </a:r>
          </a:p>
        </p:txBody>
      </p:sp>
      <p:sp>
        <p:nvSpPr>
          <p:cNvPr id="7" name="Prague - view from Charles Bridge (by Pudelek).jpg">
            <a:extLst xmlns:a="http://schemas.openxmlformats.org/drawingml/2006/main">
              <a:ext uri="{FF2B5EF4-FFF2-40B4-BE49-F238E27FC236}">
                <a16:creationId xmlns:a16="http://schemas.microsoft.com/office/drawing/2014/main" id="{78D6C5A0-CA1D-437C-A5B2-503EC80E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53665"/>
            <a:ext cx="8077200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Prague - view from Charles Bridge (by Pudelek).jpg — CC BY-SA 3.0, Wikimedia Commons</a:t>
            </a:r>
          </a:p>
        </p:txBody>
      </p:sp>
      <p:sp>
        <p:nvSpPr>
          <p:cNvPr id="8" name="Conceptual cover and leaf artwork: OpenAI image ge">
            <a:extLst xmlns:a="http://schemas.openxmlformats.org/drawingml/2006/main">
              <a:ext uri="{FF2B5EF4-FFF2-40B4-BE49-F238E27FC236}">
                <a16:creationId xmlns:a16="http://schemas.microsoft.com/office/drawing/2014/main" id="{47215DCF-C93E-4677-A75C-C588E155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7520"/>
            <a:ext cx="8077200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Conceptual cover and leaf artwork: OpenAI image generation, September 2026. Reused from approved Lecture 1.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e36848c384e7c"/>
          <a:stretch xmlns:a="http://schemas.openxmlformats.org/drawingml/2006/main"/>
        </p:blipFill>
        <p:spPr>
          <a:xfrm xmlns:a="http://schemas.openxmlformats.org/drawingml/2006/main">
            <a:off x="499570" y="4829175"/>
            <a:ext cx="315310" cy="152400"/>
          </a:xfrm>
          <a:prstGeom xmlns:a="http://schemas.openxmlformats.org/drawingml/2006/main" prst="rect">
            <a:avLst/>
          </a:prstGeom>
        </p:spPr>
      </p:pic>
      <p:sp>
        <p:nvSpPr>
          <p:cNvPr id="10" name="www.newton.university">
            <a:extLst xmlns:a="http://schemas.openxmlformats.org/drawingml/2006/main">
              <a:ext uri="{FF2B5EF4-FFF2-40B4-BE49-F238E27FC236}">
                <a16:creationId xmlns:a16="http://schemas.microsoft.com/office/drawing/2014/main" id="{540E2FF8-9E01-4485-A810-184BC815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www.newton.university</a:t>
            </a:r>
          </a:p>
        </p:txBody>
      </p:sp>
      <p:sp>
        <p:nvSpPr>
          <p:cNvPr id="11" name="27">
            <a:extLst xmlns:a="http://schemas.openxmlformats.org/drawingml/2006/main">
              <a:ext uri="{FF2B5EF4-FFF2-40B4-BE49-F238E27FC236}">
                <a16:creationId xmlns:a16="http://schemas.microsoft.com/office/drawing/2014/main" id="{00B2C857-B92B-4F84-913E-08F9F14F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866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65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15203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2026-10-05T17:23:02.4610000Z</dcterms:created>
  <dcterms:modified xsi:type="dcterms:W3CDTF">2026-10-05T17:23:02.4610000Z</dcterms:modified>
</coreProperties>
</file>