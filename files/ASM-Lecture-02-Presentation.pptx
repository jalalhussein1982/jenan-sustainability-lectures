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bff47a9df82490a" /><Relationship Type="http://schemas.openxmlformats.org/officeDocument/2006/relationships/extended-properties" Target="/docProps/app.xml" Id="R418707aebd134e7d" /><Relationship Type="http://schemas.openxmlformats.org/officeDocument/2006/relationships/officeDocument" Target="/ppt/presentation.xml" Id="R94d3131b0db0489f" /></Relationships>
</file>

<file path=ppt/presentation.xml><?xml version="1.0" encoding="utf-8"?>
<p:presentation xmlns:p="http://schemas.openxmlformats.org/presentationml/2006/main">
  <p:sldMasterIdLst>
    <p:sldMasterId xmlns:r="http://schemas.openxmlformats.org/officeDocument/2006/relationships" id="2147483648" r:id="Rcc0e490e5f564c2c"/>
  </p:sldMasterIdLst>
  <p:notesMasterIdLst>
    <p:notesMasterId xmlns:r="http://schemas.openxmlformats.org/officeDocument/2006/relationships" r:id="R22926d7ee25d4c6d"/>
  </p:notesMasterIdLst>
  <p:sldIdLst>
    <p:sldId xmlns:r="http://schemas.openxmlformats.org/officeDocument/2006/relationships" id="256" r:id="R95e06013c9e141a3"/>
    <p:sldId xmlns:r="http://schemas.openxmlformats.org/officeDocument/2006/relationships" id="257" r:id="Re19a820787714c8f"/>
    <p:sldId xmlns:r="http://schemas.openxmlformats.org/officeDocument/2006/relationships" id="258" r:id="R2b6d327d86854ddf"/>
    <p:sldId xmlns:r="http://schemas.openxmlformats.org/officeDocument/2006/relationships" id="259" r:id="R9a7a4b051c544391"/>
    <p:sldId xmlns:r="http://schemas.openxmlformats.org/officeDocument/2006/relationships" id="260" r:id="R3cbfec1c1f7b42bd"/>
    <p:sldId xmlns:r="http://schemas.openxmlformats.org/officeDocument/2006/relationships" id="261" r:id="R3ebcdff25e5b4ab4"/>
    <p:sldId xmlns:r="http://schemas.openxmlformats.org/officeDocument/2006/relationships" id="262" r:id="R604ab6dd0373418d"/>
    <p:sldId xmlns:r="http://schemas.openxmlformats.org/officeDocument/2006/relationships" id="263" r:id="R259d7d4a058c4c07"/>
    <p:sldId xmlns:r="http://schemas.openxmlformats.org/officeDocument/2006/relationships" id="264" r:id="Rd3609eaf2e74450a"/>
    <p:sldId xmlns:r="http://schemas.openxmlformats.org/officeDocument/2006/relationships" id="265" r:id="R317bba5f38f240e5"/>
    <p:sldId xmlns:r="http://schemas.openxmlformats.org/officeDocument/2006/relationships" id="266" r:id="R2c1e33c3bc4c457c"/>
    <p:sldId xmlns:r="http://schemas.openxmlformats.org/officeDocument/2006/relationships" id="267" r:id="R1428b411a1784c89"/>
    <p:sldId xmlns:r="http://schemas.openxmlformats.org/officeDocument/2006/relationships" id="268" r:id="R9ff5ca4806cf4450"/>
    <p:sldId xmlns:r="http://schemas.openxmlformats.org/officeDocument/2006/relationships" id="269" r:id="Rf0969e194be64090"/>
    <p:sldId xmlns:r="http://schemas.openxmlformats.org/officeDocument/2006/relationships" id="270" r:id="R4e3d0cd09aab4004"/>
    <p:sldId xmlns:r="http://schemas.openxmlformats.org/officeDocument/2006/relationships" id="271" r:id="Rb6eff9b7cada471e"/>
    <p:sldId xmlns:r="http://schemas.openxmlformats.org/officeDocument/2006/relationships" id="272" r:id="Rc2137382f75949bf"/>
    <p:sldId xmlns:r="http://schemas.openxmlformats.org/officeDocument/2006/relationships" id="273" r:id="R9cd6d3c2c013425a"/>
    <p:sldId xmlns:r="http://schemas.openxmlformats.org/officeDocument/2006/relationships" id="274" r:id="Rdeed0bdeab444b7c"/>
    <p:sldId xmlns:r="http://schemas.openxmlformats.org/officeDocument/2006/relationships" id="275" r:id="Rd9c16d9e4b574595"/>
    <p:sldId xmlns:r="http://schemas.openxmlformats.org/officeDocument/2006/relationships" id="276" r:id="Rc778fd6f405542a5"/>
    <p:sldId xmlns:r="http://schemas.openxmlformats.org/officeDocument/2006/relationships" id="277" r:id="R1526853eda6e479b"/>
    <p:sldId xmlns:r="http://schemas.openxmlformats.org/officeDocument/2006/relationships" id="278" r:id="R9309f163fa384d78"/>
    <p:sldId xmlns:r="http://schemas.openxmlformats.org/officeDocument/2006/relationships" id="279" r:id="Rd0cd6360bca24b98"/>
    <p:sldId xmlns:r="http://schemas.openxmlformats.org/officeDocument/2006/relationships" id="280" r:id="R09127a1901f54048"/>
    <p:sldId xmlns:r="http://schemas.openxmlformats.org/officeDocument/2006/relationships" id="281" r:id="Rad0d5e1d9d6e4846"/>
    <p:sldId xmlns:r="http://schemas.openxmlformats.org/officeDocument/2006/relationships" id="282" r:id="R04c45974ef7249f3"/>
    <p:sldId xmlns:r="http://schemas.openxmlformats.org/officeDocument/2006/relationships" id="283" r:id="Rc6e1667bf5d042e1"/>
    <p:sldId xmlns:r="http://schemas.openxmlformats.org/officeDocument/2006/relationships" id="284" r:id="R56171922a7364c61"/>
    <p:sldId xmlns:r="http://schemas.openxmlformats.org/officeDocument/2006/relationships" id="285" r:id="Rd9b2e66c3bec4c09"/>
    <p:sldId xmlns:r="http://schemas.openxmlformats.org/officeDocument/2006/relationships" id="286" r:id="R0b0b1479ee8d4089"/>
    <p:sldId xmlns:r="http://schemas.openxmlformats.org/officeDocument/2006/relationships" id="287" r:id="R165449146eea4538"/>
    <p:sldId xmlns:r="http://schemas.openxmlformats.org/officeDocument/2006/relationships" id="288" r:id="R27f8b4101c2c48b0"/>
    <p:sldId xmlns:r="http://schemas.openxmlformats.org/officeDocument/2006/relationships" id="289" r:id="R1cf4d70f79894fd4"/>
    <p:sldId xmlns:r="http://schemas.openxmlformats.org/officeDocument/2006/relationships" id="290" r:id="R707e9e7c9d9743fe"/>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7fc5518865249e2" /><Relationship Type="http://schemas.openxmlformats.org/officeDocument/2006/relationships/slideMaster" Target="/ppt/slideMasters/slideMaster1.xml" Id="Rcc0e490e5f564c2c" /><Relationship Type="http://schemas.openxmlformats.org/officeDocument/2006/relationships/notesMaster" Target="/ppt/notesMasters/notesMaster1.xml" Id="R22926d7ee25d4c6d" /><Relationship Type="http://schemas.openxmlformats.org/officeDocument/2006/relationships/presProps" Target="/ppt/presProps.xml" Id="Rcbb9321980ef4c5f" /><Relationship Type="http://schemas.openxmlformats.org/officeDocument/2006/relationships/tableStyles" Target="/ppt/tableStyles.xml" Id="R5dfb9438a62448c9" /><Relationship Type="http://schemas.openxmlformats.org/officeDocument/2006/relationships/slide" Target="/ppt/slides/slide1.xml" Id="R95e06013c9e141a3" /><Relationship Type="http://schemas.openxmlformats.org/officeDocument/2006/relationships/slide" Target="/ppt/slides/slide2.xml" Id="Re19a820787714c8f" /><Relationship Type="http://schemas.openxmlformats.org/officeDocument/2006/relationships/slide" Target="/ppt/slides/slide3.xml" Id="R2b6d327d86854ddf" /><Relationship Type="http://schemas.openxmlformats.org/officeDocument/2006/relationships/slide" Target="/ppt/slides/slide4.xml" Id="R9a7a4b051c544391" /><Relationship Type="http://schemas.openxmlformats.org/officeDocument/2006/relationships/slide" Target="/ppt/slides/slide5.xml" Id="R3cbfec1c1f7b42bd" /><Relationship Type="http://schemas.openxmlformats.org/officeDocument/2006/relationships/slide" Target="/ppt/slides/slide6.xml" Id="R3ebcdff25e5b4ab4" /><Relationship Type="http://schemas.openxmlformats.org/officeDocument/2006/relationships/slide" Target="/ppt/slides/slide7.xml" Id="R604ab6dd0373418d" /><Relationship Type="http://schemas.openxmlformats.org/officeDocument/2006/relationships/slide" Target="/ppt/slides/slide8.xml" Id="R259d7d4a058c4c07" /><Relationship Type="http://schemas.openxmlformats.org/officeDocument/2006/relationships/slide" Target="/ppt/slides/slide9.xml" Id="Rd3609eaf2e74450a" /><Relationship Type="http://schemas.openxmlformats.org/officeDocument/2006/relationships/slide" Target="/ppt/slides/slide10.xml" Id="R317bba5f38f240e5" /><Relationship Type="http://schemas.openxmlformats.org/officeDocument/2006/relationships/slide" Target="/ppt/slides/slide11.xml" Id="R2c1e33c3bc4c457c" /><Relationship Type="http://schemas.openxmlformats.org/officeDocument/2006/relationships/slide" Target="/ppt/slides/slide12.xml" Id="R1428b411a1784c89" /><Relationship Type="http://schemas.openxmlformats.org/officeDocument/2006/relationships/slide" Target="/ppt/slides/slide13.xml" Id="R9ff5ca4806cf4450" /><Relationship Type="http://schemas.openxmlformats.org/officeDocument/2006/relationships/slide" Target="/ppt/slides/slide14.xml" Id="Rf0969e194be64090" /><Relationship Type="http://schemas.openxmlformats.org/officeDocument/2006/relationships/slide" Target="/ppt/slides/slide15.xml" Id="R4e3d0cd09aab4004" /><Relationship Type="http://schemas.openxmlformats.org/officeDocument/2006/relationships/slide" Target="/ppt/slides/slide16.xml" Id="Rb6eff9b7cada471e" /><Relationship Type="http://schemas.openxmlformats.org/officeDocument/2006/relationships/slide" Target="/ppt/slides/slide17.xml" Id="Rc2137382f75949bf" /><Relationship Type="http://schemas.openxmlformats.org/officeDocument/2006/relationships/slide" Target="/ppt/slides/slide18.xml" Id="R9cd6d3c2c013425a" /><Relationship Type="http://schemas.openxmlformats.org/officeDocument/2006/relationships/slide" Target="/ppt/slides/slide19.xml" Id="Rdeed0bdeab444b7c" /><Relationship Type="http://schemas.openxmlformats.org/officeDocument/2006/relationships/slide" Target="/ppt/slides/slide20.xml" Id="Rd9c16d9e4b574595" /><Relationship Type="http://schemas.openxmlformats.org/officeDocument/2006/relationships/slide" Target="/ppt/slides/slide21.xml" Id="Rc778fd6f405542a5" /><Relationship Type="http://schemas.openxmlformats.org/officeDocument/2006/relationships/slide" Target="/ppt/slides/slide22.xml" Id="R1526853eda6e479b" /><Relationship Type="http://schemas.openxmlformats.org/officeDocument/2006/relationships/slide" Target="/ppt/slides/slide23.xml" Id="R9309f163fa384d78" /><Relationship Type="http://schemas.openxmlformats.org/officeDocument/2006/relationships/slide" Target="/ppt/slides/slide24.xml" Id="Rd0cd6360bca24b98" /><Relationship Type="http://schemas.openxmlformats.org/officeDocument/2006/relationships/slide" Target="/ppt/slides/slide25.xml" Id="R09127a1901f54048" /><Relationship Type="http://schemas.openxmlformats.org/officeDocument/2006/relationships/slide" Target="/ppt/slides/slide26.xml" Id="Rad0d5e1d9d6e4846" /><Relationship Type="http://schemas.openxmlformats.org/officeDocument/2006/relationships/slide" Target="/ppt/slides/slide27.xml" Id="R04c45974ef7249f3" /><Relationship Type="http://schemas.openxmlformats.org/officeDocument/2006/relationships/slide" Target="/ppt/slides/slide28.xml" Id="Rc6e1667bf5d042e1" /><Relationship Type="http://schemas.openxmlformats.org/officeDocument/2006/relationships/slide" Target="/ppt/slides/slide29.xml" Id="R56171922a7364c61" /><Relationship Type="http://schemas.openxmlformats.org/officeDocument/2006/relationships/slide" Target="/ppt/slides/slide30.xml" Id="Rd9b2e66c3bec4c09" /><Relationship Type="http://schemas.openxmlformats.org/officeDocument/2006/relationships/slide" Target="/ppt/slides/slide31.xml" Id="R0b0b1479ee8d4089" /><Relationship Type="http://schemas.openxmlformats.org/officeDocument/2006/relationships/slide" Target="/ppt/slides/slide32.xml" Id="R165449146eea4538" /><Relationship Type="http://schemas.openxmlformats.org/officeDocument/2006/relationships/slide" Target="/ppt/slides/slide33.xml" Id="R27f8b4101c2c48b0" /><Relationship Type="http://schemas.openxmlformats.org/officeDocument/2006/relationships/slide" Target="/ppt/slides/slide34.xml" Id="R1cf4d70f79894fd4" /><Relationship Type="http://schemas.openxmlformats.org/officeDocument/2006/relationships/slide" Target="/ppt/slides/slide35.xml" Id="R707e9e7c9d9743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01cf2935bc045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ff57920277419c" /><Relationship Type="http://schemas.openxmlformats.org/officeDocument/2006/relationships/notesMaster" Target="/ppt/notesMasters/notesMaster1.xml" Id="Ra82e264ec41642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e27158f42b4571" /><Relationship Type="http://schemas.openxmlformats.org/officeDocument/2006/relationships/notesMaster" Target="/ppt/notesMasters/notesMaster1.xml" Id="R58b855d9d3604bc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70909f1d0b4faa" /><Relationship Type="http://schemas.openxmlformats.org/officeDocument/2006/relationships/notesMaster" Target="/ppt/notesMasters/notesMaster1.xml" Id="R6da77c14f96e44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cf2404c9c5f4b14" /><Relationship Type="http://schemas.openxmlformats.org/officeDocument/2006/relationships/notesMaster" Target="/ppt/notesMasters/notesMaster1.xml" Id="R3da073914ddc411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ae40a738c04df1" /><Relationship Type="http://schemas.openxmlformats.org/officeDocument/2006/relationships/notesMaster" Target="/ppt/notesMasters/notesMaster1.xml" Id="Ra60dafdcc3cf49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ba60e8cf794df9" /><Relationship Type="http://schemas.openxmlformats.org/officeDocument/2006/relationships/notesMaster" Target="/ppt/notesMasters/notesMaster1.xml" Id="R32fab5ec28f646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588846dc604fac" /><Relationship Type="http://schemas.openxmlformats.org/officeDocument/2006/relationships/notesMaster" Target="/ppt/notesMasters/notesMaster1.xml" Id="R09ed37daf7a3460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7babd76df543c9" /><Relationship Type="http://schemas.openxmlformats.org/officeDocument/2006/relationships/notesMaster" Target="/ppt/notesMasters/notesMaster1.xml" Id="R08baa13b82fb4b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0deba41e694341dc" /><Relationship Type="http://schemas.openxmlformats.org/officeDocument/2006/relationships/notesMaster" Target="/ppt/notesMasters/notesMaster1.xml" Id="R94f2a23980484bb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541d82869d4be7" /><Relationship Type="http://schemas.openxmlformats.org/officeDocument/2006/relationships/notesMaster" Target="/ppt/notesMasters/notesMaster1.xml" Id="R89294a45af2840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28cf671b0c4017" /><Relationship Type="http://schemas.openxmlformats.org/officeDocument/2006/relationships/notesMaster" Target="/ppt/notesMasters/notesMaster1.xml" Id="Rec527885c61246a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f02585dd0ea4abe" /><Relationship Type="http://schemas.openxmlformats.org/officeDocument/2006/relationships/notesMaster" Target="/ppt/notesMasters/notesMaster1.xml" Id="Rf425cf1948c54ba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579cfaf1132436e" /><Relationship Type="http://schemas.openxmlformats.org/officeDocument/2006/relationships/notesMaster" Target="/ppt/notesMasters/notesMaster1.xml" Id="R07e20bd875de4e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2bc01641dbb4bfe" /><Relationship Type="http://schemas.openxmlformats.org/officeDocument/2006/relationships/notesMaster" Target="/ppt/notesMasters/notesMaster1.xml" Id="Re947d25d6ec541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5d1481423b1436b" /><Relationship Type="http://schemas.openxmlformats.org/officeDocument/2006/relationships/notesMaster" Target="/ppt/notesMasters/notesMaster1.xml" Id="R6bc078976d854f0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969b0fc3bd416d" /><Relationship Type="http://schemas.openxmlformats.org/officeDocument/2006/relationships/notesMaster" Target="/ppt/notesMasters/notesMaster1.xml" Id="R4c06268959a4417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c048980b4444db7" /><Relationship Type="http://schemas.openxmlformats.org/officeDocument/2006/relationships/notesMaster" Target="/ppt/notesMasters/notesMaster1.xml" Id="Rccb05db913474e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ae28f0f27b4e16" /><Relationship Type="http://schemas.openxmlformats.org/officeDocument/2006/relationships/notesMaster" Target="/ppt/notesMasters/notesMaster1.xml" Id="R105ca0dd57d044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e7242365203415e" /><Relationship Type="http://schemas.openxmlformats.org/officeDocument/2006/relationships/notesMaster" Target="/ppt/notesMasters/notesMaster1.xml" Id="R6afaf1e6b4b841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f9bf1c4ea2644d9" /><Relationship Type="http://schemas.openxmlformats.org/officeDocument/2006/relationships/notesMaster" Target="/ppt/notesMasters/notesMaster1.xml" Id="R3e1eef01b0f54ce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299444a186b4235" /><Relationship Type="http://schemas.openxmlformats.org/officeDocument/2006/relationships/notesMaster" Target="/ppt/notesMasters/notesMaster1.xml" Id="R5cee2d4f150a492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c7f07731dd4a98" /><Relationship Type="http://schemas.openxmlformats.org/officeDocument/2006/relationships/notesMaster" Target="/ppt/notesMasters/notesMaster1.xml" Id="R308b4e6b0fd143d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3b690bed1f44917" /><Relationship Type="http://schemas.openxmlformats.org/officeDocument/2006/relationships/notesMaster" Target="/ppt/notesMasters/notesMaster1.xml" Id="R7addc7c651be42b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5443fc24c564f65" /><Relationship Type="http://schemas.openxmlformats.org/officeDocument/2006/relationships/notesMaster" Target="/ppt/notesMasters/notesMaster1.xml" Id="R174d3d4d6cb4432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1436ddb147142e6" /><Relationship Type="http://schemas.openxmlformats.org/officeDocument/2006/relationships/notesMaster" Target="/ppt/notesMasters/notesMaster1.xml" Id="Rbc0b99a85a7d41d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a78ba741d294a20" /><Relationship Type="http://schemas.openxmlformats.org/officeDocument/2006/relationships/notesMaster" Target="/ppt/notesMasters/notesMaster1.xml" Id="R9b96d17373c741d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ba771eb0b664a19" /><Relationship Type="http://schemas.openxmlformats.org/officeDocument/2006/relationships/notesMaster" Target="/ppt/notesMasters/notesMaster1.xml" Id="Rf7a37e9538d6406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629a86c316c04482" /><Relationship Type="http://schemas.openxmlformats.org/officeDocument/2006/relationships/notesMaster" Target="/ppt/notesMasters/notesMaster1.xml" Id="Rfec8b9cf33ce440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a7b37fd3b134a52" /><Relationship Type="http://schemas.openxmlformats.org/officeDocument/2006/relationships/notesMaster" Target="/ppt/notesMasters/notesMaster1.xml" Id="R10cfb0d540c94ce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a7c2370ad8a4106" /><Relationship Type="http://schemas.openxmlformats.org/officeDocument/2006/relationships/notesMaster" Target="/ppt/notesMasters/notesMaster1.xml" Id="Ra3765fdbb40046a3"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83f4483b0d694f18" /><Relationship Type="http://schemas.openxmlformats.org/officeDocument/2006/relationships/notesMaster" Target="/ppt/notesMasters/notesMaster1.xml" Id="R300de34549204df5"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a56b7df10a14d40" /><Relationship Type="http://schemas.openxmlformats.org/officeDocument/2006/relationships/notesMaster" Target="/ppt/notesMasters/notesMaster1.xml" Id="Re06cdb8dacf84bc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366e1391b9b4c6d" /><Relationship Type="http://schemas.openxmlformats.org/officeDocument/2006/relationships/notesMaster" Target="/ppt/notesMasters/notesMaster1.xml" Id="Rbce80e46644a461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5add427fddb4422" /><Relationship Type="http://schemas.openxmlformats.org/officeDocument/2006/relationships/notesMaster" Target="/ppt/notesMasters/notesMaster1.xml" Id="R22eb720e379d455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30f13a5928f457c" /><Relationship Type="http://schemas.openxmlformats.org/officeDocument/2006/relationships/notesMaster" Target="/ppt/notesMasters/notesMaster1.xml" Id="R28e29d4af02a4db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1: Applied Sustainability in Business and Management</a:t>
            </a:r>
          </a:p>
          <a:p xmlns:a="http://schemas.openxmlformats.org/drawingml/2006/main">
            <a:r>
              <a:t>Suggested time: 1 min</a:t>
            </a:r>
          </a:p>
          <a:p xmlns:a="http://schemas.openxmlformats.org/drawingml/2006/main">
            <a:r>
              <a:t/>
            </a:r>
          </a:p>
          <a:p xmlns:a="http://schemas.openxmlformats.org/drawingml/2006/main">
            <a:r>
              <a:t>Say: Welcome back. Remind students: last time we saw why sustainability matters and  what Green Infrastructure is. Today we look at the damage cities cause and two ways to  fix it.</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2: Learning Objectives</a:t>
            </a:r>
          </a:p>
          <a:p xmlns:a="http://schemas.openxmlformats.org/drawingml/2006/main">
            <a:r>
              <a:t>Suggested time: 3 min</a:t>
            </a:r>
          </a:p>
          <a:p xmlns:a="http://schemas.openxmlformats.org/drawingml/2006/main">
            <a:r>
              <a:t/>
            </a:r>
          </a:p>
          <a:p xmlns:a="http://schemas.openxmlformats.org/drawingml/2006/main">
            <a:r>
              <a:t>Say: Read the seven objectives. Connect each to a decision a manager needs to make. The first half introduces the tools and business problem; the second half applies them to the cases and activities. Students will use the same tools for their Prague semester site.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3: Today's Lecture Agenda</a:t>
            </a:r>
          </a:p>
          <a:p xmlns:a="http://schemas.openxmlformats.org/drawingml/2006/main">
            <a:r>
              <a:t>Suggested time: 2 min</a:t>
            </a:r>
          </a:p>
          <a:p xmlns:a="http://schemas.openxmlformats.org/drawingml/2006/main">
            <a:r>
              <a:t/>
            </a:r>
          </a:p>
          <a:p xmlns:a="http://schemas.openxmlformats.org/drawingml/2006/main">
            <a:r>
              <a:t>Say: Show the six parts. Say there are two short activities today — one before the break  and one at the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4: Part 1 — Pollution in the Urban Environment</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5: Air Pollution</a:t>
            </a:r>
          </a:p>
          <a:p xmlns:a="http://schemas.openxmlformats.org/drawingml/2006/main">
            <a:r>
              <a:t>Suggested time: 5 min</a:t>
            </a:r>
          </a:p>
          <a:p xmlns:a="http://schemas.openxmlformats.org/drawingml/2006/main">
            <a:r>
              <a:t/>
            </a:r>
          </a:p>
          <a:p xmlns:a="http://schemas.openxmlformats.org/drawingml/2006/main">
            <a:r>
              <a:t>Say: The photo shows smog over a big city. The main sources in a city are cars, heating  and industry. Air pollution causes breathing and heart disease, which costs money in sick  days and healthcare. For a manager the point is: this is a cost, not only a health topic.</a:t>
            </a:r>
          </a:p>
          <a:p xmlns:a="http://schemas.openxmlformats.org/drawingml/2006/main">
            <a:r>
              <a:t/>
            </a:r>
          </a:p>
          <a:p xmlns:a="http://schemas.openxmlformats.org/drawingml/2006/main">
            <a:r>
              <a:t> Ask: Where does Prague's winter smog come from? (Mostly heating and traffic.)</a:t>
            </a:r>
          </a:p>
          <a:p xmlns:a="http://schemas.openxmlformats.org/drawingml/2006/main">
            <a:r>
              <a:t/>
            </a:r>
          </a:p>
          <a:p xmlns:a="http://schemas.openxmlformats.org/drawingml/2006/main">
            <a:r>
              <a:t>Image credit: Panoramic view of air pollution in São Paulo city, Brazil.jpg — CC0, Wikimedia Commons</a:t>
            </a:r>
          </a:p>
          <a:p xmlns:a="http://schemas.openxmlformats.org/drawingml/2006/main">
            <a:r>
              <a:t>https://commons.wikimedia.org/wiki/File:Panoramic_view_of_air_pollution_in_S%C3%A3o_Paulo_city%2C_Brazil.jpg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6: Water Pollution</a:t>
            </a:r>
          </a:p>
          <a:p xmlns:a="http://schemas.openxmlformats.org/drawingml/2006/main">
            <a:r>
              <a:t>Suggested time: 4 min</a:t>
            </a:r>
          </a:p>
          <a:p xmlns:a="http://schemas.openxmlformats.org/drawingml/2006/main">
            <a:r>
              <a:t/>
            </a:r>
          </a:p>
          <a:p xmlns:a="http://schemas.openxmlformats.org/drawingml/2006/main">
            <a:r>
              <a:t>Say: Rainwater running off streets carries oil, metals and tiny plastics into the river. In  heavy rain, old sewers overflow untreated. Why should managers care? Because water  quality decides permits and reputation, and because a clean river creates tourism and  property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7: Waste Generation</a:t>
            </a:r>
          </a:p>
          <a:p xmlns:a="http://schemas.openxmlformats.org/drawingml/2006/main">
            <a:r>
              <a:t>Suggested time: 4 min</a:t>
            </a:r>
          </a:p>
          <a:p xmlns:a="http://schemas.openxmlformats.org/drawingml/2006/main">
            <a:r>
              <a:t/>
            </a:r>
          </a:p>
          <a:p xmlns:a="http://schemas.openxmlformats.org/drawingml/2006/main">
            <a:r>
              <a:t>Say: Cities concentrate people, so they concentrate waste. Landfills leak methane (a strong greenhouse gas) into the air and pollutants into the ground. Introduce the waste hierarchy: prevent, reuse, recycle, recover, dispose — the best option is at the top. Say this is the bridge to the second half of the lecture.</a:t>
            </a:r>
          </a:p>
          <a:p xmlns:a="http://schemas.openxmlformats.org/drawingml/2006/main">
            <a:r>
              <a:t/>
            </a:r>
          </a:p>
          <a:p xmlns:a="http://schemas.openxmlformats.org/drawingml/2006/main">
            <a:r>
              <a:t>Image credit: Milad jafari (28).jpg — CC BY-SA 4.0, Wikimedia Commons</a:t>
            </a:r>
          </a:p>
          <a:p xmlns:a="http://schemas.openxmlformats.org/drawingml/2006/main">
            <a:r>
              <a:t>https://commons.wikimedia.org/wiki/File:Milad_jafari_(28).jpg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8: Carbon Emissions and Business</a:t>
            </a:r>
          </a:p>
          <a:p xmlns:a="http://schemas.openxmlformats.org/drawingml/2006/main">
            <a:r>
              <a:t>Suggested time: 6 min</a:t>
            </a:r>
          </a:p>
          <a:p xmlns:a="http://schemas.openxmlformats.org/drawingml/2006/main">
            <a:r>
              <a:t/>
            </a:r>
          </a:p>
          <a:p xmlns:a="http://schemas.openxmlformats.org/drawingml/2006/main">
            <a:r>
              <a:t>Say: Scope 1 covers direct emissions from sources the company owns or controls, including fuel use, industrial processes and refrigerant leaks. Scope 2 covers purchased electricity, heat, steam and cooling. Scope 3 covers other value-chain emissions, from suppliers to product use and disposal. Its importance varies by business.</a:t>
            </a:r>
          </a:p>
          <a:p xmlns:a="http://schemas.openxmlformats.org/drawingml/2006/main">
            <a:r>
              <a:t/>
            </a:r>
          </a:p>
          <a:p xmlns:a="http://schemas.openxmlformats.org/drawingml/2006/main">
            <a:r>
              <a:t>Ask: Which scope is hardest for this particular company to reduce, and what purchasing or design decision could help?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9: Part 2 — Climate Change and Urban Resilience</a:t>
            </a:r>
          </a:p>
          <a:p xmlns:a="http://schemas.openxmlformats.org/drawingml/2006/main">
            <a:r>
              <a:t>Suggested time: 1 min</a:t>
            </a:r>
          </a:p>
          <a:p xmlns:a="http://schemas.openxmlformats.org/drawingml/2006/main">
            <a:r>
              <a:t/>
            </a:r>
          </a:p>
          <a:p xmlns:a="http://schemas.openxmlformats.org/drawingml/2006/main">
            <a:r>
              <a:t>Say: Announce the part: from pollution we move to climate.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10: How Climate Change Hits Cities</a:t>
            </a:r>
          </a:p>
          <a:p xmlns:a="http://schemas.openxmlformats.org/drawingml/2006/main">
            <a:r>
              <a:t>Suggested time: 5 min</a:t>
            </a:r>
          </a:p>
          <a:p xmlns:a="http://schemas.openxmlformats.org/drawingml/2006/main">
            <a:r>
              <a:t/>
            </a:r>
          </a:p>
          <a:p xmlns:a="http://schemas.openxmlformats.org/drawingml/2006/main">
            <a:r>
              <a:t>Say: Three columns: heat (heat waves, hotter city centres, health risks), water (flash floods, river floods, drought, old drains that cannot cope) and economy (broken infrastructure, closed businesses, higher insurance). Ask students which of these they have seen in Prague. Most will remember a flood or a heat wave.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11: What is Urban Resilience?</a:t>
            </a:r>
          </a:p>
          <a:p xmlns:a="http://schemas.openxmlformats.org/drawingml/2006/main">
            <a:r>
              <a:t>Suggested time: 5 min</a:t>
            </a:r>
          </a:p>
          <a:p xmlns:a="http://schemas.openxmlformats.org/drawingml/2006/main">
            <a:r>
              <a:t/>
            </a:r>
          </a:p>
          <a:p xmlns:a="http://schemas.openxmlformats.org/drawingml/2006/main">
            <a:r>
              <a:t>Say: Resilience means a business and its surrounding systems can keep essential functions working during stress or recover after a shock. Use redundancy, flexibility and nature as a buffer. Wetlands and trees can help manage heat and runoff, alongside drainage and engineered protection; none is unlimited.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12: Part 3 — Nature-Based Adaptation for Business</a:t>
            </a:r>
          </a:p>
          <a:p xmlns:a="http://schemas.openxmlformats.org/drawingml/2006/main">
            <a:r>
              <a:t>Suggested time: 1 min</a:t>
            </a:r>
          </a:p>
          <a:p xmlns:a="http://schemas.openxmlformats.org/drawingml/2006/main">
            <a:r>
              <a:t/>
            </a:r>
          </a:p>
          <a:p xmlns:a="http://schemas.openxmlformats.org/drawingml/2006/main">
            <a:r>
              <a:t>Say: Move from city-level climate risks to what a company can do on its own buildings and sites, then show how those measures connect to city infrastructure.</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13: Nature-Based Adaptation on Company Sites</a:t>
            </a:r>
          </a:p>
          <a:p xmlns:a="http://schemas.openxmlformats.org/drawingml/2006/main">
            <a:r>
              <a:t>Suggested time: 5 min</a:t>
            </a:r>
          </a:p>
          <a:p xmlns:a="http://schemas.openxmlformats.org/drawingml/2006/main">
            <a:r>
              <a:t/>
            </a:r>
          </a:p>
          <a:p xmlns:a="http://schemas.openxmlformats.org/drawingml/2006/main">
            <a:r>
              <a:t>Say: Use an office, shop or warehouse as the example. A roof can retain rain, trees can shade entrances, and a rain garden can slow runoff. The manager must check the building structure, ground conditions, drainage and maintenance budget. These measures can reduce exposure, but their capacity is limited and overflow routes still matter.</a:t>
            </a:r>
          </a:p>
          <a:p xmlns:a="http://schemas.openxmlformats.org/drawingml/2006/main">
            <a:r>
              <a:t/>
            </a:r>
          </a:p>
          <a:p xmlns:a="http://schemas.openxmlformats.org/drawingml/2006/main">
            <a:r>
              <a:t>Ask: Who owns the problem, who pays for installation, and who maintains the system?</a:t>
            </a:r>
          </a:p>
          <a:p xmlns:a="http://schemas.openxmlformats.org/drawingml/2006/main">
            <a:r>
              <a:t/>
            </a:r>
          </a:p>
          <a:p xmlns:a="http://schemas.openxmlformats.org/drawingml/2006/main">
            <a:r>
              <a:t>Sources checked 5 October 2026:</a:t>
            </a:r>
          </a:p>
          <a:p xmlns:a="http://schemas.openxmlformats.org/drawingml/2006/main">
            <a:r>
              <a:t>https://www.epa.gov/green-infrastructure/economic-benefits-green-infrastructure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14: Working with Water, not Against It</a:t>
            </a:r>
          </a:p>
          <a:p xmlns:a="http://schemas.openxmlformats.org/drawingml/2006/main">
            <a:r>
              <a:t>Suggested time: 3 min</a:t>
            </a:r>
          </a:p>
          <a:p xmlns:a="http://schemas.openxmlformats.org/drawingml/2006/main">
            <a:r>
              <a:t/>
            </a:r>
          </a:p>
          <a:p xmlns:a="http://schemas.openxmlformats.org/drawingml/2006/main">
            <a:r>
              <a:t>Say: Benthemplein remains the city-scale case. It shows how one space serves sport in dry weather and water storage during storms. A business can apply that principle to a courtyard or car park if an engineer confirms capacity, safe access and overflow routes. This is a design analogy, not a claim that any car park can flood safely.</a:t>
            </a:r>
          </a:p>
          <a:p xmlns:a="http://schemas.openxmlformats.org/drawingml/2006/main">
            <a:r>
              <a:t/>
            </a:r>
          </a:p>
          <a:p xmlns:a="http://schemas.openxmlformats.org/drawingml/2006/main">
            <a:r>
              <a:t>Image credit: Benthemplein terrain skate gestion eau.jpg — CC BY-SA 4.0, Wikimedia Commons</a:t>
            </a:r>
          </a:p>
          <a:p xmlns:a="http://schemas.openxmlformats.org/drawingml/2006/main">
            <a:r>
              <a:t>https://commons.wikimedia.org/wiki/File:Benthemplein_terrain_skate_gestion_eau.jpg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15: Grey and Green: a Manager's Comparison</a:t>
            </a:r>
          </a:p>
          <a:p xmlns:a="http://schemas.openxmlformats.org/drawingml/2006/main">
            <a:r>
              <a:t>Suggested time: 5 min</a:t>
            </a:r>
          </a:p>
          <a:p xmlns:a="http://schemas.openxmlformats.org/drawingml/2006/main">
            <a:r>
              <a:t/>
            </a:r>
          </a:p>
          <a:p xmlns:a="http://schemas.openxmlformats.org/drawingml/2006/main">
            <a:r>
              <a:t>Say: Neither category is automatically cheaper or better. Compare the same flood or heat problem over the same period. Include installation, maintenance, performance limits and wider benefits. A combined system may provide the strongest case.</a:t>
            </a:r>
          </a:p>
          <a:p xmlns:a="http://schemas.openxmlformats.org/drawingml/2006/main">
            <a:r>
              <a:t/>
            </a:r>
          </a:p>
          <a:p xmlns:a="http://schemas.openxmlformats.org/drawingml/2006/main">
            <a:r>
              <a:t>Ask: Which benefit does the company receive, which goes to the public, and how should that affect cost sharing?</a:t>
            </a:r>
          </a:p>
          <a:p xmlns:a="http://schemas.openxmlformats.org/drawingml/2006/main">
            <a:r>
              <a:t/>
            </a:r>
          </a:p>
          <a:p xmlns:a="http://schemas.openxmlformats.org/drawingml/2006/main">
            <a:r>
              <a:t>Sources checked 5 October 2026:</a:t>
            </a:r>
          </a:p>
          <a:p xmlns:a="http://schemas.openxmlformats.org/drawingml/2006/main">
            <a:r>
              <a:t>https://www.epa.gov/green-infrastructure/economic-benefits-green-infrastructure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16: Prague Case Study — Heat Islands</a:t>
            </a:r>
          </a:p>
          <a:p xmlns:a="http://schemas.openxmlformats.org/drawingml/2006/main">
            <a:r>
              <a:t>Suggested time: 1 min</a:t>
            </a:r>
          </a:p>
          <a:p xmlns:a="http://schemas.openxmlformats.org/drawingml/2006/main">
            <a:r>
              <a:t/>
            </a:r>
          </a:p>
          <a:p xmlns:a="http://schemas.openxmlformats.org/drawingml/2006/main">
            <a:r>
              <a:t>Say: Announce the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17: Heat Islands in Prague Neighborhoods</a:t>
            </a:r>
          </a:p>
          <a:p xmlns:a="http://schemas.openxmlformats.org/drawingml/2006/main">
            <a:r>
              <a:t>Suggested time: 5 min</a:t>
            </a:r>
          </a:p>
          <a:p xmlns:a="http://schemas.openxmlformats.org/drawingml/2006/main">
            <a:r>
              <a:t/>
            </a:r>
          </a:p>
          <a:p xmlns:a="http://schemas.openxmlformats.org/drawingml/2006/main">
            <a:r>
              <a:t>Say: Use the Prague case to compare paved and shaded places, then relate heat to staff comfort, cooling demand and opening hours. A measured temperature difference depends on time, weather, shade and the sensor position. The city plans provide context; students should verify the current local project and site data before proposing an investment.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18: Classroom Activity: Cooling One Street</a:t>
            </a:r>
          </a:p>
          <a:p xmlns:a="http://schemas.openxmlformats.org/drawingml/2006/main">
            <a:r>
              <a:t>Suggested time: 15 min</a:t>
            </a:r>
          </a:p>
          <a:p xmlns:a="http://schemas.openxmlformats.org/drawingml/2006/main">
            <a:r>
              <a:t/>
            </a:r>
          </a:p>
          <a:p xmlns:a="http://schemas.openxmlformats.org/drawingml/2006/main">
            <a:r>
              <a:t>Say: Pairs choose a familiar Prague street or square and propose three nature-based measures. For each, name the payer, the maintenance owner, the business or community benefit, and one measure of success. Keep the 15-minute structure in section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19: Break</a:t>
            </a:r>
          </a:p>
          <a:p xmlns:a="http://schemas.openxmlformats.org/drawingml/2006/main">
            <a:r>
              <a:t>Suggested time: 15–20 min</a:t>
            </a:r>
          </a:p>
          <a:p xmlns:a="http://schemas.openxmlformats.org/drawingml/2006/main">
            <a:r>
              <a:t/>
            </a:r>
          </a:p>
          <a:p xmlns:a="http://schemas.openxmlformats.org/drawingml/2006/main">
            <a:r>
              <a:t>Say: Say that after the break we change topic: from pollution and climate to materials and waste — the circular economy.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20: Part 4 — From Linear to Circular</a:t>
            </a:r>
          </a:p>
          <a:p xmlns:a="http://schemas.openxmlformats.org/drawingml/2006/main">
            <a:r>
              <a:t>Suggested time: 1 min</a:t>
            </a:r>
          </a:p>
          <a:p xmlns:a="http://schemas.openxmlformats.org/drawingml/2006/main">
            <a:r>
              <a:t/>
            </a:r>
          </a:p>
          <a:p xmlns:a="http://schemas.openxmlformats.org/drawingml/2006/main">
            <a:r>
              <a:t>Say: Announce the 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21: The Linear Economy</a:t>
            </a:r>
          </a:p>
          <a:p xmlns:a="http://schemas.openxmlformats.org/drawingml/2006/main">
            <a:r>
              <a:t>Suggested time: 5 min</a:t>
            </a:r>
          </a:p>
          <a:p xmlns:a="http://schemas.openxmlformats.org/drawingml/2006/main">
            <a:r>
              <a:t/>
            </a:r>
          </a:p>
          <a:p xmlns:a="http://schemas.openxmlformats.org/drawingml/2006/main">
            <a:r>
              <a:t>Say: Take, make, waste. Hold up an everyday object and trace it: raw material, factory, shop, short use, bin. The linear economy assumes endless resources and endless space for waste — both are false. Value is created once and then destroyed.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22: The Circular Economy</a:t>
            </a:r>
          </a:p>
          <a:p xmlns:a="http://schemas.openxmlformats.org/drawingml/2006/main">
            <a:r>
              <a:t>Suggested time: 5 min</a:t>
            </a:r>
          </a:p>
          <a:p xmlns:a="http://schemas.openxmlformats.org/drawingml/2006/main">
            <a:r>
              <a:t/>
            </a:r>
          </a:p>
          <a:p xmlns:a="http://schemas.openxmlformats.org/drawingml/2006/main">
            <a:r>
              <a:t>Say: Circularity is a design ambition to keep materials and products useful and regenerate nature. Real systems still have losses and need energy. Use the forest analogy to explain loops, then ask what collection, repair or quality-control system a company would need.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23: Circular Strategies (the R-Ladder)</a:t>
            </a:r>
          </a:p>
          <a:p xmlns:a="http://schemas.openxmlformats.org/drawingml/2006/main">
            <a:r>
              <a:t>Suggested time: 6 min</a:t>
            </a:r>
          </a:p>
          <a:p xmlns:a="http://schemas.openxmlformats.org/drawingml/2006/main">
            <a:r>
              <a:t/>
            </a:r>
          </a:p>
          <a:p xmlns:a="http://schemas.openxmlformats.org/drawingml/2006/main">
            <a:r>
              <a:t>Say: The ladder ranks strategies. At the top: refuse, rethink, reduce, reuse, repair — these keep almost all the value. In the middle: refurbish, remanufacture, repurpose. At the bottom: recycle and recover energy. The higher you act, the more value you keep. Ask students where 'buying a second-hand phone' sits (reuse — high) and where 'putting a bottle in the yellow bin' sits (recycle — 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24: Reuse, Repair and Then Recycling</a:t>
            </a:r>
          </a:p>
          <a:p xmlns:a="http://schemas.openxmlformats.org/drawingml/2006/main">
            <a:r>
              <a:t>Suggested time: 3 min</a:t>
            </a:r>
          </a:p>
          <a:p xmlns:a="http://schemas.openxmlformats.org/drawingml/2006/main">
            <a:r>
              <a:t/>
            </a:r>
          </a:p>
          <a:p xmlns:a="http://schemas.openxmlformats.org/drawingml/2006/main">
            <a:r>
              <a:t>Say: The PET-bale image shows material recovery. Recycling remains useful, but viable reuse or repair can preserve the product as well as its material. Avoid claiming a fixed loss of embedded value across all materials. Ask students to explain which option works for this product and context.</a:t>
            </a:r>
          </a:p>
          <a:p xmlns:a="http://schemas.openxmlformats.org/drawingml/2006/main">
            <a:r>
              <a:t/>
            </a:r>
          </a:p>
          <a:p xmlns:a="http://schemas.openxmlformats.org/drawingml/2006/main">
            <a:r>
              <a:t>Image credit: Bales of PET bottles closeup.jpg — CC BY-SA 4.0, Wikimedia Commons</a:t>
            </a:r>
          </a:p>
          <a:p xmlns:a="http://schemas.openxmlformats.org/drawingml/2006/main">
            <a:r>
              <a:t>https://commons.wikimedia.org/wiki/File:Bales_of_PET_bottles_closeup.jpg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25: Part 5 — Circular Economy in Business Practice</a:t>
            </a:r>
          </a:p>
          <a:p xmlns:a="http://schemas.openxmlformats.org/drawingml/2006/main">
            <a:r>
              <a:t>Suggested time: 1 min</a:t>
            </a:r>
          </a:p>
          <a:p xmlns:a="http://schemas.openxmlformats.org/drawingml/2006/main">
            <a:r>
              <a:t/>
            </a:r>
          </a:p>
          <a:p xmlns:a="http://schemas.openxmlformats.org/drawingml/2006/main">
            <a:r>
              <a:t>Say: Announce the part: two real examples, one company and one 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26: Case Study: LEGO Circular Design</a:t>
            </a:r>
          </a:p>
          <a:p xmlns:a="http://schemas.openxmlformats.org/drawingml/2006/main">
            <a:r>
              <a:t>Suggested time: 6 min</a:t>
            </a:r>
          </a:p>
          <a:p xmlns:a="http://schemas.openxmlformats.org/drawingml/2006/main">
            <a:r>
              <a:t/>
            </a:r>
          </a:p>
          <a:p xmlns:a="http://schemas.openxmlformats.org/drawingml/2006/main">
            <a:r>
              <a:t>Say: LEGO illustrates durable design and repeated use. It also tests alternative materials and uses both physical recycled or renewable inputs and mass-balance sourcing. Those are different claims: a sourcing allocation does not establish the physical renewable content of an individual brick. Replay supports reuse where the programme operates.</a:t>
            </a:r>
          </a:p>
          <a:p xmlns:a="http://schemas.openxmlformats.org/drawingml/2006/main">
            <a:r>
              <a:t/>
            </a:r>
          </a:p>
          <a:p xmlns:a="http://schemas.openxmlformats.org/drawingml/2006/main">
            <a:r>
              <a:t>Ask: Is durability itself a circular strategy? Yes, when products remain useful and replace the need for new ones.</a:t>
            </a:r>
          </a:p>
          <a:p xmlns:a="http://schemas.openxmlformats.org/drawingml/2006/main">
            <a:r>
              <a:t/>
            </a:r>
          </a:p>
          <a:p xmlns:a="http://schemas.openxmlformats.org/drawingml/2006/main">
            <a:r>
              <a:t>Sources checked 5 October 2026:</a:t>
            </a:r>
          </a:p>
          <a:p xmlns:a="http://schemas.openxmlformats.org/drawingml/2006/main">
            <a:r>
              <a:t>https://www.lego.com/en-us/sustainability/materials</a:t>
            </a:r>
          </a:p>
          <a:p xmlns:a="http://schemas.openxmlformats.org/drawingml/2006/main">
            <a:r>
              <a:t>https://www.lego.com/en-us/sustainability/mass-balance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27: Case Study: Amsterdam Circular Strategy</a:t>
            </a:r>
          </a:p>
          <a:p xmlns:a="http://schemas.openxmlformats.org/drawingml/2006/main">
            <a:r>
              <a:t>Suggested time: 5 min</a:t>
            </a:r>
          </a:p>
          <a:p xmlns:a="http://schemas.openxmlformats.org/drawingml/2006/main">
            <a:r>
              <a:t/>
            </a:r>
          </a:p>
          <a:p xmlns:a="http://schemas.openxmlformats.org/drawingml/2006/main">
            <a:r>
              <a:t>Say: A whole city can be circular. Amsterdam wants to halve its use of new raw materials by 2030. It has rules for circular construction and demolition, closes food and organic waste loops locally, and uses Doughnut Economics as its guiding picture. Lesson: circularity works best when city policy and business models push in the same direction.</a:t>
            </a:r>
          </a:p>
          <a:p xmlns:a="http://schemas.openxmlformats.org/drawingml/2006/main">
            <a:r>
              <a:t/>
            </a:r>
          </a:p>
          <a:p xmlns:a="http://schemas.openxmlformats.org/drawingml/2006/main">
            <a:r>
              <a:t>Image credit: Amsterdam Canal Houses (Unsplash).jpg — CC0, Wikimedia Commons</a:t>
            </a:r>
          </a:p>
          <a:p xmlns:a="http://schemas.openxmlformats.org/drawingml/2006/main">
            <a:r>
              <a:t>https://commons.wikimedia.org/wiki/File:Amsterdam_Canal_Houses_(Unsplash).jpg</a:t>
            </a:r>
          </a:p>
          <a:p xmlns:a="http://schemas.openxmlformats.org/drawingml/2006/main">
            <a:r>
              <a:t>Source image retained from the original lecture.</a:t>
            </a:r>
          </a:p>
          <a:p xmlns:a="http://schemas.openxmlformats.org/drawingml/2006/main">
            <a:r>
              <a:t/>
            </a:r>
          </a:p>
          <a:p xmlns:a="http://schemas.openxmlformats.org/drawingml/2006/main">
            <a:r>
              <a:t>Sources checked 5 October 2026:</a:t>
            </a:r>
          </a:p>
          <a:p xmlns:a="http://schemas.openxmlformats.org/drawingml/2006/main">
            <a:r>
              <a:t>https://www.amsterdam.nl/en/policy/circular-economy/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28: Part 6 — Green Infrastructure and Urban Circularity</a:t>
            </a:r>
          </a:p>
          <a:p xmlns:a="http://schemas.openxmlformats.org/drawingml/2006/main">
            <a:r>
              <a:t>Suggested time: 1 min</a:t>
            </a:r>
          </a:p>
          <a:p xmlns:a="http://schemas.openxmlformats.org/drawingml/2006/main">
            <a:r>
              <a:t/>
            </a:r>
          </a:p>
          <a:p xmlns:a="http://schemas.openxmlformats.org/drawingml/2006/main">
            <a:r>
              <a:t>Say: Announce the part: how GI and the circular economy meet.</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29: Resource Loops for Companies and Cities</a:t>
            </a:r>
          </a:p>
          <a:p xmlns:a="http://schemas.openxmlformats.org/drawingml/2006/main">
            <a:r>
              <a:t>Suggested time: 5 min</a:t>
            </a:r>
          </a:p>
          <a:p xmlns:a="http://schemas.openxmlformats.org/drawingml/2006/main">
            <a:r>
              <a:t/>
            </a:r>
          </a:p>
          <a:p xmlns:a="http://schemas.openxmlformats.org/drawingml/2006/main">
            <a:r>
              <a:t>Say: Follow each loop from an input to a useful output. A company can collect rainwater, buy local produce or send suitable separated food waste for composting. Each loop needs a contract or owner, a quality requirement and a measurable benefit. Reused water and compost must meet the applicable quality and use requirements.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30: Urban Farming as Circular Infrastructure</a:t>
            </a:r>
          </a:p>
          <a:p xmlns:a="http://schemas.openxmlformats.org/drawingml/2006/main">
            <a:r>
              <a:t>Suggested time: 4 min</a:t>
            </a:r>
          </a:p>
          <a:p xmlns:a="http://schemas.openxmlformats.org/drawingml/2006/main">
            <a:r>
              <a:t/>
            </a:r>
          </a:p>
          <a:p xmlns:a="http://schemas.openxmlformats.org/drawingml/2006/main">
            <a:r>
              <a:t>Say: The photo is a community garden in New Orleans, used to illustrate food, compost, rainwater and community connections. For Prague, ask students to identify a real local garden and verify its activities. A café or employer could be a buyer, contributor or maintenance partner; these are ideas to test, not existing contracts.</a:t>
            </a:r>
          </a:p>
          <a:p xmlns:a="http://schemas.openxmlformats.org/drawingml/2006/main">
            <a:r>
              <a:t/>
            </a:r>
          </a:p>
          <a:p xmlns:a="http://schemas.openxmlformats.org/drawingml/2006/main">
            <a:r>
              <a:t>Image credit: 2010 WiseWords community garden NewOrleans 4855100893.jpg — CC BY 2.0, Wikimedia Commons</a:t>
            </a:r>
          </a:p>
          <a:p xmlns:a="http://schemas.openxmlformats.org/drawingml/2006/main">
            <a:r>
              <a:t>https://commons.wikimedia.org/wiki/File:2010_WiseWords_community_garden_NewOrleans_4855100893.jpg</a:t>
            </a:r>
          </a:p>
          <a:p xmlns:a="http://schemas.openxmlformats.org/drawingml/2006/main">
            <a:r>
              <a:t>Source image retained from the original lecture.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31: Classroom Activity: Redesign for Circularity</a:t>
            </a:r>
          </a:p>
          <a:p xmlns:a="http://schemas.openxmlformats.org/drawingml/2006/main">
            <a:r>
              <a:t>Suggested time: 20 min</a:t>
            </a:r>
          </a:p>
          <a:p xmlns:a="http://schemas.openxmlformats.org/drawingml/2006/main">
            <a:r>
              <a:t/>
            </a:r>
          </a:p>
          <a:p xmlns:a="http://schemas.openxmlformats.org/drawingml/2006/main">
            <a:r>
              <a:t>Say: Groups choose a product or urban space and redesign its material flows. Keep the original 20-minute activity plan: 12 minutes to design and 8 minutes to share. They should identify losses, use one suitable local recovered input, and explain how the idea could restore nature. The pitch must include a payer and an operating owner.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32: Key Messages</a:t>
            </a:r>
          </a:p>
          <a:p xmlns:a="http://schemas.openxmlformats.org/drawingml/2006/main">
            <a:r>
              <a:t>Suggested time: 4 min</a:t>
            </a:r>
          </a:p>
          <a:p xmlns:a="http://schemas.openxmlformats.org/drawingml/2006/main">
            <a:r>
              <a:t/>
            </a:r>
          </a:p>
          <a:p xmlns:a="http://schemas.openxmlformats.org/drawingml/2006/main">
            <a:r>
              <a:t>Say: Work through the eight messages. Ask students to connect each to a decision, example or tool from this lecture. Distinguish potential benefits from measured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33: Recommended Reading</a:t>
            </a:r>
          </a:p>
          <a:p xmlns:a="http://schemas.openxmlformats.org/drawingml/2006/main">
            <a:r>
              <a:t>Suggested time: 2 min</a:t>
            </a:r>
          </a:p>
          <a:p xmlns:a="http://schemas.openxmlformats.org/drawingml/2006/main">
            <a:r>
              <a:t/>
            </a:r>
          </a:p>
          <a:p xmlns:a="http://schemas.openxmlformats.org/drawingml/2006/main">
            <a:r>
              <a:t>Say: Point to the Ellen MacArthur Foundation report — it is short and free online. Say the next lecture is about sustainable business models and corporate strategy.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34: Any questions?</a:t>
            </a:r>
          </a:p>
          <a:p xmlns:a="http://schemas.openxmlformats.org/drawingml/2006/main">
            <a:r>
              <a:t>Suggested time: 5 min</a:t>
            </a:r>
          </a:p>
          <a:p xmlns:a="http://schemas.openxmlformats.org/drawingml/2006/main">
            <a:r>
              <a:t/>
            </a:r>
          </a:p>
          <a:p xmlns:a="http://schemas.openxmlformats.org/drawingml/2006/main">
            <a:r>
              <a:t>Say: Take questions. If none, use a question from section 5.</a:t>
            </a:r>
          </a:p>
          <a:p xmlns:a="http://schemas.openxmlformats.org/drawingml/2006/main">
            <a:r>
              <a:t/>
            </a:r>
          </a:p>
          <a:p xmlns:a="http://schemas.openxmlformats.org/drawingml/2006/main">
            <a:r>
              <a:t>Decorative artwork reused from the approved Lecture 1 design. AI-generated with OpenAI, September 2026; not a photograph of a documented place.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Lecture 2, slide 35: Image credits</a:t>
            </a:r>
          </a:p>
          <a:p xmlns:a="http://schemas.openxmlformats.org/drawingml/2006/main">
            <a:r>
              <a:t/>
            </a:r>
          </a:p>
          <a:p xmlns:a="http://schemas.openxmlformats.org/drawingml/2006/main">
            <a:r>
              <a:t>Say: No need to show. Keep it in the file.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02f6ff415c449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ce0bc75de34f20" /><Relationship Type="http://schemas.openxmlformats.org/officeDocument/2006/relationships/slideLayout" Target="/ppt/slideLayouts/slideLayout1.xml" Id="Rdc0e822347b145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c0e822347b145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95a0734e884288" /><Relationship Type="http://schemas.openxmlformats.org/officeDocument/2006/relationships/image" Target="/ppt/media/image.png" Id="R70a8a888035041c5" /><Relationship Type="http://schemas.openxmlformats.org/officeDocument/2006/relationships/image" Target="/ppt/media/image2.png" Id="R9a1c0415f5c44df8" /><Relationship Type="http://schemas.openxmlformats.org/officeDocument/2006/relationships/notesSlide" Target="/ppt/notesSlides/notesSlide1.xml" Id="Rdba6d203a7064c2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f4e8ac105948f0" /><Relationship Type="http://schemas.openxmlformats.org/officeDocument/2006/relationships/image" Target="/ppt/media/image3.png" Id="R00f7882cb0fe47b1" /><Relationship Type="http://schemas.openxmlformats.org/officeDocument/2006/relationships/notesSlide" Target="/ppt/notesSlides/notesSlide2.xml" Id="R59431fd4154e47c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f1ac3514b2473d" /><Relationship Type="http://schemas.openxmlformats.org/officeDocument/2006/relationships/image" Target="/ppt/media/image4.png" Id="R1513b64838964c23" /><Relationship Type="http://schemas.openxmlformats.org/officeDocument/2006/relationships/notesSlide" Target="/ppt/notesSlides/notesSlide3.xml" Id="R5b6895d0b4e942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7531c935c8e429c" /><Relationship Type="http://schemas.openxmlformats.org/officeDocument/2006/relationships/image" Target="/ppt/media/image5.png" Id="R85e4d70cb19f453e" /><Relationship Type="http://schemas.openxmlformats.org/officeDocument/2006/relationships/notesSlide" Target="/ppt/notesSlides/notesSlide4.xml" Id="Ra0f24ae0ac71421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e88b2cef5444331" /><Relationship Type="http://schemas.openxmlformats.org/officeDocument/2006/relationships/image" Target="/ppt/media/image.jpeg" Id="Ra9c3bef56e9f42ea" /><Relationship Type="http://schemas.openxmlformats.org/officeDocument/2006/relationships/image" Target="/ppt/media/image6.png" Id="R7092886d67bb4964" /><Relationship Type="http://schemas.openxmlformats.org/officeDocument/2006/relationships/notesSlide" Target="/ppt/notesSlides/notesSlide5.xml" Id="R5ab147ae685a40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9148ce4a4714ea9" /><Relationship Type="http://schemas.openxmlformats.org/officeDocument/2006/relationships/image" Target="/ppt/media/image7.png" Id="Rf654bd7c03d64c64" /><Relationship Type="http://schemas.openxmlformats.org/officeDocument/2006/relationships/notesSlide" Target="/ppt/notesSlides/notesSlide6.xml" Id="R8c31a128074c40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ac4d3ee38164117" /><Relationship Type="http://schemas.openxmlformats.org/officeDocument/2006/relationships/image" Target="/ppt/media/image2.jpeg" Id="R2b4d6e72739348d9" /><Relationship Type="http://schemas.openxmlformats.org/officeDocument/2006/relationships/image" Target="/ppt/media/image8.png" Id="R4dd37884ca2c4eda" /><Relationship Type="http://schemas.openxmlformats.org/officeDocument/2006/relationships/notesSlide" Target="/ppt/notesSlides/notesSlide7.xml" Id="R85f9a2a51cad4e9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abf6ee650541d1" /><Relationship Type="http://schemas.openxmlformats.org/officeDocument/2006/relationships/image" Target="/ppt/media/image9.png" Id="Reba2765101314178" /><Relationship Type="http://schemas.openxmlformats.org/officeDocument/2006/relationships/notesSlide" Target="/ppt/notesSlides/notesSlide8.xml" Id="R7edb74b7b56548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f10021cdc9e4185" /><Relationship Type="http://schemas.openxmlformats.org/officeDocument/2006/relationships/image" Target="/ppt/media/image10.png" Id="R9868f0c545b040d5" /><Relationship Type="http://schemas.openxmlformats.org/officeDocument/2006/relationships/notesSlide" Target="/ppt/notesSlides/notesSlide9.xml" Id="R37ee3ffab87d49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7263234ed9f4148" /><Relationship Type="http://schemas.openxmlformats.org/officeDocument/2006/relationships/image" Target="/ppt/media/image11.png" Id="R42db3f751c374b30" /><Relationship Type="http://schemas.openxmlformats.org/officeDocument/2006/relationships/notesSlide" Target="/ppt/notesSlides/notesSlide10.xml" Id="R1b5be3cc1bcc42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8147940057046ae" /><Relationship Type="http://schemas.openxmlformats.org/officeDocument/2006/relationships/image" Target="/ppt/media/image12.png" Id="R78d5a15d26674390" /><Relationship Type="http://schemas.openxmlformats.org/officeDocument/2006/relationships/notesSlide" Target="/ppt/notesSlides/notesSlide11.xml" Id="R4661d3befa9a479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065e19db71f43f6" /><Relationship Type="http://schemas.openxmlformats.org/officeDocument/2006/relationships/image" Target="/ppt/media/image13.png" Id="Rf661053b53174102" /><Relationship Type="http://schemas.openxmlformats.org/officeDocument/2006/relationships/image" Target="/ppt/media/image14.png" Id="R62a5c04a24d64301" /><Relationship Type="http://schemas.openxmlformats.org/officeDocument/2006/relationships/notesSlide" Target="/ppt/notesSlides/notesSlide12.xml" Id="R84ff67401a54489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2f048e34318426a" /><Relationship Type="http://schemas.openxmlformats.org/officeDocument/2006/relationships/image" Target="/ppt/media/image15.png" Id="R508d27c689e14518" /><Relationship Type="http://schemas.openxmlformats.org/officeDocument/2006/relationships/notesSlide" Target="/ppt/notesSlides/notesSlide13.xml" Id="R140f9a7326db4e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a2b45f6f8cd4ecb" /><Relationship Type="http://schemas.openxmlformats.org/officeDocument/2006/relationships/image" Target="/ppt/media/image3.jpeg" Id="Rec44d90e25c042e9" /><Relationship Type="http://schemas.openxmlformats.org/officeDocument/2006/relationships/image" Target="/ppt/media/image16.png" Id="Ra8f2922811e8460e" /><Relationship Type="http://schemas.openxmlformats.org/officeDocument/2006/relationships/notesSlide" Target="/ppt/notesSlides/notesSlide14.xml" Id="Rced40d22d8654b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d37ab4341854118" /><Relationship Type="http://schemas.openxmlformats.org/officeDocument/2006/relationships/image" Target="/ppt/media/image17.png" Id="R1f5919320ff14df6" /><Relationship Type="http://schemas.openxmlformats.org/officeDocument/2006/relationships/notesSlide" Target="/ppt/notesSlides/notesSlide15.xml" Id="Ra03e7fce70a54e2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a442935ab9e4869" /><Relationship Type="http://schemas.openxmlformats.org/officeDocument/2006/relationships/image" Target="/ppt/media/image18.png" Id="R1e4a70b0bb514e4f" /><Relationship Type="http://schemas.openxmlformats.org/officeDocument/2006/relationships/notesSlide" Target="/ppt/notesSlides/notesSlide16.xml" Id="R5217cd70604049c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9a1e52661ac43ea" /><Relationship Type="http://schemas.openxmlformats.org/officeDocument/2006/relationships/image" Target="/ppt/media/image19.png" Id="R19da19a8e6c84098" /><Relationship Type="http://schemas.openxmlformats.org/officeDocument/2006/relationships/notesSlide" Target="/ppt/notesSlides/notesSlide17.xml" Id="R854b4ae62aad411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54426d882674efb" /><Relationship Type="http://schemas.openxmlformats.org/officeDocument/2006/relationships/image" Target="/ppt/media/image20.png" Id="R943a66b1607d483d" /><Relationship Type="http://schemas.openxmlformats.org/officeDocument/2006/relationships/notesSlide" Target="/ppt/notesSlides/notesSlide18.xml" Id="Rede8bca68b6b431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62b2bfc43894740" /><Relationship Type="http://schemas.openxmlformats.org/officeDocument/2006/relationships/image" Target="/ppt/media/image21.png" Id="R75158995f4654527" /><Relationship Type="http://schemas.openxmlformats.org/officeDocument/2006/relationships/notesSlide" Target="/ppt/notesSlides/notesSlide19.xml" Id="R364f2ca9c8824a1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291dfab5e92424b" /><Relationship Type="http://schemas.openxmlformats.org/officeDocument/2006/relationships/image" Target="/ppt/media/image22.png" Id="Rc211302ccd9f4552" /><Relationship Type="http://schemas.openxmlformats.org/officeDocument/2006/relationships/notesSlide" Target="/ppt/notesSlides/notesSlide20.xml" Id="Ra8ff46b747a7405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a9ae74afd554465" /><Relationship Type="http://schemas.openxmlformats.org/officeDocument/2006/relationships/image" Target="/ppt/media/image23.png" Id="Ra249ceec68194622" /><Relationship Type="http://schemas.openxmlformats.org/officeDocument/2006/relationships/notesSlide" Target="/ppt/notesSlides/notesSlide21.xml" Id="R55794e6b3cb5417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c31707d07344d3e" /><Relationship Type="http://schemas.openxmlformats.org/officeDocument/2006/relationships/image" Target="/ppt/media/image24.png" Id="Rb66c4ceeb1c2472d" /><Relationship Type="http://schemas.openxmlformats.org/officeDocument/2006/relationships/notesSlide" Target="/ppt/notesSlides/notesSlide22.xml" Id="R3771ebc1bd29495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cf6fc99c34c4682" /><Relationship Type="http://schemas.openxmlformats.org/officeDocument/2006/relationships/image" Target="/ppt/media/image25.png" Id="Ra2e3969b876e42e1" /><Relationship Type="http://schemas.openxmlformats.org/officeDocument/2006/relationships/notesSlide" Target="/ppt/notesSlides/notesSlide23.xml" Id="R8807fd20e263401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c30aac594c24353" /><Relationship Type="http://schemas.openxmlformats.org/officeDocument/2006/relationships/image" Target="/ppt/media/image4.jpeg" Id="Rca110a32c51f4fe3" /><Relationship Type="http://schemas.openxmlformats.org/officeDocument/2006/relationships/image" Target="/ppt/media/image26.png" Id="Rde15003eeeb94a7e" /><Relationship Type="http://schemas.openxmlformats.org/officeDocument/2006/relationships/notesSlide" Target="/ppt/notesSlides/notesSlide24.xml" Id="Rd00718f314de46a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4488c3b061494dd5" /><Relationship Type="http://schemas.openxmlformats.org/officeDocument/2006/relationships/image" Target="/ppt/media/image27.png" Id="Rd442f96ed98a4459" /><Relationship Type="http://schemas.openxmlformats.org/officeDocument/2006/relationships/notesSlide" Target="/ppt/notesSlides/notesSlide25.xml" Id="R2a81380252724ea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3ed2d7a5de34f07" /><Relationship Type="http://schemas.openxmlformats.org/officeDocument/2006/relationships/image" Target="/ppt/media/image28.png" Id="Re39ba714cc58475d" /><Relationship Type="http://schemas.openxmlformats.org/officeDocument/2006/relationships/notesSlide" Target="/ppt/notesSlides/notesSlide26.xml" Id="Racbb7090a039485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98942eef0804d5f" /><Relationship Type="http://schemas.openxmlformats.org/officeDocument/2006/relationships/image" Target="/ppt/media/image5.jpeg" Id="Rd5ab94c9a77b4535" /><Relationship Type="http://schemas.openxmlformats.org/officeDocument/2006/relationships/image" Target="/ppt/media/image29.png" Id="R4995b05817bb4244" /><Relationship Type="http://schemas.openxmlformats.org/officeDocument/2006/relationships/notesSlide" Target="/ppt/notesSlides/notesSlide27.xml" Id="Rdd762cc160774ad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44524f7578f4fa5" /><Relationship Type="http://schemas.openxmlformats.org/officeDocument/2006/relationships/image" Target="/ppt/media/image30.png" Id="R4d32a2e7d30642be" /><Relationship Type="http://schemas.openxmlformats.org/officeDocument/2006/relationships/image" Target="/ppt/media/image31.png" Id="R483759a47ba049f4" /><Relationship Type="http://schemas.openxmlformats.org/officeDocument/2006/relationships/notesSlide" Target="/ppt/notesSlides/notesSlide28.xml" Id="R80d83a7689864a7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2cd0e84e7984ac3" /><Relationship Type="http://schemas.openxmlformats.org/officeDocument/2006/relationships/image" Target="/ppt/media/image32.png" Id="Rdf178ae5f2634c0a" /><Relationship Type="http://schemas.openxmlformats.org/officeDocument/2006/relationships/notesSlide" Target="/ppt/notesSlides/notesSlide29.xml" Id="R34e63069bb994f2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135a7448a5d4c75" /><Relationship Type="http://schemas.openxmlformats.org/officeDocument/2006/relationships/image" Target="/ppt/media/image6.jpeg" Id="R1fdc478dc4014788" /><Relationship Type="http://schemas.openxmlformats.org/officeDocument/2006/relationships/image" Target="/ppt/media/image33.png" Id="R5588c15e96814e4a" /><Relationship Type="http://schemas.openxmlformats.org/officeDocument/2006/relationships/notesSlide" Target="/ppt/notesSlides/notesSlide30.xml" Id="R8506f099de4046c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0708656f84f4af3" /><Relationship Type="http://schemas.openxmlformats.org/officeDocument/2006/relationships/image" Target="/ppt/media/image34.png" Id="R4ae9e03bc9ba4541" /><Relationship Type="http://schemas.openxmlformats.org/officeDocument/2006/relationships/notesSlide" Target="/ppt/notesSlides/notesSlide31.xml" Id="R15bf3897ef824f5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33460ed47194e6b" /><Relationship Type="http://schemas.openxmlformats.org/officeDocument/2006/relationships/image" Target="/ppt/media/image35.png" Id="R69b2a5ef09504c5c" /><Relationship Type="http://schemas.openxmlformats.org/officeDocument/2006/relationships/notesSlide" Target="/ppt/notesSlides/notesSlide32.xml" Id="Re34be31ad91f42a6"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65433f9f089d4682" /><Relationship Type="http://schemas.openxmlformats.org/officeDocument/2006/relationships/image" Target="/ppt/media/image36.png" Id="R847a207321b24017" /><Relationship Type="http://schemas.openxmlformats.org/officeDocument/2006/relationships/notesSlide" Target="/ppt/notesSlides/notesSlide33.xml" Id="Rfe7ae1381e38418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1ad93d0c6d6846fb" /><Relationship Type="http://schemas.openxmlformats.org/officeDocument/2006/relationships/image" Target="/ppt/media/image37.png" Id="Rff0261e3619241e1" /><Relationship Type="http://schemas.openxmlformats.org/officeDocument/2006/relationships/image" Target="/ppt/media/image38.png" Id="R90dea80c23504821" /><Relationship Type="http://schemas.openxmlformats.org/officeDocument/2006/relationships/notesSlide" Target="/ppt/notesSlides/notesSlide34.xml" Id="R98d6c63f8e2149f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d53c5c0007849df" /><Relationship Type="http://schemas.openxmlformats.org/officeDocument/2006/relationships/image" Target="/ppt/media/image39.png" Id="R682b4b43792a44e2" /><Relationship Type="http://schemas.openxmlformats.org/officeDocument/2006/relationships/notesSlide" Target="/ppt/notesSlides/notesSlide35.xml" Id="R1156fb2d7bd449ee" /></Relationships>
</file>

<file path=ppt/slides/slide1.xml><?xml version="1.0" encoding="utf-8"?>
<p:sld xmlns:p="http://schemas.openxmlformats.org/presentationml/2006/main">
  <p:cSld>
    <p:bg>
      <p:bgPr>
        <a:solidFill xmlns:a="http://schemas.openxmlformats.org/drawingml/2006/main">
          <a:srgbClr val="041F3B"/>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0a8a888035041c5"/>
          <a:srcRect xmlns:a="http://schemas.openxmlformats.org/drawingml/2006/main" l="28634" t="0" r="28634" b="0"/>
          <a:stretch xmlns:a="http://schemas.openxmlformats.org/drawingml/2006/main">
            <a:fillRect l="0" t="0" r="0" b="0"/>
          </a:stretch>
        </p:blipFill>
        <p:spPr>
          <a:xfrm xmlns:a="http://schemas.openxmlformats.org/drawingml/2006/main">
            <a:off x="5238750" y="0"/>
            <a:ext cx="3905250" cy="5143500"/>
          </a:xfrm>
          <a:prstGeom xmlns:a="http://schemas.openxmlformats.org/drawingml/2006/main" prst="rect">
            <a:avLst/>
          </a:prstGeom>
        </p:spPr>
      </p:pic>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a1c0415f5c44df8"/>
          <a:stretch xmlns:a="http://schemas.openxmlformats.org/drawingml/2006/main"/>
        </p:blipFill>
        <p:spPr>
          <a:xfrm xmlns:a="http://schemas.openxmlformats.org/drawingml/2006/main">
            <a:off x="495300" y="328666"/>
            <a:ext cx="1790700" cy="323742"/>
          </a:xfrm>
          <a:prstGeom xmlns:a="http://schemas.openxmlformats.org/drawingml/2006/main" prst="rect">
            <a:avLst/>
          </a:prstGeom>
        </p:spPr>
      </p:pic>
      <p:sp>
        <p:nvSpPr>
          <p:cNvPr id="3" name="Applied Sustainability in Business and Management">
            <a:extLst xmlns:a="http://schemas.openxmlformats.org/drawingml/2006/main">
              <a:ext uri="{FF2B5EF4-FFF2-40B4-BE49-F238E27FC236}">
                <a16:creationId xmlns:a16="http://schemas.microsoft.com/office/drawing/2014/main" id="{573DA30A-BB38-49F1-AA29-C0A7B12641DA}"/>
              </a:ext>
            </a:extLst>
          </p:cNvPr>
          <p:cNvSpPr>
            <a:spLocks xmlns:a="http://schemas.openxmlformats.org/drawingml/2006/main" noGrp="1"/>
          </p:cNvSpPr>
          <p:nvPr/>
        </p:nvSpPr>
        <p:spPr>
          <a:xfrm xmlns:a="http://schemas.openxmlformats.org/drawingml/2006/main">
            <a:off x="495300" y="1066800"/>
            <a:ext cx="44196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Applied Sustainability</a:t>
            </a:r>
          </a:p>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in Business and</a:t>
            </a:r>
          </a:p>
          <a:p xmlns:a="http://schemas.openxmlformats.org/drawingml/2006/main">
            <a:pPr>
              <a:defRPr sz="3150" b="0">
                <a:solidFill>
                  <a:srgbClr val="F5F2EA"/>
                </a:solidFill>
                <a:latin typeface="Georgia"/>
                <a:ea typeface="Georgia"/>
                <a:cs typeface="Georgia"/>
              </a:defRPr>
            </a:pPr>
            <a:r>
              <a:rPr sz="3150" b="0">
                <a:solidFill>
                  <a:srgbClr val="F5F2EA"/>
                </a:solidFill>
                <a:latin typeface="Georgia"/>
                <a:ea typeface="Georgia"/>
                <a:cs typeface="Georgia"/>
              </a:rPr>
              <a:t>Management</a:t>
            </a:r>
          </a:p>
        </p:txBody>
      </p:sp>
      <p:sp>
        <p:nvSpPr>
          <p:cNvPr id="4" name="Lecture 2 — Pollution, Climate Resilience and the ">
            <a:extLst xmlns:a="http://schemas.openxmlformats.org/drawingml/2006/main">
              <a:ext uri="{FF2B5EF4-FFF2-40B4-BE49-F238E27FC236}">
                <a16:creationId xmlns:a16="http://schemas.microsoft.com/office/drawing/2014/main" id="{0FF85FDA-2EC3-4CA8-9F6A-181DE2570FBD}"/>
              </a:ext>
            </a:extLst>
          </p:cNvPr>
          <p:cNvSpPr>
            <a:spLocks xmlns:a="http://schemas.openxmlformats.org/drawingml/2006/main" noGrp="1"/>
          </p:cNvSpPr>
          <p:nvPr/>
        </p:nvSpPr>
        <p:spPr>
          <a:xfrm xmlns:a="http://schemas.openxmlformats.org/drawingml/2006/main">
            <a:off x="495300" y="2952750"/>
            <a:ext cx="4238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F5F2EA"/>
                </a:solidFill>
                <a:latin typeface="Arial"/>
                <a:ea typeface="Arial"/>
                <a:cs typeface="Arial"/>
              </a:defRPr>
            </a:pPr>
            <a:r>
              <a:rPr sz="1875" b="0">
                <a:solidFill>
                  <a:srgbClr val="F5F2EA"/>
                </a:solidFill>
                <a:latin typeface="Arial"/>
                <a:ea typeface="Arial"/>
                <a:cs typeface="Arial"/>
              </a:rPr>
              <a:t>Lecture 2 — Pollution, Climate</a:t>
            </a:r>
          </a:p>
          <a:p xmlns:a="http://schemas.openxmlformats.org/drawingml/2006/main">
            <a:pPr>
              <a:defRPr sz="1875" b="0">
                <a:solidFill>
                  <a:srgbClr val="F5F2EA"/>
                </a:solidFill>
                <a:latin typeface="Arial"/>
                <a:ea typeface="Arial"/>
                <a:cs typeface="Arial"/>
              </a:defRPr>
            </a:pPr>
            <a:r>
              <a:rPr sz="1875" b="0">
                <a:solidFill>
                  <a:srgbClr val="F5F2EA"/>
                </a:solidFill>
                <a:latin typeface="Arial"/>
                <a:ea typeface="Arial"/>
                <a:cs typeface="Arial"/>
              </a:rPr>
              <a:t>Resilience and the Circular Economy</a:t>
            </a:r>
          </a:p>
        </p:txBody>
      </p:sp>
      <p:sp>
        <p:nvSpPr>
          <p:cNvPr id="5" name="Ing. Arch. Jenan Hussein, MSc, PhD">
            <a:extLst xmlns:a="http://schemas.openxmlformats.org/drawingml/2006/main">
              <a:ext uri="{FF2B5EF4-FFF2-40B4-BE49-F238E27FC236}">
                <a16:creationId xmlns:a16="http://schemas.microsoft.com/office/drawing/2014/main" id="{6FE21D0A-6286-46A9-B738-A57C7EB74FAC}"/>
              </a:ext>
            </a:extLst>
          </p:cNvPr>
          <p:cNvSpPr>
            <a:spLocks xmlns:a="http://schemas.openxmlformats.org/drawingml/2006/main" noGrp="1"/>
          </p:cNvSpPr>
          <p:nvPr/>
        </p:nvSpPr>
        <p:spPr>
          <a:xfrm xmlns:a="http://schemas.openxmlformats.org/drawingml/2006/main">
            <a:off x="495300" y="4410075"/>
            <a:ext cx="430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25" b="0">
                <a:solidFill>
                  <a:srgbClr val="C7D0C6"/>
                </a:solidFill>
                <a:latin typeface="Arial"/>
                <a:ea typeface="Arial"/>
                <a:cs typeface="Arial"/>
              </a:defRPr>
            </a:pPr>
            <a:r>
              <a:rPr sz="1425" b="0">
                <a:solidFill>
                  <a:srgbClr val="C7D0C6"/>
                </a:solidFill>
                <a:latin typeface="Arial"/>
                <a:ea typeface="Arial"/>
                <a:cs typeface="Arial"/>
              </a:rPr>
              <a:t>Ing. Arch. Jenan Hussein, MSc, PhD</a:t>
            </a:r>
          </a:p>
        </p:txBody>
      </p:sp>
      <p:sp>
        <p:nvSpPr>
          <p:cNvPr id="6" name="jenanhussein83@gmail.com">
            <a:extLst xmlns:a="http://schemas.openxmlformats.org/drawingml/2006/main">
              <a:ext uri="{FF2B5EF4-FFF2-40B4-BE49-F238E27FC236}">
                <a16:creationId xmlns:a16="http://schemas.microsoft.com/office/drawing/2014/main" id="{7E8E4C23-2032-414D-BCB4-16882F5A0205}"/>
              </a:ext>
            </a:extLst>
          </p:cNvPr>
          <p:cNvSpPr>
            <a:spLocks xmlns:a="http://schemas.openxmlformats.org/drawingml/2006/main" noGrp="1"/>
          </p:cNvSpPr>
          <p:nvPr/>
        </p:nvSpPr>
        <p:spPr>
          <a:xfrm xmlns:a="http://schemas.openxmlformats.org/drawingml/2006/main">
            <a:off x="495300" y="4695825"/>
            <a:ext cx="430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C7D0C6"/>
                </a:solidFill>
                <a:latin typeface="Arial"/>
                <a:ea typeface="Arial"/>
                <a:cs typeface="Arial"/>
              </a:defRPr>
            </a:pPr>
            <a:r>
              <a:rPr sz="1350" b="0">
                <a:solidFill>
                  <a:srgbClr val="C7D0C6"/>
                </a:solidFill>
                <a:latin typeface="Arial"/>
                <a:ea typeface="Arial"/>
                <a:cs typeface="Arial"/>
              </a:rPr>
              <a:t>jenanhussein83@gmail.com</a:t>
            </a:r>
          </a:p>
        </p:txBody>
      </p:sp>
    </p:spTree>
    <p:extLst>
      <p:ext uri="{BB962C8B-B14F-4D97-AF65-F5344CB8AC3E}">
        <p14:creationId xmlns:p14="http://schemas.microsoft.com/office/powerpoint/2010/main" val="10683996"/>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9" name="Learning Objectives">
            <a:extLst xmlns:a="http://schemas.openxmlformats.org/drawingml/2006/main">
              <a:ext uri="{FF2B5EF4-FFF2-40B4-BE49-F238E27FC236}">
                <a16:creationId xmlns:a16="http://schemas.microsoft.com/office/drawing/2014/main" id="{C8ADA48C-0418-4698-93D2-BD4D93F10A94}"/>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Learning Objectives</a:t>
            </a:r>
          </a:p>
        </p:txBody>
      </p:sp>
      <p:sp>
        <p:nvSpPr>
          <p:cNvPr id="2" name="Editorial frame">
            <a:extLst xmlns:a="http://schemas.openxmlformats.org/drawingml/2006/main">
              <a:ext uri="{FF2B5EF4-FFF2-40B4-BE49-F238E27FC236}">
                <a16:creationId xmlns:a16="http://schemas.microsoft.com/office/drawing/2014/main" id="{9F4C95D1-06AE-4FF0-A887-3DA69B2B3353}"/>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82642A20-F386-44C5-9974-789892E99F91}"/>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By the end of this lecture you will be able to:">
            <a:extLst xmlns:a="http://schemas.openxmlformats.org/drawingml/2006/main">
              <a:ext uri="{FF2B5EF4-FFF2-40B4-BE49-F238E27FC236}">
                <a16:creationId xmlns:a16="http://schemas.microsoft.com/office/drawing/2014/main" id="{00D71BB4-0599-464A-9B1E-4E0C21486523}"/>
              </a:ext>
            </a:extLst>
          </p:cNvPr>
          <p:cNvSpPr>
            <a:spLocks xmlns:a="http://schemas.openxmlformats.org/drawingml/2006/main" noGrp="1"/>
          </p:cNvSpPr>
          <p:nvPr/>
        </p:nvSpPr>
        <p:spPr>
          <a:xfrm xmlns:a="http://schemas.openxmlformats.org/drawingml/2006/main">
            <a:off x="495300" y="14287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8665B"/>
                </a:solidFill>
                <a:latin typeface="Arial"/>
                <a:ea typeface="Arial"/>
                <a:cs typeface="Arial"/>
              </a:defRPr>
            </a:pPr>
            <a:r>
              <a:rPr sz="1650" b="0">
                <a:solidFill>
                  <a:srgbClr val="58665B"/>
                </a:solidFill>
                <a:latin typeface="Arial"/>
                <a:ea typeface="Arial"/>
                <a:cs typeface="Arial"/>
              </a:rPr>
              <a:t>By the end of this lecture you will be able to:</a:t>
            </a:r>
          </a:p>
        </p:txBody>
      </p:sp>
      <p:sp>
        <p:nvSpPr>
          <p:cNvPr id="5" name="Editorial frame">
            <a:extLst xmlns:a="http://schemas.openxmlformats.org/drawingml/2006/main">
              <a:ext uri="{FF2B5EF4-FFF2-40B4-BE49-F238E27FC236}">
                <a16:creationId xmlns:a16="http://schemas.microsoft.com/office/drawing/2014/main" id="{32341C06-B945-46E6-B531-F8C7DA087CF4}"/>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6" name="Editorial frame">
            <a:extLst xmlns:a="http://schemas.openxmlformats.org/drawingml/2006/main">
              <a:ext uri="{FF2B5EF4-FFF2-40B4-BE49-F238E27FC236}">
                <a16:creationId xmlns:a16="http://schemas.microsoft.com/office/drawing/2014/main" id="{CF6C1074-D302-4261-90B4-B4EBA66BE804}"/>
              </a:ext>
            </a:extLst>
          </p:cNvPr>
          <p:cNvSpPr>
            <a:spLocks xmlns:a="http://schemas.openxmlformats.org/drawingml/2006/main" noGrp="1"/>
          </p:cNvSpPr>
          <p:nvPr/>
        </p:nvSpPr>
        <p:spPr>
          <a:xfrm xmlns:a="http://schemas.openxmlformats.org/drawingml/2006/main">
            <a:off x="4562475" y="1857375"/>
            <a:ext cx="9525"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7" name="01">
            <a:extLst xmlns:a="http://schemas.openxmlformats.org/drawingml/2006/main">
              <a:ext uri="{FF2B5EF4-FFF2-40B4-BE49-F238E27FC236}">
                <a16:creationId xmlns:a16="http://schemas.microsoft.com/office/drawing/2014/main" id="{1BA1F6E1-4E9A-4C72-88B7-C1669BE09F1D}"/>
              </a:ext>
            </a:extLst>
          </p:cNvPr>
          <p:cNvSpPr>
            <a:spLocks xmlns:a="http://schemas.openxmlformats.org/drawingml/2006/main" noGrp="1"/>
          </p:cNvSpPr>
          <p:nvPr/>
        </p:nvSpPr>
        <p:spPr>
          <a:xfrm xmlns:a="http://schemas.openxmlformats.org/drawingml/2006/main">
            <a:off x="495300" y="20288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01</a:t>
            </a:r>
          </a:p>
        </p:txBody>
      </p:sp>
      <p:sp>
        <p:nvSpPr>
          <p:cNvPr id="8" name="Explain how pollution and emission scopes affect b">
            <a:extLst xmlns:a="http://schemas.openxmlformats.org/drawingml/2006/main">
              <a:ext uri="{FF2B5EF4-FFF2-40B4-BE49-F238E27FC236}">
                <a16:creationId xmlns:a16="http://schemas.microsoft.com/office/drawing/2014/main" id="{DF85FA12-F9C8-47DE-A169-B066203DA472}"/>
              </a:ext>
            </a:extLst>
          </p:cNvPr>
          <p:cNvSpPr>
            <a:spLocks xmlns:a="http://schemas.openxmlformats.org/drawingml/2006/main" noGrp="1"/>
          </p:cNvSpPr>
          <p:nvPr/>
        </p:nvSpPr>
        <p:spPr>
          <a:xfrm xmlns:a="http://schemas.openxmlformats.org/drawingml/2006/main">
            <a:off x="952500" y="202882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Explain how pollution and emission</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scopes affect business decisions.</a:t>
            </a:r>
          </a:p>
        </p:txBody>
      </p:sp>
      <p:sp>
        <p:nvSpPr>
          <p:cNvPr id="9" name="Editorial frame">
            <a:extLst xmlns:a="http://schemas.openxmlformats.org/drawingml/2006/main">
              <a:ext uri="{FF2B5EF4-FFF2-40B4-BE49-F238E27FC236}">
                <a16:creationId xmlns:a16="http://schemas.microsoft.com/office/drawing/2014/main" id="{1E3BE0A8-9134-4D50-BAC9-0EF5DBBC951D}"/>
              </a:ext>
            </a:extLst>
          </p:cNvPr>
          <p:cNvSpPr>
            <a:spLocks xmlns:a="http://schemas.openxmlformats.org/drawingml/2006/main" noGrp="1"/>
          </p:cNvSpPr>
          <p:nvPr/>
        </p:nvSpPr>
        <p:spPr>
          <a:xfrm xmlns:a="http://schemas.openxmlformats.org/drawingml/2006/main">
            <a:off x="952500" y="25812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0" name="02">
            <a:extLst xmlns:a="http://schemas.openxmlformats.org/drawingml/2006/main">
              <a:ext uri="{FF2B5EF4-FFF2-40B4-BE49-F238E27FC236}">
                <a16:creationId xmlns:a16="http://schemas.microsoft.com/office/drawing/2014/main" id="{445663D2-00F3-4129-A451-7F226F160DD3}"/>
              </a:ext>
            </a:extLst>
          </p:cNvPr>
          <p:cNvSpPr>
            <a:spLocks xmlns:a="http://schemas.openxmlformats.org/drawingml/2006/main" noGrp="1"/>
          </p:cNvSpPr>
          <p:nvPr/>
        </p:nvSpPr>
        <p:spPr>
          <a:xfrm xmlns:a="http://schemas.openxmlformats.org/drawingml/2006/main">
            <a:off x="495300" y="26955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02</a:t>
            </a:r>
          </a:p>
        </p:txBody>
      </p:sp>
      <p:sp>
        <p:nvSpPr>
          <p:cNvPr id="11" name="Identify climate risks to operations, workers and ">
            <a:extLst xmlns:a="http://schemas.openxmlformats.org/drawingml/2006/main">
              <a:ext uri="{FF2B5EF4-FFF2-40B4-BE49-F238E27FC236}">
                <a16:creationId xmlns:a16="http://schemas.microsoft.com/office/drawing/2014/main" id="{4D6FECC3-0BD2-46C4-8230-E6BB514463C7}"/>
              </a:ext>
            </a:extLst>
          </p:cNvPr>
          <p:cNvSpPr>
            <a:spLocks xmlns:a="http://schemas.openxmlformats.org/drawingml/2006/main" noGrp="1"/>
          </p:cNvSpPr>
          <p:nvPr/>
        </p:nvSpPr>
        <p:spPr>
          <a:xfrm xmlns:a="http://schemas.openxmlformats.org/drawingml/2006/main">
            <a:off x="952500" y="269557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Identify climate risks to operations,</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workers and suppliers.</a:t>
            </a:r>
          </a:p>
        </p:txBody>
      </p:sp>
      <p:sp>
        <p:nvSpPr>
          <p:cNvPr id="12" name="Editorial frame">
            <a:extLst xmlns:a="http://schemas.openxmlformats.org/drawingml/2006/main">
              <a:ext uri="{FF2B5EF4-FFF2-40B4-BE49-F238E27FC236}">
                <a16:creationId xmlns:a16="http://schemas.microsoft.com/office/drawing/2014/main" id="{030DC1A8-924E-4962-8FC7-72258EB14DAA}"/>
              </a:ext>
            </a:extLst>
          </p:cNvPr>
          <p:cNvSpPr>
            <a:spLocks xmlns:a="http://schemas.openxmlformats.org/drawingml/2006/main" noGrp="1"/>
          </p:cNvSpPr>
          <p:nvPr/>
        </p:nvSpPr>
        <p:spPr>
          <a:xfrm xmlns:a="http://schemas.openxmlformats.org/drawingml/2006/main">
            <a:off x="952500" y="324802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3" name="03">
            <a:extLst xmlns:a="http://schemas.openxmlformats.org/drawingml/2006/main">
              <a:ext uri="{FF2B5EF4-FFF2-40B4-BE49-F238E27FC236}">
                <a16:creationId xmlns:a16="http://schemas.microsoft.com/office/drawing/2014/main" id="{A39C9234-CA13-4D23-9C22-758031729768}"/>
              </a:ext>
            </a:extLst>
          </p:cNvPr>
          <p:cNvSpPr>
            <a:spLocks xmlns:a="http://schemas.openxmlformats.org/drawingml/2006/main" noGrp="1"/>
          </p:cNvSpPr>
          <p:nvPr/>
        </p:nvSpPr>
        <p:spPr>
          <a:xfrm xmlns:a="http://schemas.openxmlformats.org/drawingml/2006/main">
            <a:off x="495300" y="33623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03</a:t>
            </a:r>
          </a:p>
        </p:txBody>
      </p:sp>
      <p:sp>
        <p:nvSpPr>
          <p:cNvPr id="14" name="Compare nature-based and engineered adaptation opt">
            <a:extLst xmlns:a="http://schemas.openxmlformats.org/drawingml/2006/main">
              <a:ext uri="{FF2B5EF4-FFF2-40B4-BE49-F238E27FC236}">
                <a16:creationId xmlns:a16="http://schemas.microsoft.com/office/drawing/2014/main" id="{5954737E-2511-4870-AF61-C5544FED437C}"/>
              </a:ext>
            </a:extLst>
          </p:cNvPr>
          <p:cNvSpPr>
            <a:spLocks xmlns:a="http://schemas.openxmlformats.org/drawingml/2006/main" noGrp="1"/>
          </p:cNvSpPr>
          <p:nvPr/>
        </p:nvSpPr>
        <p:spPr>
          <a:xfrm xmlns:a="http://schemas.openxmlformats.org/drawingml/2006/main">
            <a:off x="952500" y="336232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Compare nature-based and</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engineered adaptation options.</a:t>
            </a:r>
          </a:p>
        </p:txBody>
      </p:sp>
      <p:sp>
        <p:nvSpPr>
          <p:cNvPr id="15" name="Editorial frame">
            <a:extLst xmlns:a="http://schemas.openxmlformats.org/drawingml/2006/main">
              <a:ext uri="{FF2B5EF4-FFF2-40B4-BE49-F238E27FC236}">
                <a16:creationId xmlns:a16="http://schemas.microsoft.com/office/drawing/2014/main" id="{21BBF2F6-08CF-409D-A52F-E3471F3C66F5}"/>
              </a:ext>
            </a:extLst>
          </p:cNvPr>
          <p:cNvSpPr>
            <a:spLocks xmlns:a="http://schemas.openxmlformats.org/drawingml/2006/main" noGrp="1"/>
          </p:cNvSpPr>
          <p:nvPr/>
        </p:nvSpPr>
        <p:spPr>
          <a:xfrm xmlns:a="http://schemas.openxmlformats.org/drawingml/2006/main">
            <a:off x="952500" y="39147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6" name="04">
            <a:extLst xmlns:a="http://schemas.openxmlformats.org/drawingml/2006/main">
              <a:ext uri="{FF2B5EF4-FFF2-40B4-BE49-F238E27FC236}">
                <a16:creationId xmlns:a16="http://schemas.microsoft.com/office/drawing/2014/main" id="{7E217AC8-723F-4BC8-A8C9-FCC0BF3CDCED}"/>
              </a:ext>
            </a:extLst>
          </p:cNvPr>
          <p:cNvSpPr>
            <a:spLocks xmlns:a="http://schemas.openxmlformats.org/drawingml/2006/main" noGrp="1"/>
          </p:cNvSpPr>
          <p:nvPr/>
        </p:nvSpPr>
        <p:spPr>
          <a:xfrm xmlns:a="http://schemas.openxmlformats.org/drawingml/2006/main">
            <a:off x="495300" y="40290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04</a:t>
            </a:r>
          </a:p>
        </p:txBody>
      </p:sp>
      <p:sp>
        <p:nvSpPr>
          <p:cNvPr id="17" name="Distinguish linear and circular business models.">
            <a:extLst xmlns:a="http://schemas.openxmlformats.org/drawingml/2006/main">
              <a:ext uri="{FF2B5EF4-FFF2-40B4-BE49-F238E27FC236}">
                <a16:creationId xmlns:a16="http://schemas.microsoft.com/office/drawing/2014/main" id="{50881301-0D66-44D3-B4BE-A85613D5BBC8}"/>
              </a:ext>
            </a:extLst>
          </p:cNvPr>
          <p:cNvSpPr>
            <a:spLocks xmlns:a="http://schemas.openxmlformats.org/drawingml/2006/main" noGrp="1"/>
          </p:cNvSpPr>
          <p:nvPr/>
        </p:nvSpPr>
        <p:spPr>
          <a:xfrm xmlns:a="http://schemas.openxmlformats.org/drawingml/2006/main">
            <a:off x="952500" y="4029075"/>
            <a:ext cx="337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Distinguish linear and circular</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business models.</a:t>
            </a:r>
          </a:p>
        </p:txBody>
      </p:sp>
      <p:sp>
        <p:nvSpPr>
          <p:cNvPr id="18" name="05">
            <a:extLst xmlns:a="http://schemas.openxmlformats.org/drawingml/2006/main">
              <a:ext uri="{FF2B5EF4-FFF2-40B4-BE49-F238E27FC236}">
                <a16:creationId xmlns:a16="http://schemas.microsoft.com/office/drawing/2014/main" id="{AC3671DE-DB1B-4BEC-A13C-B44641CB685D}"/>
              </a:ext>
            </a:extLst>
          </p:cNvPr>
          <p:cNvSpPr>
            <a:spLocks xmlns:a="http://schemas.openxmlformats.org/drawingml/2006/main" noGrp="1"/>
          </p:cNvSpPr>
          <p:nvPr/>
        </p:nvSpPr>
        <p:spPr>
          <a:xfrm xmlns:a="http://schemas.openxmlformats.org/drawingml/2006/main">
            <a:off x="4819650" y="20288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05</a:t>
            </a:r>
          </a:p>
        </p:txBody>
      </p:sp>
      <p:sp>
        <p:nvSpPr>
          <p:cNvPr id="19" name="Use the R-ladder to preserve product and material ">
            <a:extLst xmlns:a="http://schemas.openxmlformats.org/drawingml/2006/main">
              <a:ext uri="{FF2B5EF4-FFF2-40B4-BE49-F238E27FC236}">
                <a16:creationId xmlns:a16="http://schemas.microsoft.com/office/drawing/2014/main" id="{C5E8EB4D-0A53-419C-97A8-1878443C9FDE}"/>
              </a:ext>
            </a:extLst>
          </p:cNvPr>
          <p:cNvSpPr>
            <a:spLocks xmlns:a="http://schemas.openxmlformats.org/drawingml/2006/main" noGrp="1"/>
          </p:cNvSpPr>
          <p:nvPr/>
        </p:nvSpPr>
        <p:spPr>
          <a:xfrm xmlns:a="http://schemas.openxmlformats.org/drawingml/2006/main">
            <a:off x="5276850" y="2028825"/>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Use the R-ladder to preserve</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product and material value.</a:t>
            </a:r>
          </a:p>
        </p:txBody>
      </p:sp>
      <p:sp>
        <p:nvSpPr>
          <p:cNvPr id="20" name="Editorial frame">
            <a:extLst xmlns:a="http://schemas.openxmlformats.org/drawingml/2006/main">
              <a:ext uri="{FF2B5EF4-FFF2-40B4-BE49-F238E27FC236}">
                <a16:creationId xmlns:a16="http://schemas.microsoft.com/office/drawing/2014/main" id="{3596DC4E-FB56-4A2E-AA68-4836D0367D03}"/>
              </a:ext>
            </a:extLst>
          </p:cNvPr>
          <p:cNvSpPr>
            <a:spLocks xmlns:a="http://schemas.openxmlformats.org/drawingml/2006/main" noGrp="1"/>
          </p:cNvSpPr>
          <p:nvPr/>
        </p:nvSpPr>
        <p:spPr>
          <a:xfrm xmlns:a="http://schemas.openxmlformats.org/drawingml/2006/main">
            <a:off x="5276850" y="2724150"/>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1" name="06">
            <a:extLst xmlns:a="http://schemas.openxmlformats.org/drawingml/2006/main">
              <a:ext uri="{FF2B5EF4-FFF2-40B4-BE49-F238E27FC236}">
                <a16:creationId xmlns:a16="http://schemas.microsoft.com/office/drawing/2014/main" id="{924EF013-8DBF-49EE-A87E-0FB8C55475E8}"/>
              </a:ext>
            </a:extLst>
          </p:cNvPr>
          <p:cNvSpPr>
            <a:spLocks xmlns:a="http://schemas.openxmlformats.org/drawingml/2006/main" noGrp="1"/>
          </p:cNvSpPr>
          <p:nvPr/>
        </p:nvSpPr>
        <p:spPr>
          <a:xfrm xmlns:a="http://schemas.openxmlformats.org/drawingml/2006/main">
            <a:off x="4819650" y="2838450"/>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06</a:t>
            </a:r>
          </a:p>
        </p:txBody>
      </p:sp>
      <p:sp>
        <p:nvSpPr>
          <p:cNvPr id="22" name="Evaluate circular practices in company and city ca">
            <a:extLst xmlns:a="http://schemas.openxmlformats.org/drawingml/2006/main">
              <a:ext uri="{FF2B5EF4-FFF2-40B4-BE49-F238E27FC236}">
                <a16:creationId xmlns:a16="http://schemas.microsoft.com/office/drawing/2014/main" id="{B86128F6-5C8D-4BA0-B169-927CCB5E5875}"/>
              </a:ext>
            </a:extLst>
          </p:cNvPr>
          <p:cNvSpPr>
            <a:spLocks xmlns:a="http://schemas.openxmlformats.org/drawingml/2006/main" noGrp="1"/>
          </p:cNvSpPr>
          <p:nvPr/>
        </p:nvSpPr>
        <p:spPr>
          <a:xfrm xmlns:a="http://schemas.openxmlformats.org/drawingml/2006/main">
            <a:off x="5276850" y="2838450"/>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Evaluate circular practices in</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company and city cases.</a:t>
            </a:r>
          </a:p>
        </p:txBody>
      </p:sp>
      <p:sp>
        <p:nvSpPr>
          <p:cNvPr id="23" name="Editorial frame">
            <a:extLst xmlns:a="http://schemas.openxmlformats.org/drawingml/2006/main">
              <a:ext uri="{FF2B5EF4-FFF2-40B4-BE49-F238E27FC236}">
                <a16:creationId xmlns:a16="http://schemas.microsoft.com/office/drawing/2014/main" id="{3AB2BB46-C7CA-4713-81B9-9DC5D1B6C246}"/>
              </a:ext>
            </a:extLst>
          </p:cNvPr>
          <p:cNvSpPr>
            <a:spLocks xmlns:a="http://schemas.openxmlformats.org/drawingml/2006/main" noGrp="1"/>
          </p:cNvSpPr>
          <p:nvPr/>
        </p:nvSpPr>
        <p:spPr>
          <a:xfrm xmlns:a="http://schemas.openxmlformats.org/drawingml/2006/main">
            <a:off x="5276850" y="3533775"/>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4" name="07">
            <a:extLst xmlns:a="http://schemas.openxmlformats.org/drawingml/2006/main">
              <a:ext uri="{FF2B5EF4-FFF2-40B4-BE49-F238E27FC236}">
                <a16:creationId xmlns:a16="http://schemas.microsoft.com/office/drawing/2014/main" id="{A9D4AF69-6ACF-4B5A-A44C-87C2F97C4B47}"/>
              </a:ext>
            </a:extLst>
          </p:cNvPr>
          <p:cNvSpPr>
            <a:spLocks xmlns:a="http://schemas.openxmlformats.org/drawingml/2006/main" noGrp="1"/>
          </p:cNvSpPr>
          <p:nvPr/>
        </p:nvSpPr>
        <p:spPr>
          <a:xfrm xmlns:a="http://schemas.openxmlformats.org/drawingml/2006/main">
            <a:off x="4819650" y="364807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07</a:t>
            </a:r>
          </a:p>
        </p:txBody>
      </p:sp>
      <p:sp>
        <p:nvSpPr>
          <p:cNvPr id="25" name="Design a resource loop with a payer, owner and mea">
            <a:extLst xmlns:a="http://schemas.openxmlformats.org/drawingml/2006/main">
              <a:ext uri="{FF2B5EF4-FFF2-40B4-BE49-F238E27FC236}">
                <a16:creationId xmlns:a16="http://schemas.microsoft.com/office/drawing/2014/main" id="{79B2493A-DF1C-47F5-BF0D-82EBCB615DFD}"/>
              </a:ext>
            </a:extLst>
          </p:cNvPr>
          <p:cNvSpPr>
            <a:spLocks xmlns:a="http://schemas.openxmlformats.org/drawingml/2006/main" noGrp="1"/>
          </p:cNvSpPr>
          <p:nvPr/>
        </p:nvSpPr>
        <p:spPr>
          <a:xfrm xmlns:a="http://schemas.openxmlformats.org/drawingml/2006/main">
            <a:off x="5276850" y="3648075"/>
            <a:ext cx="33718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Design a resource loop with a payer,</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owner and measure of success.</a:t>
            </a:r>
          </a:p>
        </p:txBody>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00f7882cb0fe47b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7" name="www.newton.university">
            <a:extLst xmlns:a="http://schemas.openxmlformats.org/drawingml/2006/main">
              <a:ext uri="{FF2B5EF4-FFF2-40B4-BE49-F238E27FC236}">
                <a16:creationId xmlns:a16="http://schemas.microsoft.com/office/drawing/2014/main" id="{441F9F91-0B81-428E-9769-9DC1C86BF85C}"/>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8" name="02">
            <a:extLst xmlns:a="http://schemas.openxmlformats.org/drawingml/2006/main">
              <a:ext uri="{FF2B5EF4-FFF2-40B4-BE49-F238E27FC236}">
                <a16:creationId xmlns:a16="http://schemas.microsoft.com/office/drawing/2014/main" id="{0273F86C-3637-46A8-94D7-1BFA3820948B}"/>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02</a:t>
            </a:r>
          </a:p>
        </p:txBody>
      </p:sp>
    </p:spTree>
    <p:extLst>
      <p:ext uri="{BB962C8B-B14F-4D97-AF65-F5344CB8AC3E}">
        <p14:creationId xmlns:p14="http://schemas.microsoft.com/office/powerpoint/2010/main" val="692340784"/>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3" name="Today's Lecture Agenda">
            <a:extLst xmlns:a="http://schemas.openxmlformats.org/drawingml/2006/main">
              <a:ext uri="{FF2B5EF4-FFF2-40B4-BE49-F238E27FC236}">
                <a16:creationId xmlns:a16="http://schemas.microsoft.com/office/drawing/2014/main" id="{71D74045-183A-407D-A315-D33DEEFDAF0A}"/>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Today's Lecture Agenda</a:t>
            </a:r>
          </a:p>
        </p:txBody>
      </p:sp>
      <p:sp>
        <p:nvSpPr>
          <p:cNvPr id="2" name="Editorial frame">
            <a:extLst xmlns:a="http://schemas.openxmlformats.org/drawingml/2006/main">
              <a:ext uri="{FF2B5EF4-FFF2-40B4-BE49-F238E27FC236}">
                <a16:creationId xmlns:a16="http://schemas.microsoft.com/office/drawing/2014/main" id="{FBD4B964-960E-46DA-BA67-5AE52CA6DDC6}"/>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92BD387E-CC0B-4ED3-8273-F41182EC7163}"/>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CA3B69A3-D5FB-49BE-98DA-D097EFD01AE1}"/>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5" name="Before the break">
            <a:extLst xmlns:a="http://schemas.openxmlformats.org/drawingml/2006/main">
              <a:ext uri="{FF2B5EF4-FFF2-40B4-BE49-F238E27FC236}">
                <a16:creationId xmlns:a16="http://schemas.microsoft.com/office/drawing/2014/main" id="{4A83FA12-6A6A-44E0-A05E-7E10F2844B32}"/>
              </a:ext>
            </a:extLst>
          </p:cNvPr>
          <p:cNvSpPr>
            <a:spLocks xmlns:a="http://schemas.openxmlformats.org/drawingml/2006/main" noGrp="1"/>
          </p:cNvSpPr>
          <p:nvPr/>
        </p:nvSpPr>
        <p:spPr>
          <a:xfrm xmlns:a="http://schemas.openxmlformats.org/drawingml/2006/main">
            <a:off x="495300" y="1485900"/>
            <a:ext cx="3857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Before the break</a:t>
            </a:r>
          </a:p>
        </p:txBody>
      </p:sp>
      <p:sp>
        <p:nvSpPr>
          <p:cNvPr id="6" name="Editorial frame">
            <a:extLst xmlns:a="http://schemas.openxmlformats.org/drawingml/2006/main">
              <a:ext uri="{FF2B5EF4-FFF2-40B4-BE49-F238E27FC236}">
                <a16:creationId xmlns:a16="http://schemas.microsoft.com/office/drawing/2014/main" id="{F5C05D69-65DB-4C5A-9642-0A1E7F43279C}"/>
              </a:ext>
            </a:extLst>
          </p:cNvPr>
          <p:cNvSpPr>
            <a:spLocks xmlns:a="http://schemas.openxmlformats.org/drawingml/2006/main" noGrp="1"/>
          </p:cNvSpPr>
          <p:nvPr/>
        </p:nvSpPr>
        <p:spPr>
          <a:xfrm xmlns:a="http://schemas.openxmlformats.org/drawingml/2006/main">
            <a:off x="495300" y="1914525"/>
            <a:ext cx="3819525" cy="952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7" name="Part 1 — Pollution in the Urban Environment">
            <a:extLst xmlns:a="http://schemas.openxmlformats.org/drawingml/2006/main">
              <a:ext uri="{FF2B5EF4-FFF2-40B4-BE49-F238E27FC236}">
                <a16:creationId xmlns:a16="http://schemas.microsoft.com/office/drawing/2014/main" id="{20E59D74-BD15-4D60-9D0D-8CA8192CDF2B}"/>
              </a:ext>
            </a:extLst>
          </p:cNvPr>
          <p:cNvSpPr>
            <a:spLocks xmlns:a="http://schemas.openxmlformats.org/drawingml/2006/main" noGrp="1"/>
          </p:cNvSpPr>
          <p:nvPr/>
        </p:nvSpPr>
        <p:spPr>
          <a:xfrm xmlns:a="http://schemas.openxmlformats.org/drawingml/2006/main">
            <a:off x="495300" y="2076450"/>
            <a:ext cx="3781425"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63" b="0">
                <a:solidFill>
                  <a:srgbClr val="173E35"/>
                </a:solidFill>
                <a:latin typeface="Arial"/>
                <a:ea typeface="Arial"/>
                <a:cs typeface="Arial"/>
              </a:defRPr>
            </a:pPr>
            <a:r>
              <a:rPr sz="1463" b="0">
                <a:solidFill>
                  <a:srgbClr val="173E35"/>
                </a:solidFill>
                <a:latin typeface="Arial"/>
                <a:ea typeface="Arial"/>
                <a:cs typeface="Arial"/>
              </a:rPr>
              <a:t>Part 1 — Pollution in the Urban Environment</a:t>
            </a:r>
          </a:p>
        </p:txBody>
      </p:sp>
      <p:sp>
        <p:nvSpPr>
          <p:cNvPr id="8" name="Part 2 — Climate Change and Urban Resilience">
            <a:extLst xmlns:a="http://schemas.openxmlformats.org/drawingml/2006/main">
              <a:ext uri="{FF2B5EF4-FFF2-40B4-BE49-F238E27FC236}">
                <a16:creationId xmlns:a16="http://schemas.microsoft.com/office/drawing/2014/main" id="{ABD642AD-373A-4962-8FAE-C1079BE1DCA7}"/>
              </a:ext>
            </a:extLst>
          </p:cNvPr>
          <p:cNvSpPr>
            <a:spLocks xmlns:a="http://schemas.openxmlformats.org/drawingml/2006/main" noGrp="1"/>
          </p:cNvSpPr>
          <p:nvPr/>
        </p:nvSpPr>
        <p:spPr>
          <a:xfrm xmlns:a="http://schemas.openxmlformats.org/drawingml/2006/main">
            <a:off x="495300" y="2461260"/>
            <a:ext cx="3781425" cy="4743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63" b="0">
                <a:solidFill>
                  <a:srgbClr val="173E35"/>
                </a:solidFill>
                <a:latin typeface="Arial"/>
                <a:ea typeface="Arial"/>
                <a:cs typeface="Arial"/>
              </a:defRPr>
            </a:pPr>
            <a:r>
              <a:rPr sz="1463" b="0">
                <a:solidFill>
                  <a:srgbClr val="173E35"/>
                </a:solidFill>
                <a:latin typeface="Arial"/>
                <a:ea typeface="Arial"/>
                <a:cs typeface="Arial"/>
              </a:rPr>
              <a:t>Part 2 — Climate Change and Urban</a:t>
            </a:r>
          </a:p>
          <a:p xmlns:a="http://schemas.openxmlformats.org/drawingml/2006/main">
            <a:pPr>
              <a:defRPr sz="1463" b="0">
                <a:solidFill>
                  <a:srgbClr val="173E35"/>
                </a:solidFill>
                <a:latin typeface="Arial"/>
                <a:ea typeface="Arial"/>
                <a:cs typeface="Arial"/>
              </a:defRPr>
            </a:pPr>
            <a:r>
              <a:rPr sz="1463" b="0">
                <a:solidFill>
                  <a:srgbClr val="173E35"/>
                </a:solidFill>
                <a:latin typeface="Arial"/>
                <a:ea typeface="Arial"/>
                <a:cs typeface="Arial"/>
              </a:rPr>
              <a:t>Resilience</a:t>
            </a:r>
          </a:p>
        </p:txBody>
      </p:sp>
      <p:sp>
        <p:nvSpPr>
          <p:cNvPr id="9" name="Part 3 — Nature-Based Adaptation for Business">
            <a:extLst xmlns:a="http://schemas.openxmlformats.org/drawingml/2006/main">
              <a:ext uri="{FF2B5EF4-FFF2-40B4-BE49-F238E27FC236}">
                <a16:creationId xmlns:a16="http://schemas.microsoft.com/office/drawing/2014/main" id="{E264B562-AE35-4F53-9B60-38F673857E93}"/>
              </a:ext>
            </a:extLst>
          </p:cNvPr>
          <p:cNvSpPr>
            <a:spLocks xmlns:a="http://schemas.openxmlformats.org/drawingml/2006/main" noGrp="1"/>
          </p:cNvSpPr>
          <p:nvPr/>
        </p:nvSpPr>
        <p:spPr>
          <a:xfrm xmlns:a="http://schemas.openxmlformats.org/drawingml/2006/main">
            <a:off x="495300" y="3068955"/>
            <a:ext cx="3781425" cy="4743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63" b="0">
                <a:solidFill>
                  <a:srgbClr val="173E35"/>
                </a:solidFill>
                <a:latin typeface="Arial"/>
                <a:ea typeface="Arial"/>
                <a:cs typeface="Arial"/>
              </a:defRPr>
            </a:pPr>
            <a:r>
              <a:rPr sz="1463" b="0">
                <a:solidFill>
                  <a:srgbClr val="173E35"/>
                </a:solidFill>
                <a:latin typeface="Arial"/>
                <a:ea typeface="Arial"/>
                <a:cs typeface="Arial"/>
              </a:rPr>
              <a:t>Part 3 — Nature-Based Adaptation for</a:t>
            </a:r>
          </a:p>
          <a:p xmlns:a="http://schemas.openxmlformats.org/drawingml/2006/main">
            <a:pPr>
              <a:defRPr sz="1463" b="0">
                <a:solidFill>
                  <a:srgbClr val="173E35"/>
                </a:solidFill>
                <a:latin typeface="Arial"/>
                <a:ea typeface="Arial"/>
                <a:cs typeface="Arial"/>
              </a:defRPr>
            </a:pPr>
            <a:r>
              <a:rPr sz="1463" b="0">
                <a:solidFill>
                  <a:srgbClr val="173E35"/>
                </a:solidFill>
                <a:latin typeface="Arial"/>
                <a:ea typeface="Arial"/>
                <a:cs typeface="Arial"/>
              </a:rPr>
              <a:t>Business</a:t>
            </a:r>
          </a:p>
        </p:txBody>
      </p:sp>
      <p:sp>
        <p:nvSpPr>
          <p:cNvPr id="10" name="Prague Case Study — Heat Islands and Mitigation">
            <a:extLst xmlns:a="http://schemas.openxmlformats.org/drawingml/2006/main">
              <a:ext uri="{FF2B5EF4-FFF2-40B4-BE49-F238E27FC236}">
                <a16:creationId xmlns:a16="http://schemas.microsoft.com/office/drawing/2014/main" id="{C9D104D8-D8B5-4C6C-A59C-169C744CFBBE}"/>
              </a:ext>
            </a:extLst>
          </p:cNvPr>
          <p:cNvSpPr>
            <a:spLocks xmlns:a="http://schemas.openxmlformats.org/drawingml/2006/main" noGrp="1"/>
          </p:cNvSpPr>
          <p:nvPr/>
        </p:nvSpPr>
        <p:spPr>
          <a:xfrm xmlns:a="http://schemas.openxmlformats.org/drawingml/2006/main">
            <a:off x="495300" y="3676650"/>
            <a:ext cx="3781425" cy="4743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63" b="0">
                <a:solidFill>
                  <a:srgbClr val="173E35"/>
                </a:solidFill>
                <a:latin typeface="Arial"/>
                <a:ea typeface="Arial"/>
                <a:cs typeface="Arial"/>
              </a:defRPr>
            </a:pPr>
            <a:r>
              <a:rPr sz="1463" b="0">
                <a:solidFill>
                  <a:srgbClr val="173E35"/>
                </a:solidFill>
                <a:latin typeface="Arial"/>
                <a:ea typeface="Arial"/>
                <a:cs typeface="Arial"/>
              </a:rPr>
              <a:t>Prague Case Study — Heat Islands and</a:t>
            </a:r>
          </a:p>
          <a:p xmlns:a="http://schemas.openxmlformats.org/drawingml/2006/main">
            <a:pPr>
              <a:defRPr sz="1463" b="0">
                <a:solidFill>
                  <a:srgbClr val="173E35"/>
                </a:solidFill>
                <a:latin typeface="Arial"/>
                <a:ea typeface="Arial"/>
                <a:cs typeface="Arial"/>
              </a:defRPr>
            </a:pPr>
            <a:r>
              <a:rPr sz="1463" b="0">
                <a:solidFill>
                  <a:srgbClr val="173E35"/>
                </a:solidFill>
                <a:latin typeface="Arial"/>
                <a:ea typeface="Arial"/>
                <a:cs typeface="Arial"/>
              </a:rPr>
              <a:t>Mitigation</a:t>
            </a:r>
          </a:p>
        </p:txBody>
      </p:sp>
      <p:sp>
        <p:nvSpPr>
          <p:cNvPr id="11" name="Discussion">
            <a:extLst xmlns:a="http://schemas.openxmlformats.org/drawingml/2006/main">
              <a:ext uri="{FF2B5EF4-FFF2-40B4-BE49-F238E27FC236}">
                <a16:creationId xmlns:a16="http://schemas.microsoft.com/office/drawing/2014/main" id="{62DC28AF-B95B-441C-B88C-D7887C993121}"/>
              </a:ext>
            </a:extLst>
          </p:cNvPr>
          <p:cNvSpPr>
            <a:spLocks xmlns:a="http://schemas.openxmlformats.org/drawingml/2006/main" noGrp="1"/>
          </p:cNvSpPr>
          <p:nvPr/>
        </p:nvSpPr>
        <p:spPr>
          <a:xfrm xmlns:a="http://schemas.openxmlformats.org/drawingml/2006/main">
            <a:off x="495300" y="4284345"/>
            <a:ext cx="3781425" cy="2514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463" b="0">
                <a:solidFill>
                  <a:srgbClr val="173E35"/>
                </a:solidFill>
                <a:latin typeface="Arial"/>
                <a:ea typeface="Arial"/>
                <a:cs typeface="Arial"/>
              </a:defRPr>
            </a:pPr>
            <a:r>
              <a:rPr sz="1463" b="0">
                <a:solidFill>
                  <a:srgbClr val="173E35"/>
                </a:solidFill>
                <a:latin typeface="Arial"/>
                <a:ea typeface="Arial"/>
                <a:cs typeface="Arial"/>
              </a:rPr>
              <a:t>Discussion</a:t>
            </a:r>
          </a:p>
        </p:txBody>
      </p:sp>
      <p:sp>
        <p:nvSpPr>
          <p:cNvPr id="12" name="After the break">
            <a:extLst xmlns:a="http://schemas.openxmlformats.org/drawingml/2006/main">
              <a:ext uri="{FF2B5EF4-FFF2-40B4-BE49-F238E27FC236}">
                <a16:creationId xmlns:a16="http://schemas.microsoft.com/office/drawing/2014/main" id="{937CCD7D-8B85-40C3-BFAB-DABD42EA6D44}"/>
              </a:ext>
            </a:extLst>
          </p:cNvPr>
          <p:cNvSpPr>
            <a:spLocks xmlns:a="http://schemas.openxmlformats.org/drawingml/2006/main" noGrp="1"/>
          </p:cNvSpPr>
          <p:nvPr/>
        </p:nvSpPr>
        <p:spPr>
          <a:xfrm xmlns:a="http://schemas.openxmlformats.org/drawingml/2006/main">
            <a:off x="4829175" y="1485900"/>
            <a:ext cx="3857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After the break</a:t>
            </a:r>
          </a:p>
        </p:txBody>
      </p:sp>
      <p:sp>
        <p:nvSpPr>
          <p:cNvPr id="13" name="Editorial frame">
            <a:extLst xmlns:a="http://schemas.openxmlformats.org/drawingml/2006/main">
              <a:ext uri="{FF2B5EF4-FFF2-40B4-BE49-F238E27FC236}">
                <a16:creationId xmlns:a16="http://schemas.microsoft.com/office/drawing/2014/main" id="{39EDF44F-B7D9-4ED9-8825-7732227D2837}"/>
              </a:ext>
            </a:extLst>
          </p:cNvPr>
          <p:cNvSpPr>
            <a:spLocks xmlns:a="http://schemas.openxmlformats.org/drawingml/2006/main" noGrp="1"/>
          </p:cNvSpPr>
          <p:nvPr/>
        </p:nvSpPr>
        <p:spPr>
          <a:xfrm xmlns:a="http://schemas.openxmlformats.org/drawingml/2006/main">
            <a:off x="4829175" y="1914525"/>
            <a:ext cx="3819525" cy="952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4" name="Part 4 — From Linear to Circular">
            <a:extLst xmlns:a="http://schemas.openxmlformats.org/drawingml/2006/main">
              <a:ext uri="{FF2B5EF4-FFF2-40B4-BE49-F238E27FC236}">
                <a16:creationId xmlns:a16="http://schemas.microsoft.com/office/drawing/2014/main" id="{0B9C39E3-1506-44BE-806D-C87245AFCC5B}"/>
              </a:ext>
            </a:extLst>
          </p:cNvPr>
          <p:cNvSpPr>
            <a:spLocks xmlns:a="http://schemas.openxmlformats.org/drawingml/2006/main" noGrp="1"/>
          </p:cNvSpPr>
          <p:nvPr/>
        </p:nvSpPr>
        <p:spPr>
          <a:xfrm xmlns:a="http://schemas.openxmlformats.org/drawingml/2006/main">
            <a:off x="4829175" y="2076450"/>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Part 4 — From Linear to Circular</a:t>
            </a:r>
          </a:p>
        </p:txBody>
      </p:sp>
      <p:sp>
        <p:nvSpPr>
          <p:cNvPr id="15" name="Part 5 — Circular Economy in Business Practice">
            <a:extLst xmlns:a="http://schemas.openxmlformats.org/drawingml/2006/main">
              <a:ext uri="{FF2B5EF4-FFF2-40B4-BE49-F238E27FC236}">
                <a16:creationId xmlns:a16="http://schemas.microsoft.com/office/drawing/2014/main" id="{53388E9E-86B4-4053-B6B6-71945EB226D8}"/>
              </a:ext>
            </a:extLst>
          </p:cNvPr>
          <p:cNvSpPr>
            <a:spLocks xmlns:a="http://schemas.openxmlformats.org/drawingml/2006/main" noGrp="1"/>
          </p:cNvSpPr>
          <p:nvPr/>
        </p:nvSpPr>
        <p:spPr>
          <a:xfrm xmlns:a="http://schemas.openxmlformats.org/drawingml/2006/main">
            <a:off x="4829175" y="2444115"/>
            <a:ext cx="3781425"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Part 5 — Circular Economy in Business</a:t>
            </a:r>
          </a:p>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Practice</a:t>
            </a:r>
          </a:p>
        </p:txBody>
      </p:sp>
      <p:sp>
        <p:nvSpPr>
          <p:cNvPr id="16" name="Part 6 — Green Infrastructure and Urban Circularit">
            <a:extLst xmlns:a="http://schemas.openxmlformats.org/drawingml/2006/main">
              <a:ext uri="{FF2B5EF4-FFF2-40B4-BE49-F238E27FC236}">
                <a16:creationId xmlns:a16="http://schemas.microsoft.com/office/drawing/2014/main" id="{2ECC3651-BD87-41B2-B820-3D927FFB8F82}"/>
              </a:ext>
            </a:extLst>
          </p:cNvPr>
          <p:cNvSpPr>
            <a:spLocks xmlns:a="http://schemas.openxmlformats.org/drawingml/2006/main" noGrp="1"/>
          </p:cNvSpPr>
          <p:nvPr/>
        </p:nvSpPr>
        <p:spPr>
          <a:xfrm xmlns:a="http://schemas.openxmlformats.org/drawingml/2006/main">
            <a:off x="4829175" y="3017520"/>
            <a:ext cx="3781425" cy="4400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Part 6 — Green Infrastructure and Urban</a:t>
            </a:r>
          </a:p>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Circularity</a:t>
            </a:r>
          </a:p>
        </p:txBody>
      </p:sp>
      <p:sp>
        <p:nvSpPr>
          <p:cNvPr id="17" name="Case Studies — LEGO and Amsterdam">
            <a:extLst xmlns:a="http://schemas.openxmlformats.org/drawingml/2006/main">
              <a:ext uri="{FF2B5EF4-FFF2-40B4-BE49-F238E27FC236}">
                <a16:creationId xmlns:a16="http://schemas.microsoft.com/office/drawing/2014/main" id="{30AD72BB-2F63-4E39-B03D-8EF88F61CCFA}"/>
              </a:ext>
            </a:extLst>
          </p:cNvPr>
          <p:cNvSpPr>
            <a:spLocks xmlns:a="http://schemas.openxmlformats.org/drawingml/2006/main" noGrp="1"/>
          </p:cNvSpPr>
          <p:nvPr/>
        </p:nvSpPr>
        <p:spPr>
          <a:xfrm xmlns:a="http://schemas.openxmlformats.org/drawingml/2006/main">
            <a:off x="4829175" y="3590925"/>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Case Studies — LEGO and Amsterdam</a:t>
            </a:r>
          </a:p>
        </p:txBody>
      </p:sp>
      <p:sp>
        <p:nvSpPr>
          <p:cNvPr id="18" name="Activity">
            <a:extLst xmlns:a="http://schemas.openxmlformats.org/drawingml/2006/main">
              <a:ext uri="{FF2B5EF4-FFF2-40B4-BE49-F238E27FC236}">
                <a16:creationId xmlns:a16="http://schemas.microsoft.com/office/drawing/2014/main" id="{747B4FAA-6292-4056-8CD2-4384BE36AF07}"/>
              </a:ext>
            </a:extLst>
          </p:cNvPr>
          <p:cNvSpPr>
            <a:spLocks xmlns:a="http://schemas.openxmlformats.org/drawingml/2006/main" noGrp="1"/>
          </p:cNvSpPr>
          <p:nvPr/>
        </p:nvSpPr>
        <p:spPr>
          <a:xfrm xmlns:a="http://schemas.openxmlformats.org/drawingml/2006/main">
            <a:off x="4829175" y="3958590"/>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Activity</a:t>
            </a:r>
          </a:p>
        </p:txBody>
      </p:sp>
      <p:sp>
        <p:nvSpPr>
          <p:cNvPr id="19" name="Key Messages and Reading">
            <a:extLst xmlns:a="http://schemas.openxmlformats.org/drawingml/2006/main">
              <a:ext uri="{FF2B5EF4-FFF2-40B4-BE49-F238E27FC236}">
                <a16:creationId xmlns:a16="http://schemas.microsoft.com/office/drawing/2014/main" id="{1E6E9D75-27E7-4D7A-8A49-37D343B9A2C9}"/>
              </a:ext>
            </a:extLst>
          </p:cNvPr>
          <p:cNvSpPr>
            <a:spLocks xmlns:a="http://schemas.openxmlformats.org/drawingml/2006/main" noGrp="1"/>
          </p:cNvSpPr>
          <p:nvPr/>
        </p:nvSpPr>
        <p:spPr>
          <a:xfrm xmlns:a="http://schemas.openxmlformats.org/drawingml/2006/main">
            <a:off x="4829175" y="4326255"/>
            <a:ext cx="3781425" cy="2343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50" b="0">
                <a:solidFill>
                  <a:srgbClr val="173E35"/>
                </a:solidFill>
                <a:latin typeface="Arial"/>
                <a:ea typeface="Arial"/>
                <a:cs typeface="Arial"/>
              </a:defRPr>
            </a:pPr>
            <a:r>
              <a:rPr sz="1350" b="0">
                <a:solidFill>
                  <a:srgbClr val="173E35"/>
                </a:solidFill>
                <a:latin typeface="Arial"/>
                <a:ea typeface="Arial"/>
                <a:cs typeface="Arial"/>
              </a:rPr>
              <a:t>Key Messages and Reading</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513b64838964c23"/>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1" name="www.newton.university">
            <a:extLst xmlns:a="http://schemas.openxmlformats.org/drawingml/2006/main">
              <a:ext uri="{FF2B5EF4-FFF2-40B4-BE49-F238E27FC236}">
                <a16:creationId xmlns:a16="http://schemas.microsoft.com/office/drawing/2014/main" id="{63B443CA-FA0E-45A1-B243-357DFB939566}"/>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2" name="03">
            <a:extLst xmlns:a="http://schemas.openxmlformats.org/drawingml/2006/main">
              <a:ext uri="{FF2B5EF4-FFF2-40B4-BE49-F238E27FC236}">
                <a16:creationId xmlns:a16="http://schemas.microsoft.com/office/drawing/2014/main" id="{5471662A-F345-443E-8CFB-43F4BD31F53E}"/>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03</a:t>
            </a:r>
          </a:p>
        </p:txBody>
      </p:sp>
    </p:spTree>
    <p:extLst>
      <p:ext uri="{BB962C8B-B14F-4D97-AF65-F5344CB8AC3E}">
        <p14:creationId xmlns:p14="http://schemas.microsoft.com/office/powerpoint/2010/main" val="1205870043"/>
      </p:ext>
    </p:extLst>
  </p:cSld>
</p:sld>
</file>

<file path=ppt/slides/slide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92298257-3923-429E-A4F4-BD4456BEEA5A}"/>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Part 1">
            <a:extLst xmlns:a="http://schemas.openxmlformats.org/drawingml/2006/main">
              <a:ext uri="{FF2B5EF4-FFF2-40B4-BE49-F238E27FC236}">
                <a16:creationId xmlns:a16="http://schemas.microsoft.com/office/drawing/2014/main" id="{5C485B79-1D99-4206-B0CD-A5B7FDD82298}"/>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8665B"/>
                </a:solidFill>
                <a:latin typeface="Arial"/>
                <a:ea typeface="Arial"/>
                <a:cs typeface="Arial"/>
              </a:defRPr>
            </a:pPr>
            <a:r>
              <a:rPr sz="1500" b="0">
                <a:solidFill>
                  <a:srgbClr val="58665B"/>
                </a:solidFill>
                <a:latin typeface="Arial"/>
                <a:ea typeface="Arial"/>
                <a:cs typeface="Arial"/>
              </a:rPr>
              <a:t>Part 1</a:t>
            </a:r>
          </a:p>
        </p:txBody>
      </p:sp>
      <p:sp>
        <p:nvSpPr>
          <p:cNvPr id="3" name="01">
            <a:extLst xmlns:a="http://schemas.openxmlformats.org/drawingml/2006/main">
              <a:ext uri="{FF2B5EF4-FFF2-40B4-BE49-F238E27FC236}">
                <a16:creationId xmlns:a16="http://schemas.microsoft.com/office/drawing/2014/main" id="{26079054-0CD4-48EE-8D93-AAE964279D25}"/>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B56647"/>
                </a:solidFill>
                <a:latin typeface="Georgia"/>
                <a:ea typeface="Georgia"/>
                <a:cs typeface="Georgia"/>
              </a:defRPr>
            </a:pPr>
            <a:r>
              <a:rPr sz="7875" b="0">
                <a:solidFill>
                  <a:srgbClr val="B56647"/>
                </a:solidFill>
                <a:latin typeface="Georgia"/>
                <a:ea typeface="Georgia"/>
                <a:cs typeface="Georgia"/>
              </a:rPr>
              <a:t>01</a:t>
            </a:r>
          </a:p>
        </p:txBody>
      </p:sp>
      <p:sp>
        <p:nvSpPr>
          <p:cNvPr id="4" name="Pollution in the Urban Environment">
            <a:extLst xmlns:a="http://schemas.openxmlformats.org/drawingml/2006/main">
              <a:ext uri="{FF2B5EF4-FFF2-40B4-BE49-F238E27FC236}">
                <a16:creationId xmlns:a16="http://schemas.microsoft.com/office/drawing/2014/main" id="{814F6742-553E-49B2-80E6-4D943F399EE6}"/>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Pollution in the Urban</a:t>
            </a:r>
          </a:p>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Environment</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85e4d70cb19f453e"/>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FCB1D153-473F-4FBB-B69A-E82DF6E3CE6E}"/>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04">
            <a:extLst xmlns:a="http://schemas.openxmlformats.org/drawingml/2006/main">
              <a:ext uri="{FF2B5EF4-FFF2-40B4-BE49-F238E27FC236}">
                <a16:creationId xmlns:a16="http://schemas.microsoft.com/office/drawing/2014/main" id="{D5C7842F-7747-4366-881E-415282DA313B}"/>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04</a:t>
            </a:r>
          </a:p>
        </p:txBody>
      </p:sp>
    </p:spTree>
    <p:extLst>
      <p:ext uri="{BB962C8B-B14F-4D97-AF65-F5344CB8AC3E}">
        <p14:creationId xmlns:p14="http://schemas.microsoft.com/office/powerpoint/2010/main" val="1083917915"/>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Air Pollution">
            <a:extLst xmlns:a="http://schemas.openxmlformats.org/drawingml/2006/main">
              <a:ext uri="{FF2B5EF4-FFF2-40B4-BE49-F238E27FC236}">
                <a16:creationId xmlns:a16="http://schemas.microsoft.com/office/drawing/2014/main" id="{4127169C-FD29-4AA5-8244-35489F5EA61E}"/>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Air Pollution</a:t>
            </a:r>
          </a:p>
        </p:txBody>
      </p:sp>
      <p:sp>
        <p:nvSpPr>
          <p:cNvPr id="2" name="Editorial frame">
            <a:extLst xmlns:a="http://schemas.openxmlformats.org/drawingml/2006/main">
              <a:ext uri="{FF2B5EF4-FFF2-40B4-BE49-F238E27FC236}">
                <a16:creationId xmlns:a16="http://schemas.microsoft.com/office/drawing/2014/main" id="{43E7C756-9933-4C78-B130-EB53BAE52B04}"/>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4F34085D-5700-4169-8E23-98C89F47446E}"/>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a9c3bef56e9f42ea"/>
          <a:stretch xmlns:a="http://schemas.openxmlformats.org/drawingml/2006/main"/>
        </p:blipFill>
        <p:spPr>
          <a:xfrm xmlns:a="http://schemas.openxmlformats.org/drawingml/2006/main">
            <a:off x="5286375" y="2157100"/>
            <a:ext cx="3362325" cy="1229350"/>
          </a:xfrm>
          <a:prstGeom xmlns:a="http://schemas.openxmlformats.org/drawingml/2006/main" prst="rect">
            <a:avLst/>
          </a:prstGeom>
        </p:spPr>
      </p:pic>
      <p:sp>
        <p:nvSpPr>
          <p:cNvPr id="5" name="Smog over a dense city — a health and business cos">
            <a:extLst xmlns:a="http://schemas.openxmlformats.org/drawingml/2006/main">
              <a:ext uri="{FF2B5EF4-FFF2-40B4-BE49-F238E27FC236}">
                <a16:creationId xmlns:a16="http://schemas.microsoft.com/office/drawing/2014/main" id="{57A77FD1-8271-4B51-BC88-78C7D07FE123}"/>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Smog over a dense city — a health and</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business cost</a:t>
            </a:r>
          </a:p>
        </p:txBody>
      </p:sp>
      <p:sp>
        <p:nvSpPr>
          <p:cNvPr id="6" name="Main urban sources">
            <a:extLst xmlns:a="http://schemas.openxmlformats.org/drawingml/2006/main">
              <a:ext uri="{FF2B5EF4-FFF2-40B4-BE49-F238E27FC236}">
                <a16:creationId xmlns:a16="http://schemas.microsoft.com/office/drawing/2014/main" id="{A5A5846E-E538-4DAA-8C64-41535EEF1532}"/>
              </a:ext>
            </a:extLst>
          </p:cNvPr>
          <p:cNvSpPr>
            <a:spLocks xmlns:a="http://schemas.openxmlformats.org/drawingml/2006/main" noGrp="1"/>
          </p:cNvSpPr>
          <p:nvPr/>
        </p:nvSpPr>
        <p:spPr>
          <a:xfrm xmlns:a="http://schemas.openxmlformats.org/drawingml/2006/main">
            <a:off x="495300" y="1524000"/>
            <a:ext cx="4333875" cy="3257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B56647"/>
                </a:solidFill>
                <a:latin typeface="Georgia"/>
                <a:ea typeface="Georgia"/>
                <a:cs typeface="Georgia"/>
              </a:defRPr>
            </a:pPr>
            <a:r>
              <a:rPr sz="1950" b="0">
                <a:solidFill>
                  <a:srgbClr val="B56647"/>
                </a:solidFill>
                <a:latin typeface="Georgia"/>
                <a:ea typeface="Georgia"/>
                <a:cs typeface="Georgia"/>
              </a:rPr>
              <a:t>Main urban sources</a:t>
            </a:r>
          </a:p>
        </p:txBody>
      </p:sp>
      <p:sp>
        <p:nvSpPr>
          <p:cNvPr id="7" name="Road transport">
            <a:extLst xmlns:a="http://schemas.openxmlformats.org/drawingml/2006/main">
              <a:ext uri="{FF2B5EF4-FFF2-40B4-BE49-F238E27FC236}">
                <a16:creationId xmlns:a16="http://schemas.microsoft.com/office/drawing/2014/main" id="{B80C9F94-AB5A-46EF-B8EF-B828F83781C4}"/>
              </a:ext>
            </a:extLst>
          </p:cNvPr>
          <p:cNvSpPr>
            <a:spLocks xmlns:a="http://schemas.openxmlformats.org/drawingml/2006/main" noGrp="1"/>
          </p:cNvSpPr>
          <p:nvPr/>
        </p:nvSpPr>
        <p:spPr>
          <a:xfrm xmlns:a="http://schemas.openxmlformats.org/drawingml/2006/main">
            <a:off x="495300" y="1964055"/>
            <a:ext cx="43338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Road transport</a:t>
            </a:r>
          </a:p>
        </p:txBody>
      </p:sp>
      <p:sp>
        <p:nvSpPr>
          <p:cNvPr id="8" name="Heating and energy production">
            <a:extLst xmlns:a="http://schemas.openxmlformats.org/drawingml/2006/main">
              <a:ext uri="{FF2B5EF4-FFF2-40B4-BE49-F238E27FC236}">
                <a16:creationId xmlns:a16="http://schemas.microsoft.com/office/drawing/2014/main" id="{9D7D1485-800D-4CB4-969C-FDDF03BE17FB}"/>
              </a:ext>
            </a:extLst>
          </p:cNvPr>
          <p:cNvSpPr>
            <a:spLocks xmlns:a="http://schemas.openxmlformats.org/drawingml/2006/main" noGrp="1"/>
          </p:cNvSpPr>
          <p:nvPr/>
        </p:nvSpPr>
        <p:spPr>
          <a:xfrm xmlns:a="http://schemas.openxmlformats.org/drawingml/2006/main">
            <a:off x="495300" y="2339340"/>
            <a:ext cx="43338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Heating and energy production</a:t>
            </a:r>
          </a:p>
        </p:txBody>
      </p:sp>
      <p:sp>
        <p:nvSpPr>
          <p:cNvPr id="9" name="Industry and construction">
            <a:extLst xmlns:a="http://schemas.openxmlformats.org/drawingml/2006/main">
              <a:ext uri="{FF2B5EF4-FFF2-40B4-BE49-F238E27FC236}">
                <a16:creationId xmlns:a16="http://schemas.microsoft.com/office/drawing/2014/main" id="{750CC18C-A3F0-49D5-B9A4-CF1B7C105259}"/>
              </a:ext>
            </a:extLst>
          </p:cNvPr>
          <p:cNvSpPr>
            <a:spLocks xmlns:a="http://schemas.openxmlformats.org/drawingml/2006/main" noGrp="1"/>
          </p:cNvSpPr>
          <p:nvPr/>
        </p:nvSpPr>
        <p:spPr>
          <a:xfrm xmlns:a="http://schemas.openxmlformats.org/drawingml/2006/main">
            <a:off x="495300" y="2714625"/>
            <a:ext cx="43338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Industry and construction</a:t>
            </a:r>
          </a:p>
        </p:txBody>
      </p:sp>
      <p:sp>
        <p:nvSpPr>
          <p:cNvPr id="10" name="Impacts">
            <a:extLst xmlns:a="http://schemas.openxmlformats.org/drawingml/2006/main">
              <a:ext uri="{FF2B5EF4-FFF2-40B4-BE49-F238E27FC236}">
                <a16:creationId xmlns:a16="http://schemas.microsoft.com/office/drawing/2014/main" id="{79F59486-8336-4C92-8B9C-1FCDF7D185E9}"/>
              </a:ext>
            </a:extLst>
          </p:cNvPr>
          <p:cNvSpPr>
            <a:spLocks xmlns:a="http://schemas.openxmlformats.org/drawingml/2006/main" noGrp="1"/>
          </p:cNvSpPr>
          <p:nvPr/>
        </p:nvSpPr>
        <p:spPr>
          <a:xfrm xmlns:a="http://schemas.openxmlformats.org/drawingml/2006/main">
            <a:off x="495300" y="3166110"/>
            <a:ext cx="4333875" cy="3257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B56647"/>
                </a:solidFill>
                <a:latin typeface="Georgia"/>
                <a:ea typeface="Georgia"/>
                <a:cs typeface="Georgia"/>
              </a:defRPr>
            </a:pPr>
            <a:r>
              <a:rPr sz="1950" b="0">
                <a:solidFill>
                  <a:srgbClr val="B56647"/>
                </a:solidFill>
                <a:latin typeface="Georgia"/>
                <a:ea typeface="Georgia"/>
                <a:cs typeface="Georgia"/>
              </a:rPr>
              <a:t>Impacts</a:t>
            </a:r>
          </a:p>
        </p:txBody>
      </p:sp>
      <p:sp>
        <p:nvSpPr>
          <p:cNvPr id="11" name="Respiratory and cardiovascular disease">
            <a:extLst xmlns:a="http://schemas.openxmlformats.org/drawingml/2006/main">
              <a:ext uri="{FF2B5EF4-FFF2-40B4-BE49-F238E27FC236}">
                <a16:creationId xmlns:a16="http://schemas.microsoft.com/office/drawing/2014/main" id="{4A30C3A9-1142-4226-BFA4-F88EF4634506}"/>
              </a:ext>
            </a:extLst>
          </p:cNvPr>
          <p:cNvSpPr>
            <a:spLocks xmlns:a="http://schemas.openxmlformats.org/drawingml/2006/main" noGrp="1"/>
          </p:cNvSpPr>
          <p:nvPr/>
        </p:nvSpPr>
        <p:spPr>
          <a:xfrm xmlns:a="http://schemas.openxmlformats.org/drawingml/2006/main">
            <a:off x="495300" y="3606165"/>
            <a:ext cx="43338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Respiratory and cardiovascular disease</a:t>
            </a:r>
          </a:p>
        </p:txBody>
      </p:sp>
      <p:sp>
        <p:nvSpPr>
          <p:cNvPr id="12" name="Lost productivity and healthcare costs">
            <a:extLst xmlns:a="http://schemas.openxmlformats.org/drawingml/2006/main">
              <a:ext uri="{FF2B5EF4-FFF2-40B4-BE49-F238E27FC236}">
                <a16:creationId xmlns:a16="http://schemas.microsoft.com/office/drawing/2014/main" id="{30D3F220-EE61-4327-92BB-5606C12C84F7}"/>
              </a:ext>
            </a:extLst>
          </p:cNvPr>
          <p:cNvSpPr>
            <a:spLocks xmlns:a="http://schemas.openxmlformats.org/drawingml/2006/main" noGrp="1"/>
          </p:cNvSpPr>
          <p:nvPr/>
        </p:nvSpPr>
        <p:spPr>
          <a:xfrm xmlns:a="http://schemas.openxmlformats.org/drawingml/2006/main">
            <a:off x="495300" y="3981450"/>
            <a:ext cx="433387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Lost productivity and healthcare costs</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7092886d67bb4964"/>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4" name="www.newton.university">
            <a:extLst xmlns:a="http://schemas.openxmlformats.org/drawingml/2006/main">
              <a:ext uri="{FF2B5EF4-FFF2-40B4-BE49-F238E27FC236}">
                <a16:creationId xmlns:a16="http://schemas.microsoft.com/office/drawing/2014/main" id="{A1BDB92D-C757-4964-B0CA-4CDFE5360862}"/>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5" name="05">
            <a:extLst xmlns:a="http://schemas.openxmlformats.org/drawingml/2006/main">
              <a:ext uri="{FF2B5EF4-FFF2-40B4-BE49-F238E27FC236}">
                <a16:creationId xmlns:a16="http://schemas.microsoft.com/office/drawing/2014/main" id="{50EE12A8-C79B-4C31-831A-F90653A1B41A}"/>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05</a:t>
            </a:r>
          </a:p>
        </p:txBody>
      </p:sp>
    </p:spTree>
    <p:extLst>
      <p:ext uri="{BB962C8B-B14F-4D97-AF65-F5344CB8AC3E}">
        <p14:creationId xmlns:p14="http://schemas.microsoft.com/office/powerpoint/2010/main" val="369391650"/>
      </p:ext>
    </p:extLst>
  </p:cSld>
</p:sld>
</file>

<file path=ppt/slides/slide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8" name="Water Pollution">
            <a:extLst xmlns:a="http://schemas.openxmlformats.org/drawingml/2006/main">
              <a:ext uri="{FF2B5EF4-FFF2-40B4-BE49-F238E27FC236}">
                <a16:creationId xmlns:a16="http://schemas.microsoft.com/office/drawing/2014/main" id="{94DE6B94-0952-473D-83BA-BBA3FB5CA885}"/>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Water Pollution</a:t>
            </a:r>
          </a:p>
        </p:txBody>
      </p:sp>
      <p:sp>
        <p:nvSpPr>
          <p:cNvPr id="2" name="Editorial frame">
            <a:extLst xmlns:a="http://schemas.openxmlformats.org/drawingml/2006/main">
              <a:ext uri="{FF2B5EF4-FFF2-40B4-BE49-F238E27FC236}">
                <a16:creationId xmlns:a16="http://schemas.microsoft.com/office/drawing/2014/main" id="{D413A8D1-A422-4113-8CA1-B9CB9EA8A007}"/>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EE5FC7D8-18FF-4B11-A7F1-31AAAA33ED06}"/>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3A0ED690-FAEA-4DDF-9073-9D3C221B1EF0}"/>
              </a:ext>
            </a:extLst>
          </p:cNvPr>
          <p:cNvSpPr>
            <a:spLocks xmlns:a="http://schemas.openxmlformats.org/drawingml/2006/main" noGrp="1"/>
          </p:cNvSpPr>
          <p:nvPr/>
        </p:nvSpPr>
        <p:spPr>
          <a:xfrm xmlns:a="http://schemas.openxmlformats.org/drawingml/2006/main">
            <a:off x="361950" y="1438275"/>
            <a:ext cx="4238625"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BDA14244-FE07-446F-BD76-23019EA80057}"/>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Urban pressures on water">
            <a:extLst xmlns:a="http://schemas.openxmlformats.org/drawingml/2006/main">
              <a:ext uri="{FF2B5EF4-FFF2-40B4-BE49-F238E27FC236}">
                <a16:creationId xmlns:a16="http://schemas.microsoft.com/office/drawing/2014/main" id="{FFB3F074-4E80-47B3-8900-CCCCD816B891}"/>
              </a:ext>
            </a:extLst>
          </p:cNvPr>
          <p:cNvSpPr>
            <a:spLocks xmlns:a="http://schemas.openxmlformats.org/drawingml/2006/main" noGrp="1"/>
          </p:cNvSpPr>
          <p:nvPr/>
        </p:nvSpPr>
        <p:spPr>
          <a:xfrm xmlns:a="http://schemas.openxmlformats.org/drawingml/2006/main">
            <a:off x="495300"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Urban pressures on water</a:t>
            </a:r>
          </a:p>
        </p:txBody>
      </p:sp>
      <p:sp>
        <p:nvSpPr>
          <p:cNvPr id="7" name="Untreated stormwater runoff carrying oil, metals a">
            <a:extLst xmlns:a="http://schemas.openxmlformats.org/drawingml/2006/main">
              <a:ext uri="{FF2B5EF4-FFF2-40B4-BE49-F238E27FC236}">
                <a16:creationId xmlns:a16="http://schemas.microsoft.com/office/drawing/2014/main" id="{B352FA8A-30C3-49C7-B122-32356856A52A}"/>
              </a:ext>
            </a:extLst>
          </p:cNvPr>
          <p:cNvSpPr>
            <a:spLocks xmlns:a="http://schemas.openxmlformats.org/drawingml/2006/main" noGrp="1"/>
          </p:cNvSpPr>
          <p:nvPr/>
        </p:nvSpPr>
        <p:spPr>
          <a:xfrm xmlns:a="http://schemas.openxmlformats.org/drawingml/2006/main">
            <a:off x="495300" y="207073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Untreated stormwater runoff carrying</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oil, metals and microplastics</a:t>
            </a:r>
          </a:p>
        </p:txBody>
      </p:sp>
      <p:sp>
        <p:nvSpPr>
          <p:cNvPr id="8" name="Combined sewer overflows during heavy rain">
            <a:extLst xmlns:a="http://schemas.openxmlformats.org/drawingml/2006/main">
              <a:ext uri="{FF2B5EF4-FFF2-40B4-BE49-F238E27FC236}">
                <a16:creationId xmlns:a16="http://schemas.microsoft.com/office/drawing/2014/main" id="{15BE1857-FC1E-4B11-A579-8255F31A867D}"/>
              </a:ext>
            </a:extLst>
          </p:cNvPr>
          <p:cNvSpPr>
            <a:spLocks xmlns:a="http://schemas.openxmlformats.org/drawingml/2006/main" noGrp="1"/>
          </p:cNvSpPr>
          <p:nvPr/>
        </p:nvSpPr>
        <p:spPr>
          <a:xfrm xmlns:a="http://schemas.openxmlformats.org/drawingml/2006/main">
            <a:off x="495300" y="272034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Combined sewer overflows during</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heavy rain</a:t>
            </a:r>
          </a:p>
        </p:txBody>
      </p:sp>
      <p:sp>
        <p:nvSpPr>
          <p:cNvPr id="9" name="Industrial discharge and agricultural nutrients up">
            <a:extLst xmlns:a="http://schemas.openxmlformats.org/drawingml/2006/main">
              <a:ext uri="{FF2B5EF4-FFF2-40B4-BE49-F238E27FC236}">
                <a16:creationId xmlns:a16="http://schemas.microsoft.com/office/drawing/2014/main" id="{70145CD1-2BCA-4DBA-8D37-D542914B4537}"/>
              </a:ext>
            </a:extLst>
          </p:cNvPr>
          <p:cNvSpPr>
            <a:spLocks xmlns:a="http://schemas.openxmlformats.org/drawingml/2006/main" noGrp="1"/>
          </p:cNvSpPr>
          <p:nvPr/>
        </p:nvSpPr>
        <p:spPr>
          <a:xfrm xmlns:a="http://schemas.openxmlformats.org/drawingml/2006/main">
            <a:off x="495300" y="336994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Industrial discharge and agricultural</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nutrients upstream</a:t>
            </a:r>
          </a:p>
        </p:txBody>
      </p:sp>
      <p:sp>
        <p:nvSpPr>
          <p:cNvPr id="10" name="Editorial frame">
            <a:extLst xmlns:a="http://schemas.openxmlformats.org/drawingml/2006/main">
              <a:ext uri="{FF2B5EF4-FFF2-40B4-BE49-F238E27FC236}">
                <a16:creationId xmlns:a16="http://schemas.microsoft.com/office/drawing/2014/main" id="{F4ECC8BE-0FCC-4C29-87A2-33A2160445D0}"/>
              </a:ext>
            </a:extLst>
          </p:cNvPr>
          <p:cNvSpPr>
            <a:spLocks xmlns:a="http://schemas.openxmlformats.org/drawingml/2006/main" noGrp="1"/>
          </p:cNvSpPr>
          <p:nvPr/>
        </p:nvSpPr>
        <p:spPr>
          <a:xfrm xmlns:a="http://schemas.openxmlformats.org/drawingml/2006/main">
            <a:off x="4543425" y="1438275"/>
            <a:ext cx="4238625"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1" name="Editorial frame">
            <a:extLst xmlns:a="http://schemas.openxmlformats.org/drawingml/2006/main">
              <a:ext uri="{FF2B5EF4-FFF2-40B4-BE49-F238E27FC236}">
                <a16:creationId xmlns:a16="http://schemas.microsoft.com/office/drawing/2014/main" id="{F8E8F5C6-51B0-4437-87D8-66BEC6C4E511}"/>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2" name="Why managers should care">
            <a:extLst xmlns:a="http://schemas.openxmlformats.org/drawingml/2006/main">
              <a:ext uri="{FF2B5EF4-FFF2-40B4-BE49-F238E27FC236}">
                <a16:creationId xmlns:a16="http://schemas.microsoft.com/office/drawing/2014/main" id="{85617BB8-ADED-43F2-B489-985689BB8269}"/>
              </a:ext>
            </a:extLst>
          </p:cNvPr>
          <p:cNvSpPr>
            <a:spLocks xmlns:a="http://schemas.openxmlformats.org/drawingml/2006/main" noGrp="1"/>
          </p:cNvSpPr>
          <p:nvPr/>
        </p:nvSpPr>
        <p:spPr>
          <a:xfrm xmlns:a="http://schemas.openxmlformats.org/drawingml/2006/main">
            <a:off x="4676775"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Why managers should care</a:t>
            </a:r>
          </a:p>
        </p:txBody>
      </p:sp>
      <p:sp>
        <p:nvSpPr>
          <p:cNvPr id="13" name="Water quality drives regulation, operating permits">
            <a:extLst xmlns:a="http://schemas.openxmlformats.org/drawingml/2006/main">
              <a:ext uri="{FF2B5EF4-FFF2-40B4-BE49-F238E27FC236}">
                <a16:creationId xmlns:a16="http://schemas.microsoft.com/office/drawing/2014/main" id="{DE466484-43B7-4BA3-A879-719380383424}"/>
              </a:ext>
            </a:extLst>
          </p:cNvPr>
          <p:cNvSpPr>
            <a:spLocks xmlns:a="http://schemas.openxmlformats.org/drawingml/2006/main" noGrp="1"/>
          </p:cNvSpPr>
          <p:nvPr/>
        </p:nvSpPr>
        <p:spPr>
          <a:xfrm xmlns:a="http://schemas.openxmlformats.org/drawingml/2006/main">
            <a:off x="4676775" y="207073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Water quality drives regulation,</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operating permits and reputation.</a:t>
            </a:r>
          </a:p>
        </p:txBody>
      </p:sp>
      <p:sp>
        <p:nvSpPr>
          <p:cNvPr id="14" name="Clean rivers create recreation, tourism and proper">
            <a:extLst xmlns:a="http://schemas.openxmlformats.org/drawingml/2006/main">
              <a:ext uri="{FF2B5EF4-FFF2-40B4-BE49-F238E27FC236}">
                <a16:creationId xmlns:a16="http://schemas.microsoft.com/office/drawing/2014/main" id="{4EC571CB-F32E-460E-9FE9-6E8587B37918}"/>
              </a:ext>
            </a:extLst>
          </p:cNvPr>
          <p:cNvSpPr>
            <a:spLocks xmlns:a="http://schemas.openxmlformats.org/drawingml/2006/main" noGrp="1"/>
          </p:cNvSpPr>
          <p:nvPr/>
        </p:nvSpPr>
        <p:spPr>
          <a:xfrm xmlns:a="http://schemas.openxmlformats.org/drawingml/2006/main">
            <a:off x="4676775" y="272034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Clean rivers create recreation, tourism</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and property value.</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f654bd7c03d64c64"/>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6" name="www.newton.university">
            <a:extLst xmlns:a="http://schemas.openxmlformats.org/drawingml/2006/main">
              <a:ext uri="{FF2B5EF4-FFF2-40B4-BE49-F238E27FC236}">
                <a16:creationId xmlns:a16="http://schemas.microsoft.com/office/drawing/2014/main" id="{3C89F0F4-5EF0-4A27-9330-DBEA567697D7}"/>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7" name="06">
            <a:extLst xmlns:a="http://schemas.openxmlformats.org/drawingml/2006/main">
              <a:ext uri="{FF2B5EF4-FFF2-40B4-BE49-F238E27FC236}">
                <a16:creationId xmlns:a16="http://schemas.microsoft.com/office/drawing/2014/main" id="{8ACDDF9B-6B9B-4EDC-97EA-B3C649F9008A}"/>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06</a:t>
            </a:r>
          </a:p>
        </p:txBody>
      </p:sp>
    </p:spTree>
    <p:extLst>
      <p:ext uri="{BB962C8B-B14F-4D97-AF65-F5344CB8AC3E}">
        <p14:creationId xmlns:p14="http://schemas.microsoft.com/office/powerpoint/2010/main" val="569750510"/>
      </p:ext>
    </p:extLst>
  </p:cSld>
</p:sld>
</file>

<file path=ppt/slides/slide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Waste Generation">
            <a:extLst xmlns:a="http://schemas.openxmlformats.org/drawingml/2006/main">
              <a:ext uri="{FF2B5EF4-FFF2-40B4-BE49-F238E27FC236}">
                <a16:creationId xmlns:a16="http://schemas.microsoft.com/office/drawing/2014/main" id="{CA4FD809-3490-4FCE-BE47-42FCE92920C5}"/>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Waste Generation</a:t>
            </a:r>
          </a:p>
        </p:txBody>
      </p:sp>
      <p:sp>
        <p:nvSpPr>
          <p:cNvPr id="2" name="Editorial frame">
            <a:extLst xmlns:a="http://schemas.openxmlformats.org/drawingml/2006/main">
              <a:ext uri="{FF2B5EF4-FFF2-40B4-BE49-F238E27FC236}">
                <a16:creationId xmlns:a16="http://schemas.microsoft.com/office/drawing/2014/main" id="{355821E8-6231-4864-A4D8-CDF64E230F3D}"/>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565EE446-48E9-47F0-8B31-CC8F0B1B2823}"/>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b4d6e72739348d9"/>
          <a:stretch xmlns:a="http://schemas.openxmlformats.org/drawingml/2006/main"/>
        </p:blipFill>
        <p:spPr>
          <a:xfrm xmlns:a="http://schemas.openxmlformats.org/drawingml/2006/main">
            <a:off x="5286375" y="1651000"/>
            <a:ext cx="3362325" cy="2241550"/>
          </a:xfrm>
          <a:prstGeom xmlns:a="http://schemas.openxmlformats.org/drawingml/2006/main" prst="rect">
            <a:avLst/>
          </a:prstGeom>
        </p:spPr>
      </p:pic>
      <p:sp>
        <p:nvSpPr>
          <p:cNvPr id="5" name="Waste disposal loses materials that a business cou">
            <a:extLst xmlns:a="http://schemas.openxmlformats.org/drawingml/2006/main">
              <a:ext uri="{FF2B5EF4-FFF2-40B4-BE49-F238E27FC236}">
                <a16:creationId xmlns:a16="http://schemas.microsoft.com/office/drawing/2014/main" id="{065CD077-7763-4D90-B620-E1D1B597C6FD}"/>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Waste disposal loses materials that a business</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could keep in use</a:t>
            </a:r>
          </a:p>
        </p:txBody>
      </p:sp>
      <p:sp>
        <p:nvSpPr>
          <p:cNvPr id="6" name="The urban waste challenge">
            <a:extLst xmlns:a="http://schemas.openxmlformats.org/drawingml/2006/main">
              <a:ext uri="{FF2B5EF4-FFF2-40B4-BE49-F238E27FC236}">
                <a16:creationId xmlns:a16="http://schemas.microsoft.com/office/drawing/2014/main" id="{ABF18F46-633B-49F0-9452-F4A2DD10186A}"/>
              </a:ext>
            </a:extLst>
          </p:cNvPr>
          <p:cNvSpPr>
            <a:spLocks xmlns:a="http://schemas.openxmlformats.org/drawingml/2006/main" noGrp="1"/>
          </p:cNvSpPr>
          <p:nvPr/>
        </p:nvSpPr>
        <p:spPr>
          <a:xfrm xmlns:a="http://schemas.openxmlformats.org/drawingml/2006/main">
            <a:off x="495300" y="1524000"/>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B56647"/>
                </a:solidFill>
                <a:latin typeface="Georgia"/>
                <a:ea typeface="Georgia"/>
                <a:cs typeface="Georgia"/>
              </a:defRPr>
            </a:pPr>
            <a:r>
              <a:rPr sz="1688" b="0">
                <a:solidFill>
                  <a:srgbClr val="B56647"/>
                </a:solidFill>
                <a:latin typeface="Georgia"/>
                <a:ea typeface="Georgia"/>
                <a:cs typeface="Georgia"/>
              </a:rPr>
              <a:t>The urban waste challenge</a:t>
            </a:r>
          </a:p>
        </p:txBody>
      </p:sp>
      <p:sp>
        <p:nvSpPr>
          <p:cNvPr id="7" name="Cities concentrate consumption — and therefore was">
            <a:extLst xmlns:a="http://schemas.openxmlformats.org/drawingml/2006/main">
              <a:ext uri="{FF2B5EF4-FFF2-40B4-BE49-F238E27FC236}">
                <a16:creationId xmlns:a16="http://schemas.microsoft.com/office/drawing/2014/main" id="{83B6215A-3EAA-4EBE-B60B-19CF6DF7C056}"/>
              </a:ext>
            </a:extLst>
          </p:cNvPr>
          <p:cNvSpPr>
            <a:spLocks xmlns:a="http://schemas.openxmlformats.org/drawingml/2006/main" noGrp="1"/>
          </p:cNvSpPr>
          <p:nvPr/>
        </p:nvSpPr>
        <p:spPr>
          <a:xfrm xmlns:a="http://schemas.openxmlformats.org/drawingml/2006/main">
            <a:off x="495300" y="1924050"/>
            <a:ext cx="4333875" cy="4514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Cities concentrate consumption — and therefore</a:t>
            </a:r>
          </a:p>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waste.</a:t>
            </a:r>
          </a:p>
        </p:txBody>
      </p:sp>
      <p:sp>
        <p:nvSpPr>
          <p:cNvPr id="8" name="Landfilling releases methane and pollutes soil and">
            <a:extLst xmlns:a="http://schemas.openxmlformats.org/drawingml/2006/main">
              <a:ext uri="{FF2B5EF4-FFF2-40B4-BE49-F238E27FC236}">
                <a16:creationId xmlns:a16="http://schemas.microsoft.com/office/drawing/2014/main" id="{69F62361-C4EF-4418-9962-DCA057E0BD08}"/>
              </a:ext>
            </a:extLst>
          </p:cNvPr>
          <p:cNvSpPr>
            <a:spLocks xmlns:a="http://schemas.openxmlformats.org/drawingml/2006/main" noGrp="1"/>
          </p:cNvSpPr>
          <p:nvPr/>
        </p:nvSpPr>
        <p:spPr>
          <a:xfrm xmlns:a="http://schemas.openxmlformats.org/drawingml/2006/main">
            <a:off x="495300" y="2470785"/>
            <a:ext cx="4333875" cy="4514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Landfilling releases methane and pollutes soil and</a:t>
            </a:r>
          </a:p>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groundwater.</a:t>
            </a:r>
          </a:p>
        </p:txBody>
      </p:sp>
      <p:sp>
        <p:nvSpPr>
          <p:cNvPr id="9" name="The waste hierarchy">
            <a:extLst xmlns:a="http://schemas.openxmlformats.org/drawingml/2006/main">
              <a:ext uri="{FF2B5EF4-FFF2-40B4-BE49-F238E27FC236}">
                <a16:creationId xmlns:a16="http://schemas.microsoft.com/office/drawing/2014/main" id="{EBD57774-E59C-4CF9-9CD5-95D8437FE0B6}"/>
              </a:ext>
            </a:extLst>
          </p:cNvPr>
          <p:cNvSpPr>
            <a:spLocks xmlns:a="http://schemas.openxmlformats.org/drawingml/2006/main" noGrp="1"/>
          </p:cNvSpPr>
          <p:nvPr/>
        </p:nvSpPr>
        <p:spPr>
          <a:xfrm xmlns:a="http://schemas.openxmlformats.org/drawingml/2006/main">
            <a:off x="495300" y="3093720"/>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88" b="0">
                <a:solidFill>
                  <a:srgbClr val="B56647"/>
                </a:solidFill>
                <a:latin typeface="Georgia"/>
                <a:ea typeface="Georgia"/>
                <a:cs typeface="Georgia"/>
              </a:defRPr>
            </a:pPr>
            <a:r>
              <a:rPr sz="1688" b="0">
                <a:solidFill>
                  <a:srgbClr val="B56647"/>
                </a:solidFill>
                <a:latin typeface="Georgia"/>
                <a:ea typeface="Georgia"/>
                <a:cs typeface="Georgia"/>
              </a:rPr>
              <a:t>The waste hierarchy</a:t>
            </a:r>
          </a:p>
        </p:txBody>
      </p:sp>
      <p:sp>
        <p:nvSpPr>
          <p:cNvPr id="10" name="Prevent → Reuse → Recycle → Recover → Dispose">
            <a:extLst xmlns:a="http://schemas.openxmlformats.org/drawingml/2006/main">
              <a:ext uri="{FF2B5EF4-FFF2-40B4-BE49-F238E27FC236}">
                <a16:creationId xmlns:a16="http://schemas.microsoft.com/office/drawing/2014/main" id="{3AD5C448-8A76-4F3C-AB48-1827B9EE4AB3}"/>
              </a:ext>
            </a:extLst>
          </p:cNvPr>
          <p:cNvSpPr>
            <a:spLocks xmlns:a="http://schemas.openxmlformats.org/drawingml/2006/main" noGrp="1"/>
          </p:cNvSpPr>
          <p:nvPr/>
        </p:nvSpPr>
        <p:spPr>
          <a:xfrm xmlns:a="http://schemas.openxmlformats.org/drawingml/2006/main">
            <a:off x="495300" y="3493770"/>
            <a:ext cx="4333875" cy="2400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Prevent → Reuse → Recycle → Recover → Dispose</a:t>
            </a:r>
          </a:p>
        </p:txBody>
      </p:sp>
      <p:sp>
        <p:nvSpPr>
          <p:cNvPr id="11" name="Preview: Part 4 of this lecture explores the circu">
            <a:extLst xmlns:a="http://schemas.openxmlformats.org/drawingml/2006/main">
              <a:ext uri="{FF2B5EF4-FFF2-40B4-BE49-F238E27FC236}">
                <a16:creationId xmlns:a16="http://schemas.microsoft.com/office/drawing/2014/main" id="{DC628F7B-35A9-4D1B-80CF-B725E639ED79}"/>
              </a:ext>
            </a:extLst>
          </p:cNvPr>
          <p:cNvSpPr>
            <a:spLocks xmlns:a="http://schemas.openxmlformats.org/drawingml/2006/main" noGrp="1"/>
          </p:cNvSpPr>
          <p:nvPr/>
        </p:nvSpPr>
        <p:spPr>
          <a:xfrm xmlns:a="http://schemas.openxmlformats.org/drawingml/2006/main">
            <a:off x="495300" y="3829050"/>
            <a:ext cx="4333875" cy="4514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Preview: Part 4 of this lecture explores the circular</a:t>
            </a:r>
          </a:p>
          <a:p xmlns:a="http://schemas.openxmlformats.org/drawingml/2006/main">
            <a:pPr>
              <a:defRPr sz="1388" b="0">
                <a:solidFill>
                  <a:srgbClr val="173E35"/>
                </a:solidFill>
                <a:latin typeface="Arial"/>
                <a:ea typeface="Arial"/>
                <a:cs typeface="Arial"/>
              </a:defRPr>
            </a:pPr>
            <a:r>
              <a:rPr sz="1388" b="0">
                <a:solidFill>
                  <a:srgbClr val="173E35"/>
                </a:solidFill>
                <a:latin typeface="Arial"/>
                <a:ea typeface="Arial"/>
                <a:cs typeface="Arial"/>
              </a:rPr>
              <a:t>economy in depth.</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dd37884ca2c4eda"/>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3" name="www.newton.university">
            <a:extLst xmlns:a="http://schemas.openxmlformats.org/drawingml/2006/main">
              <a:ext uri="{FF2B5EF4-FFF2-40B4-BE49-F238E27FC236}">
                <a16:creationId xmlns:a16="http://schemas.microsoft.com/office/drawing/2014/main" id="{0F18B25F-6117-4069-9F6E-9C982E692C20}"/>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4" name="07">
            <a:extLst xmlns:a="http://schemas.openxmlformats.org/drawingml/2006/main">
              <a:ext uri="{FF2B5EF4-FFF2-40B4-BE49-F238E27FC236}">
                <a16:creationId xmlns:a16="http://schemas.microsoft.com/office/drawing/2014/main" id="{8D00AAE4-7CCB-4FB4-8DA9-DB8036C7265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07</a:t>
            </a:r>
          </a:p>
        </p:txBody>
      </p:sp>
    </p:spTree>
    <p:extLst>
      <p:ext uri="{BB962C8B-B14F-4D97-AF65-F5344CB8AC3E}">
        <p14:creationId xmlns:p14="http://schemas.microsoft.com/office/powerpoint/2010/main" val="1780551610"/>
      </p:ext>
    </p:extLst>
  </p:cSld>
</p:sld>
</file>

<file path=ppt/slides/slide8.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Carbon Emissions and Business">
            <a:extLst xmlns:a="http://schemas.openxmlformats.org/drawingml/2006/main">
              <a:ext uri="{FF2B5EF4-FFF2-40B4-BE49-F238E27FC236}">
                <a16:creationId xmlns:a16="http://schemas.microsoft.com/office/drawing/2014/main" id="{BA440FC9-DDCF-479B-A15B-1AE7B917873B}"/>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Carbon Emissions and Business</a:t>
            </a:r>
          </a:p>
        </p:txBody>
      </p:sp>
      <p:sp>
        <p:nvSpPr>
          <p:cNvPr id="2" name="Editorial frame">
            <a:extLst xmlns:a="http://schemas.openxmlformats.org/drawingml/2006/main">
              <a:ext uri="{FF2B5EF4-FFF2-40B4-BE49-F238E27FC236}">
                <a16:creationId xmlns:a16="http://schemas.microsoft.com/office/drawing/2014/main" id="{F2D44247-745C-48E0-87DA-74BB895E8CBA}"/>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C8C319E5-187C-489B-B38D-65D17562DCB3}"/>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283F7051-37AF-4DEE-BEE9-C2A05D3DAA1A}"/>
              </a:ext>
            </a:extLst>
          </p:cNvPr>
          <p:cNvSpPr>
            <a:spLocks xmlns:a="http://schemas.openxmlformats.org/drawingml/2006/main" noGrp="1"/>
          </p:cNvSpPr>
          <p:nvPr/>
        </p:nvSpPr>
        <p:spPr>
          <a:xfrm xmlns:a="http://schemas.openxmlformats.org/drawingml/2006/main">
            <a:off x="5867400" y="1457325"/>
            <a:ext cx="2924175" cy="3248025"/>
          </a:xfrm>
          <a:prstGeom xmlns:a="http://schemas.openxmlformats.org/drawingml/2006/main" prst="rect">
            <a:avLst/>
          </a:prstGeom>
          <a:solidFill xmlns:a="http://schemas.openxmlformats.org/drawingml/2006/main">
            <a:srgbClr val="EEE4D7"/>
          </a:solidFill>
          <a:ln xmlns:a="http://schemas.openxmlformats.org/drawingml/2006/main" w="7620">
            <a:solidFill>
              <a:srgbClr val="B7C3B1"/>
            </a:solidFill>
          </a:ln>
        </p:spPr>
      </p:sp>
      <p:sp>
        <p:nvSpPr>
          <p:cNvPr id="5" name="Emission scopes (GHG Protocol)">
            <a:extLst xmlns:a="http://schemas.openxmlformats.org/drawingml/2006/main">
              <a:ext uri="{FF2B5EF4-FFF2-40B4-BE49-F238E27FC236}">
                <a16:creationId xmlns:a16="http://schemas.microsoft.com/office/drawing/2014/main" id="{B5DAB954-FAA3-449D-B0CA-C23F78EA9AC8}"/>
              </a:ext>
            </a:extLst>
          </p:cNvPr>
          <p:cNvSpPr>
            <a:spLocks xmlns:a="http://schemas.openxmlformats.org/drawingml/2006/main" noGrp="1"/>
          </p:cNvSpPr>
          <p:nvPr/>
        </p:nvSpPr>
        <p:spPr>
          <a:xfrm xmlns:a="http://schemas.openxmlformats.org/drawingml/2006/main">
            <a:off x="495300" y="1552575"/>
            <a:ext cx="5019675"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Emission scopes (GHG Protocol)</a:t>
            </a:r>
          </a:p>
        </p:txBody>
      </p:sp>
      <p:sp>
        <p:nvSpPr>
          <p:cNvPr id="6" name="Scope 1 — direct emissions from owned or controlle">
            <a:extLst xmlns:a="http://schemas.openxmlformats.org/drawingml/2006/main">
              <a:ext uri="{FF2B5EF4-FFF2-40B4-BE49-F238E27FC236}">
                <a16:creationId xmlns:a16="http://schemas.microsoft.com/office/drawing/2014/main" id="{736DBC0D-46FA-47BC-83D2-56E92FC1BAE6}"/>
              </a:ext>
            </a:extLst>
          </p:cNvPr>
          <p:cNvSpPr>
            <a:spLocks xmlns:a="http://schemas.openxmlformats.org/drawingml/2006/main" noGrp="1"/>
          </p:cNvSpPr>
          <p:nvPr/>
        </p:nvSpPr>
        <p:spPr>
          <a:xfrm xmlns:a="http://schemas.openxmlformats.org/drawingml/2006/main">
            <a:off x="495300" y="201549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Scope 1 — direct emissions from owned or</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controlled sources</a:t>
            </a:r>
          </a:p>
        </p:txBody>
      </p:sp>
      <p:sp>
        <p:nvSpPr>
          <p:cNvPr id="7" name="Scope 2 — purchased energy">
            <a:extLst xmlns:a="http://schemas.openxmlformats.org/drawingml/2006/main">
              <a:ext uri="{FF2B5EF4-FFF2-40B4-BE49-F238E27FC236}">
                <a16:creationId xmlns:a16="http://schemas.microsoft.com/office/drawing/2014/main" id="{0E8A3C24-B303-4620-BD66-8B0A2B9204C8}"/>
              </a:ext>
            </a:extLst>
          </p:cNvPr>
          <p:cNvSpPr>
            <a:spLocks xmlns:a="http://schemas.openxmlformats.org/drawingml/2006/main" noGrp="1"/>
          </p:cNvSpPr>
          <p:nvPr/>
        </p:nvSpPr>
        <p:spPr>
          <a:xfrm xmlns:a="http://schemas.openxmlformats.org/drawingml/2006/main">
            <a:off x="495300" y="2687955"/>
            <a:ext cx="5019675" cy="3028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Scope 2 — purchased energy</a:t>
            </a:r>
          </a:p>
        </p:txBody>
      </p:sp>
      <p:sp>
        <p:nvSpPr>
          <p:cNvPr id="8" name="Scope 3 — value chain (usually the largest share)">
            <a:extLst xmlns:a="http://schemas.openxmlformats.org/drawingml/2006/main">
              <a:ext uri="{FF2B5EF4-FFF2-40B4-BE49-F238E27FC236}">
                <a16:creationId xmlns:a16="http://schemas.microsoft.com/office/drawing/2014/main" id="{4A36F509-283D-4474-A63E-D6DB9012D954}"/>
              </a:ext>
            </a:extLst>
          </p:cNvPr>
          <p:cNvSpPr>
            <a:spLocks xmlns:a="http://schemas.openxmlformats.org/drawingml/2006/main" noGrp="1"/>
          </p:cNvSpPr>
          <p:nvPr/>
        </p:nvSpPr>
        <p:spPr>
          <a:xfrm xmlns:a="http://schemas.openxmlformats.org/drawingml/2006/main">
            <a:off x="495300" y="308610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Scope 3 — value chain (usually the largest</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share)</a:t>
            </a:r>
          </a:p>
        </p:txBody>
      </p:sp>
      <p:sp>
        <p:nvSpPr>
          <p:cNvPr id="9" name="Discussion">
            <a:extLst xmlns:a="http://schemas.openxmlformats.org/drawingml/2006/main">
              <a:ext uri="{FF2B5EF4-FFF2-40B4-BE49-F238E27FC236}">
                <a16:creationId xmlns:a16="http://schemas.microsoft.com/office/drawing/2014/main" id="{9C577AB4-DD8C-484A-81A7-31EED39B348D}"/>
              </a:ext>
            </a:extLst>
          </p:cNvPr>
          <p:cNvSpPr>
            <a:spLocks xmlns:a="http://schemas.openxmlformats.org/drawingml/2006/main" noGrp="1"/>
          </p:cNvSpPr>
          <p:nvPr/>
        </p:nvSpPr>
        <p:spPr>
          <a:xfrm xmlns:a="http://schemas.openxmlformats.org/drawingml/2006/main">
            <a:off x="6067425" y="1657350"/>
            <a:ext cx="2514600"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Discussion</a:t>
            </a:r>
          </a:p>
        </p:txBody>
      </p:sp>
      <p:sp>
        <p:nvSpPr>
          <p:cNvPr id="10" name="Which scope is hardest for a company to reduce — a">
            <a:extLst xmlns:a="http://schemas.openxmlformats.org/drawingml/2006/main">
              <a:ext uri="{FF2B5EF4-FFF2-40B4-BE49-F238E27FC236}">
                <a16:creationId xmlns:a16="http://schemas.microsoft.com/office/drawing/2014/main" id="{9AF939C3-8DAB-4179-B56D-BCDCE3CE35FF}"/>
              </a:ext>
            </a:extLst>
          </p:cNvPr>
          <p:cNvSpPr>
            <a:spLocks xmlns:a="http://schemas.openxmlformats.org/drawingml/2006/main" noGrp="1"/>
          </p:cNvSpPr>
          <p:nvPr/>
        </p:nvSpPr>
        <p:spPr>
          <a:xfrm xmlns:a="http://schemas.openxmlformats.org/drawingml/2006/main">
            <a:off x="6067425" y="2120265"/>
            <a:ext cx="2514600" cy="12172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Which scope is</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hardest for a</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company to reduce —</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and why?</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ba2765101314178"/>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2" name="www.newton.university">
            <a:extLst xmlns:a="http://schemas.openxmlformats.org/drawingml/2006/main">
              <a:ext uri="{FF2B5EF4-FFF2-40B4-BE49-F238E27FC236}">
                <a16:creationId xmlns:a16="http://schemas.microsoft.com/office/drawing/2014/main" id="{05C0A697-89CC-4856-B72C-B22E108B94FA}"/>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3" name="08">
            <a:extLst xmlns:a="http://schemas.openxmlformats.org/drawingml/2006/main">
              <a:ext uri="{FF2B5EF4-FFF2-40B4-BE49-F238E27FC236}">
                <a16:creationId xmlns:a16="http://schemas.microsoft.com/office/drawing/2014/main" id="{AAF0B76A-CE8D-4CC8-A569-67B227174C06}"/>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08</a:t>
            </a:r>
          </a:p>
        </p:txBody>
      </p:sp>
    </p:spTree>
    <p:extLst>
      <p:ext uri="{BB962C8B-B14F-4D97-AF65-F5344CB8AC3E}">
        <p14:creationId xmlns:p14="http://schemas.microsoft.com/office/powerpoint/2010/main" val="2048542818"/>
      </p:ext>
    </p:extLst>
  </p:cSld>
</p:sld>
</file>

<file path=ppt/slides/slide9.xml><?xml version="1.0" encoding="utf-8"?>
<p:sld xmlns:p="http://schemas.openxmlformats.org/presentationml/2006/main">
  <p:cSld>
    <p:bg>
      <p:bgPr>
        <a:solidFill xmlns:a="http://schemas.openxmlformats.org/drawingml/2006/main">
          <a:srgbClr val="132E29"/>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FC622156-E87B-4C75-82A0-A413D655172F}"/>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sp>
        <p:nvSpPr>
          <p:cNvPr id="2" name="Part 2">
            <a:extLst xmlns:a="http://schemas.openxmlformats.org/drawingml/2006/main">
              <a:ext uri="{FF2B5EF4-FFF2-40B4-BE49-F238E27FC236}">
                <a16:creationId xmlns:a16="http://schemas.microsoft.com/office/drawing/2014/main" id="{BE9505AB-A960-4655-A516-B05D6B73EEFE}"/>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2</a:t>
            </a:r>
          </a:p>
        </p:txBody>
      </p:sp>
      <p:sp>
        <p:nvSpPr>
          <p:cNvPr id="3" name="02">
            <a:extLst xmlns:a="http://schemas.openxmlformats.org/drawingml/2006/main">
              <a:ext uri="{FF2B5EF4-FFF2-40B4-BE49-F238E27FC236}">
                <a16:creationId xmlns:a16="http://schemas.microsoft.com/office/drawing/2014/main" id="{ADCA230E-63E5-47D1-A621-CD013EF88300}"/>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819E89"/>
                </a:solidFill>
                <a:latin typeface="Georgia"/>
                <a:ea typeface="Georgia"/>
                <a:cs typeface="Georgia"/>
              </a:defRPr>
            </a:pPr>
            <a:r>
              <a:rPr sz="7875" b="0">
                <a:solidFill>
                  <a:srgbClr val="819E89"/>
                </a:solidFill>
                <a:latin typeface="Georgia"/>
                <a:ea typeface="Georgia"/>
                <a:cs typeface="Georgia"/>
              </a:rPr>
              <a:t>02</a:t>
            </a:r>
          </a:p>
        </p:txBody>
      </p:sp>
      <p:sp>
        <p:nvSpPr>
          <p:cNvPr id="4" name="Climate Change and Urban Resilience">
            <a:extLst xmlns:a="http://schemas.openxmlformats.org/drawingml/2006/main">
              <a:ext uri="{FF2B5EF4-FFF2-40B4-BE49-F238E27FC236}">
                <a16:creationId xmlns:a16="http://schemas.microsoft.com/office/drawing/2014/main" id="{73667853-4026-4924-966F-48A731329078}"/>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Climate Change and Urban</a:t>
            </a:r>
          </a:p>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Resilience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868f0c545b040d5"/>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B63F02C8-CC27-47EC-B777-387CCA9669D1}"/>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09">
            <a:extLst xmlns:a="http://schemas.openxmlformats.org/drawingml/2006/main">
              <a:ext uri="{FF2B5EF4-FFF2-40B4-BE49-F238E27FC236}">
                <a16:creationId xmlns:a16="http://schemas.microsoft.com/office/drawing/2014/main" id="{DAA7E01E-1C3A-4C42-94F0-05B1F5EE0F7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09</a:t>
            </a:r>
          </a:p>
        </p:txBody>
      </p:sp>
    </p:spTree>
    <p:extLst>
      <p:ext uri="{BB962C8B-B14F-4D97-AF65-F5344CB8AC3E}">
        <p14:creationId xmlns:p14="http://schemas.microsoft.com/office/powerpoint/2010/main" val="951672400"/>
      </p:ext>
    </p:extLst>
  </p:cSld>
</p:sld>
</file>

<file path=ppt/slides/slide1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5" name="How Climate Change Hits Cities">
            <a:extLst xmlns:a="http://schemas.openxmlformats.org/drawingml/2006/main">
              <a:ext uri="{FF2B5EF4-FFF2-40B4-BE49-F238E27FC236}">
                <a16:creationId xmlns:a16="http://schemas.microsoft.com/office/drawing/2014/main" id="{EB8F84DF-B9CB-4E2F-9BCF-C31E058E03FF}"/>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How Climate Change Hits Cities</a:t>
            </a:r>
          </a:p>
        </p:txBody>
      </p:sp>
      <p:sp>
        <p:nvSpPr>
          <p:cNvPr id="2" name="Editorial frame">
            <a:extLst xmlns:a="http://schemas.openxmlformats.org/drawingml/2006/main">
              <a:ext uri="{FF2B5EF4-FFF2-40B4-BE49-F238E27FC236}">
                <a16:creationId xmlns:a16="http://schemas.microsoft.com/office/drawing/2014/main" id="{685F8C64-85F4-495F-9041-319B5941DBD0}"/>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A81D238D-9058-462B-987A-CBE31B6FD6E4}"/>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78136408-7112-4EAA-A32A-8919403A759B}"/>
              </a:ext>
            </a:extLst>
          </p:cNvPr>
          <p:cNvSpPr>
            <a:spLocks xmlns:a="http://schemas.openxmlformats.org/drawingml/2006/main" noGrp="1"/>
          </p:cNvSpPr>
          <p:nvPr/>
        </p:nvSpPr>
        <p:spPr>
          <a:xfrm xmlns:a="http://schemas.openxmlformats.org/drawingml/2006/main">
            <a:off x="361950" y="1438275"/>
            <a:ext cx="2844800"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EE30450D-A4BF-42E7-ACD3-D0D0D8675663}"/>
              </a:ext>
            </a:extLst>
          </p:cNvPr>
          <p:cNvSpPr>
            <a:spLocks xmlns:a="http://schemas.openxmlformats.org/drawingml/2006/main" noGrp="1"/>
          </p:cNvSpPr>
          <p:nvPr/>
        </p:nvSpPr>
        <p:spPr>
          <a:xfrm xmlns:a="http://schemas.openxmlformats.org/drawingml/2006/main">
            <a:off x="361950" y="1438275"/>
            <a:ext cx="2844800"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Heat">
            <a:extLst xmlns:a="http://schemas.openxmlformats.org/drawingml/2006/main">
              <a:ext uri="{FF2B5EF4-FFF2-40B4-BE49-F238E27FC236}">
                <a16:creationId xmlns:a16="http://schemas.microsoft.com/office/drawing/2014/main" id="{141DE70E-99D7-4162-90EC-D475ACC83E05}"/>
              </a:ext>
            </a:extLst>
          </p:cNvPr>
          <p:cNvSpPr>
            <a:spLocks xmlns:a="http://schemas.openxmlformats.org/drawingml/2006/main" noGrp="1"/>
          </p:cNvSpPr>
          <p:nvPr/>
        </p:nvSpPr>
        <p:spPr>
          <a:xfrm xmlns:a="http://schemas.openxmlformats.org/drawingml/2006/main">
            <a:off x="4953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Heat</a:t>
            </a:r>
          </a:p>
        </p:txBody>
      </p:sp>
      <p:sp>
        <p:nvSpPr>
          <p:cNvPr id="7" name="More frequent heat waves">
            <a:extLst xmlns:a="http://schemas.openxmlformats.org/drawingml/2006/main">
              <a:ext uri="{FF2B5EF4-FFF2-40B4-BE49-F238E27FC236}">
                <a16:creationId xmlns:a16="http://schemas.microsoft.com/office/drawing/2014/main" id="{AD31A07F-ECEB-49C4-A104-EAC446B2CBE9}"/>
              </a:ext>
            </a:extLst>
          </p:cNvPr>
          <p:cNvSpPr>
            <a:spLocks xmlns:a="http://schemas.openxmlformats.org/drawingml/2006/main" noGrp="1"/>
          </p:cNvSpPr>
          <p:nvPr/>
        </p:nvSpPr>
        <p:spPr>
          <a:xfrm xmlns:a="http://schemas.openxmlformats.org/drawingml/2006/main">
            <a:off x="495300" y="207073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More frequent heat</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waves</a:t>
            </a:r>
          </a:p>
        </p:txBody>
      </p:sp>
      <p:sp>
        <p:nvSpPr>
          <p:cNvPr id="8" name="Urban heat island amplification">
            <a:extLst xmlns:a="http://schemas.openxmlformats.org/drawingml/2006/main">
              <a:ext uri="{FF2B5EF4-FFF2-40B4-BE49-F238E27FC236}">
                <a16:creationId xmlns:a16="http://schemas.microsoft.com/office/drawing/2014/main" id="{FC36E172-2FFA-4845-9A5C-92F3349C0BF8}"/>
              </a:ext>
            </a:extLst>
          </p:cNvPr>
          <p:cNvSpPr>
            <a:spLocks xmlns:a="http://schemas.openxmlformats.org/drawingml/2006/main" noGrp="1"/>
          </p:cNvSpPr>
          <p:nvPr/>
        </p:nvSpPr>
        <p:spPr>
          <a:xfrm xmlns:a="http://schemas.openxmlformats.org/drawingml/2006/main">
            <a:off x="495300" y="272034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Urban heat island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amplification</a:t>
            </a:r>
          </a:p>
        </p:txBody>
      </p:sp>
      <p:sp>
        <p:nvSpPr>
          <p:cNvPr id="9" name="Health risks for vulnerable groups">
            <a:extLst xmlns:a="http://schemas.openxmlformats.org/drawingml/2006/main">
              <a:ext uri="{FF2B5EF4-FFF2-40B4-BE49-F238E27FC236}">
                <a16:creationId xmlns:a16="http://schemas.microsoft.com/office/drawing/2014/main" id="{D7EF5382-493E-4B3B-B1D8-860ED059D471}"/>
              </a:ext>
            </a:extLst>
          </p:cNvPr>
          <p:cNvSpPr>
            <a:spLocks xmlns:a="http://schemas.openxmlformats.org/drawingml/2006/main" noGrp="1"/>
          </p:cNvSpPr>
          <p:nvPr/>
        </p:nvSpPr>
        <p:spPr>
          <a:xfrm xmlns:a="http://schemas.openxmlformats.org/drawingml/2006/main">
            <a:off x="495300" y="336994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Health risks for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vulnerable groups</a:t>
            </a:r>
          </a:p>
        </p:txBody>
      </p:sp>
      <p:sp>
        <p:nvSpPr>
          <p:cNvPr id="10" name="Editorial frame">
            <a:extLst xmlns:a="http://schemas.openxmlformats.org/drawingml/2006/main">
              <a:ext uri="{FF2B5EF4-FFF2-40B4-BE49-F238E27FC236}">
                <a16:creationId xmlns:a16="http://schemas.microsoft.com/office/drawing/2014/main" id="{01A45334-DC23-4761-9DFC-F78CEBB5FAF2}"/>
              </a:ext>
            </a:extLst>
          </p:cNvPr>
          <p:cNvSpPr>
            <a:spLocks xmlns:a="http://schemas.openxmlformats.org/drawingml/2006/main" noGrp="1"/>
          </p:cNvSpPr>
          <p:nvPr/>
        </p:nvSpPr>
        <p:spPr>
          <a:xfrm xmlns:a="http://schemas.openxmlformats.org/drawingml/2006/main">
            <a:off x="3149600" y="1438275"/>
            <a:ext cx="2844800"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1" name="Editorial frame">
            <a:extLst xmlns:a="http://schemas.openxmlformats.org/drawingml/2006/main">
              <a:ext uri="{FF2B5EF4-FFF2-40B4-BE49-F238E27FC236}">
                <a16:creationId xmlns:a16="http://schemas.microsoft.com/office/drawing/2014/main" id="{10B2EDCF-4A94-4981-A954-F517623386BF}"/>
              </a:ext>
            </a:extLst>
          </p:cNvPr>
          <p:cNvSpPr>
            <a:spLocks xmlns:a="http://schemas.openxmlformats.org/drawingml/2006/main" noGrp="1"/>
          </p:cNvSpPr>
          <p:nvPr/>
        </p:nvSpPr>
        <p:spPr>
          <a:xfrm xmlns:a="http://schemas.openxmlformats.org/drawingml/2006/main">
            <a:off x="3149600" y="1438275"/>
            <a:ext cx="284480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2" name="Water">
            <a:extLst xmlns:a="http://schemas.openxmlformats.org/drawingml/2006/main">
              <a:ext uri="{FF2B5EF4-FFF2-40B4-BE49-F238E27FC236}">
                <a16:creationId xmlns:a16="http://schemas.microsoft.com/office/drawing/2014/main" id="{BFC410CC-D3E4-48FC-8F42-26662A06F8F9}"/>
              </a:ext>
            </a:extLst>
          </p:cNvPr>
          <p:cNvSpPr>
            <a:spLocks xmlns:a="http://schemas.openxmlformats.org/drawingml/2006/main" noGrp="1"/>
          </p:cNvSpPr>
          <p:nvPr/>
        </p:nvSpPr>
        <p:spPr>
          <a:xfrm xmlns:a="http://schemas.openxmlformats.org/drawingml/2006/main">
            <a:off x="328295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Water</a:t>
            </a:r>
          </a:p>
        </p:txBody>
      </p:sp>
      <p:sp>
        <p:nvSpPr>
          <p:cNvPr id="13" name="Flash floods and river floods">
            <a:extLst xmlns:a="http://schemas.openxmlformats.org/drawingml/2006/main">
              <a:ext uri="{FF2B5EF4-FFF2-40B4-BE49-F238E27FC236}">
                <a16:creationId xmlns:a16="http://schemas.microsoft.com/office/drawing/2014/main" id="{B8D0E27E-1B8C-4DD2-A1E1-BE4B00D01DDC}"/>
              </a:ext>
            </a:extLst>
          </p:cNvPr>
          <p:cNvSpPr>
            <a:spLocks xmlns:a="http://schemas.openxmlformats.org/drawingml/2006/main" noGrp="1"/>
          </p:cNvSpPr>
          <p:nvPr/>
        </p:nvSpPr>
        <p:spPr>
          <a:xfrm xmlns:a="http://schemas.openxmlformats.org/drawingml/2006/main">
            <a:off x="3282950" y="207073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Flash floods and river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floods</a:t>
            </a:r>
          </a:p>
        </p:txBody>
      </p:sp>
      <p:sp>
        <p:nvSpPr>
          <p:cNvPr id="14" name="Drought and water scarcity">
            <a:extLst xmlns:a="http://schemas.openxmlformats.org/drawingml/2006/main">
              <a:ext uri="{FF2B5EF4-FFF2-40B4-BE49-F238E27FC236}">
                <a16:creationId xmlns:a16="http://schemas.microsoft.com/office/drawing/2014/main" id="{0B6D3FDC-D5A6-4928-AA1C-6B08C10C353B}"/>
              </a:ext>
            </a:extLst>
          </p:cNvPr>
          <p:cNvSpPr>
            <a:spLocks xmlns:a="http://schemas.openxmlformats.org/drawingml/2006/main" noGrp="1"/>
          </p:cNvSpPr>
          <p:nvPr/>
        </p:nvSpPr>
        <p:spPr>
          <a:xfrm xmlns:a="http://schemas.openxmlformats.org/drawingml/2006/main">
            <a:off x="3282950" y="272034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Drought and water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scarcity</a:t>
            </a:r>
          </a:p>
        </p:txBody>
      </p:sp>
      <p:sp>
        <p:nvSpPr>
          <p:cNvPr id="15" name="Aging drainage overloaded">
            <a:extLst xmlns:a="http://schemas.openxmlformats.org/drawingml/2006/main">
              <a:ext uri="{FF2B5EF4-FFF2-40B4-BE49-F238E27FC236}">
                <a16:creationId xmlns:a16="http://schemas.microsoft.com/office/drawing/2014/main" id="{DD187501-CB33-45C8-B8E1-2F16AD0D48E0}"/>
              </a:ext>
            </a:extLst>
          </p:cNvPr>
          <p:cNvSpPr>
            <a:spLocks xmlns:a="http://schemas.openxmlformats.org/drawingml/2006/main" noGrp="1"/>
          </p:cNvSpPr>
          <p:nvPr/>
        </p:nvSpPr>
        <p:spPr>
          <a:xfrm xmlns:a="http://schemas.openxmlformats.org/drawingml/2006/main">
            <a:off x="3282950" y="336994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Aging drainage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overloaded</a:t>
            </a:r>
          </a:p>
        </p:txBody>
      </p:sp>
      <p:sp>
        <p:nvSpPr>
          <p:cNvPr id="16" name="Editorial frame">
            <a:extLst xmlns:a="http://schemas.openxmlformats.org/drawingml/2006/main">
              <a:ext uri="{FF2B5EF4-FFF2-40B4-BE49-F238E27FC236}">
                <a16:creationId xmlns:a16="http://schemas.microsoft.com/office/drawing/2014/main" id="{772686F0-F4B0-4A63-BD19-83788B68EC24}"/>
              </a:ext>
            </a:extLst>
          </p:cNvPr>
          <p:cNvSpPr>
            <a:spLocks xmlns:a="http://schemas.openxmlformats.org/drawingml/2006/main" noGrp="1"/>
          </p:cNvSpPr>
          <p:nvPr/>
        </p:nvSpPr>
        <p:spPr>
          <a:xfrm xmlns:a="http://schemas.openxmlformats.org/drawingml/2006/main">
            <a:off x="5937250" y="1438275"/>
            <a:ext cx="2844800" cy="3305175"/>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7" name="Editorial frame">
            <a:extLst xmlns:a="http://schemas.openxmlformats.org/drawingml/2006/main">
              <a:ext uri="{FF2B5EF4-FFF2-40B4-BE49-F238E27FC236}">
                <a16:creationId xmlns:a16="http://schemas.microsoft.com/office/drawing/2014/main" id="{8AE7957E-4252-4480-A297-2C0714B96459}"/>
              </a:ext>
            </a:extLst>
          </p:cNvPr>
          <p:cNvSpPr>
            <a:spLocks xmlns:a="http://schemas.openxmlformats.org/drawingml/2006/main" noGrp="1"/>
          </p:cNvSpPr>
          <p:nvPr/>
        </p:nvSpPr>
        <p:spPr>
          <a:xfrm xmlns:a="http://schemas.openxmlformats.org/drawingml/2006/main">
            <a:off x="5937250" y="1438275"/>
            <a:ext cx="2844800"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8" name="Economy">
            <a:extLst xmlns:a="http://schemas.openxmlformats.org/drawingml/2006/main">
              <a:ext uri="{FF2B5EF4-FFF2-40B4-BE49-F238E27FC236}">
                <a16:creationId xmlns:a16="http://schemas.microsoft.com/office/drawing/2014/main" id="{6ED91ECB-D5C4-44A6-9908-E8E91B5F9150}"/>
              </a:ext>
            </a:extLst>
          </p:cNvPr>
          <p:cNvSpPr>
            <a:spLocks xmlns:a="http://schemas.openxmlformats.org/drawingml/2006/main" noGrp="1"/>
          </p:cNvSpPr>
          <p:nvPr/>
        </p:nvSpPr>
        <p:spPr>
          <a:xfrm xmlns:a="http://schemas.openxmlformats.org/drawingml/2006/main">
            <a:off x="60706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Economy</a:t>
            </a:r>
          </a:p>
        </p:txBody>
      </p:sp>
      <p:sp>
        <p:nvSpPr>
          <p:cNvPr id="19" name="Damaged infrastructure">
            <a:extLst xmlns:a="http://schemas.openxmlformats.org/drawingml/2006/main">
              <a:ext uri="{FF2B5EF4-FFF2-40B4-BE49-F238E27FC236}">
                <a16:creationId xmlns:a16="http://schemas.microsoft.com/office/drawing/2014/main" id="{740DD211-CBDF-43BE-855F-AD5E475E8B31}"/>
              </a:ext>
            </a:extLst>
          </p:cNvPr>
          <p:cNvSpPr>
            <a:spLocks xmlns:a="http://schemas.openxmlformats.org/drawingml/2006/main" noGrp="1"/>
          </p:cNvSpPr>
          <p:nvPr/>
        </p:nvSpPr>
        <p:spPr>
          <a:xfrm xmlns:a="http://schemas.openxmlformats.org/drawingml/2006/main">
            <a:off x="6070600" y="207073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Damaged infrastructure</a:t>
            </a:r>
          </a:p>
        </p:txBody>
      </p:sp>
      <p:sp>
        <p:nvSpPr>
          <p:cNvPr id="20" name="Business interruption">
            <a:extLst xmlns:a="http://schemas.openxmlformats.org/drawingml/2006/main">
              <a:ext uri="{FF2B5EF4-FFF2-40B4-BE49-F238E27FC236}">
                <a16:creationId xmlns:a16="http://schemas.microsoft.com/office/drawing/2014/main" id="{A9CE8C9F-8671-4695-8278-F05038083EDE}"/>
              </a:ext>
            </a:extLst>
          </p:cNvPr>
          <p:cNvSpPr>
            <a:spLocks xmlns:a="http://schemas.openxmlformats.org/drawingml/2006/main" noGrp="1"/>
          </p:cNvSpPr>
          <p:nvPr/>
        </p:nvSpPr>
        <p:spPr>
          <a:xfrm xmlns:a="http://schemas.openxmlformats.org/drawingml/2006/main">
            <a:off x="6070600" y="245745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Business interruption</a:t>
            </a:r>
          </a:p>
        </p:txBody>
      </p:sp>
      <p:sp>
        <p:nvSpPr>
          <p:cNvPr id="21" name="Rising insurance costs">
            <a:extLst xmlns:a="http://schemas.openxmlformats.org/drawingml/2006/main">
              <a:ext uri="{FF2B5EF4-FFF2-40B4-BE49-F238E27FC236}">
                <a16:creationId xmlns:a16="http://schemas.microsoft.com/office/drawing/2014/main" id="{DC647D98-3109-4FEA-826E-C067E2254890}"/>
              </a:ext>
            </a:extLst>
          </p:cNvPr>
          <p:cNvSpPr>
            <a:spLocks xmlns:a="http://schemas.openxmlformats.org/drawingml/2006/main" noGrp="1"/>
          </p:cNvSpPr>
          <p:nvPr/>
        </p:nvSpPr>
        <p:spPr>
          <a:xfrm xmlns:a="http://schemas.openxmlformats.org/drawingml/2006/main">
            <a:off x="6070600" y="284416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Rising insurance costs</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42db3f751c374b30"/>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3" name="www.newton.university">
            <a:extLst xmlns:a="http://schemas.openxmlformats.org/drawingml/2006/main">
              <a:ext uri="{FF2B5EF4-FFF2-40B4-BE49-F238E27FC236}">
                <a16:creationId xmlns:a16="http://schemas.microsoft.com/office/drawing/2014/main" id="{3D049B97-8DD7-455D-8811-23E6BD051C1A}"/>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4" name="10">
            <a:extLst xmlns:a="http://schemas.openxmlformats.org/drawingml/2006/main">
              <a:ext uri="{FF2B5EF4-FFF2-40B4-BE49-F238E27FC236}">
                <a16:creationId xmlns:a16="http://schemas.microsoft.com/office/drawing/2014/main" id="{2719AF31-7183-49C1-9C7E-1ACDA89060AB}"/>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10</a:t>
            </a:r>
          </a:p>
        </p:txBody>
      </p:sp>
    </p:spTree>
    <p:extLst>
      <p:ext uri="{BB962C8B-B14F-4D97-AF65-F5344CB8AC3E}">
        <p14:creationId xmlns:p14="http://schemas.microsoft.com/office/powerpoint/2010/main" val="313730975"/>
      </p:ext>
    </p:extLst>
  </p:cSld>
</p:sld>
</file>

<file path=ppt/slides/slide1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7" name="What is Urban Resilience?">
            <a:extLst xmlns:a="http://schemas.openxmlformats.org/drawingml/2006/main">
              <a:ext uri="{FF2B5EF4-FFF2-40B4-BE49-F238E27FC236}">
                <a16:creationId xmlns:a16="http://schemas.microsoft.com/office/drawing/2014/main" id="{0BF07949-9FAE-4869-BAD5-4CB6CD62738D}"/>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What is Urban Resilience?</a:t>
            </a:r>
          </a:p>
        </p:txBody>
      </p:sp>
      <p:sp>
        <p:nvSpPr>
          <p:cNvPr id="2" name="Editorial frame">
            <a:extLst xmlns:a="http://schemas.openxmlformats.org/drawingml/2006/main">
              <a:ext uri="{FF2B5EF4-FFF2-40B4-BE49-F238E27FC236}">
                <a16:creationId xmlns:a16="http://schemas.microsoft.com/office/drawing/2014/main" id="{B0F727DD-78A0-4FFD-9A90-07E14ABE3C04}"/>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797B18D2-DC87-4CF4-90D9-72152D3C8249}"/>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075836A8-851D-4729-B895-881AA5FCA65C}"/>
              </a:ext>
            </a:extLst>
          </p:cNvPr>
          <p:cNvSpPr>
            <a:spLocks xmlns:a="http://schemas.openxmlformats.org/drawingml/2006/main" noGrp="1"/>
          </p:cNvSpPr>
          <p:nvPr/>
        </p:nvSpPr>
        <p:spPr>
          <a:xfrm xmlns:a="http://schemas.openxmlformats.org/drawingml/2006/main">
            <a:off x="361950" y="1438275"/>
            <a:ext cx="4238625"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F8880E3D-6016-4FC7-83DD-D35AC79C42B6}"/>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Definition">
            <a:extLst xmlns:a="http://schemas.openxmlformats.org/drawingml/2006/main">
              <a:ext uri="{FF2B5EF4-FFF2-40B4-BE49-F238E27FC236}">
                <a16:creationId xmlns:a16="http://schemas.microsoft.com/office/drawing/2014/main" id="{0E507EB0-DC43-44BE-8FFB-2071ED851E77}"/>
              </a:ext>
            </a:extLst>
          </p:cNvPr>
          <p:cNvSpPr>
            <a:spLocks xmlns:a="http://schemas.openxmlformats.org/drawingml/2006/main" noGrp="1"/>
          </p:cNvSpPr>
          <p:nvPr/>
        </p:nvSpPr>
        <p:spPr>
          <a:xfrm xmlns:a="http://schemas.openxmlformats.org/drawingml/2006/main">
            <a:off x="495300"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Definition</a:t>
            </a:r>
          </a:p>
        </p:txBody>
      </p:sp>
      <p:sp>
        <p:nvSpPr>
          <p:cNvPr id="7" name="The capacity of a city — its people, businesses an">
            <a:extLst xmlns:a="http://schemas.openxmlformats.org/drawingml/2006/main">
              <a:ext uri="{FF2B5EF4-FFF2-40B4-BE49-F238E27FC236}">
                <a16:creationId xmlns:a16="http://schemas.microsoft.com/office/drawing/2014/main" id="{57631058-E1C1-4FE3-86E5-ED60E3DCE0D4}"/>
              </a:ext>
            </a:extLst>
          </p:cNvPr>
          <p:cNvSpPr>
            <a:spLocks xmlns:a="http://schemas.openxmlformats.org/drawingml/2006/main" noGrp="1"/>
          </p:cNvSpPr>
          <p:nvPr/>
        </p:nvSpPr>
        <p:spPr>
          <a:xfrm xmlns:a="http://schemas.openxmlformats.org/drawingml/2006/main">
            <a:off x="495300" y="2070735"/>
            <a:ext cx="3971925" cy="10801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The capacity of a city — its people,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businesses and systems — to survive,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adapt and grow in the face of chronic</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stresses and acute shocks.</a:t>
            </a:r>
          </a:p>
        </p:txBody>
      </p:sp>
      <p:sp>
        <p:nvSpPr>
          <p:cNvPr id="8" name="Editorial frame">
            <a:extLst xmlns:a="http://schemas.openxmlformats.org/drawingml/2006/main">
              <a:ext uri="{FF2B5EF4-FFF2-40B4-BE49-F238E27FC236}">
                <a16:creationId xmlns:a16="http://schemas.microsoft.com/office/drawing/2014/main" id="{E3076D9E-3C9B-4B43-8872-796FD4FB995C}"/>
              </a:ext>
            </a:extLst>
          </p:cNvPr>
          <p:cNvSpPr>
            <a:spLocks xmlns:a="http://schemas.openxmlformats.org/drawingml/2006/main" noGrp="1"/>
          </p:cNvSpPr>
          <p:nvPr/>
        </p:nvSpPr>
        <p:spPr>
          <a:xfrm xmlns:a="http://schemas.openxmlformats.org/drawingml/2006/main">
            <a:off x="4543425" y="1438275"/>
            <a:ext cx="4238625"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9" name="Editorial frame">
            <a:extLst xmlns:a="http://schemas.openxmlformats.org/drawingml/2006/main">
              <a:ext uri="{FF2B5EF4-FFF2-40B4-BE49-F238E27FC236}">
                <a16:creationId xmlns:a16="http://schemas.microsoft.com/office/drawing/2014/main" id="{4A8169FF-90E4-42D9-B9EF-09AFED141C09}"/>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0" name="Resilience thinking for managers">
            <a:extLst xmlns:a="http://schemas.openxmlformats.org/drawingml/2006/main">
              <a:ext uri="{FF2B5EF4-FFF2-40B4-BE49-F238E27FC236}">
                <a16:creationId xmlns:a16="http://schemas.microsoft.com/office/drawing/2014/main" id="{098A7465-B0E5-4D65-AC48-DE5739A84950}"/>
              </a:ext>
            </a:extLst>
          </p:cNvPr>
          <p:cNvSpPr>
            <a:spLocks xmlns:a="http://schemas.openxmlformats.org/drawingml/2006/main" noGrp="1"/>
          </p:cNvSpPr>
          <p:nvPr/>
        </p:nvSpPr>
        <p:spPr>
          <a:xfrm xmlns:a="http://schemas.openxmlformats.org/drawingml/2006/main">
            <a:off x="4676775"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Resilience thinking for managers</a:t>
            </a:r>
          </a:p>
        </p:txBody>
      </p:sp>
      <p:sp>
        <p:nvSpPr>
          <p:cNvPr id="11" name="Redundancy: more than one way to deliver a critica">
            <a:extLst xmlns:a="http://schemas.openxmlformats.org/drawingml/2006/main">
              <a:ext uri="{FF2B5EF4-FFF2-40B4-BE49-F238E27FC236}">
                <a16:creationId xmlns:a16="http://schemas.microsoft.com/office/drawing/2014/main" id="{D2E3A896-4B3C-4598-85CC-E8802D786F61}"/>
              </a:ext>
            </a:extLst>
          </p:cNvPr>
          <p:cNvSpPr>
            <a:spLocks xmlns:a="http://schemas.openxmlformats.org/drawingml/2006/main" noGrp="1"/>
          </p:cNvSpPr>
          <p:nvPr/>
        </p:nvSpPr>
        <p:spPr>
          <a:xfrm xmlns:a="http://schemas.openxmlformats.org/drawingml/2006/main">
            <a:off x="4676775" y="207073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Redundancy: more than one way to</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deliver a critical service.</a:t>
            </a:r>
          </a:p>
        </p:txBody>
      </p:sp>
      <p:sp>
        <p:nvSpPr>
          <p:cNvPr id="12" name="Flexibility: systems that bend rather than break.">
            <a:extLst xmlns:a="http://schemas.openxmlformats.org/drawingml/2006/main">
              <a:ext uri="{FF2B5EF4-FFF2-40B4-BE49-F238E27FC236}">
                <a16:creationId xmlns:a16="http://schemas.microsoft.com/office/drawing/2014/main" id="{3AAEAFA1-CB2C-4B77-B345-D55124893CC2}"/>
              </a:ext>
            </a:extLst>
          </p:cNvPr>
          <p:cNvSpPr>
            <a:spLocks xmlns:a="http://schemas.openxmlformats.org/drawingml/2006/main" noGrp="1"/>
          </p:cNvSpPr>
          <p:nvPr/>
        </p:nvSpPr>
        <p:spPr>
          <a:xfrm xmlns:a="http://schemas.openxmlformats.org/drawingml/2006/main">
            <a:off x="4676775" y="272034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Flexibility: systems that bend rather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than break.</a:t>
            </a:r>
          </a:p>
        </p:txBody>
      </p:sp>
      <p:sp>
        <p:nvSpPr>
          <p:cNvPr id="13" name="Nature as a buffer: vegetation and water storage c">
            <a:extLst xmlns:a="http://schemas.openxmlformats.org/drawingml/2006/main">
              <a:ext uri="{FF2B5EF4-FFF2-40B4-BE49-F238E27FC236}">
                <a16:creationId xmlns:a16="http://schemas.microsoft.com/office/drawing/2014/main" id="{ACA4EE2D-22D2-439E-BDE6-92988A2D754B}"/>
              </a:ext>
            </a:extLst>
          </p:cNvPr>
          <p:cNvSpPr>
            <a:spLocks xmlns:a="http://schemas.openxmlformats.org/drawingml/2006/main" noGrp="1"/>
          </p:cNvSpPr>
          <p:nvPr/>
        </p:nvSpPr>
        <p:spPr>
          <a:xfrm xmlns:a="http://schemas.openxmlformats.org/drawingml/2006/main">
            <a:off x="4676775" y="3369945"/>
            <a:ext cx="3971925"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Nature as a buffer: vegetation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water storage can complement</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engineered protection.</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78d5a15d26674390"/>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5" name="www.newton.university">
            <a:extLst xmlns:a="http://schemas.openxmlformats.org/drawingml/2006/main">
              <a:ext uri="{FF2B5EF4-FFF2-40B4-BE49-F238E27FC236}">
                <a16:creationId xmlns:a16="http://schemas.microsoft.com/office/drawing/2014/main" id="{C5B938D3-C279-4856-9353-8011328C6CB9}"/>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6" name="11">
            <a:extLst xmlns:a="http://schemas.openxmlformats.org/drawingml/2006/main">
              <a:ext uri="{FF2B5EF4-FFF2-40B4-BE49-F238E27FC236}">
                <a16:creationId xmlns:a16="http://schemas.microsoft.com/office/drawing/2014/main" id="{2CB78A0E-1657-4A73-BAEB-F3C615BCDAB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11</a:t>
            </a:r>
          </a:p>
        </p:txBody>
      </p:sp>
    </p:spTree>
    <p:extLst>
      <p:ext uri="{BB962C8B-B14F-4D97-AF65-F5344CB8AC3E}">
        <p14:creationId xmlns:p14="http://schemas.microsoft.com/office/powerpoint/2010/main" val="470537579"/>
      </p:ext>
    </p:extLst>
  </p:cSld>
</p:sld>
</file>

<file path=ppt/slides/slide12.xml><?xml version="1.0" encoding="utf-8"?>
<p:sld xmlns:p="http://schemas.openxmlformats.org/presentationml/2006/main">
  <p:cSld>
    <p:bg>
      <p:bgPr>
        <a:solidFill xmlns:a="http://schemas.openxmlformats.org/drawingml/2006/main">
          <a:srgbClr val="132E29"/>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425E8998-A57D-451D-9610-F674C85FCF54}"/>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f661053b53174102"/>
          <a:srcRect xmlns:a="http://schemas.openxmlformats.org/drawingml/2006/main" l="0" t="276" r="0" b="276"/>
          <a:stretch xmlns:a="http://schemas.openxmlformats.org/drawingml/2006/main">
            <a:fillRect l="0" t="0" r="0" b="0"/>
          </a:stretch>
        </p:blipFill>
        <p:spPr>
          <a:xfrm xmlns:a="http://schemas.openxmlformats.org/drawingml/2006/main">
            <a:off x="5695950" y="0"/>
            <a:ext cx="3448050" cy="5143500"/>
          </a:xfrm>
          <a:prstGeom xmlns:a="http://schemas.openxmlformats.org/drawingml/2006/main" prst="rect">
            <a:avLst/>
          </a:prstGeom>
        </p:spPr>
      </p:pic>
      <p:sp>
        <p:nvSpPr>
          <p:cNvPr id="3" name="Part 3">
            <a:extLst xmlns:a="http://schemas.openxmlformats.org/drawingml/2006/main">
              <a:ext uri="{FF2B5EF4-FFF2-40B4-BE49-F238E27FC236}">
                <a16:creationId xmlns:a16="http://schemas.microsoft.com/office/drawing/2014/main" id="{7056AB87-E3B6-4680-9C44-9A903DB0F02D}"/>
              </a:ext>
            </a:extLst>
          </p:cNvPr>
          <p:cNvSpPr>
            <a:spLocks xmlns:a="http://schemas.openxmlformats.org/drawingml/2006/main" noGrp="1"/>
          </p:cNvSpPr>
          <p:nvPr/>
        </p:nvSpPr>
        <p:spPr>
          <a:xfrm xmlns:a="http://schemas.openxmlformats.org/drawingml/2006/main">
            <a:off x="495300" y="714375"/>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3</a:t>
            </a:r>
          </a:p>
        </p:txBody>
      </p:sp>
      <p:sp>
        <p:nvSpPr>
          <p:cNvPr id="4" name="Nature-Based Adaptation for Business">
            <a:extLst xmlns:a="http://schemas.openxmlformats.org/drawingml/2006/main">
              <a:ext uri="{FF2B5EF4-FFF2-40B4-BE49-F238E27FC236}">
                <a16:creationId xmlns:a16="http://schemas.microsoft.com/office/drawing/2014/main" id="{80F12FCD-5BAB-4B7B-B0C3-0D5198BD83BB}"/>
              </a:ext>
            </a:extLst>
          </p:cNvPr>
          <p:cNvSpPr>
            <a:spLocks xmlns:a="http://schemas.openxmlformats.org/drawingml/2006/main" noGrp="1"/>
          </p:cNvSpPr>
          <p:nvPr/>
        </p:nvSpPr>
        <p:spPr>
          <a:xfrm xmlns:a="http://schemas.openxmlformats.org/drawingml/2006/main">
            <a:off x="495300" y="1876425"/>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Nature-Based</a:t>
            </a:r>
          </a:p>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Adaptation for</a:t>
            </a:r>
          </a:p>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Business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62a5c04a24d6430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C340E67A-682E-43A6-B5AE-93727CF06F6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12">
            <a:extLst xmlns:a="http://schemas.openxmlformats.org/drawingml/2006/main">
              <a:ext uri="{FF2B5EF4-FFF2-40B4-BE49-F238E27FC236}">
                <a16:creationId xmlns:a16="http://schemas.microsoft.com/office/drawing/2014/main" id="{858DAB4D-0E12-4C34-AE3C-650FBCA07B26}"/>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12</a:t>
            </a:r>
          </a:p>
        </p:txBody>
      </p:sp>
    </p:spTree>
    <p:extLst>
      <p:ext uri="{BB962C8B-B14F-4D97-AF65-F5344CB8AC3E}">
        <p14:creationId xmlns:p14="http://schemas.microsoft.com/office/powerpoint/2010/main" val="1348477885"/>
      </p:ext>
    </p:extLst>
  </p:cSld>
</p:sld>
</file>

<file path=ppt/slides/slide1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7" name="Nature-Based Adaptation on Company Sites">
            <a:extLst xmlns:a="http://schemas.openxmlformats.org/drawingml/2006/main">
              <a:ext uri="{FF2B5EF4-FFF2-40B4-BE49-F238E27FC236}">
                <a16:creationId xmlns:a16="http://schemas.microsoft.com/office/drawing/2014/main" id="{873F5CC8-EB31-4B85-9FE7-E8E3C9BA5387}"/>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Nature-Based Adaptation on Company Sites</a:t>
            </a:r>
          </a:p>
        </p:txBody>
      </p:sp>
      <p:sp>
        <p:nvSpPr>
          <p:cNvPr id="2" name="Editorial frame">
            <a:extLst xmlns:a="http://schemas.openxmlformats.org/drawingml/2006/main">
              <a:ext uri="{FF2B5EF4-FFF2-40B4-BE49-F238E27FC236}">
                <a16:creationId xmlns:a16="http://schemas.microsoft.com/office/drawing/2014/main" id="{6C0DF09B-36E6-4066-BEDC-60C57D0DD25B}"/>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DE63BF8E-C391-4A49-8FE8-ED9611303A18}"/>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13FB6FFE-D31C-4F5A-A0FC-89043982EED3}"/>
              </a:ext>
            </a:extLst>
          </p:cNvPr>
          <p:cNvSpPr>
            <a:spLocks xmlns:a="http://schemas.openxmlformats.org/drawingml/2006/main" noGrp="1"/>
          </p:cNvSpPr>
          <p:nvPr/>
        </p:nvSpPr>
        <p:spPr>
          <a:xfrm xmlns:a="http://schemas.openxmlformats.org/drawingml/2006/main">
            <a:off x="361950" y="1438275"/>
            <a:ext cx="4238625" cy="1662113"/>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BB01E24C-4158-4CF6-B9F6-F8BE215767BC}"/>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Green roofs">
            <a:extLst xmlns:a="http://schemas.openxmlformats.org/drawingml/2006/main">
              <a:ext uri="{FF2B5EF4-FFF2-40B4-BE49-F238E27FC236}">
                <a16:creationId xmlns:a16="http://schemas.microsoft.com/office/drawing/2014/main" id="{50B7A06D-A1D1-473C-8ACD-4651FF7AFCF8}"/>
              </a:ext>
            </a:extLst>
          </p:cNvPr>
          <p:cNvSpPr>
            <a:spLocks xmlns:a="http://schemas.openxmlformats.org/drawingml/2006/main" noGrp="1"/>
          </p:cNvSpPr>
          <p:nvPr/>
        </p:nvSpPr>
        <p:spPr>
          <a:xfrm xmlns:a="http://schemas.openxmlformats.org/drawingml/2006/main">
            <a:off x="495300" y="1619250"/>
            <a:ext cx="3971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Green roofs</a:t>
            </a:r>
          </a:p>
        </p:txBody>
      </p:sp>
      <p:sp>
        <p:nvSpPr>
          <p:cNvPr id="7" name="Reduce heat entering buildings">
            <a:extLst xmlns:a="http://schemas.openxmlformats.org/drawingml/2006/main">
              <a:ext uri="{FF2B5EF4-FFF2-40B4-BE49-F238E27FC236}">
                <a16:creationId xmlns:a16="http://schemas.microsoft.com/office/drawing/2014/main" id="{D96D0495-0B31-4CF5-9322-8182CA6F6D4D}"/>
              </a:ext>
            </a:extLst>
          </p:cNvPr>
          <p:cNvSpPr>
            <a:spLocks xmlns:a="http://schemas.openxmlformats.org/drawingml/2006/main" noGrp="1"/>
          </p:cNvSpPr>
          <p:nvPr/>
        </p:nvSpPr>
        <p:spPr>
          <a:xfrm xmlns:a="http://schemas.openxmlformats.org/drawingml/2006/main">
            <a:off x="495300" y="2047875"/>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Reduce heat entering buildings</a:t>
            </a:r>
          </a:p>
        </p:txBody>
      </p:sp>
      <p:sp>
        <p:nvSpPr>
          <p:cNvPr id="8" name="Retain rainfall before it reaches drains">
            <a:extLst xmlns:a="http://schemas.openxmlformats.org/drawingml/2006/main">
              <a:ext uri="{FF2B5EF4-FFF2-40B4-BE49-F238E27FC236}">
                <a16:creationId xmlns:a16="http://schemas.microsoft.com/office/drawing/2014/main" id="{F0AB8105-D2FF-4E4C-AAA6-941A09036CC8}"/>
              </a:ext>
            </a:extLst>
          </p:cNvPr>
          <p:cNvSpPr>
            <a:spLocks xmlns:a="http://schemas.openxmlformats.org/drawingml/2006/main" noGrp="1"/>
          </p:cNvSpPr>
          <p:nvPr/>
        </p:nvSpPr>
        <p:spPr>
          <a:xfrm xmlns:a="http://schemas.openxmlformats.org/drawingml/2006/main">
            <a:off x="495300" y="2411730"/>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Retain rainfall before it reaches drains</a:t>
            </a:r>
          </a:p>
        </p:txBody>
      </p:sp>
      <p:sp>
        <p:nvSpPr>
          <p:cNvPr id="9" name="Editorial frame">
            <a:extLst xmlns:a="http://schemas.openxmlformats.org/drawingml/2006/main">
              <a:ext uri="{FF2B5EF4-FFF2-40B4-BE49-F238E27FC236}">
                <a16:creationId xmlns:a16="http://schemas.microsoft.com/office/drawing/2014/main" id="{5EE8B2D8-DA50-4996-B712-7D9B9FCAA1B7}"/>
              </a:ext>
            </a:extLst>
          </p:cNvPr>
          <p:cNvSpPr>
            <a:spLocks xmlns:a="http://schemas.openxmlformats.org/drawingml/2006/main" noGrp="1"/>
          </p:cNvSpPr>
          <p:nvPr/>
        </p:nvSpPr>
        <p:spPr>
          <a:xfrm xmlns:a="http://schemas.openxmlformats.org/drawingml/2006/main">
            <a:off x="4543425" y="1438275"/>
            <a:ext cx="4238625" cy="1662113"/>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0" name="Editorial frame">
            <a:extLst xmlns:a="http://schemas.openxmlformats.org/drawingml/2006/main">
              <a:ext uri="{FF2B5EF4-FFF2-40B4-BE49-F238E27FC236}">
                <a16:creationId xmlns:a16="http://schemas.microsoft.com/office/drawing/2014/main" id="{60ED9C6A-A136-43E1-A596-CE451599E654}"/>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1" name="Trees and shade">
            <a:extLst xmlns:a="http://schemas.openxmlformats.org/drawingml/2006/main">
              <a:ext uri="{FF2B5EF4-FFF2-40B4-BE49-F238E27FC236}">
                <a16:creationId xmlns:a16="http://schemas.microsoft.com/office/drawing/2014/main" id="{4A6FCC04-9129-4151-ACD4-0D2A3320B012}"/>
              </a:ext>
            </a:extLst>
          </p:cNvPr>
          <p:cNvSpPr>
            <a:spLocks xmlns:a="http://schemas.openxmlformats.org/drawingml/2006/main" noGrp="1"/>
          </p:cNvSpPr>
          <p:nvPr/>
        </p:nvSpPr>
        <p:spPr>
          <a:xfrm xmlns:a="http://schemas.openxmlformats.org/drawingml/2006/main">
            <a:off x="4676775" y="1619250"/>
            <a:ext cx="3971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Trees and shade</a:t>
            </a:r>
          </a:p>
        </p:txBody>
      </p:sp>
      <p:sp>
        <p:nvSpPr>
          <p:cNvPr id="12" name="Cool entrances and outdoor work areas">
            <a:extLst xmlns:a="http://schemas.openxmlformats.org/drawingml/2006/main">
              <a:ext uri="{FF2B5EF4-FFF2-40B4-BE49-F238E27FC236}">
                <a16:creationId xmlns:a16="http://schemas.microsoft.com/office/drawing/2014/main" id="{BF224044-2A0E-403A-A8C4-0F3490B3CA8F}"/>
              </a:ext>
            </a:extLst>
          </p:cNvPr>
          <p:cNvSpPr>
            <a:spLocks xmlns:a="http://schemas.openxmlformats.org/drawingml/2006/main" noGrp="1"/>
          </p:cNvSpPr>
          <p:nvPr/>
        </p:nvSpPr>
        <p:spPr>
          <a:xfrm xmlns:a="http://schemas.openxmlformats.org/drawingml/2006/main">
            <a:off x="4676775" y="2047875"/>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Cool entrances and outdoor work areas</a:t>
            </a:r>
          </a:p>
        </p:txBody>
      </p:sp>
      <p:sp>
        <p:nvSpPr>
          <p:cNvPr id="13" name="Plan space, species and long-term care">
            <a:extLst xmlns:a="http://schemas.openxmlformats.org/drawingml/2006/main">
              <a:ext uri="{FF2B5EF4-FFF2-40B4-BE49-F238E27FC236}">
                <a16:creationId xmlns:a16="http://schemas.microsoft.com/office/drawing/2014/main" id="{8B4E8F21-B854-40C7-AEA1-7B3F781B0CCC}"/>
              </a:ext>
            </a:extLst>
          </p:cNvPr>
          <p:cNvSpPr>
            <a:spLocks xmlns:a="http://schemas.openxmlformats.org/drawingml/2006/main" noGrp="1"/>
          </p:cNvSpPr>
          <p:nvPr/>
        </p:nvSpPr>
        <p:spPr>
          <a:xfrm xmlns:a="http://schemas.openxmlformats.org/drawingml/2006/main">
            <a:off x="4676775" y="2411730"/>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Plan space, species and long-term care</a:t>
            </a:r>
          </a:p>
        </p:txBody>
      </p:sp>
      <p:sp>
        <p:nvSpPr>
          <p:cNvPr id="14" name="Editorial frame">
            <a:extLst xmlns:a="http://schemas.openxmlformats.org/drawingml/2006/main">
              <a:ext uri="{FF2B5EF4-FFF2-40B4-BE49-F238E27FC236}">
                <a16:creationId xmlns:a16="http://schemas.microsoft.com/office/drawing/2014/main" id="{D2E76D8B-BAA8-4989-A9F8-FC73532AD026}"/>
              </a:ext>
            </a:extLst>
          </p:cNvPr>
          <p:cNvSpPr>
            <a:spLocks xmlns:a="http://schemas.openxmlformats.org/drawingml/2006/main" noGrp="1"/>
          </p:cNvSpPr>
          <p:nvPr/>
        </p:nvSpPr>
        <p:spPr>
          <a:xfrm xmlns:a="http://schemas.openxmlformats.org/drawingml/2006/main">
            <a:off x="361950" y="3081338"/>
            <a:ext cx="4238625" cy="1662113"/>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5" name="Editorial frame">
            <a:extLst xmlns:a="http://schemas.openxmlformats.org/drawingml/2006/main">
              <a:ext uri="{FF2B5EF4-FFF2-40B4-BE49-F238E27FC236}">
                <a16:creationId xmlns:a16="http://schemas.microsoft.com/office/drawing/2014/main" id="{F8152508-2C13-42FD-841E-E3CA0EB49D2C}"/>
              </a:ext>
            </a:extLst>
          </p:cNvPr>
          <p:cNvSpPr>
            <a:spLocks xmlns:a="http://schemas.openxmlformats.org/drawingml/2006/main" noGrp="1"/>
          </p:cNvSpPr>
          <p:nvPr/>
        </p:nvSpPr>
        <p:spPr>
          <a:xfrm xmlns:a="http://schemas.openxmlformats.org/drawingml/2006/main">
            <a:off x="361950" y="3081338"/>
            <a:ext cx="4238625"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6" name="Rain gardens">
            <a:extLst xmlns:a="http://schemas.openxmlformats.org/drawingml/2006/main">
              <a:ext uri="{FF2B5EF4-FFF2-40B4-BE49-F238E27FC236}">
                <a16:creationId xmlns:a16="http://schemas.microsoft.com/office/drawing/2014/main" id="{BD15EC35-B1EE-42F7-BDD7-42B782FC4D02}"/>
              </a:ext>
            </a:extLst>
          </p:cNvPr>
          <p:cNvSpPr>
            <a:spLocks xmlns:a="http://schemas.openxmlformats.org/drawingml/2006/main" noGrp="1"/>
          </p:cNvSpPr>
          <p:nvPr/>
        </p:nvSpPr>
        <p:spPr>
          <a:xfrm xmlns:a="http://schemas.openxmlformats.org/drawingml/2006/main">
            <a:off x="495300" y="3262313"/>
            <a:ext cx="3971925" cy="30861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38" b="0">
                <a:solidFill>
                  <a:srgbClr val="B56647"/>
                </a:solidFill>
                <a:latin typeface="Georgia"/>
                <a:ea typeface="Georgia"/>
                <a:cs typeface="Georgia"/>
              </a:defRPr>
            </a:pPr>
            <a:r>
              <a:rPr sz="1838" b="0">
                <a:solidFill>
                  <a:srgbClr val="B56647"/>
                </a:solidFill>
                <a:latin typeface="Georgia"/>
                <a:ea typeface="Georgia"/>
                <a:cs typeface="Georgia"/>
              </a:rPr>
              <a:t>Rain gardens</a:t>
            </a:r>
          </a:p>
        </p:txBody>
      </p:sp>
      <p:sp>
        <p:nvSpPr>
          <p:cNvPr id="17" name="Slow and filter runoff from hard surfaces">
            <a:extLst xmlns:a="http://schemas.openxmlformats.org/drawingml/2006/main">
              <a:ext uri="{FF2B5EF4-FFF2-40B4-BE49-F238E27FC236}">
                <a16:creationId xmlns:a16="http://schemas.microsoft.com/office/drawing/2014/main" id="{150E6A4B-C8F3-4943-8208-7E0E9ACFB845}"/>
              </a:ext>
            </a:extLst>
          </p:cNvPr>
          <p:cNvSpPr>
            <a:spLocks xmlns:a="http://schemas.openxmlformats.org/drawingml/2006/main" noGrp="1"/>
          </p:cNvSpPr>
          <p:nvPr/>
        </p:nvSpPr>
        <p:spPr>
          <a:xfrm xmlns:a="http://schemas.openxmlformats.org/drawingml/2006/main">
            <a:off x="495300" y="3685223"/>
            <a:ext cx="3971925" cy="2628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Slow and filter runoff from hard surfaces</a:t>
            </a:r>
          </a:p>
        </p:txBody>
      </p:sp>
      <p:sp>
        <p:nvSpPr>
          <p:cNvPr id="18" name="Check soil, contamination and overflow routes">
            <a:extLst xmlns:a="http://schemas.openxmlformats.org/drawingml/2006/main">
              <a:ext uri="{FF2B5EF4-FFF2-40B4-BE49-F238E27FC236}">
                <a16:creationId xmlns:a16="http://schemas.microsoft.com/office/drawing/2014/main" id="{22AB14B9-9CD5-4143-A4F5-F434C06457EE}"/>
              </a:ext>
            </a:extLst>
          </p:cNvPr>
          <p:cNvSpPr>
            <a:spLocks xmlns:a="http://schemas.openxmlformats.org/drawingml/2006/main" noGrp="1"/>
          </p:cNvSpPr>
          <p:nvPr/>
        </p:nvSpPr>
        <p:spPr>
          <a:xfrm xmlns:a="http://schemas.openxmlformats.org/drawingml/2006/main">
            <a:off x="495300" y="4043363"/>
            <a:ext cx="3971925" cy="4972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Check soil, contamination and overflow</a:t>
            </a:r>
          </a:p>
          <a:p xmlns:a="http://schemas.openxmlformats.org/drawingml/2006/main">
            <a:pPr>
              <a:defRPr sz="1538" b="0">
                <a:solidFill>
                  <a:srgbClr val="173E35"/>
                </a:solidFill>
                <a:latin typeface="Arial"/>
                <a:ea typeface="Arial"/>
                <a:cs typeface="Arial"/>
              </a:defRPr>
            </a:pPr>
            <a:r>
              <a:rPr sz="1538" b="0">
                <a:solidFill>
                  <a:srgbClr val="173E35"/>
                </a:solidFill>
                <a:latin typeface="Arial"/>
                <a:ea typeface="Arial"/>
                <a:cs typeface="Arial"/>
              </a:rPr>
              <a:t>routes</a:t>
            </a:r>
          </a:p>
        </p:txBody>
      </p:sp>
      <p:sp>
        <p:nvSpPr>
          <p:cNvPr id="19" name="Editorial frame">
            <a:extLst xmlns:a="http://schemas.openxmlformats.org/drawingml/2006/main">
              <a:ext uri="{FF2B5EF4-FFF2-40B4-BE49-F238E27FC236}">
                <a16:creationId xmlns:a16="http://schemas.microsoft.com/office/drawing/2014/main" id="{894706DC-5E32-43FB-BEE0-2DEB6BD6F463}"/>
              </a:ext>
            </a:extLst>
          </p:cNvPr>
          <p:cNvSpPr>
            <a:spLocks xmlns:a="http://schemas.openxmlformats.org/drawingml/2006/main" noGrp="1"/>
          </p:cNvSpPr>
          <p:nvPr/>
        </p:nvSpPr>
        <p:spPr>
          <a:xfrm xmlns:a="http://schemas.openxmlformats.org/drawingml/2006/main">
            <a:off x="4543425" y="3081338"/>
            <a:ext cx="4238625" cy="1662113"/>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20" name="Editorial frame">
            <a:extLst xmlns:a="http://schemas.openxmlformats.org/drawingml/2006/main">
              <a:ext uri="{FF2B5EF4-FFF2-40B4-BE49-F238E27FC236}">
                <a16:creationId xmlns:a16="http://schemas.microsoft.com/office/drawing/2014/main" id="{7EA5CD42-70CF-4AAD-A75C-01659DECC680}"/>
              </a:ext>
            </a:extLst>
          </p:cNvPr>
          <p:cNvSpPr>
            <a:spLocks xmlns:a="http://schemas.openxmlformats.org/drawingml/2006/main" noGrp="1"/>
          </p:cNvSpPr>
          <p:nvPr/>
        </p:nvSpPr>
        <p:spPr>
          <a:xfrm xmlns:a="http://schemas.openxmlformats.org/drawingml/2006/main">
            <a:off x="4543425" y="3081338"/>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21" name="Ponds and wetlands">
            <a:extLst xmlns:a="http://schemas.openxmlformats.org/drawingml/2006/main">
              <a:ext uri="{FF2B5EF4-FFF2-40B4-BE49-F238E27FC236}">
                <a16:creationId xmlns:a16="http://schemas.microsoft.com/office/drawing/2014/main" id="{54EA35B8-3ED5-4AED-AC2E-1EB2002E1CC5}"/>
              </a:ext>
            </a:extLst>
          </p:cNvPr>
          <p:cNvSpPr>
            <a:spLocks xmlns:a="http://schemas.openxmlformats.org/drawingml/2006/main" noGrp="1"/>
          </p:cNvSpPr>
          <p:nvPr/>
        </p:nvSpPr>
        <p:spPr>
          <a:xfrm xmlns:a="http://schemas.openxmlformats.org/drawingml/2006/main">
            <a:off x="4676775" y="3262313"/>
            <a:ext cx="3971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Ponds and wetlands</a:t>
            </a:r>
          </a:p>
        </p:txBody>
      </p:sp>
      <p:sp>
        <p:nvSpPr>
          <p:cNvPr id="22" name="Store water where space and design allow">
            <a:extLst xmlns:a="http://schemas.openxmlformats.org/drawingml/2006/main">
              <a:ext uri="{FF2B5EF4-FFF2-40B4-BE49-F238E27FC236}">
                <a16:creationId xmlns:a16="http://schemas.microsoft.com/office/drawing/2014/main" id="{789DAFBE-4D5C-4CFC-862E-898501EC61BE}"/>
              </a:ext>
            </a:extLst>
          </p:cNvPr>
          <p:cNvSpPr>
            <a:spLocks xmlns:a="http://schemas.openxmlformats.org/drawingml/2006/main" noGrp="1"/>
          </p:cNvSpPr>
          <p:nvPr/>
        </p:nvSpPr>
        <p:spPr>
          <a:xfrm xmlns:a="http://schemas.openxmlformats.org/drawingml/2006/main">
            <a:off x="4676775" y="3690938"/>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Store water where space and design allow</a:t>
            </a:r>
          </a:p>
        </p:txBody>
      </p:sp>
      <p:sp>
        <p:nvSpPr>
          <p:cNvPr id="23" name="Assign inspection and maintenance duties">
            <a:extLst xmlns:a="http://schemas.openxmlformats.org/drawingml/2006/main">
              <a:ext uri="{FF2B5EF4-FFF2-40B4-BE49-F238E27FC236}">
                <a16:creationId xmlns:a16="http://schemas.microsoft.com/office/drawing/2014/main" id="{A3355B24-2659-485A-BECD-5E55887E4F7B}"/>
              </a:ext>
            </a:extLst>
          </p:cNvPr>
          <p:cNvSpPr>
            <a:spLocks xmlns:a="http://schemas.openxmlformats.org/drawingml/2006/main" noGrp="1"/>
          </p:cNvSpPr>
          <p:nvPr/>
        </p:nvSpPr>
        <p:spPr>
          <a:xfrm xmlns:a="http://schemas.openxmlformats.org/drawingml/2006/main">
            <a:off x="4676775" y="4054793"/>
            <a:ext cx="397192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Assign inspection and maintenance duties</a:t>
            </a:r>
          </a:p>
        </p:txBody>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508d27c689e14518"/>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5" name="www.newton.university">
            <a:extLst xmlns:a="http://schemas.openxmlformats.org/drawingml/2006/main">
              <a:ext uri="{FF2B5EF4-FFF2-40B4-BE49-F238E27FC236}">
                <a16:creationId xmlns:a16="http://schemas.microsoft.com/office/drawing/2014/main" id="{F14F68B9-84EB-4D37-9F2B-FD3CB10B50C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6" name="13">
            <a:extLst xmlns:a="http://schemas.openxmlformats.org/drawingml/2006/main">
              <a:ext uri="{FF2B5EF4-FFF2-40B4-BE49-F238E27FC236}">
                <a16:creationId xmlns:a16="http://schemas.microsoft.com/office/drawing/2014/main" id="{AC852E9A-06A6-41AF-8232-DE2CCDA0F735}"/>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13</a:t>
            </a:r>
          </a:p>
        </p:txBody>
      </p:sp>
    </p:spTree>
    <p:extLst>
      <p:ext uri="{BB962C8B-B14F-4D97-AF65-F5344CB8AC3E}">
        <p14:creationId xmlns:p14="http://schemas.microsoft.com/office/powerpoint/2010/main" val="1559226144"/>
      </p:ext>
    </p:extLst>
  </p:cSld>
</p:sld>
</file>

<file path=ppt/slides/slide1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Working with Water, not Against It">
            <a:extLst xmlns:a="http://schemas.openxmlformats.org/drawingml/2006/main">
              <a:ext uri="{FF2B5EF4-FFF2-40B4-BE49-F238E27FC236}">
                <a16:creationId xmlns:a16="http://schemas.microsoft.com/office/drawing/2014/main" id="{E907AEAD-F7C3-420A-B9B4-2F999AF62729}"/>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Working with Water, not Against It</a:t>
            </a:r>
          </a:p>
        </p:txBody>
      </p:sp>
      <p:sp>
        <p:nvSpPr>
          <p:cNvPr id="2" name="Editorial frame">
            <a:extLst xmlns:a="http://schemas.openxmlformats.org/drawingml/2006/main">
              <a:ext uri="{FF2B5EF4-FFF2-40B4-BE49-F238E27FC236}">
                <a16:creationId xmlns:a16="http://schemas.microsoft.com/office/drawing/2014/main" id="{378FEA74-023E-4AF5-94F6-B01B6A114AD6}"/>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F09F4CFE-C119-43D7-92FF-307F5EEF47AE}"/>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c44d90e25c042e9"/>
          <a:stretch xmlns:a="http://schemas.openxmlformats.org/drawingml/2006/main"/>
        </p:blipFill>
        <p:spPr>
          <a:xfrm xmlns:a="http://schemas.openxmlformats.org/drawingml/2006/main">
            <a:off x="2692400" y="1495425"/>
            <a:ext cx="3759200" cy="2819400"/>
          </a:xfrm>
          <a:prstGeom xmlns:a="http://schemas.openxmlformats.org/drawingml/2006/main" prst="rect">
            <a:avLst/>
          </a:prstGeom>
        </p:spPr>
      </p:pic>
      <p:sp>
        <p:nvSpPr>
          <p:cNvPr id="5" name="Rotterdam's Benthemplein water square — sports cou">
            <a:extLst xmlns:a="http://schemas.openxmlformats.org/drawingml/2006/main">
              <a:ext uri="{FF2B5EF4-FFF2-40B4-BE49-F238E27FC236}">
                <a16:creationId xmlns:a16="http://schemas.microsoft.com/office/drawing/2014/main" id="{653B2005-1DF2-4A5C-B945-449C740EE208}"/>
              </a:ext>
            </a:extLst>
          </p:cNvPr>
          <p:cNvSpPr>
            <a:spLocks xmlns:a="http://schemas.openxmlformats.org/drawingml/2006/main" noGrp="1"/>
          </p:cNvSpPr>
          <p:nvPr/>
        </p:nvSpPr>
        <p:spPr>
          <a:xfrm xmlns:a="http://schemas.openxmlformats.org/drawingml/2006/main">
            <a:off x="495300" y="4448175"/>
            <a:ext cx="815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Rotterdam's Benthemplein water square — sports court in dry weather, retention basin in storms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a8f2922811e8460e"/>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7" name="www.newton.university">
            <a:extLst xmlns:a="http://schemas.openxmlformats.org/drawingml/2006/main">
              <a:ext uri="{FF2B5EF4-FFF2-40B4-BE49-F238E27FC236}">
                <a16:creationId xmlns:a16="http://schemas.microsoft.com/office/drawing/2014/main" id="{1FB07C91-CEA1-4C06-BFE8-5B9F7E119AB2}"/>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8" name="14">
            <a:extLst xmlns:a="http://schemas.openxmlformats.org/drawingml/2006/main">
              <a:ext uri="{FF2B5EF4-FFF2-40B4-BE49-F238E27FC236}">
                <a16:creationId xmlns:a16="http://schemas.microsoft.com/office/drawing/2014/main" id="{BC7FA33D-B4A3-4AFD-99E8-D70F8181FE66}"/>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14</a:t>
            </a:r>
          </a:p>
        </p:txBody>
      </p:sp>
    </p:spTree>
    <p:extLst>
      <p:ext uri="{BB962C8B-B14F-4D97-AF65-F5344CB8AC3E}">
        <p14:creationId xmlns:p14="http://schemas.microsoft.com/office/powerpoint/2010/main" val="1763011786"/>
      </p:ext>
    </p:extLst>
  </p:cSld>
</p:sld>
</file>

<file path=ppt/slides/slide1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0" name="Grey and Green: a Manager's Comparison">
            <a:extLst xmlns:a="http://schemas.openxmlformats.org/drawingml/2006/main">
              <a:ext uri="{FF2B5EF4-FFF2-40B4-BE49-F238E27FC236}">
                <a16:creationId xmlns:a16="http://schemas.microsoft.com/office/drawing/2014/main" id="{53AE1E03-9EE2-4F80-8DAF-85812BB81B40}"/>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Grey and Green: a Manager's Comparison</a:t>
            </a:r>
          </a:p>
        </p:txBody>
      </p:sp>
      <p:sp>
        <p:nvSpPr>
          <p:cNvPr id="2" name="Editorial frame">
            <a:extLst xmlns:a="http://schemas.openxmlformats.org/drawingml/2006/main">
              <a:ext uri="{FF2B5EF4-FFF2-40B4-BE49-F238E27FC236}">
                <a16:creationId xmlns:a16="http://schemas.microsoft.com/office/drawing/2014/main" id="{3998468A-9C6A-4162-97D2-DE1689425232}"/>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ED5F404C-E240-4A63-9574-BC6B2D931512}"/>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Compare the same service level over the same time ">
            <a:extLst xmlns:a="http://schemas.openxmlformats.org/drawingml/2006/main">
              <a:ext uri="{FF2B5EF4-FFF2-40B4-BE49-F238E27FC236}">
                <a16:creationId xmlns:a16="http://schemas.microsoft.com/office/drawing/2014/main" id="{F9D14E91-2EB5-47B5-B272-6706678C9B55}"/>
              </a:ext>
            </a:extLst>
          </p:cNvPr>
          <p:cNvSpPr>
            <a:spLocks xmlns:a="http://schemas.openxmlformats.org/drawingml/2006/main" noGrp="1"/>
          </p:cNvSpPr>
          <p:nvPr/>
        </p:nvSpPr>
        <p:spPr>
          <a:xfrm xmlns:a="http://schemas.openxmlformats.org/drawingml/2006/main">
            <a:off x="495300" y="1476375"/>
            <a:ext cx="80486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8665B"/>
                </a:solidFill>
                <a:latin typeface="Arial"/>
                <a:ea typeface="Arial"/>
                <a:cs typeface="Arial"/>
              </a:defRPr>
            </a:pPr>
            <a:r>
              <a:rPr sz="1650" b="0">
                <a:solidFill>
                  <a:srgbClr val="58665B"/>
                </a:solidFill>
                <a:latin typeface="Arial"/>
                <a:ea typeface="Arial"/>
                <a:cs typeface="Arial"/>
              </a:rPr>
              <a:t>Compare the same service level over the same time period.</a:t>
            </a:r>
          </a:p>
        </p:txBody>
      </p:sp>
      <p:sp>
        <p:nvSpPr>
          <p:cNvPr id="5" name="Editorial frame">
            <a:extLst xmlns:a="http://schemas.openxmlformats.org/drawingml/2006/main">
              <a:ext uri="{FF2B5EF4-FFF2-40B4-BE49-F238E27FC236}">
                <a16:creationId xmlns:a16="http://schemas.microsoft.com/office/drawing/2014/main" id="{B1471050-E1A6-4646-868D-BD001B4C6E52}"/>
              </a:ext>
            </a:extLst>
          </p:cNvPr>
          <p:cNvSpPr>
            <a:spLocks xmlns:a="http://schemas.openxmlformats.org/drawingml/2006/main" noGrp="1"/>
          </p:cNvSpPr>
          <p:nvPr/>
        </p:nvSpPr>
        <p:spPr>
          <a:xfrm xmlns:a="http://schemas.openxmlformats.org/drawingml/2006/main">
            <a:off x="361950" y="1946910"/>
            <a:ext cx="4238625" cy="2796540"/>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6" name="Editorial frame">
            <a:extLst xmlns:a="http://schemas.openxmlformats.org/drawingml/2006/main">
              <a:ext uri="{FF2B5EF4-FFF2-40B4-BE49-F238E27FC236}">
                <a16:creationId xmlns:a16="http://schemas.microsoft.com/office/drawing/2014/main" id="{8B460BF0-5365-4E14-9616-8C69BF69E18B}"/>
              </a:ext>
            </a:extLst>
          </p:cNvPr>
          <p:cNvSpPr>
            <a:spLocks xmlns:a="http://schemas.openxmlformats.org/drawingml/2006/main" noGrp="1"/>
          </p:cNvSpPr>
          <p:nvPr/>
        </p:nvSpPr>
        <p:spPr>
          <a:xfrm xmlns:a="http://schemas.openxmlformats.org/drawingml/2006/main">
            <a:off x="361950" y="1946910"/>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7" name="Engineered protection">
            <a:extLst xmlns:a="http://schemas.openxmlformats.org/drawingml/2006/main">
              <a:ext uri="{FF2B5EF4-FFF2-40B4-BE49-F238E27FC236}">
                <a16:creationId xmlns:a16="http://schemas.microsoft.com/office/drawing/2014/main" id="{38B021E9-3094-482F-A321-980059E0F554}"/>
              </a:ext>
            </a:extLst>
          </p:cNvPr>
          <p:cNvSpPr>
            <a:spLocks xmlns:a="http://schemas.openxmlformats.org/drawingml/2006/main" noGrp="1"/>
          </p:cNvSpPr>
          <p:nvPr/>
        </p:nvSpPr>
        <p:spPr>
          <a:xfrm xmlns:a="http://schemas.openxmlformats.org/drawingml/2006/main">
            <a:off x="495300" y="2127885"/>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Engineered protection</a:t>
            </a:r>
          </a:p>
        </p:txBody>
      </p:sp>
      <p:sp>
        <p:nvSpPr>
          <p:cNvPr id="8" name="Defined drainage or protection capacity">
            <a:extLst xmlns:a="http://schemas.openxmlformats.org/drawingml/2006/main">
              <a:ext uri="{FF2B5EF4-FFF2-40B4-BE49-F238E27FC236}">
                <a16:creationId xmlns:a16="http://schemas.microsoft.com/office/drawing/2014/main" id="{092F261A-BB38-4ED3-A11F-E2908A5BAEC3}"/>
              </a:ext>
            </a:extLst>
          </p:cNvPr>
          <p:cNvSpPr>
            <a:spLocks xmlns:a="http://schemas.openxmlformats.org/drawingml/2006/main" noGrp="1"/>
          </p:cNvSpPr>
          <p:nvPr/>
        </p:nvSpPr>
        <p:spPr>
          <a:xfrm xmlns:a="http://schemas.openxmlformats.org/drawingml/2006/main">
            <a:off x="495300" y="257937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Defined drainage or protection capacity</a:t>
            </a:r>
          </a:p>
        </p:txBody>
      </p:sp>
      <p:sp>
        <p:nvSpPr>
          <p:cNvPr id="9" name="Capital, energy and maintenance costs">
            <a:extLst xmlns:a="http://schemas.openxmlformats.org/drawingml/2006/main">
              <a:ext uri="{FF2B5EF4-FFF2-40B4-BE49-F238E27FC236}">
                <a16:creationId xmlns:a16="http://schemas.microsoft.com/office/drawing/2014/main" id="{9835BAAE-489F-4613-AA86-0E0C85025461}"/>
              </a:ext>
            </a:extLst>
          </p:cNvPr>
          <p:cNvSpPr>
            <a:spLocks xmlns:a="http://schemas.openxmlformats.org/drawingml/2006/main" noGrp="1"/>
          </p:cNvSpPr>
          <p:nvPr/>
        </p:nvSpPr>
        <p:spPr>
          <a:xfrm xmlns:a="http://schemas.openxmlformats.org/drawingml/2006/main">
            <a:off x="495300" y="2966085"/>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Capital, energy and maintenance costs</a:t>
            </a:r>
          </a:p>
        </p:txBody>
      </p:sp>
      <p:sp>
        <p:nvSpPr>
          <p:cNvPr id="10" name="Useful where space or extreme loads constrain plan">
            <a:extLst xmlns:a="http://schemas.openxmlformats.org/drawingml/2006/main">
              <a:ext uri="{FF2B5EF4-FFF2-40B4-BE49-F238E27FC236}">
                <a16:creationId xmlns:a16="http://schemas.microsoft.com/office/drawing/2014/main" id="{E8EBB525-9304-485C-AE48-4AE5B46381BE}"/>
              </a:ext>
            </a:extLst>
          </p:cNvPr>
          <p:cNvSpPr>
            <a:spLocks xmlns:a="http://schemas.openxmlformats.org/drawingml/2006/main" noGrp="1"/>
          </p:cNvSpPr>
          <p:nvPr/>
        </p:nvSpPr>
        <p:spPr>
          <a:xfrm xmlns:a="http://schemas.openxmlformats.org/drawingml/2006/main">
            <a:off x="495300" y="335280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Useful where space or extreme loads</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constrain planting</a:t>
            </a:r>
          </a:p>
        </p:txBody>
      </p:sp>
      <p:sp>
        <p:nvSpPr>
          <p:cNvPr id="11" name="Editorial frame">
            <a:extLst xmlns:a="http://schemas.openxmlformats.org/drawingml/2006/main">
              <a:ext uri="{FF2B5EF4-FFF2-40B4-BE49-F238E27FC236}">
                <a16:creationId xmlns:a16="http://schemas.microsoft.com/office/drawing/2014/main" id="{6F410C43-B397-42FD-BD69-6AA60FB22DBE}"/>
              </a:ext>
            </a:extLst>
          </p:cNvPr>
          <p:cNvSpPr>
            <a:spLocks xmlns:a="http://schemas.openxmlformats.org/drawingml/2006/main" noGrp="1"/>
          </p:cNvSpPr>
          <p:nvPr/>
        </p:nvSpPr>
        <p:spPr>
          <a:xfrm xmlns:a="http://schemas.openxmlformats.org/drawingml/2006/main">
            <a:off x="4543425" y="1946910"/>
            <a:ext cx="4238625" cy="2796540"/>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2" name="Editorial frame">
            <a:extLst xmlns:a="http://schemas.openxmlformats.org/drawingml/2006/main">
              <a:ext uri="{FF2B5EF4-FFF2-40B4-BE49-F238E27FC236}">
                <a16:creationId xmlns:a16="http://schemas.microsoft.com/office/drawing/2014/main" id="{E0CB86AD-5B17-414A-9E0D-0A35E41BA966}"/>
              </a:ext>
            </a:extLst>
          </p:cNvPr>
          <p:cNvSpPr>
            <a:spLocks xmlns:a="http://schemas.openxmlformats.org/drawingml/2006/main" noGrp="1"/>
          </p:cNvSpPr>
          <p:nvPr/>
        </p:nvSpPr>
        <p:spPr>
          <a:xfrm xmlns:a="http://schemas.openxmlformats.org/drawingml/2006/main">
            <a:off x="4543425" y="1946910"/>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3" name="Nature-based measures">
            <a:extLst xmlns:a="http://schemas.openxmlformats.org/drawingml/2006/main">
              <a:ext uri="{FF2B5EF4-FFF2-40B4-BE49-F238E27FC236}">
                <a16:creationId xmlns:a16="http://schemas.microsoft.com/office/drawing/2014/main" id="{52FB33C6-959B-4881-B385-0CF8C8D80763}"/>
              </a:ext>
            </a:extLst>
          </p:cNvPr>
          <p:cNvSpPr>
            <a:spLocks xmlns:a="http://schemas.openxmlformats.org/drawingml/2006/main" noGrp="1"/>
          </p:cNvSpPr>
          <p:nvPr/>
        </p:nvSpPr>
        <p:spPr>
          <a:xfrm xmlns:a="http://schemas.openxmlformats.org/drawingml/2006/main">
            <a:off x="4676775" y="2127885"/>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Nature-based measures</a:t>
            </a:r>
          </a:p>
        </p:txBody>
      </p:sp>
      <p:sp>
        <p:nvSpPr>
          <p:cNvPr id="14" name="Water management plus cooling and habitat">
            <a:extLst xmlns:a="http://schemas.openxmlformats.org/drawingml/2006/main">
              <a:ext uri="{FF2B5EF4-FFF2-40B4-BE49-F238E27FC236}">
                <a16:creationId xmlns:a16="http://schemas.microsoft.com/office/drawing/2014/main" id="{85EA45CD-0521-4D9B-A90E-4B1E2CEE7EB7}"/>
              </a:ext>
            </a:extLst>
          </p:cNvPr>
          <p:cNvSpPr>
            <a:spLocks xmlns:a="http://schemas.openxmlformats.org/drawingml/2006/main" noGrp="1"/>
          </p:cNvSpPr>
          <p:nvPr/>
        </p:nvSpPr>
        <p:spPr>
          <a:xfrm xmlns:a="http://schemas.openxmlformats.org/drawingml/2006/main">
            <a:off x="4676775" y="257937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Water management plus cooling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habitat</a:t>
            </a:r>
          </a:p>
        </p:txBody>
      </p:sp>
      <p:sp>
        <p:nvSpPr>
          <p:cNvPr id="15" name="Performance depends on site and maintenance">
            <a:extLst xmlns:a="http://schemas.openxmlformats.org/drawingml/2006/main">
              <a:ext uri="{FF2B5EF4-FFF2-40B4-BE49-F238E27FC236}">
                <a16:creationId xmlns:a16="http://schemas.microsoft.com/office/drawing/2014/main" id="{BAA0A258-BDBD-4968-8C7E-011544AE92CB}"/>
              </a:ext>
            </a:extLst>
          </p:cNvPr>
          <p:cNvSpPr>
            <a:spLocks xmlns:a="http://schemas.openxmlformats.org/drawingml/2006/main" noGrp="1"/>
          </p:cNvSpPr>
          <p:nvPr/>
        </p:nvSpPr>
        <p:spPr>
          <a:xfrm xmlns:a="http://schemas.openxmlformats.org/drawingml/2006/main">
            <a:off x="4676775" y="322897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Performance depends on site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maintenance</a:t>
            </a:r>
          </a:p>
        </p:txBody>
      </p:sp>
      <p:sp>
        <p:nvSpPr>
          <p:cNvPr id="16" name="May work best alongside engineered systems">
            <a:extLst xmlns:a="http://schemas.openxmlformats.org/drawingml/2006/main">
              <a:ext uri="{FF2B5EF4-FFF2-40B4-BE49-F238E27FC236}">
                <a16:creationId xmlns:a16="http://schemas.microsoft.com/office/drawing/2014/main" id="{240C058A-A46A-4084-A937-C3524BD2E7FC}"/>
              </a:ext>
            </a:extLst>
          </p:cNvPr>
          <p:cNvSpPr>
            <a:spLocks xmlns:a="http://schemas.openxmlformats.org/drawingml/2006/main" noGrp="1"/>
          </p:cNvSpPr>
          <p:nvPr/>
        </p:nvSpPr>
        <p:spPr>
          <a:xfrm xmlns:a="http://schemas.openxmlformats.org/drawingml/2006/main">
            <a:off x="4676775" y="387858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May work best alongside engineered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systems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1f5919320ff14df6"/>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8" name="www.newton.university">
            <a:extLst xmlns:a="http://schemas.openxmlformats.org/drawingml/2006/main">
              <a:ext uri="{FF2B5EF4-FFF2-40B4-BE49-F238E27FC236}">
                <a16:creationId xmlns:a16="http://schemas.microsoft.com/office/drawing/2014/main" id="{D16D541B-B831-4CDC-AF14-C163F346A2E2}"/>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9" name="15">
            <a:extLst xmlns:a="http://schemas.openxmlformats.org/drawingml/2006/main">
              <a:ext uri="{FF2B5EF4-FFF2-40B4-BE49-F238E27FC236}">
                <a16:creationId xmlns:a16="http://schemas.microsoft.com/office/drawing/2014/main" id="{FDF964D1-A4E5-4326-A512-68C5F4DFED9D}"/>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15</a:t>
            </a:r>
          </a:p>
        </p:txBody>
      </p:sp>
    </p:spTree>
    <p:extLst>
      <p:ext uri="{BB962C8B-B14F-4D97-AF65-F5344CB8AC3E}">
        <p14:creationId xmlns:p14="http://schemas.microsoft.com/office/powerpoint/2010/main" val="851576334"/>
      </p:ext>
    </p:extLst>
  </p:cSld>
</p:sld>
</file>

<file path=ppt/slides/slide16.xml><?xml version="1.0" encoding="utf-8"?>
<p:sld xmlns:p="http://schemas.openxmlformats.org/presentationml/2006/main">
  <p:cSld>
    <p:bg>
      <p:bgPr>
        <a:solidFill xmlns:a="http://schemas.openxmlformats.org/drawingml/2006/main">
          <a:srgbClr val="B56647"/>
        </a:solidFill>
      </p:bgPr>
    </p:bg>
    <p:spTree>
      <p:nvGrpSpPr>
        <p:cNvPr id="1" name=""/>
        <p:cNvGrpSpPr/>
        <p:nvPr/>
      </p:nvGrpSpPr>
      <p:grpSpPr>
        <a:xfrm xmlns:a="http://schemas.openxmlformats.org/drawingml/2006/main"/>
      </p:grpSpPr>
      <p:sp>
        <p:nvSpPr>
          <p:cNvPr id="6" name="Editorial frame">
            <a:extLst xmlns:a="http://schemas.openxmlformats.org/drawingml/2006/main">
              <a:ext uri="{FF2B5EF4-FFF2-40B4-BE49-F238E27FC236}">
                <a16:creationId xmlns:a16="http://schemas.microsoft.com/office/drawing/2014/main" id="{FF2C14AD-4133-48F8-AE91-3DE84FCA7C48}"/>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sp>
        <p:nvSpPr>
          <p:cNvPr id="2" name="Prague Case Study — Heat Islands">
            <a:extLst xmlns:a="http://schemas.openxmlformats.org/drawingml/2006/main">
              <a:ext uri="{FF2B5EF4-FFF2-40B4-BE49-F238E27FC236}">
                <a16:creationId xmlns:a16="http://schemas.microsoft.com/office/drawing/2014/main" id="{B52141B1-37BE-45D2-85A4-0EDA9FE920C2}"/>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Prague Case Study — Heat</a:t>
            </a:r>
          </a:p>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Islands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1e4a70b0bb514e4f"/>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4" name="www.newton.university">
            <a:extLst xmlns:a="http://schemas.openxmlformats.org/drawingml/2006/main">
              <a:ext uri="{FF2B5EF4-FFF2-40B4-BE49-F238E27FC236}">
                <a16:creationId xmlns:a16="http://schemas.microsoft.com/office/drawing/2014/main" id="{4F4AA8BB-9D2A-48F2-9A43-10AA23993780}"/>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5" name="16">
            <a:extLst xmlns:a="http://schemas.openxmlformats.org/drawingml/2006/main">
              <a:ext uri="{FF2B5EF4-FFF2-40B4-BE49-F238E27FC236}">
                <a16:creationId xmlns:a16="http://schemas.microsoft.com/office/drawing/2014/main" id="{56E9D426-8681-45C4-A954-CB34A820E767}"/>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16</a:t>
            </a:r>
          </a:p>
        </p:txBody>
      </p:sp>
    </p:spTree>
    <p:extLst>
      <p:ext uri="{BB962C8B-B14F-4D97-AF65-F5344CB8AC3E}">
        <p14:creationId xmlns:p14="http://schemas.microsoft.com/office/powerpoint/2010/main" val="1043483914"/>
      </p:ext>
    </p:extLst>
  </p:cSld>
</p:sld>
</file>

<file path=ppt/slides/slide1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Heat Islands in Prague Neighborhoods">
            <a:extLst xmlns:a="http://schemas.openxmlformats.org/drawingml/2006/main">
              <a:ext uri="{FF2B5EF4-FFF2-40B4-BE49-F238E27FC236}">
                <a16:creationId xmlns:a16="http://schemas.microsoft.com/office/drawing/2014/main" id="{BF15C339-4F87-4A13-80B6-1FD4502B2CBA}"/>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Heat Islands in Prague Neighborhoods</a:t>
            </a:r>
          </a:p>
        </p:txBody>
      </p:sp>
      <p:sp>
        <p:nvSpPr>
          <p:cNvPr id="2" name="Editorial frame">
            <a:extLst xmlns:a="http://schemas.openxmlformats.org/drawingml/2006/main">
              <a:ext uri="{FF2B5EF4-FFF2-40B4-BE49-F238E27FC236}">
                <a16:creationId xmlns:a16="http://schemas.microsoft.com/office/drawing/2014/main" id="{D21C2498-25B8-456D-BBF6-6EAD2FEE6433}"/>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3C405ADD-8EA9-460D-BE6C-CFF84A91EFEA}"/>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D4302004-BF6C-479A-BE36-C073F0ED6BE2}"/>
              </a:ext>
            </a:extLst>
          </p:cNvPr>
          <p:cNvSpPr>
            <a:spLocks xmlns:a="http://schemas.openxmlformats.org/drawingml/2006/main" noGrp="1"/>
          </p:cNvSpPr>
          <p:nvPr/>
        </p:nvSpPr>
        <p:spPr>
          <a:xfrm xmlns:a="http://schemas.openxmlformats.org/drawingml/2006/main">
            <a:off x="361950" y="1438275"/>
            <a:ext cx="4238625"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49801589-38FE-4D53-BF1A-CF2FAD88C8FB}"/>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The pattern">
            <a:extLst xmlns:a="http://schemas.openxmlformats.org/drawingml/2006/main">
              <a:ext uri="{FF2B5EF4-FFF2-40B4-BE49-F238E27FC236}">
                <a16:creationId xmlns:a16="http://schemas.microsoft.com/office/drawing/2014/main" id="{32ABA783-4234-4827-98BF-6BBCC72E8A41}"/>
              </a:ext>
            </a:extLst>
          </p:cNvPr>
          <p:cNvSpPr>
            <a:spLocks xmlns:a="http://schemas.openxmlformats.org/drawingml/2006/main" noGrp="1"/>
          </p:cNvSpPr>
          <p:nvPr/>
        </p:nvSpPr>
        <p:spPr>
          <a:xfrm xmlns:a="http://schemas.openxmlformats.org/drawingml/2006/main">
            <a:off x="495300"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The pattern</a:t>
            </a:r>
          </a:p>
        </p:txBody>
      </p:sp>
      <p:sp>
        <p:nvSpPr>
          <p:cNvPr id="7" name="Dense, sealed districts can be hotter than shaded ">
            <a:extLst xmlns:a="http://schemas.openxmlformats.org/drawingml/2006/main">
              <a:ext uri="{FF2B5EF4-FFF2-40B4-BE49-F238E27FC236}">
                <a16:creationId xmlns:a16="http://schemas.microsoft.com/office/drawing/2014/main" id="{D79B2275-513C-467F-B542-B84B903D1CCC}"/>
              </a:ext>
            </a:extLst>
          </p:cNvPr>
          <p:cNvSpPr>
            <a:spLocks xmlns:a="http://schemas.openxmlformats.org/drawingml/2006/main" noGrp="1"/>
          </p:cNvSpPr>
          <p:nvPr/>
        </p:nvSpPr>
        <p:spPr>
          <a:xfrm xmlns:a="http://schemas.openxmlformats.org/drawingml/2006/main">
            <a:off x="495300" y="207073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Dense, sealed districts can be hotter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than shaded green areas.</a:t>
            </a:r>
          </a:p>
        </p:txBody>
      </p:sp>
      <p:sp>
        <p:nvSpPr>
          <p:cNvPr id="8" name="Compare local measurements before assigning a temp">
            <a:extLst xmlns:a="http://schemas.openxmlformats.org/drawingml/2006/main">
              <a:ext uri="{FF2B5EF4-FFF2-40B4-BE49-F238E27FC236}">
                <a16:creationId xmlns:a16="http://schemas.microsoft.com/office/drawing/2014/main" id="{C6830B96-B620-4350-9221-C6CA10AEB248}"/>
              </a:ext>
            </a:extLst>
          </p:cNvPr>
          <p:cNvSpPr>
            <a:spLocks xmlns:a="http://schemas.openxmlformats.org/drawingml/2006/main" noGrp="1"/>
          </p:cNvSpPr>
          <p:nvPr/>
        </p:nvSpPr>
        <p:spPr>
          <a:xfrm xmlns:a="http://schemas.openxmlformats.org/drawingml/2006/main">
            <a:off x="495300" y="2720340"/>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Compare local measurements before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assigning a temperature difference.</a:t>
            </a:r>
          </a:p>
        </p:txBody>
      </p:sp>
      <p:sp>
        <p:nvSpPr>
          <p:cNvPr id="9" name="Editorial frame">
            <a:extLst xmlns:a="http://schemas.openxmlformats.org/drawingml/2006/main">
              <a:ext uri="{FF2B5EF4-FFF2-40B4-BE49-F238E27FC236}">
                <a16:creationId xmlns:a16="http://schemas.microsoft.com/office/drawing/2014/main" id="{660AFBE4-3CA9-419D-A328-7CB92D9A484F}"/>
              </a:ext>
            </a:extLst>
          </p:cNvPr>
          <p:cNvSpPr>
            <a:spLocks xmlns:a="http://schemas.openxmlformats.org/drawingml/2006/main" noGrp="1"/>
          </p:cNvSpPr>
          <p:nvPr/>
        </p:nvSpPr>
        <p:spPr>
          <a:xfrm xmlns:a="http://schemas.openxmlformats.org/drawingml/2006/main">
            <a:off x="4543425" y="1438275"/>
            <a:ext cx="4238625"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0" name="Editorial frame">
            <a:extLst xmlns:a="http://schemas.openxmlformats.org/drawingml/2006/main">
              <a:ext uri="{FF2B5EF4-FFF2-40B4-BE49-F238E27FC236}">
                <a16:creationId xmlns:a16="http://schemas.microsoft.com/office/drawing/2014/main" id="{B7A35F48-FF11-42E0-A605-ED647902A3E0}"/>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1" name="Mitigation through Green Infrastructure">
            <a:extLst xmlns:a="http://schemas.openxmlformats.org/drawingml/2006/main">
              <a:ext uri="{FF2B5EF4-FFF2-40B4-BE49-F238E27FC236}">
                <a16:creationId xmlns:a16="http://schemas.microsoft.com/office/drawing/2014/main" id="{B72331FD-9FF6-4EA1-9C9A-BF98F5DD3365}"/>
              </a:ext>
            </a:extLst>
          </p:cNvPr>
          <p:cNvSpPr>
            <a:spLocks xmlns:a="http://schemas.openxmlformats.org/drawingml/2006/main" noGrp="1"/>
          </p:cNvSpPr>
          <p:nvPr/>
        </p:nvSpPr>
        <p:spPr>
          <a:xfrm xmlns:a="http://schemas.openxmlformats.org/drawingml/2006/main">
            <a:off x="4676775" y="1619250"/>
            <a:ext cx="3971925" cy="6229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B56647"/>
                </a:solidFill>
                <a:latin typeface="Georgia"/>
                <a:ea typeface="Georgia"/>
                <a:cs typeface="Georgia"/>
              </a:defRPr>
            </a:pPr>
            <a:r>
              <a:rPr sz="1950" b="0">
                <a:solidFill>
                  <a:srgbClr val="B56647"/>
                </a:solidFill>
                <a:latin typeface="Georgia"/>
                <a:ea typeface="Georgia"/>
                <a:cs typeface="Georgia"/>
              </a:rPr>
              <a:t>Mitigation through Green</a:t>
            </a:r>
          </a:p>
          <a:p xmlns:a="http://schemas.openxmlformats.org/drawingml/2006/main">
            <a:pPr>
              <a:defRPr sz="1950" b="0">
                <a:solidFill>
                  <a:srgbClr val="B56647"/>
                </a:solidFill>
                <a:latin typeface="Georgia"/>
                <a:ea typeface="Georgia"/>
                <a:cs typeface="Georgia"/>
              </a:defRPr>
            </a:pPr>
            <a:r>
              <a:rPr sz="1950" b="0">
                <a:solidFill>
                  <a:srgbClr val="B56647"/>
                </a:solidFill>
                <a:latin typeface="Georgia"/>
                <a:ea typeface="Georgia"/>
                <a:cs typeface="Georgia"/>
              </a:rPr>
              <a:t>Infrastructure</a:t>
            </a:r>
          </a:p>
        </p:txBody>
      </p:sp>
      <p:sp>
        <p:nvSpPr>
          <p:cNvPr id="12" name="Street trees and shading of public spaces">
            <a:extLst xmlns:a="http://schemas.openxmlformats.org/drawingml/2006/main">
              <a:ext uri="{FF2B5EF4-FFF2-40B4-BE49-F238E27FC236}">
                <a16:creationId xmlns:a16="http://schemas.microsoft.com/office/drawing/2014/main" id="{3E81FDB6-A949-4AE3-998A-7C46160699D5}"/>
              </a:ext>
            </a:extLst>
          </p:cNvPr>
          <p:cNvSpPr>
            <a:spLocks xmlns:a="http://schemas.openxmlformats.org/drawingml/2006/main" noGrp="1"/>
          </p:cNvSpPr>
          <p:nvPr/>
        </p:nvSpPr>
        <p:spPr>
          <a:xfrm xmlns:a="http://schemas.openxmlformats.org/drawingml/2006/main">
            <a:off x="4676775" y="2356485"/>
            <a:ext cx="39719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Street trees and shading of public spaces</a:t>
            </a:r>
          </a:p>
        </p:txBody>
      </p:sp>
      <p:sp>
        <p:nvSpPr>
          <p:cNvPr id="13" name="Green roofs and facades on new development">
            <a:extLst xmlns:a="http://schemas.openxmlformats.org/drawingml/2006/main">
              <a:ext uri="{FF2B5EF4-FFF2-40B4-BE49-F238E27FC236}">
                <a16:creationId xmlns:a16="http://schemas.microsoft.com/office/drawing/2014/main" id="{70BFA97F-C5CF-4594-80CB-670612E7B9A6}"/>
              </a:ext>
            </a:extLst>
          </p:cNvPr>
          <p:cNvSpPr>
            <a:spLocks xmlns:a="http://schemas.openxmlformats.org/drawingml/2006/main" noGrp="1"/>
          </p:cNvSpPr>
          <p:nvPr/>
        </p:nvSpPr>
        <p:spPr>
          <a:xfrm xmlns:a="http://schemas.openxmlformats.org/drawingml/2006/main">
            <a:off x="4676775" y="2731770"/>
            <a:ext cx="3971925" cy="5314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Green roofs and facades on new</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development</a:t>
            </a:r>
          </a:p>
        </p:txBody>
      </p:sp>
      <p:sp>
        <p:nvSpPr>
          <p:cNvPr id="14" name="Water elements and permeable surfaces">
            <a:extLst xmlns:a="http://schemas.openxmlformats.org/drawingml/2006/main">
              <a:ext uri="{FF2B5EF4-FFF2-40B4-BE49-F238E27FC236}">
                <a16:creationId xmlns:a16="http://schemas.microsoft.com/office/drawing/2014/main" id="{F1DB58D7-6CF1-4FDB-8957-373DAFBAC73A}"/>
              </a:ext>
            </a:extLst>
          </p:cNvPr>
          <p:cNvSpPr>
            <a:spLocks xmlns:a="http://schemas.openxmlformats.org/drawingml/2006/main" noGrp="1"/>
          </p:cNvSpPr>
          <p:nvPr/>
        </p:nvSpPr>
        <p:spPr>
          <a:xfrm xmlns:a="http://schemas.openxmlformats.org/drawingml/2006/main">
            <a:off x="4676775" y="3358515"/>
            <a:ext cx="39719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Water elements and permeable surfaces</a:t>
            </a:r>
          </a:p>
        </p:txBody>
      </p:sp>
      <p:sp>
        <p:nvSpPr>
          <p:cNvPr id="15" name="Prague's Climate Plan 2030 and Adaptation Strategy">
            <a:extLst xmlns:a="http://schemas.openxmlformats.org/drawingml/2006/main">
              <a:ext uri="{FF2B5EF4-FFF2-40B4-BE49-F238E27FC236}">
                <a16:creationId xmlns:a16="http://schemas.microsoft.com/office/drawing/2014/main" id="{462B732C-C4A2-4428-AAF1-BDD7D4F85844}"/>
              </a:ext>
            </a:extLst>
          </p:cNvPr>
          <p:cNvSpPr>
            <a:spLocks xmlns:a="http://schemas.openxmlformats.org/drawingml/2006/main" noGrp="1"/>
          </p:cNvSpPr>
          <p:nvPr/>
        </p:nvSpPr>
        <p:spPr>
          <a:xfrm xmlns:a="http://schemas.openxmlformats.org/drawingml/2006/main">
            <a:off x="4676775" y="3733800"/>
            <a:ext cx="3971925" cy="7829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Prague's Climate Plan 2030 and</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Adaptation Strategy both prioritize these</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measures.</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19da19a8e6c84098"/>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7" name="www.newton.university">
            <a:extLst xmlns:a="http://schemas.openxmlformats.org/drawingml/2006/main">
              <a:ext uri="{FF2B5EF4-FFF2-40B4-BE49-F238E27FC236}">
                <a16:creationId xmlns:a16="http://schemas.microsoft.com/office/drawing/2014/main" id="{744FE78B-99E3-47B0-A5C7-7ED760D85E91}"/>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8" name="17">
            <a:extLst xmlns:a="http://schemas.openxmlformats.org/drawingml/2006/main">
              <a:ext uri="{FF2B5EF4-FFF2-40B4-BE49-F238E27FC236}">
                <a16:creationId xmlns:a16="http://schemas.microsoft.com/office/drawing/2014/main" id="{329B09C3-726B-4B37-B712-C24DFAF6FB19}"/>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17</a:t>
            </a:r>
          </a:p>
        </p:txBody>
      </p:sp>
    </p:spTree>
    <p:extLst>
      <p:ext uri="{BB962C8B-B14F-4D97-AF65-F5344CB8AC3E}">
        <p14:creationId xmlns:p14="http://schemas.microsoft.com/office/powerpoint/2010/main" val="491131453"/>
      </p:ext>
    </p:extLst>
  </p:cSld>
</p:sld>
</file>

<file path=ppt/slides/slide18.xml><?xml version="1.0" encoding="utf-8"?>
<p:sld xmlns:p="http://schemas.openxmlformats.org/presentationml/2006/main">
  <p:cSld>
    <p:bg>
      <p:bgPr>
        <a:solidFill xmlns:a="http://schemas.openxmlformats.org/drawingml/2006/main">
          <a:srgbClr val="DDE5D8"/>
        </a:solidFill>
      </p:bgPr>
    </p:bg>
    <p:spTree>
      <p:nvGrpSpPr>
        <p:cNvPr id="1" name=""/>
        <p:cNvGrpSpPr/>
        <p:nvPr/>
      </p:nvGrpSpPr>
      <p:grpSpPr>
        <a:xfrm xmlns:a="http://schemas.openxmlformats.org/drawingml/2006/main"/>
      </p:grpSpPr>
      <p:sp>
        <p:nvSpPr>
          <p:cNvPr id="14" name="Classroom Activity: Cooling One Street">
            <a:extLst xmlns:a="http://schemas.openxmlformats.org/drawingml/2006/main">
              <a:ext uri="{FF2B5EF4-FFF2-40B4-BE49-F238E27FC236}">
                <a16:creationId xmlns:a16="http://schemas.microsoft.com/office/drawing/2014/main" id="{D5B110D1-B029-4A3A-BA73-88731BA401AD}"/>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Classroom Activity: Cooling One Street</a:t>
            </a:r>
          </a:p>
        </p:txBody>
      </p:sp>
      <p:sp>
        <p:nvSpPr>
          <p:cNvPr id="2" name="Editorial frame">
            <a:extLst xmlns:a="http://schemas.openxmlformats.org/drawingml/2006/main">
              <a:ext uri="{FF2B5EF4-FFF2-40B4-BE49-F238E27FC236}">
                <a16:creationId xmlns:a16="http://schemas.microsoft.com/office/drawing/2014/main" id="{DCDD05F3-A726-41F1-9EC0-D10E86C955CD}"/>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3034178D-9660-46FD-9BAC-B17D02D47759}"/>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95CBE756-7FCC-4168-A7B4-FD0ECB8F717F}"/>
              </a:ext>
            </a:extLst>
          </p:cNvPr>
          <p:cNvSpPr>
            <a:spLocks xmlns:a="http://schemas.openxmlformats.org/drawingml/2006/main" noGrp="1"/>
          </p:cNvSpPr>
          <p:nvPr/>
        </p:nvSpPr>
        <p:spPr>
          <a:xfrm xmlns:a="http://schemas.openxmlformats.org/drawingml/2006/main">
            <a:off x="361950" y="1476375"/>
            <a:ext cx="2305050" cy="3190875"/>
          </a:xfrm>
          <a:prstGeom xmlns:a="http://schemas.openxmlformats.org/drawingml/2006/main" prst="rect">
            <a:avLst/>
          </a:prstGeom>
          <a:solidFill xmlns:a="http://schemas.openxmlformats.org/drawingml/2006/main">
            <a:srgbClr val="C7D5BE"/>
          </a:solidFill>
          <a:ln xmlns:a="http://schemas.openxmlformats.org/drawingml/2006/main" w="7620">
            <a:solidFill>
              <a:srgbClr val="B7C3B1"/>
            </a:solidFill>
          </a:ln>
        </p:spPr>
      </p:sp>
      <p:sp>
        <p:nvSpPr>
          <p:cNvPr id="5" name="15">
            <a:extLst xmlns:a="http://schemas.openxmlformats.org/drawingml/2006/main">
              <a:ext uri="{FF2B5EF4-FFF2-40B4-BE49-F238E27FC236}">
                <a16:creationId xmlns:a16="http://schemas.microsoft.com/office/drawing/2014/main" id="{83E31776-C58F-43A7-86B7-00D590E86DC8}"/>
              </a:ext>
            </a:extLst>
          </p:cNvPr>
          <p:cNvSpPr>
            <a:spLocks xmlns:a="http://schemas.openxmlformats.org/drawingml/2006/main" noGrp="1"/>
          </p:cNvSpPr>
          <p:nvPr/>
        </p:nvSpPr>
        <p:spPr>
          <a:xfrm xmlns:a="http://schemas.openxmlformats.org/drawingml/2006/main">
            <a:off x="533400" y="1914525"/>
            <a:ext cx="2076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00" b="0">
                <a:solidFill>
                  <a:srgbClr val="173E35"/>
                </a:solidFill>
                <a:latin typeface="Georgia"/>
                <a:ea typeface="Georgia"/>
                <a:cs typeface="Georgia"/>
              </a:defRPr>
            </a:pPr>
            <a:r>
              <a:rPr sz="7800" b="0">
                <a:solidFill>
                  <a:srgbClr val="173E35"/>
                </a:solidFill>
                <a:latin typeface="Georgia"/>
                <a:ea typeface="Georgia"/>
                <a:cs typeface="Georgia"/>
              </a:rPr>
              <a:t>15</a:t>
            </a:r>
          </a:p>
        </p:txBody>
      </p:sp>
      <p:sp>
        <p:nvSpPr>
          <p:cNvPr id="6" name="minutes">
            <a:extLst xmlns:a="http://schemas.openxmlformats.org/drawingml/2006/main">
              <a:ext uri="{FF2B5EF4-FFF2-40B4-BE49-F238E27FC236}">
                <a16:creationId xmlns:a16="http://schemas.microsoft.com/office/drawing/2014/main" id="{2AD0B470-B847-4132-853A-1949AD6B245B}"/>
              </a:ext>
            </a:extLst>
          </p:cNvPr>
          <p:cNvSpPr>
            <a:spLocks xmlns:a="http://schemas.openxmlformats.org/drawingml/2006/main" noGrp="1"/>
          </p:cNvSpPr>
          <p:nvPr/>
        </p:nvSpPr>
        <p:spPr>
          <a:xfrm xmlns:a="http://schemas.openxmlformats.org/drawingml/2006/main">
            <a:off x="581025" y="331470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325" b="0">
                <a:solidFill>
                  <a:srgbClr val="173E35"/>
                </a:solidFill>
                <a:latin typeface="Georgia"/>
                <a:ea typeface="Georgia"/>
                <a:cs typeface="Georgia"/>
              </a:defRPr>
            </a:pPr>
            <a:r>
              <a:rPr sz="2325" b="0">
                <a:solidFill>
                  <a:srgbClr val="173E35"/>
                </a:solidFill>
                <a:latin typeface="Georgia"/>
                <a:ea typeface="Georgia"/>
                <a:cs typeface="Georgia"/>
              </a:rPr>
              <a:t>minutes</a:t>
            </a:r>
          </a:p>
        </p:txBody>
      </p:sp>
      <p:sp>
        <p:nvSpPr>
          <p:cNvPr id="7" name="In pairs">
            <a:extLst xmlns:a="http://schemas.openxmlformats.org/drawingml/2006/main">
              <a:ext uri="{FF2B5EF4-FFF2-40B4-BE49-F238E27FC236}">
                <a16:creationId xmlns:a16="http://schemas.microsoft.com/office/drawing/2014/main" id="{EFD8575D-05BC-4429-BAD1-F1CD66738CD7}"/>
              </a:ext>
            </a:extLst>
          </p:cNvPr>
          <p:cNvSpPr>
            <a:spLocks xmlns:a="http://schemas.openxmlformats.org/drawingml/2006/main" noGrp="1"/>
          </p:cNvSpPr>
          <p:nvPr/>
        </p:nvSpPr>
        <p:spPr>
          <a:xfrm xmlns:a="http://schemas.openxmlformats.org/drawingml/2006/main">
            <a:off x="581025" y="3914775"/>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8665B"/>
                </a:solidFill>
                <a:latin typeface="Arial"/>
                <a:ea typeface="Arial"/>
                <a:cs typeface="Arial"/>
              </a:defRPr>
            </a:pPr>
            <a:r>
              <a:rPr sz="1575" b="0">
                <a:solidFill>
                  <a:srgbClr val="58665B"/>
                </a:solidFill>
                <a:latin typeface="Arial"/>
                <a:ea typeface="Arial"/>
                <a:cs typeface="Arial"/>
              </a:rPr>
              <a:t>In pairs</a:t>
            </a:r>
          </a:p>
        </p:txBody>
      </p:sp>
      <p:sp>
        <p:nvSpPr>
          <p:cNvPr id="8" name="Pick a street or square in Prague you both know. P">
            <a:extLst xmlns:a="http://schemas.openxmlformats.org/drawingml/2006/main">
              <a:ext uri="{FF2B5EF4-FFF2-40B4-BE49-F238E27FC236}">
                <a16:creationId xmlns:a16="http://schemas.microsoft.com/office/drawing/2014/main" id="{C677EEC3-C8F6-4D54-9EE2-2C7CF640D4B4}"/>
              </a:ext>
            </a:extLst>
          </p:cNvPr>
          <p:cNvSpPr>
            <a:spLocks xmlns:a="http://schemas.openxmlformats.org/drawingml/2006/main" noGrp="1"/>
          </p:cNvSpPr>
          <p:nvPr/>
        </p:nvSpPr>
        <p:spPr>
          <a:xfrm xmlns:a="http://schemas.openxmlformats.org/drawingml/2006/main">
            <a:off x="3076575" y="1628775"/>
            <a:ext cx="5543550"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Pick a street or square in Prague you both know.</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Propose three nature-based measures to cool it,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note:</a:t>
            </a:r>
          </a:p>
        </p:txBody>
      </p:sp>
      <p:sp>
        <p:nvSpPr>
          <p:cNvPr id="9" name="Who pays, who maintains it, and which business ris">
            <a:extLst xmlns:a="http://schemas.openxmlformats.org/drawingml/2006/main">
              <a:ext uri="{FF2B5EF4-FFF2-40B4-BE49-F238E27FC236}">
                <a16:creationId xmlns:a16="http://schemas.microsoft.com/office/drawing/2014/main" id="{57B7F8C6-3FA1-422D-B7C6-6B221A16A9C7}"/>
              </a:ext>
            </a:extLst>
          </p:cNvPr>
          <p:cNvSpPr>
            <a:spLocks xmlns:a="http://schemas.openxmlformats.org/drawingml/2006/main" noGrp="1"/>
          </p:cNvSpPr>
          <p:nvPr/>
        </p:nvSpPr>
        <p:spPr>
          <a:xfrm xmlns:a="http://schemas.openxmlformats.org/drawingml/2006/main">
            <a:off x="3076575" y="2541270"/>
            <a:ext cx="554355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Who pays, who maintains it, and which business risk</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does it reduce?</a:t>
            </a:r>
          </a:p>
        </p:txBody>
      </p:sp>
      <p:sp>
        <p:nvSpPr>
          <p:cNvPr id="10" name="Who benefits, and how could the benefit be measure">
            <a:extLst xmlns:a="http://schemas.openxmlformats.org/drawingml/2006/main">
              <a:ext uri="{FF2B5EF4-FFF2-40B4-BE49-F238E27FC236}">
                <a16:creationId xmlns:a16="http://schemas.microsoft.com/office/drawing/2014/main" id="{4869EA2F-3B91-4496-BDFD-B7D42AACF25B}"/>
              </a:ext>
            </a:extLst>
          </p:cNvPr>
          <p:cNvSpPr>
            <a:spLocks xmlns:a="http://schemas.openxmlformats.org/drawingml/2006/main" noGrp="1"/>
          </p:cNvSpPr>
          <p:nvPr/>
        </p:nvSpPr>
        <p:spPr>
          <a:xfrm xmlns:a="http://schemas.openxmlformats.org/drawingml/2006/main">
            <a:off x="3076575" y="3190875"/>
            <a:ext cx="55435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Who benefits, and how could the benefit be measured?</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43a66b1607d483d"/>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2" name="www.newton.university">
            <a:extLst xmlns:a="http://schemas.openxmlformats.org/drawingml/2006/main">
              <a:ext uri="{FF2B5EF4-FFF2-40B4-BE49-F238E27FC236}">
                <a16:creationId xmlns:a16="http://schemas.microsoft.com/office/drawing/2014/main" id="{88235E05-34E8-4202-8A24-9C2CAC634572}"/>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3" name="18">
            <a:extLst xmlns:a="http://schemas.openxmlformats.org/drawingml/2006/main">
              <a:ext uri="{FF2B5EF4-FFF2-40B4-BE49-F238E27FC236}">
                <a16:creationId xmlns:a16="http://schemas.microsoft.com/office/drawing/2014/main" id="{6F2E7D40-F955-41FA-9EB1-5857B8C8B72B}"/>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18</a:t>
            </a:r>
          </a:p>
        </p:txBody>
      </p:sp>
    </p:spTree>
    <p:extLst>
      <p:ext uri="{BB962C8B-B14F-4D97-AF65-F5344CB8AC3E}">
        <p14:creationId xmlns:p14="http://schemas.microsoft.com/office/powerpoint/2010/main" val="503029116"/>
      </p:ext>
    </p:extLst>
  </p:cSld>
</p:sld>
</file>

<file path=ppt/slides/slide19.xml><?xml version="1.0" encoding="utf-8"?>
<p:sld xmlns:p="http://schemas.openxmlformats.org/presentationml/2006/main">
  <p:cSld>
    <p:bg>
      <p:bgPr>
        <a:solidFill xmlns:a="http://schemas.openxmlformats.org/drawingml/2006/main">
          <a:srgbClr val="DDE5D8"/>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30E137D3-2903-4141-BA08-A5B64E2118C0}"/>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Break">
            <a:extLst xmlns:a="http://schemas.openxmlformats.org/drawingml/2006/main">
              <a:ext uri="{FF2B5EF4-FFF2-40B4-BE49-F238E27FC236}">
                <a16:creationId xmlns:a16="http://schemas.microsoft.com/office/drawing/2014/main" id="{3084C8AB-F7CE-4913-AF17-704EA827F1AC}"/>
              </a:ext>
            </a:extLst>
          </p:cNvPr>
          <p:cNvSpPr>
            <a:spLocks xmlns:a="http://schemas.openxmlformats.org/drawingml/2006/main" noGrp="1"/>
          </p:cNvSpPr>
          <p:nvPr/>
        </p:nvSpPr>
        <p:spPr>
          <a:xfrm xmlns:a="http://schemas.openxmlformats.org/drawingml/2006/main">
            <a:off x="495300" y="962025"/>
            <a:ext cx="71437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950" b="0">
                <a:solidFill>
                  <a:srgbClr val="173E35"/>
                </a:solidFill>
                <a:latin typeface="Georgia"/>
                <a:ea typeface="Georgia"/>
                <a:cs typeface="Georgia"/>
              </a:defRPr>
            </a:pPr>
            <a:r>
              <a:rPr sz="7950" b="0">
                <a:solidFill>
                  <a:srgbClr val="173E35"/>
                </a:solidFill>
                <a:latin typeface="Georgia"/>
                <a:ea typeface="Georgia"/>
                <a:cs typeface="Georgia"/>
              </a:rPr>
              <a:t>Break</a:t>
            </a:r>
          </a:p>
        </p:txBody>
      </p:sp>
      <p:sp>
        <p:nvSpPr>
          <p:cNvPr id="3" name="Editorial frame">
            <a:extLst xmlns:a="http://schemas.openxmlformats.org/drawingml/2006/main">
              <a:ext uri="{FF2B5EF4-FFF2-40B4-BE49-F238E27FC236}">
                <a16:creationId xmlns:a16="http://schemas.microsoft.com/office/drawing/2014/main" id="{B8B86DFF-4B39-4031-9E2C-340000CBBA5C}"/>
              </a:ext>
            </a:extLst>
          </p:cNvPr>
          <p:cNvSpPr>
            <a:spLocks xmlns:a="http://schemas.openxmlformats.org/drawingml/2006/main" noGrp="1"/>
          </p:cNvSpPr>
          <p:nvPr/>
        </p:nvSpPr>
        <p:spPr>
          <a:xfrm xmlns:a="http://schemas.openxmlformats.org/drawingml/2006/main">
            <a:off x="495300" y="2819400"/>
            <a:ext cx="1714500" cy="952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4" name="Second half — Circular Economy and Green Infrastru">
            <a:extLst xmlns:a="http://schemas.openxmlformats.org/drawingml/2006/main">
              <a:ext uri="{FF2B5EF4-FFF2-40B4-BE49-F238E27FC236}">
                <a16:creationId xmlns:a16="http://schemas.microsoft.com/office/drawing/2014/main" id="{86C8CA4E-E98A-42A2-A4D2-174CC60CFF5E}"/>
              </a:ext>
            </a:extLst>
          </p:cNvPr>
          <p:cNvSpPr>
            <a:spLocks xmlns:a="http://schemas.openxmlformats.org/drawingml/2006/main" noGrp="1"/>
          </p:cNvSpPr>
          <p:nvPr/>
        </p:nvSpPr>
        <p:spPr>
          <a:xfrm xmlns:a="http://schemas.openxmlformats.org/drawingml/2006/main">
            <a:off x="523875" y="3228975"/>
            <a:ext cx="742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75" b="0">
                <a:solidFill>
                  <a:srgbClr val="173E35"/>
                </a:solidFill>
                <a:latin typeface="Arial"/>
                <a:ea typeface="Arial"/>
                <a:cs typeface="Arial"/>
              </a:defRPr>
            </a:pPr>
            <a:r>
              <a:rPr sz="2175" b="0">
                <a:solidFill>
                  <a:srgbClr val="173E35"/>
                </a:solidFill>
                <a:latin typeface="Arial"/>
                <a:ea typeface="Arial"/>
                <a:cs typeface="Arial"/>
              </a:rPr>
              <a:t>Second half — Circular Economy and Green Infrastructure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75158995f4654527"/>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347EC6ED-1CA9-4332-AD73-19DD13A24444}"/>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19">
            <a:extLst xmlns:a="http://schemas.openxmlformats.org/drawingml/2006/main">
              <a:ext uri="{FF2B5EF4-FFF2-40B4-BE49-F238E27FC236}">
                <a16:creationId xmlns:a16="http://schemas.microsoft.com/office/drawing/2014/main" id="{EDC2482A-D1D3-4145-8EDB-CFC203C96CB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19</a:t>
            </a:r>
          </a:p>
        </p:txBody>
      </p:sp>
    </p:spTree>
    <p:extLst>
      <p:ext uri="{BB962C8B-B14F-4D97-AF65-F5344CB8AC3E}">
        <p14:creationId xmlns:p14="http://schemas.microsoft.com/office/powerpoint/2010/main" val="1130879111"/>
      </p:ext>
    </p:extLst>
  </p:cSld>
</p:sld>
</file>

<file path=ppt/slides/slide20.xml><?xml version="1.0" encoding="utf-8"?>
<p:sld xmlns:p="http://schemas.openxmlformats.org/presentationml/2006/main">
  <p:cSld>
    <p:bg>
      <p:bgPr>
        <a:solidFill xmlns:a="http://schemas.openxmlformats.org/drawingml/2006/main">
          <a:srgbClr val="203C45"/>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5C478E99-3FB3-4EF8-A8A3-D7A1231E8E8C}"/>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sp>
        <p:nvSpPr>
          <p:cNvPr id="2" name="Part 4">
            <a:extLst xmlns:a="http://schemas.openxmlformats.org/drawingml/2006/main">
              <a:ext uri="{FF2B5EF4-FFF2-40B4-BE49-F238E27FC236}">
                <a16:creationId xmlns:a16="http://schemas.microsoft.com/office/drawing/2014/main" id="{93AE9BFE-6BA2-4ED9-9562-824164942EFA}"/>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4</a:t>
            </a:r>
          </a:p>
        </p:txBody>
      </p:sp>
      <p:sp>
        <p:nvSpPr>
          <p:cNvPr id="3" name="04">
            <a:extLst xmlns:a="http://schemas.openxmlformats.org/drawingml/2006/main">
              <a:ext uri="{FF2B5EF4-FFF2-40B4-BE49-F238E27FC236}">
                <a16:creationId xmlns:a16="http://schemas.microsoft.com/office/drawing/2014/main" id="{4B728C5E-B596-4055-9630-A38E138794BF}"/>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819E89"/>
                </a:solidFill>
                <a:latin typeface="Georgia"/>
                <a:ea typeface="Georgia"/>
                <a:cs typeface="Georgia"/>
              </a:defRPr>
            </a:pPr>
            <a:r>
              <a:rPr sz="7875" b="0">
                <a:solidFill>
                  <a:srgbClr val="819E89"/>
                </a:solidFill>
                <a:latin typeface="Georgia"/>
                <a:ea typeface="Georgia"/>
                <a:cs typeface="Georgia"/>
              </a:rPr>
              <a:t>04</a:t>
            </a:r>
          </a:p>
        </p:txBody>
      </p:sp>
      <p:sp>
        <p:nvSpPr>
          <p:cNvPr id="4" name="From Linear to Circular">
            <a:extLst xmlns:a="http://schemas.openxmlformats.org/drawingml/2006/main">
              <a:ext uri="{FF2B5EF4-FFF2-40B4-BE49-F238E27FC236}">
                <a16:creationId xmlns:a16="http://schemas.microsoft.com/office/drawing/2014/main" id="{97388616-514D-4E6E-9639-F9E1BA39CD60}"/>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F5F2EA"/>
                </a:solidFill>
                <a:latin typeface="Georgia"/>
                <a:ea typeface="Georgia"/>
                <a:cs typeface="Georgia"/>
              </a:defRPr>
            </a:pPr>
            <a:r>
              <a:rPr sz="4350" b="0">
                <a:solidFill>
                  <a:srgbClr val="F5F2EA"/>
                </a:solidFill>
                <a:latin typeface="Georgia"/>
                <a:ea typeface="Georgia"/>
                <a:cs typeface="Georgia"/>
              </a:rPr>
              <a:t>From Linear to Circular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211302ccd9f455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73EDC931-C390-48E3-BFAE-AC7F5B622DD7}"/>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20">
            <a:extLst xmlns:a="http://schemas.openxmlformats.org/drawingml/2006/main">
              <a:ext uri="{FF2B5EF4-FFF2-40B4-BE49-F238E27FC236}">
                <a16:creationId xmlns:a16="http://schemas.microsoft.com/office/drawing/2014/main" id="{D6D3AF98-AE7F-4094-B0FE-E2FFEBAC8374}"/>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20</a:t>
            </a:r>
          </a:p>
        </p:txBody>
      </p:sp>
    </p:spTree>
    <p:extLst>
      <p:ext uri="{BB962C8B-B14F-4D97-AF65-F5344CB8AC3E}">
        <p14:creationId xmlns:p14="http://schemas.microsoft.com/office/powerpoint/2010/main" val="940981452"/>
      </p:ext>
    </p:extLst>
  </p:cSld>
</p:sld>
</file>

<file path=ppt/slides/slide21.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9" name="The Linear Economy">
            <a:extLst xmlns:a="http://schemas.openxmlformats.org/drawingml/2006/main">
              <a:ext uri="{FF2B5EF4-FFF2-40B4-BE49-F238E27FC236}">
                <a16:creationId xmlns:a16="http://schemas.microsoft.com/office/drawing/2014/main" id="{AF415888-0E63-43F3-BEC3-32C6CA6EB1CA}"/>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The Linear Economy</a:t>
            </a:r>
          </a:p>
        </p:txBody>
      </p:sp>
      <p:sp>
        <p:nvSpPr>
          <p:cNvPr id="2" name="Editorial frame">
            <a:extLst xmlns:a="http://schemas.openxmlformats.org/drawingml/2006/main">
              <a:ext uri="{FF2B5EF4-FFF2-40B4-BE49-F238E27FC236}">
                <a16:creationId xmlns:a16="http://schemas.microsoft.com/office/drawing/2014/main" id="{E4C0C168-7AF9-47F6-BE73-925A54E57B89}"/>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49A9066D-6A29-448C-95D7-CB1A10AD21EF}"/>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A9FEF509-0E5D-411D-87BF-7A7CE2A07BC2}"/>
              </a:ext>
            </a:extLst>
          </p:cNvPr>
          <p:cNvSpPr>
            <a:spLocks xmlns:a="http://schemas.openxmlformats.org/drawingml/2006/main" noGrp="1"/>
          </p:cNvSpPr>
          <p:nvPr/>
        </p:nvSpPr>
        <p:spPr>
          <a:xfrm xmlns:a="http://schemas.openxmlformats.org/drawingml/2006/main">
            <a:off x="361950" y="1438275"/>
            <a:ext cx="4238625"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9099A115-1535-427E-929F-7CE58694DE7A}"/>
              </a:ext>
            </a:extLst>
          </p:cNvPr>
          <p:cNvSpPr>
            <a:spLocks xmlns:a="http://schemas.openxmlformats.org/drawingml/2006/main" noGrp="1"/>
          </p:cNvSpPr>
          <p:nvPr/>
        </p:nvSpPr>
        <p:spPr>
          <a:xfrm xmlns:a="http://schemas.openxmlformats.org/drawingml/2006/main">
            <a:off x="361950" y="1438275"/>
            <a:ext cx="4238625"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Take → Make → Waste">
            <a:extLst xmlns:a="http://schemas.openxmlformats.org/drawingml/2006/main">
              <a:ext uri="{FF2B5EF4-FFF2-40B4-BE49-F238E27FC236}">
                <a16:creationId xmlns:a16="http://schemas.microsoft.com/office/drawing/2014/main" id="{18F5328B-CF3A-43A7-9DE4-854A060B356E}"/>
              </a:ext>
            </a:extLst>
          </p:cNvPr>
          <p:cNvSpPr>
            <a:spLocks xmlns:a="http://schemas.openxmlformats.org/drawingml/2006/main" noGrp="1"/>
          </p:cNvSpPr>
          <p:nvPr/>
        </p:nvSpPr>
        <p:spPr>
          <a:xfrm xmlns:a="http://schemas.openxmlformats.org/drawingml/2006/main">
            <a:off x="495300"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Take → Make → Waste</a:t>
            </a:r>
          </a:p>
        </p:txBody>
      </p:sp>
      <p:sp>
        <p:nvSpPr>
          <p:cNvPr id="7" name="Extract raw materials">
            <a:extLst xmlns:a="http://schemas.openxmlformats.org/drawingml/2006/main">
              <a:ext uri="{FF2B5EF4-FFF2-40B4-BE49-F238E27FC236}">
                <a16:creationId xmlns:a16="http://schemas.microsoft.com/office/drawing/2014/main" id="{15FF5313-0FE3-4540-B76C-6DA1192F33C0}"/>
              </a:ext>
            </a:extLst>
          </p:cNvPr>
          <p:cNvSpPr>
            <a:spLocks xmlns:a="http://schemas.openxmlformats.org/drawingml/2006/main" noGrp="1"/>
          </p:cNvSpPr>
          <p:nvPr/>
        </p:nvSpPr>
        <p:spPr>
          <a:xfrm xmlns:a="http://schemas.openxmlformats.org/drawingml/2006/main">
            <a:off x="495300" y="2070735"/>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Extract raw materials</a:t>
            </a:r>
          </a:p>
        </p:txBody>
      </p:sp>
      <p:sp>
        <p:nvSpPr>
          <p:cNvPr id="8" name="Manufacture and distribute products">
            <a:extLst xmlns:a="http://schemas.openxmlformats.org/drawingml/2006/main">
              <a:ext uri="{FF2B5EF4-FFF2-40B4-BE49-F238E27FC236}">
                <a16:creationId xmlns:a16="http://schemas.microsoft.com/office/drawing/2014/main" id="{CFBB574A-4642-4AA4-8DED-2C73B44C3325}"/>
              </a:ext>
            </a:extLst>
          </p:cNvPr>
          <p:cNvSpPr>
            <a:spLocks xmlns:a="http://schemas.openxmlformats.org/drawingml/2006/main" noGrp="1"/>
          </p:cNvSpPr>
          <p:nvPr/>
        </p:nvSpPr>
        <p:spPr>
          <a:xfrm xmlns:a="http://schemas.openxmlformats.org/drawingml/2006/main">
            <a:off x="495300" y="245745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Manufacture and distribute products</a:t>
            </a:r>
          </a:p>
        </p:txBody>
      </p:sp>
      <p:sp>
        <p:nvSpPr>
          <p:cNvPr id="9" name="Use — often briefly">
            <a:extLst xmlns:a="http://schemas.openxmlformats.org/drawingml/2006/main">
              <a:ext uri="{FF2B5EF4-FFF2-40B4-BE49-F238E27FC236}">
                <a16:creationId xmlns:a16="http://schemas.microsoft.com/office/drawing/2014/main" id="{8541B45C-2F28-4AAA-B5F8-00118FDE1361}"/>
              </a:ext>
            </a:extLst>
          </p:cNvPr>
          <p:cNvSpPr>
            <a:spLocks xmlns:a="http://schemas.openxmlformats.org/drawingml/2006/main" noGrp="1"/>
          </p:cNvSpPr>
          <p:nvPr/>
        </p:nvSpPr>
        <p:spPr>
          <a:xfrm xmlns:a="http://schemas.openxmlformats.org/drawingml/2006/main">
            <a:off x="495300" y="2844165"/>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Use — often briefly</a:t>
            </a:r>
          </a:p>
        </p:txBody>
      </p:sp>
      <p:sp>
        <p:nvSpPr>
          <p:cNvPr id="10" name="Dispose to landfill or incineration">
            <a:extLst xmlns:a="http://schemas.openxmlformats.org/drawingml/2006/main">
              <a:ext uri="{FF2B5EF4-FFF2-40B4-BE49-F238E27FC236}">
                <a16:creationId xmlns:a16="http://schemas.microsoft.com/office/drawing/2014/main" id="{3C6BC9D3-15C9-45EF-A8A6-17DF54FC7FD6}"/>
              </a:ext>
            </a:extLst>
          </p:cNvPr>
          <p:cNvSpPr>
            <a:spLocks xmlns:a="http://schemas.openxmlformats.org/drawingml/2006/main" noGrp="1"/>
          </p:cNvSpPr>
          <p:nvPr/>
        </p:nvSpPr>
        <p:spPr>
          <a:xfrm xmlns:a="http://schemas.openxmlformats.org/drawingml/2006/main">
            <a:off x="495300" y="323088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Dispose to landfill or incineration</a:t>
            </a:r>
          </a:p>
        </p:txBody>
      </p:sp>
      <p:sp>
        <p:nvSpPr>
          <p:cNvPr id="11" name="Editorial frame">
            <a:extLst xmlns:a="http://schemas.openxmlformats.org/drawingml/2006/main">
              <a:ext uri="{FF2B5EF4-FFF2-40B4-BE49-F238E27FC236}">
                <a16:creationId xmlns:a16="http://schemas.microsoft.com/office/drawing/2014/main" id="{35CCA4DE-0F42-40B0-A9CF-DFDD610281F0}"/>
              </a:ext>
            </a:extLst>
          </p:cNvPr>
          <p:cNvSpPr>
            <a:spLocks xmlns:a="http://schemas.openxmlformats.org/drawingml/2006/main" noGrp="1"/>
          </p:cNvSpPr>
          <p:nvPr/>
        </p:nvSpPr>
        <p:spPr>
          <a:xfrm xmlns:a="http://schemas.openxmlformats.org/drawingml/2006/main">
            <a:off x="4543425" y="1438275"/>
            <a:ext cx="4238625"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2" name="Editorial frame">
            <a:extLst xmlns:a="http://schemas.openxmlformats.org/drawingml/2006/main">
              <a:ext uri="{FF2B5EF4-FFF2-40B4-BE49-F238E27FC236}">
                <a16:creationId xmlns:a16="http://schemas.microsoft.com/office/drawing/2014/main" id="{D9B5E678-9280-4871-B9C7-18E894AEAF8D}"/>
              </a:ext>
            </a:extLst>
          </p:cNvPr>
          <p:cNvSpPr>
            <a:spLocks xmlns:a="http://schemas.openxmlformats.org/drawingml/2006/main" noGrp="1"/>
          </p:cNvSpPr>
          <p:nvPr/>
        </p:nvSpPr>
        <p:spPr>
          <a:xfrm xmlns:a="http://schemas.openxmlformats.org/drawingml/2006/main">
            <a:off x="4543425" y="1438275"/>
            <a:ext cx="4238625"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3" name="Why it fails">
            <a:extLst xmlns:a="http://schemas.openxmlformats.org/drawingml/2006/main">
              <a:ext uri="{FF2B5EF4-FFF2-40B4-BE49-F238E27FC236}">
                <a16:creationId xmlns:a16="http://schemas.microsoft.com/office/drawing/2014/main" id="{CA7496CC-C4A6-48A1-A6A1-D955D93DA26E}"/>
              </a:ext>
            </a:extLst>
          </p:cNvPr>
          <p:cNvSpPr>
            <a:spLocks xmlns:a="http://schemas.openxmlformats.org/drawingml/2006/main" noGrp="1"/>
          </p:cNvSpPr>
          <p:nvPr/>
        </p:nvSpPr>
        <p:spPr>
          <a:xfrm xmlns:a="http://schemas.openxmlformats.org/drawingml/2006/main">
            <a:off x="4676775" y="1619250"/>
            <a:ext cx="3971925"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Why it fails</a:t>
            </a:r>
          </a:p>
        </p:txBody>
      </p:sp>
      <p:sp>
        <p:nvSpPr>
          <p:cNvPr id="14" name="Assumes infinite resources and infinite space for ">
            <a:extLst xmlns:a="http://schemas.openxmlformats.org/drawingml/2006/main">
              <a:ext uri="{FF2B5EF4-FFF2-40B4-BE49-F238E27FC236}">
                <a16:creationId xmlns:a16="http://schemas.microsoft.com/office/drawing/2014/main" id="{D5AFAA31-2270-4CEF-B241-B08D6E98EDB9}"/>
              </a:ext>
            </a:extLst>
          </p:cNvPr>
          <p:cNvSpPr>
            <a:spLocks xmlns:a="http://schemas.openxmlformats.org/drawingml/2006/main" noGrp="1"/>
          </p:cNvSpPr>
          <p:nvPr/>
        </p:nvSpPr>
        <p:spPr>
          <a:xfrm xmlns:a="http://schemas.openxmlformats.org/drawingml/2006/main">
            <a:off x="4676775" y="2070735"/>
            <a:ext cx="3971925"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Assumes infinite resources and infinite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space for waste.</a:t>
            </a:r>
          </a:p>
        </p:txBody>
      </p:sp>
      <p:sp>
        <p:nvSpPr>
          <p:cNvPr id="15" name="Value created once, then destroyed.">
            <a:extLst xmlns:a="http://schemas.openxmlformats.org/drawingml/2006/main">
              <a:ext uri="{FF2B5EF4-FFF2-40B4-BE49-F238E27FC236}">
                <a16:creationId xmlns:a16="http://schemas.microsoft.com/office/drawing/2014/main" id="{F9C81A74-E8E8-45BB-8488-8BECC2F16B2B}"/>
              </a:ext>
            </a:extLst>
          </p:cNvPr>
          <p:cNvSpPr>
            <a:spLocks xmlns:a="http://schemas.openxmlformats.org/drawingml/2006/main" noGrp="1"/>
          </p:cNvSpPr>
          <p:nvPr/>
        </p:nvSpPr>
        <p:spPr>
          <a:xfrm xmlns:a="http://schemas.openxmlformats.org/drawingml/2006/main">
            <a:off x="4676775" y="2720340"/>
            <a:ext cx="3971925"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Value created once, then destroyed.</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249ceec6819462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7" name="www.newton.university">
            <a:extLst xmlns:a="http://schemas.openxmlformats.org/drawingml/2006/main">
              <a:ext uri="{FF2B5EF4-FFF2-40B4-BE49-F238E27FC236}">
                <a16:creationId xmlns:a16="http://schemas.microsoft.com/office/drawing/2014/main" id="{02EFE796-F63F-4C7E-BD02-9DDDB746553C}"/>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8" name="21">
            <a:extLst xmlns:a="http://schemas.openxmlformats.org/drawingml/2006/main">
              <a:ext uri="{FF2B5EF4-FFF2-40B4-BE49-F238E27FC236}">
                <a16:creationId xmlns:a16="http://schemas.microsoft.com/office/drawing/2014/main" id="{9C7B7724-F1D3-41AA-AABA-1BB45A55E15B}"/>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21</a:t>
            </a:r>
          </a:p>
        </p:txBody>
      </p:sp>
    </p:spTree>
    <p:extLst>
      <p:ext uri="{BB962C8B-B14F-4D97-AF65-F5344CB8AC3E}">
        <p14:creationId xmlns:p14="http://schemas.microsoft.com/office/powerpoint/2010/main" val="982040707"/>
      </p:ext>
    </p:extLst>
  </p:cSld>
</p:sld>
</file>

<file path=ppt/slides/slide2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The Circular Economy">
            <a:extLst xmlns:a="http://schemas.openxmlformats.org/drawingml/2006/main">
              <a:ext uri="{FF2B5EF4-FFF2-40B4-BE49-F238E27FC236}">
                <a16:creationId xmlns:a16="http://schemas.microsoft.com/office/drawing/2014/main" id="{6CB38C97-23C1-4918-81CD-995F5BC3C2E7}"/>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The Circular Economy</a:t>
            </a:r>
          </a:p>
        </p:txBody>
      </p:sp>
      <p:sp>
        <p:nvSpPr>
          <p:cNvPr id="2" name="Editorial frame">
            <a:extLst xmlns:a="http://schemas.openxmlformats.org/drawingml/2006/main">
              <a:ext uri="{FF2B5EF4-FFF2-40B4-BE49-F238E27FC236}">
                <a16:creationId xmlns:a16="http://schemas.microsoft.com/office/drawing/2014/main" id="{9335AC65-3B5D-4FE2-ADBE-FA960141F44A}"/>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0E08B505-CB65-4ACC-9A88-41DA762C82BE}"/>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0D8C8888-13BE-4E5A-851E-2088CBC0702E}"/>
              </a:ext>
            </a:extLst>
          </p:cNvPr>
          <p:cNvSpPr>
            <a:spLocks xmlns:a="http://schemas.openxmlformats.org/drawingml/2006/main" noGrp="1"/>
          </p:cNvSpPr>
          <p:nvPr/>
        </p:nvSpPr>
        <p:spPr>
          <a:xfrm xmlns:a="http://schemas.openxmlformats.org/drawingml/2006/main">
            <a:off x="361950" y="1419225"/>
            <a:ext cx="8420100" cy="3267075"/>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5" name="Definition">
            <a:extLst xmlns:a="http://schemas.openxmlformats.org/drawingml/2006/main">
              <a:ext uri="{FF2B5EF4-FFF2-40B4-BE49-F238E27FC236}">
                <a16:creationId xmlns:a16="http://schemas.microsoft.com/office/drawing/2014/main" id="{F5CA0C70-C708-4A72-AB2F-F0186DC15A45}"/>
              </a:ext>
            </a:extLst>
          </p:cNvPr>
          <p:cNvSpPr>
            <a:spLocks xmlns:a="http://schemas.openxmlformats.org/drawingml/2006/main" noGrp="1"/>
          </p:cNvSpPr>
          <p:nvPr/>
        </p:nvSpPr>
        <p:spPr>
          <a:xfrm xmlns:a="http://schemas.openxmlformats.org/drawingml/2006/main">
            <a:off x="552450" y="1619250"/>
            <a:ext cx="7934325"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Definition</a:t>
            </a:r>
          </a:p>
        </p:txBody>
      </p:sp>
      <p:sp>
        <p:nvSpPr>
          <p:cNvPr id="6" name="An approach that aims to eliminate waste and regen">
            <a:extLst xmlns:a="http://schemas.openxmlformats.org/drawingml/2006/main">
              <a:ext uri="{FF2B5EF4-FFF2-40B4-BE49-F238E27FC236}">
                <a16:creationId xmlns:a16="http://schemas.microsoft.com/office/drawing/2014/main" id="{EB62D88E-B8D7-4B6B-A514-6B5DC1B3122A}"/>
              </a:ext>
            </a:extLst>
          </p:cNvPr>
          <p:cNvSpPr>
            <a:spLocks xmlns:a="http://schemas.openxmlformats.org/drawingml/2006/main" noGrp="1"/>
          </p:cNvSpPr>
          <p:nvPr/>
        </p:nvSpPr>
        <p:spPr>
          <a:xfrm xmlns:a="http://schemas.openxmlformats.org/drawingml/2006/main">
            <a:off x="552450" y="2082165"/>
            <a:ext cx="79343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An approach that aims to eliminate waste and regenerate nature:</a:t>
            </a:r>
          </a:p>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products and materials are kept in use through maintenance, reuse,</a:t>
            </a:r>
          </a:p>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repair, remanufacturing and — as a last resort — recycling.</a:t>
            </a:r>
          </a:p>
        </p:txBody>
      </p:sp>
      <p:sp>
        <p:nvSpPr>
          <p:cNvPr id="7" name="Look at how nature works">
            <a:extLst xmlns:a="http://schemas.openxmlformats.org/drawingml/2006/main">
              <a:ext uri="{FF2B5EF4-FFF2-40B4-BE49-F238E27FC236}">
                <a16:creationId xmlns:a16="http://schemas.microsoft.com/office/drawing/2014/main" id="{8C8B1BE8-EAD1-4EC3-82F8-BB7D7D4483A7}"/>
              </a:ext>
            </a:extLst>
          </p:cNvPr>
          <p:cNvSpPr>
            <a:spLocks xmlns:a="http://schemas.openxmlformats.org/drawingml/2006/main" noGrp="1"/>
          </p:cNvSpPr>
          <p:nvPr/>
        </p:nvSpPr>
        <p:spPr>
          <a:xfrm xmlns:a="http://schemas.openxmlformats.org/drawingml/2006/main">
            <a:off x="552450" y="3063240"/>
            <a:ext cx="79343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Look at how nature works</a:t>
            </a:r>
          </a:p>
        </p:txBody>
      </p:sp>
      <p:sp>
        <p:nvSpPr>
          <p:cNvPr id="8" name="Nature illustrates how outputs can become inputs. ">
            <a:extLst xmlns:a="http://schemas.openxmlformats.org/drawingml/2006/main">
              <a:ext uri="{FF2B5EF4-FFF2-40B4-BE49-F238E27FC236}">
                <a16:creationId xmlns:a16="http://schemas.microsoft.com/office/drawing/2014/main" id="{D0778B9B-AD8B-4419-A6DF-CFA387F8ABDB}"/>
              </a:ext>
            </a:extLst>
          </p:cNvPr>
          <p:cNvSpPr>
            <a:spLocks xmlns:a="http://schemas.openxmlformats.org/drawingml/2006/main" noGrp="1"/>
          </p:cNvSpPr>
          <p:nvPr/>
        </p:nvSpPr>
        <p:spPr>
          <a:xfrm xmlns:a="http://schemas.openxmlformats.org/drawingml/2006/main">
            <a:off x="552450" y="3472815"/>
            <a:ext cx="79343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Nature illustrates how outputs can become inputs. Businesses apply this</a:t>
            </a:r>
          </a:p>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idea through design, maintenance and recovery, while accounting for</a:t>
            </a:r>
          </a:p>
          <a:p xmlns:a="http://schemas.openxmlformats.org/drawingml/2006/main">
            <a:pPr>
              <a:defRPr sz="1875" b="0">
                <a:solidFill>
                  <a:srgbClr val="173E35"/>
                </a:solidFill>
                <a:latin typeface="Arial"/>
                <a:ea typeface="Arial"/>
                <a:cs typeface="Arial"/>
              </a:defRPr>
            </a:pPr>
            <a:r>
              <a:rPr sz="1875" b="0">
                <a:solidFill>
                  <a:srgbClr val="173E35"/>
                </a:solidFill>
                <a:latin typeface="Arial"/>
                <a:ea typeface="Arial"/>
                <a:cs typeface="Arial"/>
              </a:rPr>
              <a:t>real material and energy losses.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66c4ceeb1c2472d"/>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0" name="www.newton.university">
            <a:extLst xmlns:a="http://schemas.openxmlformats.org/drawingml/2006/main">
              <a:ext uri="{FF2B5EF4-FFF2-40B4-BE49-F238E27FC236}">
                <a16:creationId xmlns:a16="http://schemas.microsoft.com/office/drawing/2014/main" id="{AA99F5B6-90FE-4F1A-A04B-F1C7236B0A09}"/>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1" name="22">
            <a:extLst xmlns:a="http://schemas.openxmlformats.org/drawingml/2006/main">
              <a:ext uri="{FF2B5EF4-FFF2-40B4-BE49-F238E27FC236}">
                <a16:creationId xmlns:a16="http://schemas.microsoft.com/office/drawing/2014/main" id="{5C351D9E-52A3-41D9-9480-815D0B7CC1E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22</a:t>
            </a:r>
          </a:p>
        </p:txBody>
      </p:sp>
    </p:spTree>
    <p:extLst>
      <p:ext uri="{BB962C8B-B14F-4D97-AF65-F5344CB8AC3E}">
        <p14:creationId xmlns:p14="http://schemas.microsoft.com/office/powerpoint/2010/main" val="1628293574"/>
      </p:ext>
    </p:extLst>
  </p:cSld>
</p:sld>
</file>

<file path=ppt/slides/slide2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5" name="Circular Strategies (the R-Ladder)">
            <a:extLst xmlns:a="http://schemas.openxmlformats.org/drawingml/2006/main">
              <a:ext uri="{FF2B5EF4-FFF2-40B4-BE49-F238E27FC236}">
                <a16:creationId xmlns:a16="http://schemas.microsoft.com/office/drawing/2014/main" id="{B887BF5D-2623-4EAD-8A7F-F6F38F803661}"/>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Circular Strategies (the R-Ladder)</a:t>
            </a:r>
          </a:p>
        </p:txBody>
      </p:sp>
      <p:sp>
        <p:nvSpPr>
          <p:cNvPr id="2" name="Editorial frame">
            <a:extLst xmlns:a="http://schemas.openxmlformats.org/drawingml/2006/main">
              <a:ext uri="{FF2B5EF4-FFF2-40B4-BE49-F238E27FC236}">
                <a16:creationId xmlns:a16="http://schemas.microsoft.com/office/drawing/2014/main" id="{4137FB9A-D687-4673-889A-1038B8417FE8}"/>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2C4EA50A-2D96-4AE2-8A1C-2D89FDE9A68E}"/>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The higher on the ladder, the more value is preser">
            <a:extLst xmlns:a="http://schemas.openxmlformats.org/drawingml/2006/main">
              <a:ext uri="{FF2B5EF4-FFF2-40B4-BE49-F238E27FC236}">
                <a16:creationId xmlns:a16="http://schemas.microsoft.com/office/drawing/2014/main" id="{89B36438-1F94-414F-A6DD-FA4B56E75A83}"/>
              </a:ext>
            </a:extLst>
          </p:cNvPr>
          <p:cNvSpPr>
            <a:spLocks xmlns:a="http://schemas.openxmlformats.org/drawingml/2006/main" noGrp="1"/>
          </p:cNvSpPr>
          <p:nvPr/>
        </p:nvSpPr>
        <p:spPr>
          <a:xfrm xmlns:a="http://schemas.openxmlformats.org/drawingml/2006/main">
            <a:off x="495300" y="1476375"/>
            <a:ext cx="8048625" cy="2800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58665B"/>
                </a:solidFill>
                <a:latin typeface="Arial"/>
                <a:ea typeface="Arial"/>
                <a:cs typeface="Arial"/>
              </a:defRPr>
            </a:pPr>
            <a:r>
              <a:rPr sz="1650" b="0">
                <a:solidFill>
                  <a:srgbClr val="58665B"/>
                </a:solidFill>
                <a:latin typeface="Arial"/>
                <a:ea typeface="Arial"/>
                <a:cs typeface="Arial"/>
              </a:rPr>
              <a:t>The higher on the ladder, the more value is preserved:</a:t>
            </a:r>
          </a:p>
        </p:txBody>
      </p:sp>
      <p:sp>
        <p:nvSpPr>
          <p:cNvPr id="5" name="Editorial frame">
            <a:extLst xmlns:a="http://schemas.openxmlformats.org/drawingml/2006/main">
              <a:ext uri="{FF2B5EF4-FFF2-40B4-BE49-F238E27FC236}">
                <a16:creationId xmlns:a16="http://schemas.microsoft.com/office/drawing/2014/main" id="{3553D00A-2A03-4A46-BBB1-2A437567DA7A}"/>
              </a:ext>
            </a:extLst>
          </p:cNvPr>
          <p:cNvSpPr>
            <a:spLocks xmlns:a="http://schemas.openxmlformats.org/drawingml/2006/main" noGrp="1"/>
          </p:cNvSpPr>
          <p:nvPr/>
        </p:nvSpPr>
        <p:spPr>
          <a:xfrm xmlns:a="http://schemas.openxmlformats.org/drawingml/2006/main">
            <a:off x="361950" y="1946910"/>
            <a:ext cx="2844800" cy="2796540"/>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6" name="Editorial frame">
            <a:extLst xmlns:a="http://schemas.openxmlformats.org/drawingml/2006/main">
              <a:ext uri="{FF2B5EF4-FFF2-40B4-BE49-F238E27FC236}">
                <a16:creationId xmlns:a16="http://schemas.microsoft.com/office/drawing/2014/main" id="{9F08EFA3-B0B1-494F-81F8-DEAD22CB72CA}"/>
              </a:ext>
            </a:extLst>
          </p:cNvPr>
          <p:cNvSpPr>
            <a:spLocks xmlns:a="http://schemas.openxmlformats.org/drawingml/2006/main" noGrp="1"/>
          </p:cNvSpPr>
          <p:nvPr/>
        </p:nvSpPr>
        <p:spPr>
          <a:xfrm xmlns:a="http://schemas.openxmlformats.org/drawingml/2006/main">
            <a:off x="361950" y="1946910"/>
            <a:ext cx="2844800"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7" name="Highest value">
            <a:extLst xmlns:a="http://schemas.openxmlformats.org/drawingml/2006/main">
              <a:ext uri="{FF2B5EF4-FFF2-40B4-BE49-F238E27FC236}">
                <a16:creationId xmlns:a16="http://schemas.microsoft.com/office/drawing/2014/main" id="{09EE2690-26C7-48A6-8999-063835B5E78E}"/>
              </a:ext>
            </a:extLst>
          </p:cNvPr>
          <p:cNvSpPr>
            <a:spLocks xmlns:a="http://schemas.openxmlformats.org/drawingml/2006/main" noGrp="1"/>
          </p:cNvSpPr>
          <p:nvPr/>
        </p:nvSpPr>
        <p:spPr>
          <a:xfrm xmlns:a="http://schemas.openxmlformats.org/drawingml/2006/main">
            <a:off x="495300" y="2127885"/>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Highest value</a:t>
            </a:r>
          </a:p>
        </p:txBody>
      </p:sp>
      <p:sp>
        <p:nvSpPr>
          <p:cNvPr id="8" name="Refuse and rethink">
            <a:extLst xmlns:a="http://schemas.openxmlformats.org/drawingml/2006/main">
              <a:ext uri="{FF2B5EF4-FFF2-40B4-BE49-F238E27FC236}">
                <a16:creationId xmlns:a16="http://schemas.microsoft.com/office/drawing/2014/main" id="{6F3FBD47-619B-42C8-8BB7-F1DD8306B982}"/>
              </a:ext>
            </a:extLst>
          </p:cNvPr>
          <p:cNvSpPr>
            <a:spLocks xmlns:a="http://schemas.openxmlformats.org/drawingml/2006/main" noGrp="1"/>
          </p:cNvSpPr>
          <p:nvPr/>
        </p:nvSpPr>
        <p:spPr>
          <a:xfrm xmlns:a="http://schemas.openxmlformats.org/drawingml/2006/main">
            <a:off x="495300" y="257937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Refuse and rethink</a:t>
            </a:r>
          </a:p>
        </p:txBody>
      </p:sp>
      <p:sp>
        <p:nvSpPr>
          <p:cNvPr id="9" name="Reduce material use">
            <a:extLst xmlns:a="http://schemas.openxmlformats.org/drawingml/2006/main">
              <a:ext uri="{FF2B5EF4-FFF2-40B4-BE49-F238E27FC236}">
                <a16:creationId xmlns:a16="http://schemas.microsoft.com/office/drawing/2014/main" id="{F375B2F0-72DF-4C4D-81CC-7F27E95B647D}"/>
              </a:ext>
            </a:extLst>
          </p:cNvPr>
          <p:cNvSpPr>
            <a:spLocks xmlns:a="http://schemas.openxmlformats.org/drawingml/2006/main" noGrp="1"/>
          </p:cNvSpPr>
          <p:nvPr/>
        </p:nvSpPr>
        <p:spPr>
          <a:xfrm xmlns:a="http://schemas.openxmlformats.org/drawingml/2006/main">
            <a:off x="495300" y="296608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Reduce material use</a:t>
            </a:r>
          </a:p>
        </p:txBody>
      </p:sp>
      <p:sp>
        <p:nvSpPr>
          <p:cNvPr id="10" name="Reuse and repair">
            <a:extLst xmlns:a="http://schemas.openxmlformats.org/drawingml/2006/main">
              <a:ext uri="{FF2B5EF4-FFF2-40B4-BE49-F238E27FC236}">
                <a16:creationId xmlns:a16="http://schemas.microsoft.com/office/drawing/2014/main" id="{7859B569-83BE-4256-B092-82591D1614AE}"/>
              </a:ext>
            </a:extLst>
          </p:cNvPr>
          <p:cNvSpPr>
            <a:spLocks xmlns:a="http://schemas.openxmlformats.org/drawingml/2006/main" noGrp="1"/>
          </p:cNvSpPr>
          <p:nvPr/>
        </p:nvSpPr>
        <p:spPr>
          <a:xfrm xmlns:a="http://schemas.openxmlformats.org/drawingml/2006/main">
            <a:off x="495300" y="335280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Reuse and repair</a:t>
            </a:r>
          </a:p>
        </p:txBody>
      </p:sp>
      <p:sp>
        <p:nvSpPr>
          <p:cNvPr id="11" name="Editorial frame">
            <a:extLst xmlns:a="http://schemas.openxmlformats.org/drawingml/2006/main">
              <a:ext uri="{FF2B5EF4-FFF2-40B4-BE49-F238E27FC236}">
                <a16:creationId xmlns:a16="http://schemas.microsoft.com/office/drawing/2014/main" id="{2B95CA72-857B-4D9A-BFE8-DC9CFCD01A1F}"/>
              </a:ext>
            </a:extLst>
          </p:cNvPr>
          <p:cNvSpPr>
            <a:spLocks xmlns:a="http://schemas.openxmlformats.org/drawingml/2006/main" noGrp="1"/>
          </p:cNvSpPr>
          <p:nvPr/>
        </p:nvSpPr>
        <p:spPr>
          <a:xfrm xmlns:a="http://schemas.openxmlformats.org/drawingml/2006/main">
            <a:off x="3149600" y="1946910"/>
            <a:ext cx="2844800" cy="2796540"/>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2" name="Editorial frame">
            <a:extLst xmlns:a="http://schemas.openxmlformats.org/drawingml/2006/main">
              <a:ext uri="{FF2B5EF4-FFF2-40B4-BE49-F238E27FC236}">
                <a16:creationId xmlns:a16="http://schemas.microsoft.com/office/drawing/2014/main" id="{0306CCDC-35E3-43A4-A463-02875452F24E}"/>
              </a:ext>
            </a:extLst>
          </p:cNvPr>
          <p:cNvSpPr>
            <a:spLocks xmlns:a="http://schemas.openxmlformats.org/drawingml/2006/main" noGrp="1"/>
          </p:cNvSpPr>
          <p:nvPr/>
        </p:nvSpPr>
        <p:spPr>
          <a:xfrm xmlns:a="http://schemas.openxmlformats.org/drawingml/2006/main">
            <a:off x="3149600" y="1946910"/>
            <a:ext cx="284480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3" name="Middle">
            <a:extLst xmlns:a="http://schemas.openxmlformats.org/drawingml/2006/main">
              <a:ext uri="{FF2B5EF4-FFF2-40B4-BE49-F238E27FC236}">
                <a16:creationId xmlns:a16="http://schemas.microsoft.com/office/drawing/2014/main" id="{BF23ED79-F08E-4AE4-B880-7803CB533F82}"/>
              </a:ext>
            </a:extLst>
          </p:cNvPr>
          <p:cNvSpPr>
            <a:spLocks xmlns:a="http://schemas.openxmlformats.org/drawingml/2006/main" noGrp="1"/>
          </p:cNvSpPr>
          <p:nvPr/>
        </p:nvSpPr>
        <p:spPr>
          <a:xfrm xmlns:a="http://schemas.openxmlformats.org/drawingml/2006/main">
            <a:off x="3282950" y="2127885"/>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Middle</a:t>
            </a:r>
          </a:p>
        </p:txBody>
      </p:sp>
      <p:sp>
        <p:nvSpPr>
          <p:cNvPr id="14" name="Refurbish">
            <a:extLst xmlns:a="http://schemas.openxmlformats.org/drawingml/2006/main">
              <a:ext uri="{FF2B5EF4-FFF2-40B4-BE49-F238E27FC236}">
                <a16:creationId xmlns:a16="http://schemas.microsoft.com/office/drawing/2014/main" id="{D1244FA3-F115-480D-8FC5-57BE0B3C5921}"/>
              </a:ext>
            </a:extLst>
          </p:cNvPr>
          <p:cNvSpPr>
            <a:spLocks xmlns:a="http://schemas.openxmlformats.org/drawingml/2006/main" noGrp="1"/>
          </p:cNvSpPr>
          <p:nvPr/>
        </p:nvSpPr>
        <p:spPr>
          <a:xfrm xmlns:a="http://schemas.openxmlformats.org/drawingml/2006/main">
            <a:off x="3282950" y="257937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Refurbish</a:t>
            </a:r>
          </a:p>
        </p:txBody>
      </p:sp>
      <p:sp>
        <p:nvSpPr>
          <p:cNvPr id="15" name="Remanufacture">
            <a:extLst xmlns:a="http://schemas.openxmlformats.org/drawingml/2006/main">
              <a:ext uri="{FF2B5EF4-FFF2-40B4-BE49-F238E27FC236}">
                <a16:creationId xmlns:a16="http://schemas.microsoft.com/office/drawing/2014/main" id="{07C03F9F-0B45-45FD-B6D0-D08468208FC1}"/>
              </a:ext>
            </a:extLst>
          </p:cNvPr>
          <p:cNvSpPr>
            <a:spLocks xmlns:a="http://schemas.openxmlformats.org/drawingml/2006/main" noGrp="1"/>
          </p:cNvSpPr>
          <p:nvPr/>
        </p:nvSpPr>
        <p:spPr>
          <a:xfrm xmlns:a="http://schemas.openxmlformats.org/drawingml/2006/main">
            <a:off x="3282950" y="296608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Remanufacture</a:t>
            </a:r>
          </a:p>
        </p:txBody>
      </p:sp>
      <p:sp>
        <p:nvSpPr>
          <p:cNvPr id="16" name="Repurpose">
            <a:extLst xmlns:a="http://schemas.openxmlformats.org/drawingml/2006/main">
              <a:ext uri="{FF2B5EF4-FFF2-40B4-BE49-F238E27FC236}">
                <a16:creationId xmlns:a16="http://schemas.microsoft.com/office/drawing/2014/main" id="{A6BD7C14-34A7-4808-B03E-A730F6EB1A25}"/>
              </a:ext>
            </a:extLst>
          </p:cNvPr>
          <p:cNvSpPr>
            <a:spLocks xmlns:a="http://schemas.openxmlformats.org/drawingml/2006/main" noGrp="1"/>
          </p:cNvSpPr>
          <p:nvPr/>
        </p:nvSpPr>
        <p:spPr>
          <a:xfrm xmlns:a="http://schemas.openxmlformats.org/drawingml/2006/main">
            <a:off x="3282950" y="335280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Repurpose</a:t>
            </a:r>
          </a:p>
        </p:txBody>
      </p:sp>
      <p:sp>
        <p:nvSpPr>
          <p:cNvPr id="17" name="Editorial frame">
            <a:extLst xmlns:a="http://schemas.openxmlformats.org/drawingml/2006/main">
              <a:ext uri="{FF2B5EF4-FFF2-40B4-BE49-F238E27FC236}">
                <a16:creationId xmlns:a16="http://schemas.microsoft.com/office/drawing/2014/main" id="{5C6A24F9-1874-40CF-8B06-0D0C89A33082}"/>
              </a:ext>
            </a:extLst>
          </p:cNvPr>
          <p:cNvSpPr>
            <a:spLocks xmlns:a="http://schemas.openxmlformats.org/drawingml/2006/main" noGrp="1"/>
          </p:cNvSpPr>
          <p:nvPr/>
        </p:nvSpPr>
        <p:spPr>
          <a:xfrm xmlns:a="http://schemas.openxmlformats.org/drawingml/2006/main">
            <a:off x="5937250" y="1946910"/>
            <a:ext cx="2844800" cy="2796540"/>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8" name="Editorial frame">
            <a:extLst xmlns:a="http://schemas.openxmlformats.org/drawingml/2006/main">
              <a:ext uri="{FF2B5EF4-FFF2-40B4-BE49-F238E27FC236}">
                <a16:creationId xmlns:a16="http://schemas.microsoft.com/office/drawing/2014/main" id="{B7F242F3-EC04-4A95-88BC-4C78798C2123}"/>
              </a:ext>
            </a:extLst>
          </p:cNvPr>
          <p:cNvSpPr>
            <a:spLocks xmlns:a="http://schemas.openxmlformats.org/drawingml/2006/main" noGrp="1"/>
          </p:cNvSpPr>
          <p:nvPr/>
        </p:nvSpPr>
        <p:spPr>
          <a:xfrm xmlns:a="http://schemas.openxmlformats.org/drawingml/2006/main">
            <a:off x="5937250" y="1946910"/>
            <a:ext cx="2844800"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9" name="Last resort">
            <a:extLst xmlns:a="http://schemas.openxmlformats.org/drawingml/2006/main">
              <a:ext uri="{FF2B5EF4-FFF2-40B4-BE49-F238E27FC236}">
                <a16:creationId xmlns:a16="http://schemas.microsoft.com/office/drawing/2014/main" id="{5693743D-6467-4006-9BBE-EA4A7A01917D}"/>
              </a:ext>
            </a:extLst>
          </p:cNvPr>
          <p:cNvSpPr>
            <a:spLocks xmlns:a="http://schemas.openxmlformats.org/drawingml/2006/main" noGrp="1"/>
          </p:cNvSpPr>
          <p:nvPr/>
        </p:nvSpPr>
        <p:spPr>
          <a:xfrm xmlns:a="http://schemas.openxmlformats.org/drawingml/2006/main">
            <a:off x="6070600" y="2127885"/>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Last resort</a:t>
            </a:r>
          </a:p>
        </p:txBody>
      </p:sp>
      <p:sp>
        <p:nvSpPr>
          <p:cNvPr id="20" name="Recycle materials">
            <a:extLst xmlns:a="http://schemas.openxmlformats.org/drawingml/2006/main">
              <a:ext uri="{FF2B5EF4-FFF2-40B4-BE49-F238E27FC236}">
                <a16:creationId xmlns:a16="http://schemas.microsoft.com/office/drawing/2014/main" id="{48F6146F-8D52-4819-BEC1-889B22439CB8}"/>
              </a:ext>
            </a:extLst>
          </p:cNvPr>
          <p:cNvSpPr>
            <a:spLocks xmlns:a="http://schemas.openxmlformats.org/drawingml/2006/main" noGrp="1"/>
          </p:cNvSpPr>
          <p:nvPr/>
        </p:nvSpPr>
        <p:spPr>
          <a:xfrm xmlns:a="http://schemas.openxmlformats.org/drawingml/2006/main">
            <a:off x="6070600" y="257937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Recycle materials</a:t>
            </a:r>
          </a:p>
        </p:txBody>
      </p:sp>
      <p:sp>
        <p:nvSpPr>
          <p:cNvPr id="21" name="Recover energy">
            <a:extLst xmlns:a="http://schemas.openxmlformats.org/drawingml/2006/main">
              <a:ext uri="{FF2B5EF4-FFF2-40B4-BE49-F238E27FC236}">
                <a16:creationId xmlns:a16="http://schemas.microsoft.com/office/drawing/2014/main" id="{43C1A435-D69E-4C48-9D0F-285221CA2372}"/>
              </a:ext>
            </a:extLst>
          </p:cNvPr>
          <p:cNvSpPr>
            <a:spLocks xmlns:a="http://schemas.openxmlformats.org/drawingml/2006/main" noGrp="1"/>
          </p:cNvSpPr>
          <p:nvPr/>
        </p:nvSpPr>
        <p:spPr>
          <a:xfrm xmlns:a="http://schemas.openxmlformats.org/drawingml/2006/main">
            <a:off x="6070600" y="2966085"/>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Recover energy</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a2e3969b876e42e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3" name="www.newton.university">
            <a:extLst xmlns:a="http://schemas.openxmlformats.org/drawingml/2006/main">
              <a:ext uri="{FF2B5EF4-FFF2-40B4-BE49-F238E27FC236}">
                <a16:creationId xmlns:a16="http://schemas.microsoft.com/office/drawing/2014/main" id="{D579F3DC-9FEC-4D80-9F5C-37FB9231D232}"/>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4" name="23">
            <a:extLst xmlns:a="http://schemas.openxmlformats.org/drawingml/2006/main">
              <a:ext uri="{FF2B5EF4-FFF2-40B4-BE49-F238E27FC236}">
                <a16:creationId xmlns:a16="http://schemas.microsoft.com/office/drawing/2014/main" id="{C8029921-030C-4A35-B0A1-4A8FB30BF376}"/>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23</a:t>
            </a:r>
          </a:p>
        </p:txBody>
      </p:sp>
    </p:spTree>
    <p:extLst>
      <p:ext uri="{BB962C8B-B14F-4D97-AF65-F5344CB8AC3E}">
        <p14:creationId xmlns:p14="http://schemas.microsoft.com/office/powerpoint/2010/main" val="327858063"/>
      </p:ext>
    </p:extLst>
  </p:cSld>
</p:sld>
</file>

<file path=ppt/slides/slide2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9" name="Reuse, Repair and Then Recycling">
            <a:extLst xmlns:a="http://schemas.openxmlformats.org/drawingml/2006/main">
              <a:ext uri="{FF2B5EF4-FFF2-40B4-BE49-F238E27FC236}">
                <a16:creationId xmlns:a16="http://schemas.microsoft.com/office/drawing/2014/main" id="{58EE69E3-C2DF-4B88-970E-E9ACACA4BA44}"/>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Reuse, Repair and Then Recycling</a:t>
            </a:r>
          </a:p>
        </p:txBody>
      </p:sp>
      <p:sp>
        <p:nvSpPr>
          <p:cNvPr id="2" name="Editorial frame">
            <a:extLst xmlns:a="http://schemas.openxmlformats.org/drawingml/2006/main">
              <a:ext uri="{FF2B5EF4-FFF2-40B4-BE49-F238E27FC236}">
                <a16:creationId xmlns:a16="http://schemas.microsoft.com/office/drawing/2014/main" id="{443F43C1-3F38-4C2D-B785-86AAC22193AF}"/>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DABD8132-0F73-4660-8EC9-ACF29653F0A4}"/>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a110a32c51f4fe3"/>
          <a:stretch xmlns:a="http://schemas.openxmlformats.org/drawingml/2006/main"/>
        </p:blipFill>
        <p:spPr>
          <a:xfrm xmlns:a="http://schemas.openxmlformats.org/drawingml/2006/main">
            <a:off x="2692400" y="1495425"/>
            <a:ext cx="3759200" cy="2819400"/>
          </a:xfrm>
          <a:prstGeom xmlns:a="http://schemas.openxmlformats.org/drawingml/2006/main" prst="rect">
            <a:avLst/>
          </a:prstGeom>
        </p:spPr>
      </p:pic>
      <p:sp>
        <p:nvSpPr>
          <p:cNvPr id="5" name="Baled PET bottles: recycling recovers material; re">
            <a:extLst xmlns:a="http://schemas.openxmlformats.org/drawingml/2006/main">
              <a:ext uri="{FF2B5EF4-FFF2-40B4-BE49-F238E27FC236}">
                <a16:creationId xmlns:a16="http://schemas.microsoft.com/office/drawing/2014/main" id="{0DEA3B0C-E0F4-477D-99E4-22A60C38D81D}"/>
              </a:ext>
            </a:extLst>
          </p:cNvPr>
          <p:cNvSpPr>
            <a:spLocks xmlns:a="http://schemas.openxmlformats.org/drawingml/2006/main" noGrp="1"/>
          </p:cNvSpPr>
          <p:nvPr/>
        </p:nvSpPr>
        <p:spPr>
          <a:xfrm xmlns:a="http://schemas.openxmlformats.org/drawingml/2006/main">
            <a:off x="495300" y="4448175"/>
            <a:ext cx="8153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Baled PET bottles: recycling recovers material; reuse can also preserve the product and its manufacture</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e15003eeeb94a7e"/>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7" name="www.newton.university">
            <a:extLst xmlns:a="http://schemas.openxmlformats.org/drawingml/2006/main">
              <a:ext uri="{FF2B5EF4-FFF2-40B4-BE49-F238E27FC236}">
                <a16:creationId xmlns:a16="http://schemas.microsoft.com/office/drawing/2014/main" id="{DB76A815-F476-4FA6-AAEC-E511D6E3320C}"/>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8" name="24">
            <a:extLst xmlns:a="http://schemas.openxmlformats.org/drawingml/2006/main">
              <a:ext uri="{FF2B5EF4-FFF2-40B4-BE49-F238E27FC236}">
                <a16:creationId xmlns:a16="http://schemas.microsoft.com/office/drawing/2014/main" id="{7790C53B-EE3C-4920-A293-1B95C5829BB1}"/>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24</a:t>
            </a:r>
          </a:p>
        </p:txBody>
      </p:sp>
    </p:spTree>
    <p:extLst>
      <p:ext uri="{BB962C8B-B14F-4D97-AF65-F5344CB8AC3E}">
        <p14:creationId xmlns:p14="http://schemas.microsoft.com/office/powerpoint/2010/main" val="1874121273"/>
      </p:ext>
    </p:extLst>
  </p:cSld>
</p:sld>
</file>

<file path=ppt/slides/slide25.xml><?xml version="1.0" encoding="utf-8"?>
<p:sld xmlns:p="http://schemas.openxmlformats.org/presentationml/2006/main">
  <p:cSld>
    <p:bg>
      <p:bgPr>
        <a:solidFill xmlns:a="http://schemas.openxmlformats.org/drawingml/2006/main">
          <a:srgbClr val="F0E9DA"/>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EB907BBF-55B0-4D77-A178-30A94E0F4D12}"/>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2" name="Part 5">
            <a:extLst xmlns:a="http://schemas.openxmlformats.org/drawingml/2006/main">
              <a:ext uri="{FF2B5EF4-FFF2-40B4-BE49-F238E27FC236}">
                <a16:creationId xmlns:a16="http://schemas.microsoft.com/office/drawing/2014/main" id="{C7A46840-70CB-4326-8EA9-247925900204}"/>
              </a:ext>
            </a:extLst>
          </p:cNvPr>
          <p:cNvSpPr>
            <a:spLocks xmlns:a="http://schemas.openxmlformats.org/drawingml/2006/main" noGrp="1"/>
          </p:cNvSpPr>
          <p:nvPr/>
        </p:nvSpPr>
        <p:spPr>
          <a:xfrm xmlns:a="http://schemas.openxmlformats.org/drawingml/2006/main">
            <a:off x="495300" y="6667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58665B"/>
                </a:solidFill>
                <a:latin typeface="Arial"/>
                <a:ea typeface="Arial"/>
                <a:cs typeface="Arial"/>
              </a:defRPr>
            </a:pPr>
            <a:r>
              <a:rPr sz="1500" b="0">
                <a:solidFill>
                  <a:srgbClr val="58665B"/>
                </a:solidFill>
                <a:latin typeface="Arial"/>
                <a:ea typeface="Arial"/>
                <a:cs typeface="Arial"/>
              </a:rPr>
              <a:t>Part 5</a:t>
            </a:r>
          </a:p>
        </p:txBody>
      </p:sp>
      <p:sp>
        <p:nvSpPr>
          <p:cNvPr id="3" name="05">
            <a:extLst xmlns:a="http://schemas.openxmlformats.org/drawingml/2006/main">
              <a:ext uri="{FF2B5EF4-FFF2-40B4-BE49-F238E27FC236}">
                <a16:creationId xmlns:a16="http://schemas.microsoft.com/office/drawing/2014/main" id="{65826E5C-D89F-47A0-9C41-C794C0F56C4C}"/>
              </a:ext>
            </a:extLst>
          </p:cNvPr>
          <p:cNvSpPr>
            <a:spLocks xmlns:a="http://schemas.openxmlformats.org/drawingml/2006/main" noGrp="1"/>
          </p:cNvSpPr>
          <p:nvPr/>
        </p:nvSpPr>
        <p:spPr>
          <a:xfrm xmlns:a="http://schemas.openxmlformats.org/drawingml/2006/main">
            <a:off x="6905625" y="3286125"/>
            <a:ext cx="16002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75" b="0">
                <a:solidFill>
                  <a:srgbClr val="B56647"/>
                </a:solidFill>
                <a:latin typeface="Georgia"/>
                <a:ea typeface="Georgia"/>
                <a:cs typeface="Georgia"/>
              </a:defRPr>
            </a:pPr>
            <a:r>
              <a:rPr sz="7875" b="0">
                <a:solidFill>
                  <a:srgbClr val="B56647"/>
                </a:solidFill>
                <a:latin typeface="Georgia"/>
                <a:ea typeface="Georgia"/>
                <a:cs typeface="Georgia"/>
              </a:rPr>
              <a:t>05</a:t>
            </a:r>
          </a:p>
        </p:txBody>
      </p:sp>
      <p:sp>
        <p:nvSpPr>
          <p:cNvPr id="4" name="Circular Economy in Business Practice">
            <a:extLst xmlns:a="http://schemas.openxmlformats.org/drawingml/2006/main">
              <a:ext uri="{FF2B5EF4-FFF2-40B4-BE49-F238E27FC236}">
                <a16:creationId xmlns:a16="http://schemas.microsoft.com/office/drawing/2014/main" id="{2C676240-0534-4B29-B5CB-BB3C0958F73D}"/>
              </a:ext>
            </a:extLst>
          </p:cNvPr>
          <p:cNvSpPr>
            <a:spLocks xmlns:a="http://schemas.openxmlformats.org/drawingml/2006/main" noGrp="1"/>
          </p:cNvSpPr>
          <p:nvPr/>
        </p:nvSpPr>
        <p:spPr>
          <a:xfrm xmlns:a="http://schemas.openxmlformats.org/drawingml/2006/main">
            <a:off x="495300" y="1695450"/>
            <a:ext cx="7810500" cy="2257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Circular Economy in Business</a:t>
            </a:r>
          </a:p>
          <a:p xmlns:a="http://schemas.openxmlformats.org/drawingml/2006/main">
            <a:pPr>
              <a:defRPr sz="4350" b="0">
                <a:solidFill>
                  <a:srgbClr val="173E35"/>
                </a:solidFill>
                <a:latin typeface="Georgia"/>
                <a:ea typeface="Georgia"/>
                <a:cs typeface="Georgia"/>
              </a:defRPr>
            </a:pPr>
            <a:r>
              <a:rPr sz="4350" b="0">
                <a:solidFill>
                  <a:srgbClr val="173E35"/>
                </a:solidFill>
                <a:latin typeface="Georgia"/>
                <a:ea typeface="Georgia"/>
                <a:cs typeface="Georgia"/>
              </a:rPr>
              <a:t>Practice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d442f96ed98a4459"/>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1B79BFF1-EFA8-4E53-8819-AA789E6303C3}"/>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7" name="25">
            <a:extLst xmlns:a="http://schemas.openxmlformats.org/drawingml/2006/main">
              <a:ext uri="{FF2B5EF4-FFF2-40B4-BE49-F238E27FC236}">
                <a16:creationId xmlns:a16="http://schemas.microsoft.com/office/drawing/2014/main" id="{F9A9E02B-BA5C-4BA4-8135-697A916DC407}"/>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25</a:t>
            </a:r>
          </a:p>
        </p:txBody>
      </p:sp>
    </p:spTree>
    <p:extLst>
      <p:ext uri="{BB962C8B-B14F-4D97-AF65-F5344CB8AC3E}">
        <p14:creationId xmlns:p14="http://schemas.microsoft.com/office/powerpoint/2010/main" val="1306209379"/>
      </p:ext>
    </p:extLst>
  </p:cSld>
</p:sld>
</file>

<file path=ppt/slides/slide26.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Case Study: LEGO Circular Design">
            <a:extLst xmlns:a="http://schemas.openxmlformats.org/drawingml/2006/main">
              <a:ext uri="{FF2B5EF4-FFF2-40B4-BE49-F238E27FC236}">
                <a16:creationId xmlns:a16="http://schemas.microsoft.com/office/drawing/2014/main" id="{5CEFDC0A-C9EC-4064-9EED-6DD3017771D6}"/>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Case Study: LEGO Circular Design</a:t>
            </a:r>
          </a:p>
        </p:txBody>
      </p:sp>
      <p:sp>
        <p:nvSpPr>
          <p:cNvPr id="2" name="Editorial frame">
            <a:extLst xmlns:a="http://schemas.openxmlformats.org/drawingml/2006/main">
              <a:ext uri="{FF2B5EF4-FFF2-40B4-BE49-F238E27FC236}">
                <a16:creationId xmlns:a16="http://schemas.microsoft.com/office/drawing/2014/main" id="{51284CBA-3CF2-4D7E-8CCD-D6D6F6101CD5}"/>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A71D207A-1974-46ED-8959-395D131789D0}"/>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6C718FD3-7883-470C-9B64-C1049FFA38BB}"/>
              </a:ext>
            </a:extLst>
          </p:cNvPr>
          <p:cNvSpPr>
            <a:spLocks xmlns:a="http://schemas.openxmlformats.org/drawingml/2006/main" noGrp="1"/>
          </p:cNvSpPr>
          <p:nvPr/>
        </p:nvSpPr>
        <p:spPr>
          <a:xfrm xmlns:a="http://schemas.openxmlformats.org/drawingml/2006/main">
            <a:off x="5867400" y="1457325"/>
            <a:ext cx="2924175" cy="3248025"/>
          </a:xfrm>
          <a:prstGeom xmlns:a="http://schemas.openxmlformats.org/drawingml/2006/main" prst="rect">
            <a:avLst/>
          </a:prstGeom>
          <a:solidFill xmlns:a="http://schemas.openxmlformats.org/drawingml/2006/main">
            <a:srgbClr val="EEE4D7"/>
          </a:solidFill>
          <a:ln xmlns:a="http://schemas.openxmlformats.org/drawingml/2006/main" w="7620">
            <a:solidFill>
              <a:srgbClr val="B7C3B1"/>
            </a:solidFill>
          </a:ln>
        </p:spPr>
      </p:sp>
      <p:sp>
        <p:nvSpPr>
          <p:cNvPr id="5" name="What the company does">
            <a:extLst xmlns:a="http://schemas.openxmlformats.org/drawingml/2006/main">
              <a:ext uri="{FF2B5EF4-FFF2-40B4-BE49-F238E27FC236}">
                <a16:creationId xmlns:a16="http://schemas.microsoft.com/office/drawing/2014/main" id="{2F373E4B-AC5B-4AC1-AF50-6FBA62604999}"/>
              </a:ext>
            </a:extLst>
          </p:cNvPr>
          <p:cNvSpPr>
            <a:spLocks xmlns:a="http://schemas.openxmlformats.org/drawingml/2006/main" noGrp="1"/>
          </p:cNvSpPr>
          <p:nvPr/>
        </p:nvSpPr>
        <p:spPr>
          <a:xfrm xmlns:a="http://schemas.openxmlformats.org/drawingml/2006/main">
            <a:off x="495300" y="1552575"/>
            <a:ext cx="5019675"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What the company does</a:t>
            </a:r>
          </a:p>
        </p:txBody>
      </p:sp>
      <p:sp>
        <p:nvSpPr>
          <p:cNvPr id="6" name="Durable product designed for decades of reuse and ">
            <a:extLst xmlns:a="http://schemas.openxmlformats.org/drawingml/2006/main">
              <a:ext uri="{FF2B5EF4-FFF2-40B4-BE49-F238E27FC236}">
                <a16:creationId xmlns:a16="http://schemas.microsoft.com/office/drawing/2014/main" id="{2EE367B4-19E3-44E2-BA43-89B8436720A5}"/>
              </a:ext>
            </a:extLst>
          </p:cNvPr>
          <p:cNvSpPr>
            <a:spLocks xmlns:a="http://schemas.openxmlformats.org/drawingml/2006/main" noGrp="1"/>
          </p:cNvSpPr>
          <p:nvPr/>
        </p:nvSpPr>
        <p:spPr>
          <a:xfrm xmlns:a="http://schemas.openxmlformats.org/drawingml/2006/main">
            <a:off x="495300" y="2015490"/>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Durable product designed for decades of reuse</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and resale.</a:t>
            </a:r>
          </a:p>
        </p:txBody>
      </p:sp>
      <p:sp>
        <p:nvSpPr>
          <p:cNvPr id="7" name="Testing and purchasing recycled and renewable mate">
            <a:extLst xmlns:a="http://schemas.openxmlformats.org/drawingml/2006/main">
              <a:ext uri="{FF2B5EF4-FFF2-40B4-BE49-F238E27FC236}">
                <a16:creationId xmlns:a16="http://schemas.microsoft.com/office/drawing/2014/main" id="{DE968F10-CA69-4483-939E-6BCA2D2A9488}"/>
              </a:ext>
            </a:extLst>
          </p:cNvPr>
          <p:cNvSpPr>
            <a:spLocks xmlns:a="http://schemas.openxmlformats.org/drawingml/2006/main" noGrp="1"/>
          </p:cNvSpPr>
          <p:nvPr/>
        </p:nvSpPr>
        <p:spPr>
          <a:xfrm xmlns:a="http://schemas.openxmlformats.org/drawingml/2006/main">
            <a:off x="495300" y="2687955"/>
            <a:ext cx="5019675" cy="5772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Testing and purchasing recycled and renewable</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material inputs.</a:t>
            </a:r>
          </a:p>
        </p:txBody>
      </p:sp>
      <p:sp>
        <p:nvSpPr>
          <p:cNvPr id="8" name="Take-back and donation programmes (Replay).">
            <a:extLst xmlns:a="http://schemas.openxmlformats.org/drawingml/2006/main">
              <a:ext uri="{FF2B5EF4-FFF2-40B4-BE49-F238E27FC236}">
                <a16:creationId xmlns:a16="http://schemas.microsoft.com/office/drawing/2014/main" id="{1265B8EB-C7AB-4146-82C6-AC94EF1B8B41}"/>
              </a:ext>
            </a:extLst>
          </p:cNvPr>
          <p:cNvSpPr>
            <a:spLocks xmlns:a="http://schemas.openxmlformats.org/drawingml/2006/main" noGrp="1"/>
          </p:cNvSpPr>
          <p:nvPr/>
        </p:nvSpPr>
        <p:spPr>
          <a:xfrm xmlns:a="http://schemas.openxmlformats.org/drawingml/2006/main">
            <a:off x="495300" y="3360420"/>
            <a:ext cx="5019675" cy="3028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Take-back and donation programmes (Replay).</a:t>
            </a:r>
          </a:p>
        </p:txBody>
      </p:sp>
      <p:sp>
        <p:nvSpPr>
          <p:cNvPr id="9" name="Working with businesses, experts and policymakers ">
            <a:extLst xmlns:a="http://schemas.openxmlformats.org/drawingml/2006/main">
              <a:ext uri="{FF2B5EF4-FFF2-40B4-BE49-F238E27FC236}">
                <a16:creationId xmlns:a16="http://schemas.microsoft.com/office/drawing/2014/main" id="{0B62BF08-40CF-404B-9645-650964557A4B}"/>
              </a:ext>
            </a:extLst>
          </p:cNvPr>
          <p:cNvSpPr>
            <a:spLocks xmlns:a="http://schemas.openxmlformats.org/drawingml/2006/main" noGrp="1"/>
          </p:cNvSpPr>
          <p:nvPr/>
        </p:nvSpPr>
        <p:spPr>
          <a:xfrm xmlns:a="http://schemas.openxmlformats.org/drawingml/2006/main">
            <a:off x="495300" y="3758565"/>
            <a:ext cx="5019675" cy="8515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Working with businesses, experts and</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policymakers to inspire circular design across</a:t>
            </a:r>
          </a:p>
          <a:p xmlns:a="http://schemas.openxmlformats.org/drawingml/2006/main">
            <a:pPr>
              <a:defRPr sz="1800" b="0">
                <a:solidFill>
                  <a:srgbClr val="173E35"/>
                </a:solidFill>
                <a:latin typeface="Arial"/>
                <a:ea typeface="Arial"/>
                <a:cs typeface="Arial"/>
              </a:defRPr>
            </a:pPr>
            <a:r>
              <a:rPr sz="1800" b="0">
                <a:solidFill>
                  <a:srgbClr val="173E35"/>
                </a:solidFill>
                <a:latin typeface="Arial"/>
                <a:ea typeface="Arial"/>
                <a:cs typeface="Arial"/>
              </a:rPr>
              <a:t>the toy industry.</a:t>
            </a:r>
          </a:p>
        </p:txBody>
      </p:sp>
      <p:sp>
        <p:nvSpPr>
          <p:cNvPr id="10" name="Discussion">
            <a:extLst xmlns:a="http://schemas.openxmlformats.org/drawingml/2006/main">
              <a:ext uri="{FF2B5EF4-FFF2-40B4-BE49-F238E27FC236}">
                <a16:creationId xmlns:a16="http://schemas.microsoft.com/office/drawing/2014/main" id="{6B2CC29E-7E42-4101-B923-61DA7D984C51}"/>
              </a:ext>
            </a:extLst>
          </p:cNvPr>
          <p:cNvSpPr>
            <a:spLocks xmlns:a="http://schemas.openxmlformats.org/drawingml/2006/main" noGrp="1"/>
          </p:cNvSpPr>
          <p:nvPr/>
        </p:nvSpPr>
        <p:spPr>
          <a:xfrm xmlns:a="http://schemas.openxmlformats.org/drawingml/2006/main">
            <a:off x="6067425" y="1657350"/>
            <a:ext cx="2514600" cy="3486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100" b="0">
                <a:solidFill>
                  <a:srgbClr val="B56647"/>
                </a:solidFill>
                <a:latin typeface="Georgia"/>
                <a:ea typeface="Georgia"/>
                <a:cs typeface="Georgia"/>
              </a:defRPr>
            </a:pPr>
            <a:r>
              <a:rPr sz="2100" b="0">
                <a:solidFill>
                  <a:srgbClr val="B56647"/>
                </a:solidFill>
                <a:latin typeface="Georgia"/>
                <a:ea typeface="Georgia"/>
                <a:cs typeface="Georgia"/>
              </a:rPr>
              <a:t>Discussion</a:t>
            </a:r>
          </a:p>
        </p:txBody>
      </p:sp>
      <p:sp>
        <p:nvSpPr>
          <p:cNvPr id="11" name="LEGO bricks last generations. Is durability itself">
            <a:extLst xmlns:a="http://schemas.openxmlformats.org/drawingml/2006/main">
              <a:ext uri="{FF2B5EF4-FFF2-40B4-BE49-F238E27FC236}">
                <a16:creationId xmlns:a16="http://schemas.microsoft.com/office/drawing/2014/main" id="{3DF1522A-3A46-497F-A878-623F26C62BB2}"/>
              </a:ext>
            </a:extLst>
          </p:cNvPr>
          <p:cNvSpPr>
            <a:spLocks xmlns:a="http://schemas.openxmlformats.org/drawingml/2006/main" noGrp="1"/>
          </p:cNvSpPr>
          <p:nvPr/>
        </p:nvSpPr>
        <p:spPr>
          <a:xfrm xmlns:a="http://schemas.openxmlformats.org/drawingml/2006/main">
            <a:off x="6067425" y="2120265"/>
            <a:ext cx="2514600" cy="12172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LEGO bricks last</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generations. Is</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durability itself a</a:t>
            </a:r>
          </a:p>
          <a:p xmlns:a="http://schemas.openxmlformats.org/drawingml/2006/main">
            <a:pPr>
              <a:defRPr sz="1950" b="0">
                <a:solidFill>
                  <a:srgbClr val="173E35"/>
                </a:solidFill>
                <a:latin typeface="Arial"/>
                <a:ea typeface="Arial"/>
                <a:cs typeface="Arial"/>
              </a:defRPr>
            </a:pPr>
            <a:r>
              <a:rPr sz="1950" b="0">
                <a:solidFill>
                  <a:srgbClr val="173E35"/>
                </a:solidFill>
                <a:latin typeface="Arial"/>
                <a:ea typeface="Arial"/>
                <a:cs typeface="Arial"/>
              </a:rPr>
              <a:t>circular strategy?</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e39ba714cc58475d"/>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3" name="www.newton.university">
            <a:extLst xmlns:a="http://schemas.openxmlformats.org/drawingml/2006/main">
              <a:ext uri="{FF2B5EF4-FFF2-40B4-BE49-F238E27FC236}">
                <a16:creationId xmlns:a16="http://schemas.microsoft.com/office/drawing/2014/main" id="{09A5548B-A431-4A7A-BA13-A860747C59BB}"/>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4" name="26">
            <a:extLst xmlns:a="http://schemas.openxmlformats.org/drawingml/2006/main">
              <a:ext uri="{FF2B5EF4-FFF2-40B4-BE49-F238E27FC236}">
                <a16:creationId xmlns:a16="http://schemas.microsoft.com/office/drawing/2014/main" id="{0B3689FE-8CD8-4BCA-AE7C-A8796C9F822C}"/>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26</a:t>
            </a:r>
          </a:p>
        </p:txBody>
      </p:sp>
    </p:spTree>
    <p:extLst>
      <p:ext uri="{BB962C8B-B14F-4D97-AF65-F5344CB8AC3E}">
        <p14:creationId xmlns:p14="http://schemas.microsoft.com/office/powerpoint/2010/main" val="216381276"/>
      </p:ext>
    </p:extLst>
  </p:cSld>
</p:sld>
</file>

<file path=ppt/slides/slide27.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Case Study: Amsterdam Circular Strategy">
            <a:extLst xmlns:a="http://schemas.openxmlformats.org/drawingml/2006/main">
              <a:ext uri="{FF2B5EF4-FFF2-40B4-BE49-F238E27FC236}">
                <a16:creationId xmlns:a16="http://schemas.microsoft.com/office/drawing/2014/main" id="{7EB5E2A3-3EAF-4C75-8BD6-2C182B64DD0A}"/>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Case Study: Amsterdam Circular Strategy</a:t>
            </a:r>
          </a:p>
        </p:txBody>
      </p:sp>
      <p:sp>
        <p:nvSpPr>
          <p:cNvPr id="2" name="Editorial frame">
            <a:extLst xmlns:a="http://schemas.openxmlformats.org/drawingml/2006/main">
              <a:ext uri="{FF2B5EF4-FFF2-40B4-BE49-F238E27FC236}">
                <a16:creationId xmlns:a16="http://schemas.microsoft.com/office/drawing/2014/main" id="{1B00ABCF-F8E1-4790-A8CF-F45FE9A3B46C}"/>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0E5F0AE1-0636-4715-ACB3-B9E8F5AC0F05}"/>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5ab94c9a77b4535"/>
          <a:stretch xmlns:a="http://schemas.openxmlformats.org/drawingml/2006/main"/>
        </p:blipFill>
        <p:spPr>
          <a:xfrm xmlns:a="http://schemas.openxmlformats.org/drawingml/2006/main">
            <a:off x="5286375" y="1649249"/>
            <a:ext cx="3362325" cy="2245052"/>
          </a:xfrm>
          <a:prstGeom xmlns:a="http://schemas.openxmlformats.org/drawingml/2006/main" prst="rect">
            <a:avLst/>
          </a:prstGeom>
        </p:spPr>
      </p:pic>
      <p:sp>
        <p:nvSpPr>
          <p:cNvPr id="5" name="Amsterdam aims to halve new raw material use by 20">
            <a:extLst xmlns:a="http://schemas.openxmlformats.org/drawingml/2006/main">
              <a:ext uri="{FF2B5EF4-FFF2-40B4-BE49-F238E27FC236}">
                <a16:creationId xmlns:a16="http://schemas.microsoft.com/office/drawing/2014/main" id="{A8AAEF18-A0C7-4AD3-98E9-1D6F546FD2A0}"/>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Amsterdam aims to halve new raw material use</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by 2030</a:t>
            </a:r>
          </a:p>
        </p:txBody>
      </p:sp>
      <p:sp>
        <p:nvSpPr>
          <p:cNvPr id="6" name="City-scale circularity">
            <a:extLst xmlns:a="http://schemas.openxmlformats.org/drawingml/2006/main">
              <a:ext uri="{FF2B5EF4-FFF2-40B4-BE49-F238E27FC236}">
                <a16:creationId xmlns:a16="http://schemas.microsoft.com/office/drawing/2014/main" id="{7E0C8E06-23ED-4692-A91F-B37BB7D8C842}"/>
              </a:ext>
            </a:extLst>
          </p:cNvPr>
          <p:cNvSpPr>
            <a:spLocks xmlns:a="http://schemas.openxmlformats.org/drawingml/2006/main" noGrp="1"/>
          </p:cNvSpPr>
          <p:nvPr/>
        </p:nvSpPr>
        <p:spPr>
          <a:xfrm xmlns:a="http://schemas.openxmlformats.org/drawingml/2006/main">
            <a:off x="495300" y="1524000"/>
            <a:ext cx="4333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City-scale circularity</a:t>
            </a:r>
          </a:p>
        </p:txBody>
      </p:sp>
      <p:sp>
        <p:nvSpPr>
          <p:cNvPr id="7" name="Circular construction and demolition rules">
            <a:extLst xmlns:a="http://schemas.openxmlformats.org/drawingml/2006/main">
              <a:ext uri="{FF2B5EF4-FFF2-40B4-BE49-F238E27FC236}">
                <a16:creationId xmlns:a16="http://schemas.microsoft.com/office/drawing/2014/main" id="{8DF27C1E-4E1F-4D39-A6D5-249901C027B8}"/>
              </a:ext>
            </a:extLst>
          </p:cNvPr>
          <p:cNvSpPr>
            <a:spLocks xmlns:a="http://schemas.openxmlformats.org/drawingml/2006/main" noGrp="1"/>
          </p:cNvSpPr>
          <p:nvPr/>
        </p:nvSpPr>
        <p:spPr>
          <a:xfrm xmlns:a="http://schemas.openxmlformats.org/drawingml/2006/main">
            <a:off x="495300" y="1952625"/>
            <a:ext cx="433387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Circular construction and demolition rules</a:t>
            </a:r>
          </a:p>
        </p:txBody>
      </p:sp>
      <p:sp>
        <p:nvSpPr>
          <p:cNvPr id="8" name="Food and organic waste streams closed locally">
            <a:extLst xmlns:a="http://schemas.openxmlformats.org/drawingml/2006/main">
              <a:ext uri="{FF2B5EF4-FFF2-40B4-BE49-F238E27FC236}">
                <a16:creationId xmlns:a16="http://schemas.microsoft.com/office/drawing/2014/main" id="{0A9DE6B9-9AAE-4AF7-9BB1-A2BC5AE02258}"/>
              </a:ext>
            </a:extLst>
          </p:cNvPr>
          <p:cNvSpPr>
            <a:spLocks xmlns:a="http://schemas.openxmlformats.org/drawingml/2006/main" noGrp="1"/>
          </p:cNvSpPr>
          <p:nvPr/>
        </p:nvSpPr>
        <p:spPr>
          <a:xfrm xmlns:a="http://schemas.openxmlformats.org/drawingml/2006/main">
            <a:off x="495300" y="2316480"/>
            <a:ext cx="433387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Food and organic waste streams closed locally</a:t>
            </a:r>
          </a:p>
        </p:txBody>
      </p:sp>
      <p:sp>
        <p:nvSpPr>
          <p:cNvPr id="9" name="Doughnut Economics as the guiding framework">
            <a:extLst xmlns:a="http://schemas.openxmlformats.org/drawingml/2006/main">
              <a:ext uri="{FF2B5EF4-FFF2-40B4-BE49-F238E27FC236}">
                <a16:creationId xmlns:a16="http://schemas.microsoft.com/office/drawing/2014/main" id="{4689F770-45B5-44AB-B7D7-5A53A53ACB63}"/>
              </a:ext>
            </a:extLst>
          </p:cNvPr>
          <p:cNvSpPr>
            <a:spLocks xmlns:a="http://schemas.openxmlformats.org/drawingml/2006/main" noGrp="1"/>
          </p:cNvSpPr>
          <p:nvPr/>
        </p:nvSpPr>
        <p:spPr>
          <a:xfrm xmlns:a="http://schemas.openxmlformats.org/drawingml/2006/main">
            <a:off x="495300" y="2680335"/>
            <a:ext cx="433387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Doughnut Economics as the guiding framework</a:t>
            </a:r>
          </a:p>
        </p:txBody>
      </p:sp>
      <p:sp>
        <p:nvSpPr>
          <p:cNvPr id="10" name="Lesson">
            <a:extLst xmlns:a="http://schemas.openxmlformats.org/drawingml/2006/main">
              <a:ext uri="{FF2B5EF4-FFF2-40B4-BE49-F238E27FC236}">
                <a16:creationId xmlns:a16="http://schemas.microsoft.com/office/drawing/2014/main" id="{BFAC9314-78E7-47A5-8E96-F36EEC59F78C}"/>
              </a:ext>
            </a:extLst>
          </p:cNvPr>
          <p:cNvSpPr>
            <a:spLocks xmlns:a="http://schemas.openxmlformats.org/drawingml/2006/main" noGrp="1"/>
          </p:cNvSpPr>
          <p:nvPr/>
        </p:nvSpPr>
        <p:spPr>
          <a:xfrm xmlns:a="http://schemas.openxmlformats.org/drawingml/2006/main">
            <a:off x="495300" y="3120390"/>
            <a:ext cx="4333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Lesson</a:t>
            </a:r>
          </a:p>
        </p:txBody>
      </p:sp>
      <p:sp>
        <p:nvSpPr>
          <p:cNvPr id="11" name="Circularity works best when city policy and busine">
            <a:extLst xmlns:a="http://schemas.openxmlformats.org/drawingml/2006/main">
              <a:ext uri="{FF2B5EF4-FFF2-40B4-BE49-F238E27FC236}">
                <a16:creationId xmlns:a16="http://schemas.microsoft.com/office/drawing/2014/main" id="{BE721D2F-E9D0-432F-843B-C992343C09CA}"/>
              </a:ext>
            </a:extLst>
          </p:cNvPr>
          <p:cNvSpPr>
            <a:spLocks xmlns:a="http://schemas.openxmlformats.org/drawingml/2006/main" noGrp="1"/>
          </p:cNvSpPr>
          <p:nvPr/>
        </p:nvSpPr>
        <p:spPr>
          <a:xfrm xmlns:a="http://schemas.openxmlformats.org/drawingml/2006/main">
            <a:off x="495300" y="3549015"/>
            <a:ext cx="433387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Circularity works best when city policy and</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business models align.</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4995b05817bb4244"/>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3" name="www.newton.university">
            <a:extLst xmlns:a="http://schemas.openxmlformats.org/drawingml/2006/main">
              <a:ext uri="{FF2B5EF4-FFF2-40B4-BE49-F238E27FC236}">
                <a16:creationId xmlns:a16="http://schemas.microsoft.com/office/drawing/2014/main" id="{01C0E6DB-E60F-4349-B709-C1270EE59763}"/>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4" name="27">
            <a:extLst xmlns:a="http://schemas.openxmlformats.org/drawingml/2006/main">
              <a:ext uri="{FF2B5EF4-FFF2-40B4-BE49-F238E27FC236}">
                <a16:creationId xmlns:a16="http://schemas.microsoft.com/office/drawing/2014/main" id="{08DC376D-8635-40B3-AB59-2E7289A4CEF0}"/>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27</a:t>
            </a:r>
          </a:p>
        </p:txBody>
      </p:sp>
    </p:spTree>
    <p:extLst>
      <p:ext uri="{BB962C8B-B14F-4D97-AF65-F5344CB8AC3E}">
        <p14:creationId xmlns:p14="http://schemas.microsoft.com/office/powerpoint/2010/main" val="1145825802"/>
      </p:ext>
    </p:extLst>
  </p:cSld>
</p:sld>
</file>

<file path=ppt/slides/slide28.xml><?xml version="1.0" encoding="utf-8"?>
<p:sld xmlns:p="http://schemas.openxmlformats.org/presentationml/2006/main">
  <p:cSld>
    <p:bg>
      <p:bgPr>
        <a:solidFill xmlns:a="http://schemas.openxmlformats.org/drawingml/2006/main">
          <a:srgbClr val="173E35"/>
        </a:solidFill>
      </p:bgPr>
    </p:bg>
    <p:spTree>
      <p:nvGrpSpPr>
        <p:cNvPr id="1" name=""/>
        <p:cNvGrpSpPr/>
        <p:nvPr/>
      </p:nvGrpSpPr>
      <p:grpSpPr>
        <a:xfrm xmlns:a="http://schemas.openxmlformats.org/drawingml/2006/main"/>
      </p:grpSpPr>
      <p:sp>
        <p:nvSpPr>
          <p:cNvPr id="8" name="Editorial frame">
            <a:extLst xmlns:a="http://schemas.openxmlformats.org/drawingml/2006/main">
              <a:ext uri="{FF2B5EF4-FFF2-40B4-BE49-F238E27FC236}">
                <a16:creationId xmlns:a16="http://schemas.microsoft.com/office/drawing/2014/main" id="{3FA0D484-65E1-43FF-AAE5-761EEC5964A8}"/>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6A8878"/>
            </a:solidFill>
          </a:ln>
        </p:spPr>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d32a2e7d30642be"/>
          <a:srcRect xmlns:a="http://schemas.openxmlformats.org/drawingml/2006/main" l="0" t="276" r="0" b="276"/>
          <a:stretch xmlns:a="http://schemas.openxmlformats.org/drawingml/2006/main">
            <a:fillRect l="0" t="0" r="0" b="0"/>
          </a:stretch>
        </p:blipFill>
        <p:spPr>
          <a:xfrm xmlns:a="http://schemas.openxmlformats.org/drawingml/2006/main">
            <a:off x="5695950" y="0"/>
            <a:ext cx="3448050" cy="5143500"/>
          </a:xfrm>
          <a:prstGeom xmlns:a="http://schemas.openxmlformats.org/drawingml/2006/main" prst="rect">
            <a:avLst/>
          </a:prstGeom>
        </p:spPr>
      </p:pic>
      <p:sp>
        <p:nvSpPr>
          <p:cNvPr id="3" name="Part 6">
            <a:extLst xmlns:a="http://schemas.openxmlformats.org/drawingml/2006/main">
              <a:ext uri="{FF2B5EF4-FFF2-40B4-BE49-F238E27FC236}">
                <a16:creationId xmlns:a16="http://schemas.microsoft.com/office/drawing/2014/main" id="{D28400CC-D162-4CD8-A76A-5FE6F663DA6C}"/>
              </a:ext>
            </a:extLst>
          </p:cNvPr>
          <p:cNvSpPr>
            <a:spLocks xmlns:a="http://schemas.openxmlformats.org/drawingml/2006/main" noGrp="1"/>
          </p:cNvSpPr>
          <p:nvPr/>
        </p:nvSpPr>
        <p:spPr>
          <a:xfrm xmlns:a="http://schemas.openxmlformats.org/drawingml/2006/main">
            <a:off x="495300" y="714375"/>
            <a:ext cx="4667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C7D0C6"/>
                </a:solidFill>
                <a:latin typeface="Arial"/>
                <a:ea typeface="Arial"/>
                <a:cs typeface="Arial"/>
              </a:defRPr>
            </a:pPr>
            <a:r>
              <a:rPr sz="1500" b="0">
                <a:solidFill>
                  <a:srgbClr val="C7D0C6"/>
                </a:solidFill>
                <a:latin typeface="Arial"/>
                <a:ea typeface="Arial"/>
                <a:cs typeface="Arial"/>
              </a:rPr>
              <a:t>Part 6</a:t>
            </a:r>
          </a:p>
        </p:txBody>
      </p:sp>
      <p:sp>
        <p:nvSpPr>
          <p:cNvPr id="4" name="Green Infrastructure and Urban Circularity">
            <a:extLst xmlns:a="http://schemas.openxmlformats.org/drawingml/2006/main">
              <a:ext uri="{FF2B5EF4-FFF2-40B4-BE49-F238E27FC236}">
                <a16:creationId xmlns:a16="http://schemas.microsoft.com/office/drawing/2014/main" id="{600FC44F-4BEC-4E7D-816C-60B7326DCEBD}"/>
              </a:ext>
            </a:extLst>
          </p:cNvPr>
          <p:cNvSpPr>
            <a:spLocks xmlns:a="http://schemas.openxmlformats.org/drawingml/2006/main" noGrp="1"/>
          </p:cNvSpPr>
          <p:nvPr/>
        </p:nvSpPr>
        <p:spPr>
          <a:xfrm xmlns:a="http://schemas.openxmlformats.org/drawingml/2006/main">
            <a:off x="495300" y="1876425"/>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Green Infrastructure</a:t>
            </a:r>
          </a:p>
          <a:p xmlns:a="http://schemas.openxmlformats.org/drawingml/2006/main">
            <a:pPr>
              <a:defRPr sz="3675" b="0">
                <a:solidFill>
                  <a:srgbClr val="F5F2EA"/>
                </a:solidFill>
                <a:latin typeface="Georgia"/>
                <a:ea typeface="Georgia"/>
                <a:cs typeface="Georgia"/>
              </a:defRPr>
            </a:pPr>
            <a:r>
              <a:rPr sz="3675" b="0">
                <a:solidFill>
                  <a:srgbClr val="F5F2EA"/>
                </a:solidFill>
                <a:latin typeface="Georgia"/>
                <a:ea typeface="Georgia"/>
                <a:cs typeface="Georgia"/>
              </a:rPr>
              <a:t>and Urban Circularity</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483759a47ba049f4"/>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6" name="www.newton.university">
            <a:extLst xmlns:a="http://schemas.openxmlformats.org/drawingml/2006/main">
              <a:ext uri="{FF2B5EF4-FFF2-40B4-BE49-F238E27FC236}">
                <a16:creationId xmlns:a16="http://schemas.microsoft.com/office/drawing/2014/main" id="{D958869B-3649-4C79-B4F2-50740239091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C7D0C6"/>
                </a:solidFill>
                <a:latin typeface="Arial"/>
                <a:ea typeface="Arial"/>
                <a:cs typeface="Arial"/>
              </a:defRPr>
            </a:pPr>
            <a:r>
              <a:rPr sz="750" b="0">
                <a:solidFill>
                  <a:srgbClr val="C7D0C6"/>
                </a:solidFill>
                <a:latin typeface="Arial"/>
                <a:ea typeface="Arial"/>
                <a:cs typeface="Arial"/>
              </a:rPr>
              <a:t>www.newton.university</a:t>
            </a:r>
          </a:p>
        </p:txBody>
      </p:sp>
      <p:sp>
        <p:nvSpPr>
          <p:cNvPr id="7" name="28">
            <a:extLst xmlns:a="http://schemas.openxmlformats.org/drawingml/2006/main">
              <a:ext uri="{FF2B5EF4-FFF2-40B4-BE49-F238E27FC236}">
                <a16:creationId xmlns:a16="http://schemas.microsoft.com/office/drawing/2014/main" id="{F485EBF4-4377-4344-B90E-BBACF09BC3A8}"/>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F5F2EA"/>
                </a:solidFill>
                <a:latin typeface="Arial"/>
                <a:ea typeface="Arial"/>
                <a:cs typeface="Arial"/>
              </a:defRPr>
            </a:pPr>
            <a:r>
              <a:rPr sz="1125" b="0">
                <a:solidFill>
                  <a:srgbClr val="F5F2EA"/>
                </a:solidFill>
                <a:latin typeface="Arial"/>
                <a:ea typeface="Arial"/>
                <a:cs typeface="Arial"/>
              </a:rPr>
              <a:t>28</a:t>
            </a:r>
          </a:p>
        </p:txBody>
      </p:sp>
    </p:spTree>
    <p:extLst>
      <p:ext uri="{BB962C8B-B14F-4D97-AF65-F5344CB8AC3E}">
        <p14:creationId xmlns:p14="http://schemas.microsoft.com/office/powerpoint/2010/main" val="517007788"/>
      </p:ext>
    </p:extLst>
  </p:cSld>
</p:sld>
</file>

<file path=ppt/slides/slide29.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22" name="Resource Loops for Companies and Cities">
            <a:extLst xmlns:a="http://schemas.openxmlformats.org/drawingml/2006/main">
              <a:ext uri="{FF2B5EF4-FFF2-40B4-BE49-F238E27FC236}">
                <a16:creationId xmlns:a16="http://schemas.microsoft.com/office/drawing/2014/main" id="{1B1B58F5-5856-46F9-8F1D-054C721FF92A}"/>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Resource Loops for Companies and Cities</a:t>
            </a:r>
          </a:p>
        </p:txBody>
      </p:sp>
      <p:sp>
        <p:nvSpPr>
          <p:cNvPr id="2" name="Editorial frame">
            <a:extLst xmlns:a="http://schemas.openxmlformats.org/drawingml/2006/main">
              <a:ext uri="{FF2B5EF4-FFF2-40B4-BE49-F238E27FC236}">
                <a16:creationId xmlns:a16="http://schemas.microsoft.com/office/drawing/2014/main" id="{07247E46-9312-4D09-AD08-559CE00C470E}"/>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6F291D89-EE69-40F5-916A-5443C21F09C9}"/>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A7E18E7B-D7BD-4AF0-9A55-25B2CF8E7AC3}"/>
              </a:ext>
            </a:extLst>
          </p:cNvPr>
          <p:cNvSpPr>
            <a:spLocks xmlns:a="http://schemas.openxmlformats.org/drawingml/2006/main" noGrp="1"/>
          </p:cNvSpPr>
          <p:nvPr/>
        </p:nvSpPr>
        <p:spPr>
          <a:xfrm xmlns:a="http://schemas.openxmlformats.org/drawingml/2006/main">
            <a:off x="361950" y="1438275"/>
            <a:ext cx="2844800" cy="3305175"/>
          </a:xfrm>
          <a:prstGeom xmlns:a="http://schemas.openxmlformats.org/drawingml/2006/main" prst="rect">
            <a:avLst/>
          </a:prstGeom>
          <a:solidFill xmlns:a="http://schemas.openxmlformats.org/drawingml/2006/main">
            <a:srgbClr val="E6ECDF"/>
          </a:solidFill>
          <a:ln xmlns:a="http://schemas.openxmlformats.org/drawingml/2006/main" w="7620">
            <a:solidFill>
              <a:srgbClr val="B7C3B1"/>
            </a:solidFill>
          </a:ln>
        </p:spPr>
      </p:sp>
      <p:sp>
        <p:nvSpPr>
          <p:cNvPr id="5" name="Editorial frame">
            <a:extLst xmlns:a="http://schemas.openxmlformats.org/drawingml/2006/main">
              <a:ext uri="{FF2B5EF4-FFF2-40B4-BE49-F238E27FC236}">
                <a16:creationId xmlns:a16="http://schemas.microsoft.com/office/drawing/2014/main" id="{A7A3D8A8-337B-4E22-A6DC-FC5FE1C37A1D}"/>
              </a:ext>
            </a:extLst>
          </p:cNvPr>
          <p:cNvSpPr>
            <a:spLocks xmlns:a="http://schemas.openxmlformats.org/drawingml/2006/main" noGrp="1"/>
          </p:cNvSpPr>
          <p:nvPr/>
        </p:nvSpPr>
        <p:spPr>
          <a:xfrm xmlns:a="http://schemas.openxmlformats.org/drawingml/2006/main">
            <a:off x="361950" y="1438275"/>
            <a:ext cx="2844800" cy="28575"/>
          </a:xfrm>
          <a:prstGeom xmlns:a="http://schemas.openxmlformats.org/drawingml/2006/main" prst="rect">
            <a:avLst/>
          </a:prstGeom>
          <a:solidFill xmlns:a="http://schemas.openxmlformats.org/drawingml/2006/main">
            <a:srgbClr val="173E35"/>
          </a:solidFill>
          <a:ln xmlns:a="http://schemas.openxmlformats.org/drawingml/2006/main" w="0">
            <a:noFill/>
          </a:ln>
        </p:spPr>
      </p:sp>
      <p:sp>
        <p:nvSpPr>
          <p:cNvPr id="6" name="Water reuse">
            <a:extLst xmlns:a="http://schemas.openxmlformats.org/drawingml/2006/main">
              <a:ext uri="{FF2B5EF4-FFF2-40B4-BE49-F238E27FC236}">
                <a16:creationId xmlns:a16="http://schemas.microsoft.com/office/drawing/2014/main" id="{975D610A-E398-48DE-82E7-546A60781E04}"/>
              </a:ext>
            </a:extLst>
          </p:cNvPr>
          <p:cNvSpPr>
            <a:spLocks xmlns:a="http://schemas.openxmlformats.org/drawingml/2006/main" noGrp="1"/>
          </p:cNvSpPr>
          <p:nvPr/>
        </p:nvSpPr>
        <p:spPr>
          <a:xfrm xmlns:a="http://schemas.openxmlformats.org/drawingml/2006/main">
            <a:off x="4953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Water reuse</a:t>
            </a:r>
          </a:p>
        </p:txBody>
      </p:sp>
      <p:sp>
        <p:nvSpPr>
          <p:cNvPr id="7" name="Collect rainwater for suitable on-site uses">
            <a:extLst xmlns:a="http://schemas.openxmlformats.org/drawingml/2006/main">
              <a:ext uri="{FF2B5EF4-FFF2-40B4-BE49-F238E27FC236}">
                <a16:creationId xmlns:a16="http://schemas.microsoft.com/office/drawing/2014/main" id="{7DAB31DE-BA31-45E6-AFD0-E69A53002A48}"/>
              </a:ext>
            </a:extLst>
          </p:cNvPr>
          <p:cNvSpPr>
            <a:spLocks xmlns:a="http://schemas.openxmlformats.org/drawingml/2006/main" noGrp="1"/>
          </p:cNvSpPr>
          <p:nvPr/>
        </p:nvSpPr>
        <p:spPr>
          <a:xfrm xmlns:a="http://schemas.openxmlformats.org/drawingml/2006/main">
            <a:off x="495300" y="207073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Collect rainwater for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suitable on-site uses</a:t>
            </a:r>
          </a:p>
        </p:txBody>
      </p:sp>
      <p:sp>
        <p:nvSpPr>
          <p:cNvPr id="8" name="Use treated greywater only where quality and rules">
            <a:extLst xmlns:a="http://schemas.openxmlformats.org/drawingml/2006/main">
              <a:ext uri="{FF2B5EF4-FFF2-40B4-BE49-F238E27FC236}">
                <a16:creationId xmlns:a16="http://schemas.microsoft.com/office/drawing/2014/main" id="{51DFCCEC-5B2F-4F7E-8B90-07D910364668}"/>
              </a:ext>
            </a:extLst>
          </p:cNvPr>
          <p:cNvSpPr>
            <a:spLocks xmlns:a="http://schemas.openxmlformats.org/drawingml/2006/main" noGrp="1"/>
          </p:cNvSpPr>
          <p:nvPr/>
        </p:nvSpPr>
        <p:spPr>
          <a:xfrm xmlns:a="http://schemas.openxmlformats.org/drawingml/2006/main">
            <a:off x="495300" y="2720340"/>
            <a:ext cx="2578100"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Use treated greywater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only where quality and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rules allow</a:t>
            </a:r>
          </a:p>
        </p:txBody>
      </p:sp>
      <p:sp>
        <p:nvSpPr>
          <p:cNvPr id="9" name="Editorial frame">
            <a:extLst xmlns:a="http://schemas.openxmlformats.org/drawingml/2006/main">
              <a:ext uri="{FF2B5EF4-FFF2-40B4-BE49-F238E27FC236}">
                <a16:creationId xmlns:a16="http://schemas.microsoft.com/office/drawing/2014/main" id="{E736B962-0CA3-4D44-987B-02F10D7418AA}"/>
              </a:ext>
            </a:extLst>
          </p:cNvPr>
          <p:cNvSpPr>
            <a:spLocks xmlns:a="http://schemas.openxmlformats.org/drawingml/2006/main" noGrp="1"/>
          </p:cNvSpPr>
          <p:nvPr/>
        </p:nvSpPr>
        <p:spPr>
          <a:xfrm xmlns:a="http://schemas.openxmlformats.org/drawingml/2006/main">
            <a:off x="3149600" y="1438275"/>
            <a:ext cx="2844800" cy="3305175"/>
          </a:xfrm>
          <a:prstGeom xmlns:a="http://schemas.openxmlformats.org/drawingml/2006/main" prst="rect">
            <a:avLst/>
          </a:prstGeom>
          <a:solidFill xmlns:a="http://schemas.openxmlformats.org/drawingml/2006/main">
            <a:srgbClr val="F0E3D8"/>
          </a:solidFill>
          <a:ln xmlns:a="http://schemas.openxmlformats.org/drawingml/2006/main" w="7620">
            <a:solidFill>
              <a:srgbClr val="B7C3B1"/>
            </a:solidFill>
          </a:ln>
        </p:spPr>
      </p:sp>
      <p:sp>
        <p:nvSpPr>
          <p:cNvPr id="10" name="Editorial frame">
            <a:extLst xmlns:a="http://schemas.openxmlformats.org/drawingml/2006/main">
              <a:ext uri="{FF2B5EF4-FFF2-40B4-BE49-F238E27FC236}">
                <a16:creationId xmlns:a16="http://schemas.microsoft.com/office/drawing/2014/main" id="{5A9224F9-D566-4F97-86DB-87326A894046}"/>
              </a:ext>
            </a:extLst>
          </p:cNvPr>
          <p:cNvSpPr>
            <a:spLocks xmlns:a="http://schemas.openxmlformats.org/drawingml/2006/main" noGrp="1"/>
          </p:cNvSpPr>
          <p:nvPr/>
        </p:nvSpPr>
        <p:spPr>
          <a:xfrm xmlns:a="http://schemas.openxmlformats.org/drawingml/2006/main">
            <a:off x="3149600" y="1438275"/>
            <a:ext cx="284480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11" name="Urban agriculture">
            <a:extLst xmlns:a="http://schemas.openxmlformats.org/drawingml/2006/main">
              <a:ext uri="{FF2B5EF4-FFF2-40B4-BE49-F238E27FC236}">
                <a16:creationId xmlns:a16="http://schemas.microsoft.com/office/drawing/2014/main" id="{5189AD57-7950-4969-9A6A-0DAF145B658E}"/>
              </a:ext>
            </a:extLst>
          </p:cNvPr>
          <p:cNvSpPr>
            <a:spLocks xmlns:a="http://schemas.openxmlformats.org/drawingml/2006/main" noGrp="1"/>
          </p:cNvSpPr>
          <p:nvPr/>
        </p:nvSpPr>
        <p:spPr>
          <a:xfrm xmlns:a="http://schemas.openxmlformats.org/drawingml/2006/main">
            <a:off x="328295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Urban agriculture</a:t>
            </a:r>
          </a:p>
        </p:txBody>
      </p:sp>
      <p:sp>
        <p:nvSpPr>
          <p:cNvPr id="12" name="Connect growers to local cafés, staff or residents">
            <a:extLst xmlns:a="http://schemas.openxmlformats.org/drawingml/2006/main">
              <a:ext uri="{FF2B5EF4-FFF2-40B4-BE49-F238E27FC236}">
                <a16:creationId xmlns:a16="http://schemas.microsoft.com/office/drawing/2014/main" id="{E24B43DD-E0AB-4140-BF57-C8DB782AEB51}"/>
              </a:ext>
            </a:extLst>
          </p:cNvPr>
          <p:cNvSpPr>
            <a:spLocks xmlns:a="http://schemas.openxmlformats.org/drawingml/2006/main" noGrp="1"/>
          </p:cNvSpPr>
          <p:nvPr/>
        </p:nvSpPr>
        <p:spPr>
          <a:xfrm xmlns:a="http://schemas.openxmlformats.org/drawingml/2006/main">
            <a:off x="3282950" y="2070735"/>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Connect growers to local</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cafés, staff or residents</a:t>
            </a:r>
          </a:p>
        </p:txBody>
      </p:sp>
      <p:sp>
        <p:nvSpPr>
          <p:cNvPr id="13" name="Shorter supply chains">
            <a:extLst xmlns:a="http://schemas.openxmlformats.org/drawingml/2006/main">
              <a:ext uri="{FF2B5EF4-FFF2-40B4-BE49-F238E27FC236}">
                <a16:creationId xmlns:a16="http://schemas.microsoft.com/office/drawing/2014/main" id="{F5AF360F-DA06-4B06-B5B2-82FB52268BB5}"/>
              </a:ext>
            </a:extLst>
          </p:cNvPr>
          <p:cNvSpPr>
            <a:spLocks xmlns:a="http://schemas.openxmlformats.org/drawingml/2006/main" noGrp="1"/>
          </p:cNvSpPr>
          <p:nvPr/>
        </p:nvSpPr>
        <p:spPr>
          <a:xfrm xmlns:a="http://schemas.openxmlformats.org/drawingml/2006/main">
            <a:off x="3282950" y="2720340"/>
            <a:ext cx="25781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Shorter supply chains</a:t>
            </a:r>
          </a:p>
        </p:txBody>
      </p:sp>
      <p:sp>
        <p:nvSpPr>
          <p:cNvPr id="14" name="Editorial frame">
            <a:extLst xmlns:a="http://schemas.openxmlformats.org/drawingml/2006/main">
              <a:ext uri="{FF2B5EF4-FFF2-40B4-BE49-F238E27FC236}">
                <a16:creationId xmlns:a16="http://schemas.microsoft.com/office/drawing/2014/main" id="{9D863C82-470F-4A62-86A8-3E48F0CD14D0}"/>
              </a:ext>
            </a:extLst>
          </p:cNvPr>
          <p:cNvSpPr>
            <a:spLocks xmlns:a="http://schemas.openxmlformats.org/drawingml/2006/main" noGrp="1"/>
          </p:cNvSpPr>
          <p:nvPr/>
        </p:nvSpPr>
        <p:spPr>
          <a:xfrm xmlns:a="http://schemas.openxmlformats.org/drawingml/2006/main">
            <a:off x="5937250" y="1438275"/>
            <a:ext cx="2844800" cy="3305175"/>
          </a:xfrm>
          <a:prstGeom xmlns:a="http://schemas.openxmlformats.org/drawingml/2006/main" prst="rect">
            <a:avLst/>
          </a:prstGeom>
          <a:solidFill xmlns:a="http://schemas.openxmlformats.org/drawingml/2006/main">
            <a:srgbClr val="EAE5D9"/>
          </a:solidFill>
          <a:ln xmlns:a="http://schemas.openxmlformats.org/drawingml/2006/main" w="7620">
            <a:solidFill>
              <a:srgbClr val="B7C3B1"/>
            </a:solidFill>
          </a:ln>
        </p:spPr>
      </p:sp>
      <p:sp>
        <p:nvSpPr>
          <p:cNvPr id="15" name="Editorial frame">
            <a:extLst xmlns:a="http://schemas.openxmlformats.org/drawingml/2006/main">
              <a:ext uri="{FF2B5EF4-FFF2-40B4-BE49-F238E27FC236}">
                <a16:creationId xmlns:a16="http://schemas.microsoft.com/office/drawing/2014/main" id="{4169A9B5-62AE-4ADA-874F-3F37D828B4BB}"/>
              </a:ext>
            </a:extLst>
          </p:cNvPr>
          <p:cNvSpPr>
            <a:spLocks xmlns:a="http://schemas.openxmlformats.org/drawingml/2006/main" noGrp="1"/>
          </p:cNvSpPr>
          <p:nvPr/>
        </p:nvSpPr>
        <p:spPr>
          <a:xfrm xmlns:a="http://schemas.openxmlformats.org/drawingml/2006/main">
            <a:off x="5937250" y="1438275"/>
            <a:ext cx="2844800" cy="28575"/>
          </a:xfrm>
          <a:prstGeom xmlns:a="http://schemas.openxmlformats.org/drawingml/2006/main" prst="rect">
            <a:avLst/>
          </a:prstGeom>
          <a:solidFill xmlns:a="http://schemas.openxmlformats.org/drawingml/2006/main">
            <a:srgbClr val="9B855C"/>
          </a:solidFill>
          <a:ln xmlns:a="http://schemas.openxmlformats.org/drawingml/2006/main" w="0">
            <a:noFill/>
          </a:ln>
        </p:spPr>
      </p:sp>
      <p:sp>
        <p:nvSpPr>
          <p:cNvPr id="16" name="Soil regeneration">
            <a:extLst xmlns:a="http://schemas.openxmlformats.org/drawingml/2006/main">
              <a:ext uri="{FF2B5EF4-FFF2-40B4-BE49-F238E27FC236}">
                <a16:creationId xmlns:a16="http://schemas.microsoft.com/office/drawing/2014/main" id="{76C76385-1C31-4512-B2D7-C75627FFB713}"/>
              </a:ext>
            </a:extLst>
          </p:cNvPr>
          <p:cNvSpPr>
            <a:spLocks xmlns:a="http://schemas.openxmlformats.org/drawingml/2006/main" noGrp="1"/>
          </p:cNvSpPr>
          <p:nvPr/>
        </p:nvSpPr>
        <p:spPr>
          <a:xfrm xmlns:a="http://schemas.openxmlformats.org/drawingml/2006/main">
            <a:off x="6070600" y="1619250"/>
            <a:ext cx="2578100" cy="3371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Soil regeneration</a:t>
            </a:r>
          </a:p>
        </p:txBody>
      </p:sp>
      <p:sp>
        <p:nvSpPr>
          <p:cNvPr id="17" name="Turn suitable, separated organic waste into compos">
            <a:extLst xmlns:a="http://schemas.openxmlformats.org/drawingml/2006/main">
              <a:ext uri="{FF2B5EF4-FFF2-40B4-BE49-F238E27FC236}">
                <a16:creationId xmlns:a16="http://schemas.microsoft.com/office/drawing/2014/main" id="{1DF8546A-6170-4A7A-8449-EE7BFDAA2BA8}"/>
              </a:ext>
            </a:extLst>
          </p:cNvPr>
          <p:cNvSpPr>
            <a:spLocks xmlns:a="http://schemas.openxmlformats.org/drawingml/2006/main" noGrp="1"/>
          </p:cNvSpPr>
          <p:nvPr/>
        </p:nvSpPr>
        <p:spPr>
          <a:xfrm xmlns:a="http://schemas.openxmlformats.org/drawingml/2006/main">
            <a:off x="6070600" y="2070735"/>
            <a:ext cx="2578100" cy="81724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Turn suitable, separated</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organic waste into</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compost</a:t>
            </a:r>
          </a:p>
        </p:txBody>
      </p:sp>
      <p:sp>
        <p:nvSpPr>
          <p:cNvPr id="18" name="Healthy soil stores water and carbon">
            <a:extLst xmlns:a="http://schemas.openxmlformats.org/drawingml/2006/main">
              <a:ext uri="{FF2B5EF4-FFF2-40B4-BE49-F238E27FC236}">
                <a16:creationId xmlns:a16="http://schemas.microsoft.com/office/drawing/2014/main" id="{33169411-0E4E-452D-BB1D-CC195F072D79}"/>
              </a:ext>
            </a:extLst>
          </p:cNvPr>
          <p:cNvSpPr>
            <a:spLocks xmlns:a="http://schemas.openxmlformats.org/drawingml/2006/main" noGrp="1"/>
          </p:cNvSpPr>
          <p:nvPr/>
        </p:nvSpPr>
        <p:spPr>
          <a:xfrm xmlns:a="http://schemas.openxmlformats.org/drawingml/2006/main">
            <a:off x="6070600" y="2983230"/>
            <a:ext cx="257810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Healthy soil stores water</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and carbon</a:t>
            </a:r>
          </a:p>
        </p:txBody>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df178ae5f2634c0a"/>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0" name="www.newton.university">
            <a:extLst xmlns:a="http://schemas.openxmlformats.org/drawingml/2006/main">
              <a:ext uri="{FF2B5EF4-FFF2-40B4-BE49-F238E27FC236}">
                <a16:creationId xmlns:a16="http://schemas.microsoft.com/office/drawing/2014/main" id="{68E1EF2C-F481-4486-AA5F-5674A1559809}"/>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1" name="29">
            <a:extLst xmlns:a="http://schemas.openxmlformats.org/drawingml/2006/main">
              <a:ext uri="{FF2B5EF4-FFF2-40B4-BE49-F238E27FC236}">
                <a16:creationId xmlns:a16="http://schemas.microsoft.com/office/drawing/2014/main" id="{9D336FA1-D601-4548-B512-FD9CD1D3AB3C}"/>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29</a:t>
            </a:r>
          </a:p>
        </p:txBody>
      </p:sp>
    </p:spTree>
    <p:extLst>
      <p:ext uri="{BB962C8B-B14F-4D97-AF65-F5344CB8AC3E}">
        <p14:creationId xmlns:p14="http://schemas.microsoft.com/office/powerpoint/2010/main" val="980011457"/>
      </p:ext>
    </p:extLst>
  </p:cSld>
</p:sld>
</file>

<file path=ppt/slides/slide30.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5" name="Urban Farming as Circular Infrastructure">
            <a:extLst xmlns:a="http://schemas.openxmlformats.org/drawingml/2006/main">
              <a:ext uri="{FF2B5EF4-FFF2-40B4-BE49-F238E27FC236}">
                <a16:creationId xmlns:a16="http://schemas.microsoft.com/office/drawing/2014/main" id="{BEEBD948-C562-4F6D-A6B3-94C9C7776549}"/>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Urban Farming as Circular Infrastructure</a:t>
            </a:r>
          </a:p>
        </p:txBody>
      </p:sp>
      <p:sp>
        <p:nvSpPr>
          <p:cNvPr id="2" name="Editorial frame">
            <a:extLst xmlns:a="http://schemas.openxmlformats.org/drawingml/2006/main">
              <a:ext uri="{FF2B5EF4-FFF2-40B4-BE49-F238E27FC236}">
                <a16:creationId xmlns:a16="http://schemas.microsoft.com/office/drawing/2014/main" id="{161DBB34-83F5-4891-97A3-845342147CBA}"/>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37ECA042-BCDB-4988-A5B3-8E2D8D2ADBB9}"/>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1fdc478dc4014788"/>
          <a:stretch xmlns:a="http://schemas.openxmlformats.org/drawingml/2006/main"/>
        </p:blipFill>
        <p:spPr>
          <a:xfrm xmlns:a="http://schemas.openxmlformats.org/drawingml/2006/main">
            <a:off x="5286375" y="1510903"/>
            <a:ext cx="3362325" cy="2521744"/>
          </a:xfrm>
          <a:prstGeom xmlns:a="http://schemas.openxmlformats.org/drawingml/2006/main" prst="rect">
            <a:avLst/>
          </a:prstGeom>
        </p:spPr>
      </p:pic>
      <p:sp>
        <p:nvSpPr>
          <p:cNvPr id="5" name="Community garden — food, compost and community in ">
            <a:extLst xmlns:a="http://schemas.openxmlformats.org/drawingml/2006/main">
              <a:ext uri="{FF2B5EF4-FFF2-40B4-BE49-F238E27FC236}">
                <a16:creationId xmlns:a16="http://schemas.microsoft.com/office/drawing/2014/main" id="{0FB65385-E3DE-4919-9C9C-E94435523051}"/>
              </a:ext>
            </a:extLst>
          </p:cNvPr>
          <p:cNvSpPr>
            <a:spLocks xmlns:a="http://schemas.openxmlformats.org/drawingml/2006/main" noGrp="1"/>
          </p:cNvSpPr>
          <p:nvPr/>
        </p:nvSpPr>
        <p:spPr>
          <a:xfrm xmlns:a="http://schemas.openxmlformats.org/drawingml/2006/main">
            <a:off x="5286375" y="4171950"/>
            <a:ext cx="3362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Community garden — food, compost and</a:t>
            </a:r>
          </a:p>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community in one loop</a:t>
            </a:r>
          </a:p>
        </p:txBody>
      </p:sp>
      <p:sp>
        <p:nvSpPr>
          <p:cNvPr id="6" name="One garden, several loops">
            <a:extLst xmlns:a="http://schemas.openxmlformats.org/drawingml/2006/main">
              <a:ext uri="{FF2B5EF4-FFF2-40B4-BE49-F238E27FC236}">
                <a16:creationId xmlns:a16="http://schemas.microsoft.com/office/drawing/2014/main" id="{846D25B3-AF9F-4824-B5E0-E0A830617D4B}"/>
              </a:ext>
            </a:extLst>
          </p:cNvPr>
          <p:cNvSpPr>
            <a:spLocks xmlns:a="http://schemas.openxmlformats.org/drawingml/2006/main" noGrp="1"/>
          </p:cNvSpPr>
          <p:nvPr/>
        </p:nvSpPr>
        <p:spPr>
          <a:xfrm xmlns:a="http://schemas.openxmlformats.org/drawingml/2006/main">
            <a:off x="495300" y="1524000"/>
            <a:ext cx="4333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One garden, several loops</a:t>
            </a:r>
          </a:p>
        </p:txBody>
      </p:sp>
      <p:sp>
        <p:nvSpPr>
          <p:cNvPr id="7" name="Bio-waste becomes compost, compost becomes food.">
            <a:extLst xmlns:a="http://schemas.openxmlformats.org/drawingml/2006/main">
              <a:ext uri="{FF2B5EF4-FFF2-40B4-BE49-F238E27FC236}">
                <a16:creationId xmlns:a16="http://schemas.microsoft.com/office/drawing/2014/main" id="{8C05430B-795B-4EE5-AE7C-C6186F3F46D3}"/>
              </a:ext>
            </a:extLst>
          </p:cNvPr>
          <p:cNvSpPr>
            <a:spLocks xmlns:a="http://schemas.openxmlformats.org/drawingml/2006/main" noGrp="1"/>
          </p:cNvSpPr>
          <p:nvPr/>
        </p:nvSpPr>
        <p:spPr>
          <a:xfrm xmlns:a="http://schemas.openxmlformats.org/drawingml/2006/main">
            <a:off x="495300" y="1952625"/>
            <a:ext cx="433387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Bio-waste becomes compost, compost</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becomes food.</a:t>
            </a:r>
          </a:p>
        </p:txBody>
      </p:sp>
      <p:sp>
        <p:nvSpPr>
          <p:cNvPr id="8" name="Rainwater is captured and used on site.">
            <a:extLst xmlns:a="http://schemas.openxmlformats.org/drawingml/2006/main">
              <a:ext uri="{FF2B5EF4-FFF2-40B4-BE49-F238E27FC236}">
                <a16:creationId xmlns:a16="http://schemas.microsoft.com/office/drawing/2014/main" id="{25C9B0DC-D972-4B10-BE1E-0C2C84EFEB02}"/>
              </a:ext>
            </a:extLst>
          </p:cNvPr>
          <p:cNvSpPr>
            <a:spLocks xmlns:a="http://schemas.openxmlformats.org/drawingml/2006/main" noGrp="1"/>
          </p:cNvSpPr>
          <p:nvPr/>
        </p:nvSpPr>
        <p:spPr>
          <a:xfrm xmlns:a="http://schemas.openxmlformats.org/drawingml/2006/main">
            <a:off x="495300" y="2556510"/>
            <a:ext cx="433387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Rainwater is captured and used on site.</a:t>
            </a:r>
          </a:p>
        </p:txBody>
      </p:sp>
      <p:sp>
        <p:nvSpPr>
          <p:cNvPr id="9" name="Residents gain skills, food and community ties.">
            <a:extLst xmlns:a="http://schemas.openxmlformats.org/drawingml/2006/main">
              <a:ext uri="{FF2B5EF4-FFF2-40B4-BE49-F238E27FC236}">
                <a16:creationId xmlns:a16="http://schemas.microsoft.com/office/drawing/2014/main" id="{A7544C46-312B-4180-B88B-5D3DC8D599BD}"/>
              </a:ext>
            </a:extLst>
          </p:cNvPr>
          <p:cNvSpPr>
            <a:spLocks xmlns:a="http://schemas.openxmlformats.org/drawingml/2006/main" noGrp="1"/>
          </p:cNvSpPr>
          <p:nvPr/>
        </p:nvSpPr>
        <p:spPr>
          <a:xfrm xmlns:a="http://schemas.openxmlformats.org/drawingml/2006/main">
            <a:off x="495300" y="2920365"/>
            <a:ext cx="4333875" cy="2686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Residents gain skills, food and community ties.</a:t>
            </a:r>
          </a:p>
        </p:txBody>
      </p:sp>
      <p:sp>
        <p:nvSpPr>
          <p:cNvPr id="10" name="Prague connection">
            <a:extLst xmlns:a="http://schemas.openxmlformats.org/drawingml/2006/main">
              <a:ext uri="{FF2B5EF4-FFF2-40B4-BE49-F238E27FC236}">
                <a16:creationId xmlns:a16="http://schemas.microsoft.com/office/drawing/2014/main" id="{57B49029-C056-411A-BB2B-411232D8E493}"/>
              </a:ext>
            </a:extLst>
          </p:cNvPr>
          <p:cNvSpPr>
            <a:spLocks xmlns:a="http://schemas.openxmlformats.org/drawingml/2006/main" noGrp="1"/>
          </p:cNvSpPr>
          <p:nvPr/>
        </p:nvSpPr>
        <p:spPr>
          <a:xfrm xmlns:a="http://schemas.openxmlformats.org/drawingml/2006/main">
            <a:off x="495300" y="3360420"/>
            <a:ext cx="4333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875" b="0">
                <a:solidFill>
                  <a:srgbClr val="B56647"/>
                </a:solidFill>
                <a:latin typeface="Georgia"/>
                <a:ea typeface="Georgia"/>
                <a:cs typeface="Georgia"/>
              </a:defRPr>
            </a:pPr>
            <a:r>
              <a:rPr sz="1875" b="0">
                <a:solidFill>
                  <a:srgbClr val="B56647"/>
                </a:solidFill>
                <a:latin typeface="Georgia"/>
                <a:ea typeface="Georgia"/>
                <a:cs typeface="Georgia"/>
              </a:rPr>
              <a:t>Prague connection</a:t>
            </a:r>
          </a:p>
        </p:txBody>
      </p:sp>
      <p:sp>
        <p:nvSpPr>
          <p:cNvPr id="11" name="Use a local garden to explore supply, composting a">
            <a:extLst xmlns:a="http://schemas.openxmlformats.org/drawingml/2006/main">
              <a:ext uri="{FF2B5EF4-FFF2-40B4-BE49-F238E27FC236}">
                <a16:creationId xmlns:a16="http://schemas.microsoft.com/office/drawing/2014/main" id="{A45CD07B-BFCC-4F19-8BC9-F3D46660E52C}"/>
              </a:ext>
            </a:extLst>
          </p:cNvPr>
          <p:cNvSpPr>
            <a:spLocks xmlns:a="http://schemas.openxmlformats.org/drawingml/2006/main" noGrp="1"/>
          </p:cNvSpPr>
          <p:nvPr/>
        </p:nvSpPr>
        <p:spPr>
          <a:xfrm xmlns:a="http://schemas.openxmlformats.org/drawingml/2006/main">
            <a:off x="495300" y="3789045"/>
            <a:ext cx="4333875" cy="50863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Use a local garden to explore supply,</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composting and maintenance partnerships.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5588c15e96814e4a"/>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3" name="www.newton.university">
            <a:extLst xmlns:a="http://schemas.openxmlformats.org/drawingml/2006/main">
              <a:ext uri="{FF2B5EF4-FFF2-40B4-BE49-F238E27FC236}">
                <a16:creationId xmlns:a16="http://schemas.microsoft.com/office/drawing/2014/main" id="{021443CE-4FDA-4D75-B7B2-B998B659C944}"/>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4" name="30">
            <a:extLst xmlns:a="http://schemas.openxmlformats.org/drawingml/2006/main">
              <a:ext uri="{FF2B5EF4-FFF2-40B4-BE49-F238E27FC236}">
                <a16:creationId xmlns:a16="http://schemas.microsoft.com/office/drawing/2014/main" id="{F62C1CCE-9DE8-439E-B162-2DC3E9EE46B3}"/>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30</a:t>
            </a:r>
          </a:p>
        </p:txBody>
      </p:sp>
    </p:spTree>
    <p:extLst>
      <p:ext uri="{BB962C8B-B14F-4D97-AF65-F5344CB8AC3E}">
        <p14:creationId xmlns:p14="http://schemas.microsoft.com/office/powerpoint/2010/main" val="203739985"/>
      </p:ext>
    </p:extLst>
  </p:cSld>
</p:sld>
</file>

<file path=ppt/slides/slide31.xml><?xml version="1.0" encoding="utf-8"?>
<p:sld xmlns:p="http://schemas.openxmlformats.org/presentationml/2006/main">
  <p:cSld>
    <p:bg>
      <p:bgPr>
        <a:solidFill xmlns:a="http://schemas.openxmlformats.org/drawingml/2006/main">
          <a:srgbClr val="DDE5D8"/>
        </a:solidFill>
      </p:bgPr>
    </p:bg>
    <p:spTree>
      <p:nvGrpSpPr>
        <p:cNvPr id="1" name=""/>
        <p:cNvGrpSpPr/>
        <p:nvPr/>
      </p:nvGrpSpPr>
      <p:grpSpPr>
        <a:xfrm xmlns:a="http://schemas.openxmlformats.org/drawingml/2006/main"/>
      </p:grpSpPr>
      <p:sp>
        <p:nvSpPr>
          <p:cNvPr id="16" name="Classroom Activity: Redesign for Circularity">
            <a:extLst xmlns:a="http://schemas.openxmlformats.org/drawingml/2006/main">
              <a:ext uri="{FF2B5EF4-FFF2-40B4-BE49-F238E27FC236}">
                <a16:creationId xmlns:a16="http://schemas.microsoft.com/office/drawing/2014/main" id="{B8670083-4239-47CC-9427-A1F5F0809FD5}"/>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Classroom Activity: Redesign for Circularity</a:t>
            </a:r>
          </a:p>
        </p:txBody>
      </p:sp>
      <p:sp>
        <p:nvSpPr>
          <p:cNvPr id="2" name="Editorial frame">
            <a:extLst xmlns:a="http://schemas.openxmlformats.org/drawingml/2006/main">
              <a:ext uri="{FF2B5EF4-FFF2-40B4-BE49-F238E27FC236}">
                <a16:creationId xmlns:a16="http://schemas.microsoft.com/office/drawing/2014/main" id="{A61EB0D1-A3EE-4C7D-B464-D9696C9E070B}"/>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F03CA400-2D55-4D24-870C-DE9F216054B3}"/>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8A2D4D40-8961-4B07-9A27-095D764F1F14}"/>
              </a:ext>
            </a:extLst>
          </p:cNvPr>
          <p:cNvSpPr>
            <a:spLocks xmlns:a="http://schemas.openxmlformats.org/drawingml/2006/main" noGrp="1"/>
          </p:cNvSpPr>
          <p:nvPr/>
        </p:nvSpPr>
        <p:spPr>
          <a:xfrm xmlns:a="http://schemas.openxmlformats.org/drawingml/2006/main">
            <a:off x="361950" y="1476375"/>
            <a:ext cx="2305050" cy="3190875"/>
          </a:xfrm>
          <a:prstGeom xmlns:a="http://schemas.openxmlformats.org/drawingml/2006/main" prst="rect">
            <a:avLst/>
          </a:prstGeom>
          <a:solidFill xmlns:a="http://schemas.openxmlformats.org/drawingml/2006/main">
            <a:srgbClr val="C7D5BE"/>
          </a:solidFill>
          <a:ln xmlns:a="http://schemas.openxmlformats.org/drawingml/2006/main" w="7620">
            <a:solidFill>
              <a:srgbClr val="B7C3B1"/>
            </a:solidFill>
          </a:ln>
        </p:spPr>
      </p:sp>
      <p:sp>
        <p:nvSpPr>
          <p:cNvPr id="5" name="20">
            <a:extLst xmlns:a="http://schemas.openxmlformats.org/drawingml/2006/main">
              <a:ext uri="{FF2B5EF4-FFF2-40B4-BE49-F238E27FC236}">
                <a16:creationId xmlns:a16="http://schemas.microsoft.com/office/drawing/2014/main" id="{72947E7D-87DD-40BB-BBD6-745E4FB2D8C8}"/>
              </a:ext>
            </a:extLst>
          </p:cNvPr>
          <p:cNvSpPr>
            <a:spLocks xmlns:a="http://schemas.openxmlformats.org/drawingml/2006/main" noGrp="1"/>
          </p:cNvSpPr>
          <p:nvPr/>
        </p:nvSpPr>
        <p:spPr>
          <a:xfrm xmlns:a="http://schemas.openxmlformats.org/drawingml/2006/main">
            <a:off x="533400" y="1914525"/>
            <a:ext cx="2076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800" b="0">
                <a:solidFill>
                  <a:srgbClr val="173E35"/>
                </a:solidFill>
                <a:latin typeface="Georgia"/>
                <a:ea typeface="Georgia"/>
                <a:cs typeface="Georgia"/>
              </a:defRPr>
            </a:pPr>
            <a:r>
              <a:rPr sz="7800" b="0">
                <a:solidFill>
                  <a:srgbClr val="173E35"/>
                </a:solidFill>
                <a:latin typeface="Georgia"/>
                <a:ea typeface="Georgia"/>
                <a:cs typeface="Georgia"/>
              </a:rPr>
              <a:t>20</a:t>
            </a:r>
          </a:p>
        </p:txBody>
      </p:sp>
      <p:sp>
        <p:nvSpPr>
          <p:cNvPr id="6" name="minutes">
            <a:extLst xmlns:a="http://schemas.openxmlformats.org/drawingml/2006/main">
              <a:ext uri="{FF2B5EF4-FFF2-40B4-BE49-F238E27FC236}">
                <a16:creationId xmlns:a16="http://schemas.microsoft.com/office/drawing/2014/main" id="{AD5433A6-33B8-4208-9337-C65FB1A12EAC}"/>
              </a:ext>
            </a:extLst>
          </p:cNvPr>
          <p:cNvSpPr>
            <a:spLocks xmlns:a="http://schemas.openxmlformats.org/drawingml/2006/main" noGrp="1"/>
          </p:cNvSpPr>
          <p:nvPr/>
        </p:nvSpPr>
        <p:spPr>
          <a:xfrm xmlns:a="http://schemas.openxmlformats.org/drawingml/2006/main">
            <a:off x="581025" y="3314700"/>
            <a:ext cx="1962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325" b="0">
                <a:solidFill>
                  <a:srgbClr val="173E35"/>
                </a:solidFill>
                <a:latin typeface="Georgia"/>
                <a:ea typeface="Georgia"/>
                <a:cs typeface="Georgia"/>
              </a:defRPr>
            </a:pPr>
            <a:r>
              <a:rPr sz="2325" b="0">
                <a:solidFill>
                  <a:srgbClr val="173E35"/>
                </a:solidFill>
                <a:latin typeface="Georgia"/>
                <a:ea typeface="Georgia"/>
                <a:cs typeface="Georgia"/>
              </a:rPr>
              <a:t>minutes</a:t>
            </a:r>
          </a:p>
        </p:txBody>
      </p:sp>
      <p:sp>
        <p:nvSpPr>
          <p:cNvPr id="7" name="In groups">
            <a:extLst xmlns:a="http://schemas.openxmlformats.org/drawingml/2006/main">
              <a:ext uri="{FF2B5EF4-FFF2-40B4-BE49-F238E27FC236}">
                <a16:creationId xmlns:a16="http://schemas.microsoft.com/office/drawing/2014/main" id="{A75976C3-7F80-4BCE-8522-4E57CCA1701D}"/>
              </a:ext>
            </a:extLst>
          </p:cNvPr>
          <p:cNvSpPr>
            <a:spLocks xmlns:a="http://schemas.openxmlformats.org/drawingml/2006/main" noGrp="1"/>
          </p:cNvSpPr>
          <p:nvPr/>
        </p:nvSpPr>
        <p:spPr>
          <a:xfrm xmlns:a="http://schemas.openxmlformats.org/drawingml/2006/main">
            <a:off x="581025" y="3914775"/>
            <a:ext cx="1952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58665B"/>
                </a:solidFill>
                <a:latin typeface="Arial"/>
                <a:ea typeface="Arial"/>
                <a:cs typeface="Arial"/>
              </a:defRPr>
            </a:pPr>
            <a:r>
              <a:rPr sz="1575" b="0">
                <a:solidFill>
                  <a:srgbClr val="58665B"/>
                </a:solidFill>
                <a:latin typeface="Arial"/>
                <a:ea typeface="Arial"/>
                <a:cs typeface="Arial"/>
              </a:rPr>
              <a:t>In groups</a:t>
            </a:r>
          </a:p>
        </p:txBody>
      </p:sp>
      <p:sp>
        <p:nvSpPr>
          <p:cNvPr id="8" name="Choose an everyday product or an urban space. Rede">
            <a:extLst xmlns:a="http://schemas.openxmlformats.org/drawingml/2006/main">
              <a:ext uri="{FF2B5EF4-FFF2-40B4-BE49-F238E27FC236}">
                <a16:creationId xmlns:a16="http://schemas.microsoft.com/office/drawing/2014/main" id="{0DDD3B05-2CAF-45AA-BAF8-31775D04AF46}"/>
              </a:ext>
            </a:extLst>
          </p:cNvPr>
          <p:cNvSpPr>
            <a:spLocks xmlns:a="http://schemas.openxmlformats.org/drawingml/2006/main" noGrp="1"/>
          </p:cNvSpPr>
          <p:nvPr/>
        </p:nvSpPr>
        <p:spPr>
          <a:xfrm xmlns:a="http://schemas.openxmlformats.org/drawingml/2006/main">
            <a:off x="3076575" y="1628775"/>
            <a:ext cx="5543550" cy="64579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Choose an everyday product or an urban space.</a:t>
            </a:r>
          </a:p>
          <a:p xmlns:a="http://schemas.openxmlformats.org/drawingml/2006/main">
            <a:pPr>
              <a:defRPr sz="2025" b="0">
                <a:solidFill>
                  <a:srgbClr val="B56647"/>
                </a:solidFill>
                <a:latin typeface="Georgia"/>
                <a:ea typeface="Georgia"/>
                <a:cs typeface="Georgia"/>
              </a:defRPr>
            </a:pPr>
            <a:r>
              <a:rPr sz="2025" b="0">
                <a:solidFill>
                  <a:srgbClr val="B56647"/>
                </a:solidFill>
                <a:latin typeface="Georgia"/>
                <a:ea typeface="Georgia"/>
                <a:cs typeface="Georgia"/>
              </a:rPr>
              <a:t>Redesign it so that:</a:t>
            </a:r>
          </a:p>
        </p:txBody>
      </p:sp>
      <p:sp>
        <p:nvSpPr>
          <p:cNvPr id="9" name="Material losses are identified and minimized.">
            <a:extLst xmlns:a="http://schemas.openxmlformats.org/drawingml/2006/main">
              <a:ext uri="{FF2B5EF4-FFF2-40B4-BE49-F238E27FC236}">
                <a16:creationId xmlns:a16="http://schemas.microsoft.com/office/drawing/2014/main" id="{4D1CFA4D-67FD-497A-85FF-504F7F94FD1D}"/>
              </a:ext>
            </a:extLst>
          </p:cNvPr>
          <p:cNvSpPr>
            <a:spLocks xmlns:a="http://schemas.openxmlformats.org/drawingml/2006/main" noGrp="1"/>
          </p:cNvSpPr>
          <p:nvPr/>
        </p:nvSpPr>
        <p:spPr>
          <a:xfrm xmlns:a="http://schemas.openxmlformats.org/drawingml/2006/main">
            <a:off x="3076575" y="2388870"/>
            <a:ext cx="55435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Material losses are identified and minimized.</a:t>
            </a:r>
          </a:p>
        </p:txBody>
      </p:sp>
      <p:sp>
        <p:nvSpPr>
          <p:cNvPr id="10" name="At least one input comes from a local 'waste' stre">
            <a:extLst xmlns:a="http://schemas.openxmlformats.org/drawingml/2006/main">
              <a:ext uri="{FF2B5EF4-FFF2-40B4-BE49-F238E27FC236}">
                <a16:creationId xmlns:a16="http://schemas.microsoft.com/office/drawing/2014/main" id="{09EDD0C5-092B-4322-816A-CCEBA8A19EFB}"/>
              </a:ext>
            </a:extLst>
          </p:cNvPr>
          <p:cNvSpPr>
            <a:spLocks xmlns:a="http://schemas.openxmlformats.org/drawingml/2006/main" noGrp="1"/>
          </p:cNvSpPr>
          <p:nvPr/>
        </p:nvSpPr>
        <p:spPr>
          <a:xfrm xmlns:a="http://schemas.openxmlformats.org/drawingml/2006/main">
            <a:off x="3076575" y="2775585"/>
            <a:ext cx="55435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At least one input comes from a local 'waste' stream.</a:t>
            </a:r>
          </a:p>
        </p:txBody>
      </p:sp>
      <p:sp>
        <p:nvSpPr>
          <p:cNvPr id="11" name="Nature is regenerated, not just less damaged.">
            <a:extLst xmlns:a="http://schemas.openxmlformats.org/drawingml/2006/main">
              <a:ext uri="{FF2B5EF4-FFF2-40B4-BE49-F238E27FC236}">
                <a16:creationId xmlns:a16="http://schemas.microsoft.com/office/drawing/2014/main" id="{8C643B48-3FB5-41F3-A93D-116676E7FD7E}"/>
              </a:ext>
            </a:extLst>
          </p:cNvPr>
          <p:cNvSpPr>
            <a:spLocks xmlns:a="http://schemas.openxmlformats.org/drawingml/2006/main" noGrp="1"/>
          </p:cNvSpPr>
          <p:nvPr/>
        </p:nvSpPr>
        <p:spPr>
          <a:xfrm xmlns:a="http://schemas.openxmlformats.org/drawingml/2006/main">
            <a:off x="3076575" y="3162300"/>
            <a:ext cx="554355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Nature is regenerated, not just less damaged.</a:t>
            </a:r>
          </a:p>
        </p:txBody>
      </p:sp>
      <p:sp>
        <p:nvSpPr>
          <p:cNvPr id="12" name="Present the loop, payer and maintenance owner in o">
            <a:extLst xmlns:a="http://schemas.openxmlformats.org/drawingml/2006/main">
              <a:ext uri="{FF2B5EF4-FFF2-40B4-BE49-F238E27FC236}">
                <a16:creationId xmlns:a16="http://schemas.microsoft.com/office/drawing/2014/main" id="{F56CD732-3C61-4961-9C79-9975320450B6}"/>
              </a:ext>
            </a:extLst>
          </p:cNvPr>
          <p:cNvSpPr>
            <a:spLocks xmlns:a="http://schemas.openxmlformats.org/drawingml/2006/main" noGrp="1"/>
          </p:cNvSpPr>
          <p:nvPr/>
        </p:nvSpPr>
        <p:spPr>
          <a:xfrm xmlns:a="http://schemas.openxmlformats.org/drawingml/2006/main">
            <a:off x="3076575" y="3549015"/>
            <a:ext cx="5543550" cy="5543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Present the loop, payer and maintenance owner in one</a:t>
            </a:r>
          </a:p>
          <a:p xmlns:a="http://schemas.openxmlformats.org/drawingml/2006/main">
            <a:pPr>
              <a:defRPr sz="1725" b="0">
                <a:solidFill>
                  <a:srgbClr val="173E35"/>
                </a:solidFill>
                <a:latin typeface="Arial"/>
                <a:ea typeface="Arial"/>
                <a:cs typeface="Arial"/>
              </a:defRPr>
            </a:pPr>
            <a:r>
              <a:rPr sz="1725" b="0">
                <a:solidFill>
                  <a:srgbClr val="173E35"/>
                </a:solidFill>
                <a:latin typeface="Arial"/>
                <a:ea typeface="Arial"/>
                <a:cs typeface="Arial"/>
              </a:rPr>
              <a:t>minute.</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ae9e03bc9ba454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4" name="www.newton.university">
            <a:extLst xmlns:a="http://schemas.openxmlformats.org/drawingml/2006/main">
              <a:ext uri="{FF2B5EF4-FFF2-40B4-BE49-F238E27FC236}">
                <a16:creationId xmlns:a16="http://schemas.microsoft.com/office/drawing/2014/main" id="{4F72592A-9B69-4794-88C6-DABB2FB5C511}"/>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5" name="31">
            <a:extLst xmlns:a="http://schemas.openxmlformats.org/drawingml/2006/main">
              <a:ext uri="{FF2B5EF4-FFF2-40B4-BE49-F238E27FC236}">
                <a16:creationId xmlns:a16="http://schemas.microsoft.com/office/drawing/2014/main" id="{A9120B22-3DC1-4B2E-AD4C-98B653182BCE}"/>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31</a:t>
            </a:r>
          </a:p>
        </p:txBody>
      </p:sp>
    </p:spTree>
    <p:extLst>
      <p:ext uri="{BB962C8B-B14F-4D97-AF65-F5344CB8AC3E}">
        <p14:creationId xmlns:p14="http://schemas.microsoft.com/office/powerpoint/2010/main" val="1391571144"/>
      </p:ext>
    </p:extLst>
  </p:cSld>
</p:sld>
</file>

<file path=ppt/slides/slide3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30" name="Key Messages">
            <a:extLst xmlns:a="http://schemas.openxmlformats.org/drawingml/2006/main">
              <a:ext uri="{FF2B5EF4-FFF2-40B4-BE49-F238E27FC236}">
                <a16:creationId xmlns:a16="http://schemas.microsoft.com/office/drawing/2014/main" id="{F33AA8F2-4563-4102-AC16-366FA09CEEC0}"/>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Key Messages</a:t>
            </a:r>
          </a:p>
        </p:txBody>
      </p:sp>
      <p:sp>
        <p:nvSpPr>
          <p:cNvPr id="2" name="Editorial frame">
            <a:extLst xmlns:a="http://schemas.openxmlformats.org/drawingml/2006/main">
              <a:ext uri="{FF2B5EF4-FFF2-40B4-BE49-F238E27FC236}">
                <a16:creationId xmlns:a16="http://schemas.microsoft.com/office/drawing/2014/main" id="{77C56A3B-3DA1-4056-BA15-44797A84114B}"/>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F6FB2D8C-439C-47F3-8CF4-CDD2D19003FB}"/>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Editorial frame">
            <a:extLst xmlns:a="http://schemas.openxmlformats.org/drawingml/2006/main">
              <a:ext uri="{FF2B5EF4-FFF2-40B4-BE49-F238E27FC236}">
                <a16:creationId xmlns:a16="http://schemas.microsoft.com/office/drawing/2014/main" id="{BD4D1CB9-DC3F-4DBA-8ED4-95D56FE1EBA0}"/>
              </a:ext>
            </a:extLst>
          </p:cNvPr>
          <p:cNvSpPr>
            <a:spLocks xmlns:a="http://schemas.openxmlformats.org/drawingml/2006/main" noGrp="1"/>
          </p:cNvSpPr>
          <p:nvPr/>
        </p:nvSpPr>
        <p:spPr>
          <a:xfrm xmlns:a="http://schemas.openxmlformats.org/drawingml/2006/main">
            <a:off x="219075" y="219075"/>
            <a:ext cx="8705850" cy="4514850"/>
          </a:xfrm>
          <a:prstGeom xmlns:a="http://schemas.openxmlformats.org/drawingml/2006/main" prst="rect">
            <a:avLst/>
          </a:prstGeom>
          <a:noFill xmlns:a="http://schemas.openxmlformats.org/drawingml/2006/main"/>
          <a:ln xmlns:a="http://schemas.openxmlformats.org/drawingml/2006/main" w="7620">
            <a:solidFill>
              <a:srgbClr val="B7C3B1"/>
            </a:solidFill>
          </a:ln>
        </p:spPr>
      </p:sp>
      <p:sp>
        <p:nvSpPr>
          <p:cNvPr id="5" name="01">
            <a:extLst xmlns:a="http://schemas.openxmlformats.org/drawingml/2006/main">
              <a:ext uri="{FF2B5EF4-FFF2-40B4-BE49-F238E27FC236}">
                <a16:creationId xmlns:a16="http://schemas.microsoft.com/office/drawing/2014/main" id="{CE947AEF-0AFC-4F55-AF4A-98677A6930D2}"/>
              </a:ext>
            </a:extLst>
          </p:cNvPr>
          <p:cNvSpPr>
            <a:spLocks xmlns:a="http://schemas.openxmlformats.org/drawingml/2006/main" noGrp="1"/>
          </p:cNvSpPr>
          <p:nvPr/>
        </p:nvSpPr>
        <p:spPr>
          <a:xfrm xmlns:a="http://schemas.openxmlformats.org/drawingml/2006/main">
            <a:off x="495300" y="15335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01</a:t>
            </a:r>
          </a:p>
        </p:txBody>
      </p:sp>
      <p:sp>
        <p:nvSpPr>
          <p:cNvPr id="6" name="Pollution and carbon emissions are management prob">
            <a:extLst xmlns:a="http://schemas.openxmlformats.org/drawingml/2006/main">
              <a:ext uri="{FF2B5EF4-FFF2-40B4-BE49-F238E27FC236}">
                <a16:creationId xmlns:a16="http://schemas.microsoft.com/office/drawing/2014/main" id="{B03E2DF4-1D1F-4528-B458-D79A8C27624F}"/>
              </a:ext>
            </a:extLst>
          </p:cNvPr>
          <p:cNvSpPr>
            <a:spLocks xmlns:a="http://schemas.openxmlformats.org/drawingml/2006/main" noGrp="1"/>
          </p:cNvSpPr>
          <p:nvPr/>
        </p:nvSpPr>
        <p:spPr>
          <a:xfrm xmlns:a="http://schemas.openxmlformats.org/drawingml/2006/main">
            <a:off x="952500" y="1533525"/>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Pollution and carbon emissions are</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management problems with</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management solutions.</a:t>
            </a:r>
          </a:p>
        </p:txBody>
      </p:sp>
      <p:sp>
        <p:nvSpPr>
          <p:cNvPr id="7" name="Editorial frame">
            <a:extLst xmlns:a="http://schemas.openxmlformats.org/drawingml/2006/main">
              <a:ext uri="{FF2B5EF4-FFF2-40B4-BE49-F238E27FC236}">
                <a16:creationId xmlns:a16="http://schemas.microsoft.com/office/drawing/2014/main" id="{64A7DD8C-99D5-4E64-BB5E-5CF4E542B551}"/>
              </a:ext>
            </a:extLst>
          </p:cNvPr>
          <p:cNvSpPr>
            <a:spLocks xmlns:a="http://schemas.openxmlformats.org/drawingml/2006/main" noGrp="1"/>
          </p:cNvSpPr>
          <p:nvPr/>
        </p:nvSpPr>
        <p:spPr>
          <a:xfrm xmlns:a="http://schemas.openxmlformats.org/drawingml/2006/main">
            <a:off x="952500" y="2216944"/>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8" name="02">
            <a:extLst xmlns:a="http://schemas.openxmlformats.org/drawingml/2006/main">
              <a:ext uri="{FF2B5EF4-FFF2-40B4-BE49-F238E27FC236}">
                <a16:creationId xmlns:a16="http://schemas.microsoft.com/office/drawing/2014/main" id="{B42A3B51-97C8-41E2-AFD0-ADD709890C0B}"/>
              </a:ext>
            </a:extLst>
          </p:cNvPr>
          <p:cNvSpPr>
            <a:spLocks xmlns:a="http://schemas.openxmlformats.org/drawingml/2006/main" noGrp="1"/>
          </p:cNvSpPr>
          <p:nvPr/>
        </p:nvSpPr>
        <p:spPr>
          <a:xfrm xmlns:a="http://schemas.openxmlformats.org/drawingml/2006/main">
            <a:off x="495300" y="2331244"/>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02</a:t>
            </a:r>
          </a:p>
        </p:txBody>
      </p:sp>
      <p:sp>
        <p:nvSpPr>
          <p:cNvPr id="9" name="Climate change hits cities through heat, water and">
            <a:extLst xmlns:a="http://schemas.openxmlformats.org/drawingml/2006/main">
              <a:ext uri="{FF2B5EF4-FFF2-40B4-BE49-F238E27FC236}">
                <a16:creationId xmlns:a16="http://schemas.microsoft.com/office/drawing/2014/main" id="{7822FF4E-F581-479A-855B-2DE023E84A7C}"/>
              </a:ext>
            </a:extLst>
          </p:cNvPr>
          <p:cNvSpPr>
            <a:spLocks xmlns:a="http://schemas.openxmlformats.org/drawingml/2006/main" noGrp="1"/>
          </p:cNvSpPr>
          <p:nvPr/>
        </p:nvSpPr>
        <p:spPr>
          <a:xfrm xmlns:a="http://schemas.openxmlformats.org/drawingml/2006/main">
            <a:off x="952500" y="2331244"/>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Climate change hits cities through</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heat, water and economic disruption.</a:t>
            </a:r>
          </a:p>
        </p:txBody>
      </p:sp>
      <p:sp>
        <p:nvSpPr>
          <p:cNvPr id="10" name="Editorial frame">
            <a:extLst xmlns:a="http://schemas.openxmlformats.org/drawingml/2006/main">
              <a:ext uri="{FF2B5EF4-FFF2-40B4-BE49-F238E27FC236}">
                <a16:creationId xmlns:a16="http://schemas.microsoft.com/office/drawing/2014/main" id="{49D25BD3-82A1-4C44-B38A-E4630170DF4A}"/>
              </a:ext>
            </a:extLst>
          </p:cNvPr>
          <p:cNvSpPr>
            <a:spLocks xmlns:a="http://schemas.openxmlformats.org/drawingml/2006/main" noGrp="1"/>
          </p:cNvSpPr>
          <p:nvPr/>
        </p:nvSpPr>
        <p:spPr>
          <a:xfrm xmlns:a="http://schemas.openxmlformats.org/drawingml/2006/main">
            <a:off x="952500" y="3014663"/>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1" name="03">
            <a:extLst xmlns:a="http://schemas.openxmlformats.org/drawingml/2006/main">
              <a:ext uri="{FF2B5EF4-FFF2-40B4-BE49-F238E27FC236}">
                <a16:creationId xmlns:a16="http://schemas.microsoft.com/office/drawing/2014/main" id="{C30EAC83-D678-43EA-B29C-4EC8D5F3D769}"/>
              </a:ext>
            </a:extLst>
          </p:cNvPr>
          <p:cNvSpPr>
            <a:spLocks xmlns:a="http://schemas.openxmlformats.org/drawingml/2006/main" noGrp="1"/>
          </p:cNvSpPr>
          <p:nvPr/>
        </p:nvSpPr>
        <p:spPr>
          <a:xfrm xmlns:a="http://schemas.openxmlformats.org/drawingml/2006/main">
            <a:off x="495300" y="3128963"/>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03</a:t>
            </a:r>
          </a:p>
        </p:txBody>
      </p:sp>
      <p:sp>
        <p:nvSpPr>
          <p:cNvPr id="12" name="Resilient cities use nature as a buffer against sh">
            <a:extLst xmlns:a="http://schemas.openxmlformats.org/drawingml/2006/main">
              <a:ext uri="{FF2B5EF4-FFF2-40B4-BE49-F238E27FC236}">
                <a16:creationId xmlns:a16="http://schemas.microsoft.com/office/drawing/2014/main" id="{9894129B-769B-4348-863D-779700C6D640}"/>
              </a:ext>
            </a:extLst>
          </p:cNvPr>
          <p:cNvSpPr>
            <a:spLocks xmlns:a="http://schemas.openxmlformats.org/drawingml/2006/main" noGrp="1"/>
          </p:cNvSpPr>
          <p:nvPr/>
        </p:nvSpPr>
        <p:spPr>
          <a:xfrm xmlns:a="http://schemas.openxmlformats.org/drawingml/2006/main">
            <a:off x="952500" y="3128963"/>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Resilient cities use nature as a buffer</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against shocks.</a:t>
            </a:r>
          </a:p>
        </p:txBody>
      </p:sp>
      <p:sp>
        <p:nvSpPr>
          <p:cNvPr id="13" name="Editorial frame">
            <a:extLst xmlns:a="http://schemas.openxmlformats.org/drawingml/2006/main">
              <a:ext uri="{FF2B5EF4-FFF2-40B4-BE49-F238E27FC236}">
                <a16:creationId xmlns:a16="http://schemas.microsoft.com/office/drawing/2014/main" id="{D624FE9D-E703-4079-950D-20AB37D4A71F}"/>
              </a:ext>
            </a:extLst>
          </p:cNvPr>
          <p:cNvSpPr>
            <a:spLocks xmlns:a="http://schemas.openxmlformats.org/drawingml/2006/main" noGrp="1"/>
          </p:cNvSpPr>
          <p:nvPr/>
        </p:nvSpPr>
        <p:spPr>
          <a:xfrm xmlns:a="http://schemas.openxmlformats.org/drawingml/2006/main">
            <a:off x="952500" y="3812381"/>
            <a:ext cx="33909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4" name="04">
            <a:extLst xmlns:a="http://schemas.openxmlformats.org/drawingml/2006/main">
              <a:ext uri="{FF2B5EF4-FFF2-40B4-BE49-F238E27FC236}">
                <a16:creationId xmlns:a16="http://schemas.microsoft.com/office/drawing/2014/main" id="{AA559B61-C789-4B91-B4BA-35980B5DC0EF}"/>
              </a:ext>
            </a:extLst>
          </p:cNvPr>
          <p:cNvSpPr>
            <a:spLocks xmlns:a="http://schemas.openxmlformats.org/drawingml/2006/main" noGrp="1"/>
          </p:cNvSpPr>
          <p:nvPr/>
        </p:nvSpPr>
        <p:spPr>
          <a:xfrm xmlns:a="http://schemas.openxmlformats.org/drawingml/2006/main">
            <a:off x="495300" y="3926681"/>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04</a:t>
            </a:r>
          </a:p>
        </p:txBody>
      </p:sp>
      <p:sp>
        <p:nvSpPr>
          <p:cNvPr id="15" name="One green investment can deliver many services at ">
            <a:extLst xmlns:a="http://schemas.openxmlformats.org/drawingml/2006/main">
              <a:ext uri="{FF2B5EF4-FFF2-40B4-BE49-F238E27FC236}">
                <a16:creationId xmlns:a16="http://schemas.microsoft.com/office/drawing/2014/main" id="{0E3A36A9-C49A-428C-97FD-68E4392373F9}"/>
              </a:ext>
            </a:extLst>
          </p:cNvPr>
          <p:cNvSpPr>
            <a:spLocks xmlns:a="http://schemas.openxmlformats.org/drawingml/2006/main" noGrp="1"/>
          </p:cNvSpPr>
          <p:nvPr/>
        </p:nvSpPr>
        <p:spPr>
          <a:xfrm xmlns:a="http://schemas.openxmlformats.org/drawingml/2006/main">
            <a:off x="952500" y="3926681"/>
            <a:ext cx="339090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One green investment can deliver</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many services at once.</a:t>
            </a:r>
          </a:p>
        </p:txBody>
      </p:sp>
      <p:sp>
        <p:nvSpPr>
          <p:cNvPr id="16" name="05">
            <a:extLst xmlns:a="http://schemas.openxmlformats.org/drawingml/2006/main">
              <a:ext uri="{FF2B5EF4-FFF2-40B4-BE49-F238E27FC236}">
                <a16:creationId xmlns:a16="http://schemas.microsoft.com/office/drawing/2014/main" id="{961075BA-5A97-4719-B780-8E2DEA38A12B}"/>
              </a:ext>
            </a:extLst>
          </p:cNvPr>
          <p:cNvSpPr>
            <a:spLocks xmlns:a="http://schemas.openxmlformats.org/drawingml/2006/main" noGrp="1"/>
          </p:cNvSpPr>
          <p:nvPr/>
        </p:nvSpPr>
        <p:spPr>
          <a:xfrm xmlns:a="http://schemas.openxmlformats.org/drawingml/2006/main">
            <a:off x="4819650" y="1533525"/>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05</a:t>
            </a:r>
          </a:p>
        </p:txBody>
      </p:sp>
      <p:sp>
        <p:nvSpPr>
          <p:cNvPr id="17" name="The linear economy destroys value; the circular ec">
            <a:extLst xmlns:a="http://schemas.openxmlformats.org/drawingml/2006/main">
              <a:ext uri="{FF2B5EF4-FFF2-40B4-BE49-F238E27FC236}">
                <a16:creationId xmlns:a16="http://schemas.microsoft.com/office/drawing/2014/main" id="{3191867E-FFF5-49AC-819D-713F185F79C7}"/>
              </a:ext>
            </a:extLst>
          </p:cNvPr>
          <p:cNvSpPr>
            <a:spLocks xmlns:a="http://schemas.openxmlformats.org/drawingml/2006/main" noGrp="1"/>
          </p:cNvSpPr>
          <p:nvPr/>
        </p:nvSpPr>
        <p:spPr>
          <a:xfrm xmlns:a="http://schemas.openxmlformats.org/drawingml/2006/main">
            <a:off x="5276850" y="1533525"/>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The linear economy destroys value;</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the circular economy preserves it.</a:t>
            </a:r>
          </a:p>
        </p:txBody>
      </p:sp>
      <p:sp>
        <p:nvSpPr>
          <p:cNvPr id="18" name="Editorial frame">
            <a:extLst xmlns:a="http://schemas.openxmlformats.org/drawingml/2006/main">
              <a:ext uri="{FF2B5EF4-FFF2-40B4-BE49-F238E27FC236}">
                <a16:creationId xmlns:a16="http://schemas.microsoft.com/office/drawing/2014/main" id="{88260B17-7CED-4575-946B-BB7AB61D2A81}"/>
              </a:ext>
            </a:extLst>
          </p:cNvPr>
          <p:cNvSpPr>
            <a:spLocks xmlns:a="http://schemas.openxmlformats.org/drawingml/2006/main" noGrp="1"/>
          </p:cNvSpPr>
          <p:nvPr/>
        </p:nvSpPr>
        <p:spPr>
          <a:xfrm xmlns:a="http://schemas.openxmlformats.org/drawingml/2006/main">
            <a:off x="5276850" y="2216944"/>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19" name="06">
            <a:extLst xmlns:a="http://schemas.openxmlformats.org/drawingml/2006/main">
              <a:ext uri="{FF2B5EF4-FFF2-40B4-BE49-F238E27FC236}">
                <a16:creationId xmlns:a16="http://schemas.microsoft.com/office/drawing/2014/main" id="{A895224E-16E7-4D3F-9F7C-4CD06222588E}"/>
              </a:ext>
            </a:extLst>
          </p:cNvPr>
          <p:cNvSpPr>
            <a:spLocks xmlns:a="http://schemas.openxmlformats.org/drawingml/2006/main" noGrp="1"/>
          </p:cNvSpPr>
          <p:nvPr/>
        </p:nvSpPr>
        <p:spPr>
          <a:xfrm xmlns:a="http://schemas.openxmlformats.org/drawingml/2006/main">
            <a:off x="4819650" y="2331244"/>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06</a:t>
            </a:r>
          </a:p>
        </p:txBody>
      </p:sp>
      <p:sp>
        <p:nvSpPr>
          <p:cNvPr id="20" name="Circularity starts at the design stage.">
            <a:extLst xmlns:a="http://schemas.openxmlformats.org/drawingml/2006/main">
              <a:ext uri="{FF2B5EF4-FFF2-40B4-BE49-F238E27FC236}">
                <a16:creationId xmlns:a16="http://schemas.microsoft.com/office/drawing/2014/main" id="{FEA0B176-288E-44B4-8432-05867CE3A113}"/>
              </a:ext>
            </a:extLst>
          </p:cNvPr>
          <p:cNvSpPr>
            <a:spLocks xmlns:a="http://schemas.openxmlformats.org/drawingml/2006/main" noGrp="1"/>
          </p:cNvSpPr>
          <p:nvPr/>
        </p:nvSpPr>
        <p:spPr>
          <a:xfrm xmlns:a="http://schemas.openxmlformats.org/drawingml/2006/main">
            <a:off x="5276850" y="2331244"/>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Circularity starts at the design stage.</a:t>
            </a:r>
          </a:p>
        </p:txBody>
      </p:sp>
      <p:sp>
        <p:nvSpPr>
          <p:cNvPr id="21" name="Editorial frame">
            <a:extLst xmlns:a="http://schemas.openxmlformats.org/drawingml/2006/main">
              <a:ext uri="{FF2B5EF4-FFF2-40B4-BE49-F238E27FC236}">
                <a16:creationId xmlns:a16="http://schemas.microsoft.com/office/drawing/2014/main" id="{41D90BB7-9023-44D2-9AA3-B147ACEBC777}"/>
              </a:ext>
            </a:extLst>
          </p:cNvPr>
          <p:cNvSpPr>
            <a:spLocks xmlns:a="http://schemas.openxmlformats.org/drawingml/2006/main" noGrp="1"/>
          </p:cNvSpPr>
          <p:nvPr/>
        </p:nvSpPr>
        <p:spPr>
          <a:xfrm xmlns:a="http://schemas.openxmlformats.org/drawingml/2006/main">
            <a:off x="5276850" y="3014663"/>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2" name="07">
            <a:extLst xmlns:a="http://schemas.openxmlformats.org/drawingml/2006/main">
              <a:ext uri="{FF2B5EF4-FFF2-40B4-BE49-F238E27FC236}">
                <a16:creationId xmlns:a16="http://schemas.microsoft.com/office/drawing/2014/main" id="{4A691AF7-E307-496B-848D-0DDE7A9D816A}"/>
              </a:ext>
            </a:extLst>
          </p:cNvPr>
          <p:cNvSpPr>
            <a:spLocks xmlns:a="http://schemas.openxmlformats.org/drawingml/2006/main" noGrp="1"/>
          </p:cNvSpPr>
          <p:nvPr/>
        </p:nvSpPr>
        <p:spPr>
          <a:xfrm xmlns:a="http://schemas.openxmlformats.org/drawingml/2006/main">
            <a:off x="4819650" y="3128963"/>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07</a:t>
            </a:r>
          </a:p>
        </p:txBody>
      </p:sp>
      <p:sp>
        <p:nvSpPr>
          <p:cNvPr id="23" name="GI can support water, food and soil loops when som">
            <a:extLst xmlns:a="http://schemas.openxmlformats.org/drawingml/2006/main">
              <a:ext uri="{FF2B5EF4-FFF2-40B4-BE49-F238E27FC236}">
                <a16:creationId xmlns:a16="http://schemas.microsoft.com/office/drawing/2014/main" id="{13E03785-0F7D-4684-AEA6-9B6CAC8C3231}"/>
              </a:ext>
            </a:extLst>
          </p:cNvPr>
          <p:cNvSpPr>
            <a:spLocks xmlns:a="http://schemas.openxmlformats.org/drawingml/2006/main" noGrp="1"/>
          </p:cNvSpPr>
          <p:nvPr/>
        </p:nvSpPr>
        <p:spPr>
          <a:xfrm xmlns:a="http://schemas.openxmlformats.org/drawingml/2006/main">
            <a:off x="5276850" y="3128963"/>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GI can support water, food and soil</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loops when someone owns and</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maintains them.</a:t>
            </a:r>
          </a:p>
        </p:txBody>
      </p:sp>
      <p:sp>
        <p:nvSpPr>
          <p:cNvPr id="24" name="Editorial frame">
            <a:extLst xmlns:a="http://schemas.openxmlformats.org/drawingml/2006/main">
              <a:ext uri="{FF2B5EF4-FFF2-40B4-BE49-F238E27FC236}">
                <a16:creationId xmlns:a16="http://schemas.microsoft.com/office/drawing/2014/main" id="{C6E46DB8-43C8-472B-9EC3-EFEE7712521C}"/>
              </a:ext>
            </a:extLst>
          </p:cNvPr>
          <p:cNvSpPr>
            <a:spLocks xmlns:a="http://schemas.openxmlformats.org/drawingml/2006/main" noGrp="1"/>
          </p:cNvSpPr>
          <p:nvPr/>
        </p:nvSpPr>
        <p:spPr>
          <a:xfrm xmlns:a="http://schemas.openxmlformats.org/drawingml/2006/main">
            <a:off x="5276850" y="3812381"/>
            <a:ext cx="337185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25" name="08">
            <a:extLst xmlns:a="http://schemas.openxmlformats.org/drawingml/2006/main">
              <a:ext uri="{FF2B5EF4-FFF2-40B4-BE49-F238E27FC236}">
                <a16:creationId xmlns:a16="http://schemas.microsoft.com/office/drawing/2014/main" id="{746028DC-92E1-4B9F-B6C7-D30E0669FDA6}"/>
              </a:ext>
            </a:extLst>
          </p:cNvPr>
          <p:cNvSpPr>
            <a:spLocks xmlns:a="http://schemas.openxmlformats.org/drawingml/2006/main" noGrp="1"/>
          </p:cNvSpPr>
          <p:nvPr/>
        </p:nvSpPr>
        <p:spPr>
          <a:xfrm xmlns:a="http://schemas.openxmlformats.org/drawingml/2006/main">
            <a:off x="4819650" y="3926681"/>
            <a:ext cx="333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75" b="0">
                <a:solidFill>
                  <a:srgbClr val="B56647"/>
                </a:solidFill>
                <a:latin typeface="Arial"/>
                <a:ea typeface="Arial"/>
                <a:cs typeface="Arial"/>
              </a:defRPr>
            </a:pPr>
            <a:r>
              <a:rPr sz="1275" b="0">
                <a:solidFill>
                  <a:srgbClr val="B56647"/>
                </a:solidFill>
                <a:latin typeface="Arial"/>
                <a:ea typeface="Arial"/>
                <a:cs typeface="Arial"/>
              </a:rPr>
              <a:t>08</a:t>
            </a:r>
          </a:p>
        </p:txBody>
      </p:sp>
      <p:sp>
        <p:nvSpPr>
          <p:cNvPr id="26" name="Policy and business models must align, as Amsterda">
            <a:extLst xmlns:a="http://schemas.openxmlformats.org/drawingml/2006/main">
              <a:ext uri="{FF2B5EF4-FFF2-40B4-BE49-F238E27FC236}">
                <a16:creationId xmlns:a16="http://schemas.microsoft.com/office/drawing/2014/main" id="{DCC1A9AB-9852-4A35-811F-6ACEE11328CE}"/>
              </a:ext>
            </a:extLst>
          </p:cNvPr>
          <p:cNvSpPr>
            <a:spLocks xmlns:a="http://schemas.openxmlformats.org/drawingml/2006/main" noGrp="1"/>
          </p:cNvSpPr>
          <p:nvPr/>
        </p:nvSpPr>
        <p:spPr>
          <a:xfrm xmlns:a="http://schemas.openxmlformats.org/drawingml/2006/main">
            <a:off x="5276850" y="3926681"/>
            <a:ext cx="3371850" cy="7310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Policy and business models must</a:t>
            </a:r>
          </a:p>
          <a:p xmlns:a="http://schemas.openxmlformats.org/drawingml/2006/main">
            <a:pPr>
              <a:defRPr sz="1575" b="0">
                <a:solidFill>
                  <a:srgbClr val="173E35"/>
                </a:solidFill>
                <a:latin typeface="Arial"/>
                <a:ea typeface="Arial"/>
                <a:cs typeface="Arial"/>
              </a:defRPr>
            </a:pPr>
            <a:r>
              <a:rPr sz="1575" b="0">
                <a:solidFill>
                  <a:srgbClr val="173E35"/>
                </a:solidFill>
                <a:latin typeface="Arial"/>
                <a:ea typeface="Arial"/>
                <a:cs typeface="Arial"/>
              </a:rPr>
              <a:t>align, as Amsterdam shows.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69b2a5ef09504c5c"/>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28" name="www.newton.university">
            <a:extLst xmlns:a="http://schemas.openxmlformats.org/drawingml/2006/main">
              <a:ext uri="{FF2B5EF4-FFF2-40B4-BE49-F238E27FC236}">
                <a16:creationId xmlns:a16="http://schemas.microsoft.com/office/drawing/2014/main" id="{B1763EDA-7C67-4B52-AB8F-CD90FDCFB4F9}"/>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29" name="32">
            <a:extLst xmlns:a="http://schemas.openxmlformats.org/drawingml/2006/main">
              <a:ext uri="{FF2B5EF4-FFF2-40B4-BE49-F238E27FC236}">
                <a16:creationId xmlns:a16="http://schemas.microsoft.com/office/drawing/2014/main" id="{3FD11FEE-2390-4410-8209-EA072D80CC59}"/>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32</a:t>
            </a:r>
          </a:p>
        </p:txBody>
      </p:sp>
    </p:spTree>
    <p:extLst>
      <p:ext uri="{BB962C8B-B14F-4D97-AF65-F5344CB8AC3E}">
        <p14:creationId xmlns:p14="http://schemas.microsoft.com/office/powerpoint/2010/main" val="1669206906"/>
      </p:ext>
    </p:extLst>
  </p:cSld>
</p:sld>
</file>

<file path=ppt/slides/slide3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6" name="Recommended Reading">
            <a:extLst xmlns:a="http://schemas.openxmlformats.org/drawingml/2006/main">
              <a:ext uri="{FF2B5EF4-FFF2-40B4-BE49-F238E27FC236}">
                <a16:creationId xmlns:a16="http://schemas.microsoft.com/office/drawing/2014/main" id="{77B7E906-B6B0-4318-B8A7-7AA45AE1FC88}"/>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Recommended Reading</a:t>
            </a:r>
          </a:p>
        </p:txBody>
      </p:sp>
      <p:sp>
        <p:nvSpPr>
          <p:cNvPr id="2" name="Editorial frame">
            <a:extLst xmlns:a="http://schemas.openxmlformats.org/drawingml/2006/main">
              <a:ext uri="{FF2B5EF4-FFF2-40B4-BE49-F238E27FC236}">
                <a16:creationId xmlns:a16="http://schemas.microsoft.com/office/drawing/2014/main" id="{D98F988D-E92A-4A38-B380-9561C083F14F}"/>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713CECCA-8934-4685-838A-4B2132E8D9B1}"/>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IPCC (2023). AR6 Synthesis Report — Summary for Po">
            <a:extLst xmlns:a="http://schemas.openxmlformats.org/drawingml/2006/main">
              <a:ext uri="{FF2B5EF4-FFF2-40B4-BE49-F238E27FC236}">
                <a16:creationId xmlns:a16="http://schemas.microsoft.com/office/drawing/2014/main" id="{43582B2B-6473-4DC0-9C89-B248F30932D1}"/>
              </a:ext>
            </a:extLst>
          </p:cNvPr>
          <p:cNvSpPr>
            <a:spLocks xmlns:a="http://schemas.openxmlformats.org/drawingml/2006/main" noGrp="1"/>
          </p:cNvSpPr>
          <p:nvPr/>
        </p:nvSpPr>
        <p:spPr>
          <a:xfrm xmlns:a="http://schemas.openxmlformats.org/drawingml/2006/main">
            <a:off x="495300" y="1524000"/>
            <a:ext cx="5305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IPCC (2023). AR6 Synthesis Report — Summary for</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Policymakers.</a:t>
            </a:r>
          </a:p>
        </p:txBody>
      </p:sp>
      <p:sp>
        <p:nvSpPr>
          <p:cNvPr id="5" name="European Environment Agency — Urban adaptation rep">
            <a:extLst xmlns:a="http://schemas.openxmlformats.org/drawingml/2006/main">
              <a:ext uri="{FF2B5EF4-FFF2-40B4-BE49-F238E27FC236}">
                <a16:creationId xmlns:a16="http://schemas.microsoft.com/office/drawing/2014/main" id="{C50FF554-E6C4-4599-BCDB-4005FBAEC5D5}"/>
              </a:ext>
            </a:extLst>
          </p:cNvPr>
          <p:cNvSpPr>
            <a:spLocks xmlns:a="http://schemas.openxmlformats.org/drawingml/2006/main" noGrp="1"/>
          </p:cNvSpPr>
          <p:nvPr/>
        </p:nvSpPr>
        <p:spPr>
          <a:xfrm xmlns:a="http://schemas.openxmlformats.org/drawingml/2006/main">
            <a:off x="495300" y="2171700"/>
            <a:ext cx="5305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European Environment Agency — Urban adaptation reports.</a:t>
            </a:r>
          </a:p>
        </p:txBody>
      </p:sp>
      <p:sp>
        <p:nvSpPr>
          <p:cNvPr id="6" name="Prague Climate Plan 2030 (klima.praha.eu).">
            <a:extLst xmlns:a="http://schemas.openxmlformats.org/drawingml/2006/main">
              <a:ext uri="{FF2B5EF4-FFF2-40B4-BE49-F238E27FC236}">
                <a16:creationId xmlns:a16="http://schemas.microsoft.com/office/drawing/2014/main" id="{84C282A4-2D53-436B-A379-65516BAA0CE7}"/>
              </a:ext>
            </a:extLst>
          </p:cNvPr>
          <p:cNvSpPr>
            <a:spLocks xmlns:a="http://schemas.openxmlformats.org/drawingml/2006/main" noGrp="1"/>
          </p:cNvSpPr>
          <p:nvPr/>
        </p:nvSpPr>
        <p:spPr>
          <a:xfrm xmlns:a="http://schemas.openxmlformats.org/drawingml/2006/main">
            <a:off x="495300" y="2590800"/>
            <a:ext cx="5305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Prague Climate Plan 2030 (klima.praha.eu).</a:t>
            </a:r>
          </a:p>
        </p:txBody>
      </p:sp>
      <p:sp>
        <p:nvSpPr>
          <p:cNvPr id="7" name="Ellen MacArthur Foundation — Towards the Circular ">
            <a:extLst xmlns:a="http://schemas.openxmlformats.org/drawingml/2006/main">
              <a:ext uri="{FF2B5EF4-FFF2-40B4-BE49-F238E27FC236}">
                <a16:creationId xmlns:a16="http://schemas.microsoft.com/office/drawing/2014/main" id="{3898E51A-EE36-4013-85C3-2599F5DFBEDF}"/>
              </a:ext>
            </a:extLst>
          </p:cNvPr>
          <p:cNvSpPr>
            <a:spLocks xmlns:a="http://schemas.openxmlformats.org/drawingml/2006/main" noGrp="1"/>
          </p:cNvSpPr>
          <p:nvPr/>
        </p:nvSpPr>
        <p:spPr>
          <a:xfrm xmlns:a="http://schemas.openxmlformats.org/drawingml/2006/main">
            <a:off x="495300" y="3009900"/>
            <a:ext cx="53054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Ellen MacArthur Foundation — Towards the Circular</a:t>
            </a:r>
          </a:p>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Economy.</a:t>
            </a:r>
          </a:p>
        </p:txBody>
      </p:sp>
      <p:sp>
        <p:nvSpPr>
          <p:cNvPr id="8" name="European Commission — Circular Economy Action Plan">
            <a:extLst xmlns:a="http://schemas.openxmlformats.org/drawingml/2006/main">
              <a:ext uri="{FF2B5EF4-FFF2-40B4-BE49-F238E27FC236}">
                <a16:creationId xmlns:a16="http://schemas.microsoft.com/office/drawing/2014/main" id="{058B0560-76B1-46F8-BE67-928F47CF22EC}"/>
              </a:ext>
            </a:extLst>
          </p:cNvPr>
          <p:cNvSpPr>
            <a:spLocks xmlns:a="http://schemas.openxmlformats.org/drawingml/2006/main" noGrp="1"/>
          </p:cNvSpPr>
          <p:nvPr/>
        </p:nvSpPr>
        <p:spPr>
          <a:xfrm xmlns:a="http://schemas.openxmlformats.org/drawingml/2006/main">
            <a:off x="495300" y="3657600"/>
            <a:ext cx="5305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European Commission — Circular Economy Action Plan.</a:t>
            </a:r>
          </a:p>
        </p:txBody>
      </p:sp>
      <p:sp>
        <p:nvSpPr>
          <p:cNvPr id="9" name="Amsterdam Circular 2020–2025 Strategy.">
            <a:extLst xmlns:a="http://schemas.openxmlformats.org/drawingml/2006/main">
              <a:ext uri="{FF2B5EF4-FFF2-40B4-BE49-F238E27FC236}">
                <a16:creationId xmlns:a16="http://schemas.microsoft.com/office/drawing/2014/main" id="{F3D104EF-490D-43F7-8AD8-728EFB7B37AA}"/>
              </a:ext>
            </a:extLst>
          </p:cNvPr>
          <p:cNvSpPr>
            <a:spLocks xmlns:a="http://schemas.openxmlformats.org/drawingml/2006/main" noGrp="1"/>
          </p:cNvSpPr>
          <p:nvPr/>
        </p:nvSpPr>
        <p:spPr>
          <a:xfrm xmlns:a="http://schemas.openxmlformats.org/drawingml/2006/main">
            <a:off x="495300" y="4076700"/>
            <a:ext cx="53054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500" b="0">
                <a:solidFill>
                  <a:srgbClr val="173E35"/>
                </a:solidFill>
                <a:latin typeface="Arial"/>
                <a:ea typeface="Arial"/>
                <a:cs typeface="Arial"/>
              </a:defRPr>
            </a:pPr>
            <a:r>
              <a:rPr sz="1500" b="0">
                <a:solidFill>
                  <a:srgbClr val="173E35"/>
                </a:solidFill>
                <a:latin typeface="Arial"/>
                <a:ea typeface="Arial"/>
                <a:cs typeface="Arial"/>
              </a:rPr>
              <a:t>Amsterdam Circular 2020–2025 Strategy.</a:t>
            </a:r>
          </a:p>
        </p:txBody>
      </p:sp>
      <p:sp>
        <p:nvSpPr>
          <p:cNvPr id="10" name="Editorial frame">
            <a:extLst xmlns:a="http://schemas.openxmlformats.org/drawingml/2006/main">
              <a:ext uri="{FF2B5EF4-FFF2-40B4-BE49-F238E27FC236}">
                <a16:creationId xmlns:a16="http://schemas.microsoft.com/office/drawing/2014/main" id="{F4A3C510-CA2C-4EE4-B41E-6D4DAD3F72BB}"/>
              </a:ext>
            </a:extLst>
          </p:cNvPr>
          <p:cNvSpPr>
            <a:spLocks xmlns:a="http://schemas.openxmlformats.org/drawingml/2006/main" noGrp="1"/>
          </p:cNvSpPr>
          <p:nvPr/>
        </p:nvSpPr>
        <p:spPr>
          <a:xfrm xmlns:a="http://schemas.openxmlformats.org/drawingml/2006/main">
            <a:off x="6076950" y="1438275"/>
            <a:ext cx="2714625" cy="3248025"/>
          </a:xfrm>
          <a:prstGeom xmlns:a="http://schemas.openxmlformats.org/drawingml/2006/main" prst="rect">
            <a:avLst/>
          </a:prstGeom>
          <a:solidFill xmlns:a="http://schemas.openxmlformats.org/drawingml/2006/main">
            <a:srgbClr val="E3E9D9"/>
          </a:solidFill>
          <a:ln xmlns:a="http://schemas.openxmlformats.org/drawingml/2006/main" w="7620">
            <a:solidFill>
              <a:srgbClr val="B7C3B1"/>
            </a:solidFill>
          </a:ln>
        </p:spPr>
      </p:sp>
      <p:sp>
        <p:nvSpPr>
          <p:cNvPr id="11" name="Next lecture">
            <a:extLst xmlns:a="http://schemas.openxmlformats.org/drawingml/2006/main">
              <a:ext uri="{FF2B5EF4-FFF2-40B4-BE49-F238E27FC236}">
                <a16:creationId xmlns:a16="http://schemas.microsoft.com/office/drawing/2014/main" id="{33B77ED1-0D01-496C-9D13-7F5956ABD9F2}"/>
              </a:ext>
            </a:extLst>
          </p:cNvPr>
          <p:cNvSpPr>
            <a:spLocks xmlns:a="http://schemas.openxmlformats.org/drawingml/2006/main" noGrp="1"/>
          </p:cNvSpPr>
          <p:nvPr/>
        </p:nvSpPr>
        <p:spPr>
          <a:xfrm xmlns:a="http://schemas.openxmlformats.org/drawingml/2006/main">
            <a:off x="6267450" y="1638300"/>
            <a:ext cx="2324100" cy="3257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950" b="0">
                <a:solidFill>
                  <a:srgbClr val="B56647"/>
                </a:solidFill>
                <a:latin typeface="Georgia"/>
                <a:ea typeface="Georgia"/>
                <a:cs typeface="Georgia"/>
              </a:defRPr>
            </a:pPr>
            <a:r>
              <a:rPr sz="1950" b="0">
                <a:solidFill>
                  <a:srgbClr val="B56647"/>
                </a:solidFill>
                <a:latin typeface="Georgia"/>
                <a:ea typeface="Georgia"/>
                <a:cs typeface="Georgia"/>
              </a:rPr>
              <a:t>Next lecture</a:t>
            </a:r>
          </a:p>
        </p:txBody>
      </p:sp>
      <p:sp>
        <p:nvSpPr>
          <p:cNvPr id="12" name="Sustainable Business Models and Corporate Strategy">
            <a:extLst xmlns:a="http://schemas.openxmlformats.org/drawingml/2006/main">
              <a:ext uri="{FF2B5EF4-FFF2-40B4-BE49-F238E27FC236}">
                <a16:creationId xmlns:a16="http://schemas.microsoft.com/office/drawing/2014/main" id="{2A584826-8BA4-453E-B773-808D31A517EB}"/>
              </a:ext>
            </a:extLst>
          </p:cNvPr>
          <p:cNvSpPr>
            <a:spLocks xmlns:a="http://schemas.openxmlformats.org/drawingml/2006/main" noGrp="1"/>
          </p:cNvSpPr>
          <p:nvPr/>
        </p:nvSpPr>
        <p:spPr>
          <a:xfrm xmlns:a="http://schemas.openxmlformats.org/drawingml/2006/main">
            <a:off x="6267450" y="2078355"/>
            <a:ext cx="2324100" cy="7829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Sustainable Business</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Models and Corporate</a:t>
            </a:r>
          </a:p>
          <a:p xmlns:a="http://schemas.openxmlformats.org/drawingml/2006/main">
            <a:pPr>
              <a:defRPr sz="1650" b="0">
                <a:solidFill>
                  <a:srgbClr val="173E35"/>
                </a:solidFill>
                <a:latin typeface="Arial"/>
                <a:ea typeface="Arial"/>
                <a:cs typeface="Arial"/>
              </a:defRPr>
            </a:pPr>
            <a:r>
              <a:rPr sz="1650" b="0">
                <a:solidFill>
                  <a:srgbClr val="173E35"/>
                </a:solidFill>
                <a:latin typeface="Arial"/>
                <a:ea typeface="Arial"/>
                <a:cs typeface="Arial"/>
              </a:rPr>
              <a:t>Strategy.</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47a207321b24017"/>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4" name="www.newton.university">
            <a:extLst xmlns:a="http://schemas.openxmlformats.org/drawingml/2006/main">
              <a:ext uri="{FF2B5EF4-FFF2-40B4-BE49-F238E27FC236}">
                <a16:creationId xmlns:a16="http://schemas.microsoft.com/office/drawing/2014/main" id="{3A915F3B-22CE-4CFA-BA0A-22539110106E}"/>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5" name="33">
            <a:extLst xmlns:a="http://schemas.openxmlformats.org/drawingml/2006/main">
              <a:ext uri="{FF2B5EF4-FFF2-40B4-BE49-F238E27FC236}">
                <a16:creationId xmlns:a16="http://schemas.microsoft.com/office/drawing/2014/main" id="{03F169A1-B299-4FEA-AF80-52CE05A8ED85}"/>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33</a:t>
            </a:r>
          </a:p>
        </p:txBody>
      </p:sp>
    </p:spTree>
    <p:extLst>
      <p:ext uri="{BB962C8B-B14F-4D97-AF65-F5344CB8AC3E}">
        <p14:creationId xmlns:p14="http://schemas.microsoft.com/office/powerpoint/2010/main" val="1702988967"/>
      </p:ext>
    </p:extLst>
  </p:cSld>
</p:sld>
</file>

<file path=ppt/slides/slide34.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ff0261e3619241e1"/>
          <a:srcRect xmlns:a="http://schemas.openxmlformats.org/drawingml/2006/main" l="2500" t="0" r="2500" b="0"/>
          <a:stretch xmlns:a="http://schemas.openxmlformats.org/drawingml/2006/main">
            <a:fillRect l="0" t="0" r="0" b="0"/>
          </a:stretch>
        </p:blipFill>
        <p:spPr>
          <a:xfrm xmlns:a="http://schemas.openxmlformats.org/drawingml/2006/main">
            <a:off x="5886450" y="0"/>
            <a:ext cx="3257550" cy="5143500"/>
          </a:xfrm>
          <a:prstGeom xmlns:a="http://schemas.openxmlformats.org/drawingml/2006/main" prst="rect">
            <a:avLst/>
          </a:prstGeom>
        </p:spPr>
      </p:pic>
      <p:sp>
        <p:nvSpPr>
          <p:cNvPr id="2" name="Any&#10;questions?">
            <a:extLst xmlns:a="http://schemas.openxmlformats.org/drawingml/2006/main">
              <a:ext uri="{FF2B5EF4-FFF2-40B4-BE49-F238E27FC236}">
                <a16:creationId xmlns:a16="http://schemas.microsoft.com/office/drawing/2014/main" id="{66B3544A-AC96-4A0D-9308-2DC7B5DA6EDD}"/>
              </a:ext>
            </a:extLst>
          </p:cNvPr>
          <p:cNvSpPr>
            <a:spLocks xmlns:a="http://schemas.openxmlformats.org/drawingml/2006/main" noGrp="1"/>
          </p:cNvSpPr>
          <p:nvPr/>
        </p:nvSpPr>
        <p:spPr>
          <a:xfrm xmlns:a="http://schemas.openxmlformats.org/drawingml/2006/main">
            <a:off x="495300" y="1381125"/>
            <a:ext cx="5143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5700" b="0">
                <a:solidFill>
                  <a:srgbClr val="173E35"/>
                </a:solidFill>
                <a:latin typeface="Georgia"/>
                <a:ea typeface="Georgia"/>
                <a:cs typeface="Georgia"/>
              </a:defRPr>
            </a:pPr>
            <a:r>
              <a:rPr sz="5700" b="0">
                <a:solidFill>
                  <a:srgbClr val="173E35"/>
                </a:solidFill>
                <a:latin typeface="Georgia"/>
                <a:ea typeface="Georgia"/>
                <a:cs typeface="Georgia"/>
              </a:rPr>
              <a:t>Any</a:t>
            </a:r>
          </a:p>
          <a:p xmlns:a="http://schemas.openxmlformats.org/drawingml/2006/main">
            <a:pPr>
              <a:defRPr sz="5700" b="0">
                <a:solidFill>
                  <a:srgbClr val="173E35"/>
                </a:solidFill>
                <a:latin typeface="Georgia"/>
                <a:ea typeface="Georgia"/>
                <a:cs typeface="Georgia"/>
              </a:defRPr>
            </a:pPr>
            <a:r>
              <a:rPr sz="5700" b="0">
                <a:solidFill>
                  <a:srgbClr val="173E35"/>
                </a:solidFill>
                <a:latin typeface="Georgia"/>
                <a:ea typeface="Georgia"/>
                <a:cs typeface="Georgia"/>
              </a:rPr>
              <a:t>questions?</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90dea80c23504821"/>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4" name="www.newton.university">
            <a:extLst xmlns:a="http://schemas.openxmlformats.org/drawingml/2006/main">
              <a:ext uri="{FF2B5EF4-FFF2-40B4-BE49-F238E27FC236}">
                <a16:creationId xmlns:a16="http://schemas.microsoft.com/office/drawing/2014/main" id="{5ADE5A64-F2EC-46DC-94E1-674FA9ABC0DD}"/>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5" name="34">
            <a:extLst xmlns:a="http://schemas.openxmlformats.org/drawingml/2006/main">
              <a:ext uri="{FF2B5EF4-FFF2-40B4-BE49-F238E27FC236}">
                <a16:creationId xmlns:a16="http://schemas.microsoft.com/office/drawing/2014/main" id="{62751966-D40C-4BEF-97CE-31409BA5C218}"/>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34</a:t>
            </a:r>
          </a:p>
        </p:txBody>
      </p:sp>
    </p:spTree>
    <p:extLst>
      <p:ext uri="{BB962C8B-B14F-4D97-AF65-F5344CB8AC3E}">
        <p14:creationId xmlns:p14="http://schemas.microsoft.com/office/powerpoint/2010/main" val="101632001"/>
      </p:ext>
    </p:extLst>
  </p:cSld>
</p:sld>
</file>

<file path=ppt/slides/slide3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Image credits">
            <a:extLst xmlns:a="http://schemas.openxmlformats.org/drawingml/2006/main">
              <a:ext uri="{FF2B5EF4-FFF2-40B4-BE49-F238E27FC236}">
                <a16:creationId xmlns:a16="http://schemas.microsoft.com/office/drawing/2014/main" id="{B2FDEDD0-1C26-4109-916F-C9A95D0CBFCD}"/>
              </a:ext>
            </a:extLst>
          </p:cNvPr>
          <p:cNvSpPr>
            <a:spLocks xmlns:a="http://schemas.openxmlformats.org/drawingml/2006/main" noGrp="1"/>
          </p:cNvSpPr>
          <p:nvPr/>
        </p:nvSpPr>
        <p:spPr>
          <a:xfrm xmlns:a="http://schemas.openxmlformats.org/drawingml/2006/main">
            <a:off x="495300" y="342900"/>
            <a:ext cx="81534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2700" b="0">
                <a:solidFill>
                  <a:srgbClr val="173E35"/>
                </a:solidFill>
                <a:latin typeface="Georgia"/>
                <a:ea typeface="Georgia"/>
                <a:cs typeface="Georgia"/>
              </a:defRPr>
            </a:pPr>
            <a:r>
              <a:rPr sz="2700" b="0">
                <a:solidFill>
                  <a:srgbClr val="173E35"/>
                </a:solidFill>
                <a:latin typeface="Georgia"/>
                <a:ea typeface="Georgia"/>
                <a:cs typeface="Georgia"/>
              </a:rPr>
              <a:t>Image credits</a:t>
            </a:r>
          </a:p>
        </p:txBody>
      </p:sp>
      <p:sp>
        <p:nvSpPr>
          <p:cNvPr id="2" name="Editorial frame">
            <a:extLst xmlns:a="http://schemas.openxmlformats.org/drawingml/2006/main">
              <a:ext uri="{FF2B5EF4-FFF2-40B4-BE49-F238E27FC236}">
                <a16:creationId xmlns:a16="http://schemas.microsoft.com/office/drawing/2014/main" id="{70F55AA5-3B74-4DE2-99AF-EEF958A8DE32}"/>
              </a:ext>
            </a:extLst>
          </p:cNvPr>
          <p:cNvSpPr>
            <a:spLocks xmlns:a="http://schemas.openxmlformats.org/drawingml/2006/main" noGrp="1"/>
          </p:cNvSpPr>
          <p:nvPr/>
        </p:nvSpPr>
        <p:spPr>
          <a:xfrm xmlns:a="http://schemas.openxmlformats.org/drawingml/2006/main">
            <a:off x="495300" y="1238250"/>
            <a:ext cx="8153400" cy="9525"/>
          </a:xfrm>
          <a:prstGeom xmlns:a="http://schemas.openxmlformats.org/drawingml/2006/main" prst="rect">
            <a:avLst/>
          </a:prstGeom>
          <a:solidFill xmlns:a="http://schemas.openxmlformats.org/drawingml/2006/main">
            <a:srgbClr val="B7C3B1"/>
          </a:solidFill>
          <a:ln xmlns:a="http://schemas.openxmlformats.org/drawingml/2006/main" w="0">
            <a:noFill/>
          </a:ln>
        </p:spPr>
      </p:sp>
      <p:sp>
        <p:nvSpPr>
          <p:cNvPr id="3" name="Editorial frame">
            <a:extLst xmlns:a="http://schemas.openxmlformats.org/drawingml/2006/main">
              <a:ext uri="{FF2B5EF4-FFF2-40B4-BE49-F238E27FC236}">
                <a16:creationId xmlns:a16="http://schemas.microsoft.com/office/drawing/2014/main" id="{0B2B2C78-24F5-48E8-ACBA-BD3A40B0D5D3}"/>
              </a:ext>
            </a:extLst>
          </p:cNvPr>
          <p:cNvSpPr>
            <a:spLocks xmlns:a="http://schemas.openxmlformats.org/drawingml/2006/main" noGrp="1"/>
          </p:cNvSpPr>
          <p:nvPr/>
        </p:nvSpPr>
        <p:spPr>
          <a:xfrm xmlns:a="http://schemas.openxmlformats.org/drawingml/2006/main">
            <a:off x="495300" y="1219200"/>
            <a:ext cx="552450" cy="28575"/>
          </a:xfrm>
          <a:prstGeom xmlns:a="http://schemas.openxmlformats.org/drawingml/2006/main" prst="rect">
            <a:avLst/>
          </a:prstGeom>
          <a:solidFill xmlns:a="http://schemas.openxmlformats.org/drawingml/2006/main">
            <a:srgbClr val="B56647"/>
          </a:solidFill>
          <a:ln xmlns:a="http://schemas.openxmlformats.org/drawingml/2006/main" w="0">
            <a:noFill/>
          </a:ln>
        </p:spPr>
      </p:sp>
      <p:sp>
        <p:nvSpPr>
          <p:cNvPr id="4" name="Panoramic view of air pollution in São Paulo city,">
            <a:extLst xmlns:a="http://schemas.openxmlformats.org/drawingml/2006/main">
              <a:ext uri="{FF2B5EF4-FFF2-40B4-BE49-F238E27FC236}">
                <a16:creationId xmlns:a16="http://schemas.microsoft.com/office/drawing/2014/main" id="{3BB89750-D913-4374-B6E4-3D27E566DC23}"/>
              </a:ext>
            </a:extLst>
          </p:cNvPr>
          <p:cNvSpPr>
            <a:spLocks xmlns:a="http://schemas.openxmlformats.org/drawingml/2006/main" noGrp="1"/>
          </p:cNvSpPr>
          <p:nvPr/>
        </p:nvSpPr>
        <p:spPr>
          <a:xfrm xmlns:a="http://schemas.openxmlformats.org/drawingml/2006/main">
            <a:off x="495300" y="156210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Panoramic view of air pollution in São Paulo city, Brazil.jpg — CC0, Wikimedia Commons</a:t>
            </a:r>
          </a:p>
        </p:txBody>
      </p:sp>
      <p:sp>
        <p:nvSpPr>
          <p:cNvPr id="5" name="Milad jafari (28).jpg — CC BY-SA 4.0, Wikimedia Co">
            <a:extLst xmlns:a="http://schemas.openxmlformats.org/drawingml/2006/main">
              <a:ext uri="{FF2B5EF4-FFF2-40B4-BE49-F238E27FC236}">
                <a16:creationId xmlns:a16="http://schemas.microsoft.com/office/drawing/2014/main" id="{D4AF588E-0DF6-43A6-A6AB-7351ECC0E213}"/>
              </a:ext>
            </a:extLst>
          </p:cNvPr>
          <p:cNvSpPr>
            <a:spLocks xmlns:a="http://schemas.openxmlformats.org/drawingml/2006/main" noGrp="1"/>
          </p:cNvSpPr>
          <p:nvPr/>
        </p:nvSpPr>
        <p:spPr>
          <a:xfrm xmlns:a="http://schemas.openxmlformats.org/drawingml/2006/main">
            <a:off x="495300" y="1925955"/>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Milad jafari (28).jpg — CC BY-SA 4.0, Wikimedia Commons</a:t>
            </a:r>
          </a:p>
        </p:txBody>
      </p:sp>
      <p:sp>
        <p:nvSpPr>
          <p:cNvPr id="6" name="Benthemplein terrain skate gestion eau.jpg — CC BY">
            <a:extLst xmlns:a="http://schemas.openxmlformats.org/drawingml/2006/main">
              <a:ext uri="{FF2B5EF4-FFF2-40B4-BE49-F238E27FC236}">
                <a16:creationId xmlns:a16="http://schemas.microsoft.com/office/drawing/2014/main" id="{59BE2CDC-49B4-4F96-973A-C906F906A45E}"/>
              </a:ext>
            </a:extLst>
          </p:cNvPr>
          <p:cNvSpPr>
            <a:spLocks xmlns:a="http://schemas.openxmlformats.org/drawingml/2006/main" noGrp="1"/>
          </p:cNvSpPr>
          <p:nvPr/>
        </p:nvSpPr>
        <p:spPr>
          <a:xfrm xmlns:a="http://schemas.openxmlformats.org/drawingml/2006/main">
            <a:off x="495300" y="228981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Benthemplein terrain skate gestion eau.jpg — CC BY-SA 4.0, Wikimedia Commons</a:t>
            </a:r>
          </a:p>
        </p:txBody>
      </p:sp>
      <p:sp>
        <p:nvSpPr>
          <p:cNvPr id="7" name="Bales of PET bottles closeup.jpg — CC BY-SA 4.0, W">
            <a:extLst xmlns:a="http://schemas.openxmlformats.org/drawingml/2006/main">
              <a:ext uri="{FF2B5EF4-FFF2-40B4-BE49-F238E27FC236}">
                <a16:creationId xmlns:a16="http://schemas.microsoft.com/office/drawing/2014/main" id="{C892E56E-5E43-4D50-BB61-5676CC28BB30}"/>
              </a:ext>
            </a:extLst>
          </p:cNvPr>
          <p:cNvSpPr>
            <a:spLocks xmlns:a="http://schemas.openxmlformats.org/drawingml/2006/main" noGrp="1"/>
          </p:cNvSpPr>
          <p:nvPr/>
        </p:nvSpPr>
        <p:spPr>
          <a:xfrm xmlns:a="http://schemas.openxmlformats.org/drawingml/2006/main">
            <a:off x="495300" y="2653665"/>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Bales of PET bottles closeup.jpg — CC BY-SA 4.0, Wikimedia Commons</a:t>
            </a:r>
          </a:p>
        </p:txBody>
      </p:sp>
      <p:sp>
        <p:nvSpPr>
          <p:cNvPr id="8" name="Amsterdam Canal Houses (Unsplash).jpg — CC0, Wikim">
            <a:extLst xmlns:a="http://schemas.openxmlformats.org/drawingml/2006/main">
              <a:ext uri="{FF2B5EF4-FFF2-40B4-BE49-F238E27FC236}">
                <a16:creationId xmlns:a16="http://schemas.microsoft.com/office/drawing/2014/main" id="{13B32BD5-039A-4F63-AEDA-5B0E4995DDB7}"/>
              </a:ext>
            </a:extLst>
          </p:cNvPr>
          <p:cNvSpPr>
            <a:spLocks xmlns:a="http://schemas.openxmlformats.org/drawingml/2006/main" noGrp="1"/>
          </p:cNvSpPr>
          <p:nvPr/>
        </p:nvSpPr>
        <p:spPr>
          <a:xfrm xmlns:a="http://schemas.openxmlformats.org/drawingml/2006/main">
            <a:off x="495300" y="301752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Amsterdam Canal Houses (Unsplash).jpg — CC0, Wikimedia Commons</a:t>
            </a:r>
          </a:p>
        </p:txBody>
      </p:sp>
      <p:sp>
        <p:nvSpPr>
          <p:cNvPr id="9" name="2010 WiseWords community garden NewOrleans 4855100">
            <a:extLst xmlns:a="http://schemas.openxmlformats.org/drawingml/2006/main">
              <a:ext uri="{FF2B5EF4-FFF2-40B4-BE49-F238E27FC236}">
                <a16:creationId xmlns:a16="http://schemas.microsoft.com/office/drawing/2014/main" id="{E108BBB0-64C7-42DE-8105-4C5A84EC1CE7}"/>
              </a:ext>
            </a:extLst>
          </p:cNvPr>
          <p:cNvSpPr>
            <a:spLocks xmlns:a="http://schemas.openxmlformats.org/drawingml/2006/main" noGrp="1"/>
          </p:cNvSpPr>
          <p:nvPr/>
        </p:nvSpPr>
        <p:spPr>
          <a:xfrm xmlns:a="http://schemas.openxmlformats.org/drawingml/2006/main">
            <a:off x="495300" y="3381375"/>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2010 WiseWords community garden NewOrleans 4855100893.jpg — CC BY 2.0, Wikimedia Commons</a:t>
            </a:r>
          </a:p>
        </p:txBody>
      </p:sp>
      <p:sp>
        <p:nvSpPr>
          <p:cNvPr id="10" name="Conceptual cover and leaf artwork: OpenAI image ge">
            <a:extLst xmlns:a="http://schemas.openxmlformats.org/drawingml/2006/main">
              <a:ext uri="{FF2B5EF4-FFF2-40B4-BE49-F238E27FC236}">
                <a16:creationId xmlns:a16="http://schemas.microsoft.com/office/drawing/2014/main" id="{CCF88A01-61A3-4776-9AAA-BAA783272381}"/>
              </a:ext>
            </a:extLst>
          </p:cNvPr>
          <p:cNvSpPr>
            <a:spLocks xmlns:a="http://schemas.openxmlformats.org/drawingml/2006/main" noGrp="1"/>
          </p:cNvSpPr>
          <p:nvPr/>
        </p:nvSpPr>
        <p:spPr>
          <a:xfrm xmlns:a="http://schemas.openxmlformats.org/drawingml/2006/main">
            <a:off x="495300" y="3745230"/>
            <a:ext cx="8077200" cy="2114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1200" b="0">
                <a:solidFill>
                  <a:srgbClr val="58665B"/>
                </a:solidFill>
                <a:latin typeface="Arial"/>
                <a:ea typeface="Arial"/>
                <a:cs typeface="Arial"/>
              </a:defRPr>
            </a:pPr>
            <a:r>
              <a:rPr sz="1200" b="0">
                <a:solidFill>
                  <a:srgbClr val="58665B"/>
                </a:solidFill>
                <a:latin typeface="Arial"/>
                <a:ea typeface="Arial"/>
                <a:cs typeface="Arial"/>
              </a:rPr>
              <a:t>Conceptual cover and leaf artwork: OpenAI image generation, September 2026. Reused from approved Lecture 1.</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82b4b43792a44e2"/>
          <a:stretch xmlns:a="http://schemas.openxmlformats.org/drawingml/2006/main"/>
        </p:blipFill>
        <p:spPr>
          <a:xfrm xmlns:a="http://schemas.openxmlformats.org/drawingml/2006/main">
            <a:off x="499570" y="4829175"/>
            <a:ext cx="315310" cy="152400"/>
          </a:xfrm>
          <a:prstGeom xmlns:a="http://schemas.openxmlformats.org/drawingml/2006/main" prst="rect">
            <a:avLst/>
          </a:prstGeom>
        </p:spPr>
      </p:pic>
      <p:sp>
        <p:nvSpPr>
          <p:cNvPr id="12" name="www.newton.university">
            <a:extLst xmlns:a="http://schemas.openxmlformats.org/drawingml/2006/main">
              <a:ext uri="{FF2B5EF4-FFF2-40B4-BE49-F238E27FC236}">
                <a16:creationId xmlns:a16="http://schemas.microsoft.com/office/drawing/2014/main" id="{D8C2BDDD-9CA7-4617-87FE-7D9112F85B94}"/>
              </a:ext>
            </a:extLst>
          </p:cNvPr>
          <p:cNvSpPr>
            <a:spLocks xmlns:a="http://schemas.openxmlformats.org/drawingml/2006/main" noGrp="1"/>
          </p:cNvSpPr>
          <p:nvPr/>
        </p:nvSpPr>
        <p:spPr>
          <a:xfrm xmlns:a="http://schemas.openxmlformats.org/drawingml/2006/main">
            <a:off x="933450" y="4848225"/>
            <a:ext cx="2571750"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750" b="0">
                <a:solidFill>
                  <a:srgbClr val="58665B"/>
                </a:solidFill>
                <a:latin typeface="Arial"/>
                <a:ea typeface="Arial"/>
                <a:cs typeface="Arial"/>
              </a:defRPr>
            </a:pPr>
            <a:r>
              <a:rPr sz="750" b="0">
                <a:solidFill>
                  <a:srgbClr val="58665B"/>
                </a:solidFill>
                <a:latin typeface="Arial"/>
                <a:ea typeface="Arial"/>
                <a:cs typeface="Arial"/>
              </a:rPr>
              <a:t>www.newton.university</a:t>
            </a:r>
          </a:p>
        </p:txBody>
      </p:sp>
      <p:sp>
        <p:nvSpPr>
          <p:cNvPr id="13" name="35">
            <a:extLst xmlns:a="http://schemas.openxmlformats.org/drawingml/2006/main">
              <a:ext uri="{FF2B5EF4-FFF2-40B4-BE49-F238E27FC236}">
                <a16:creationId xmlns:a16="http://schemas.microsoft.com/office/drawing/2014/main" id="{207415D4-7853-41AB-A6C3-D0BBA48819A9}"/>
              </a:ext>
            </a:extLst>
          </p:cNvPr>
          <p:cNvSpPr>
            <a:spLocks xmlns:a="http://schemas.openxmlformats.org/drawingml/2006/main" noGrp="1"/>
          </p:cNvSpPr>
          <p:nvPr/>
        </p:nvSpPr>
        <p:spPr>
          <a:xfrm xmlns:a="http://schemas.openxmlformats.org/drawingml/2006/main">
            <a:off x="8153400" y="481012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125" b="0">
                <a:solidFill>
                  <a:srgbClr val="58665B"/>
                </a:solidFill>
                <a:latin typeface="Arial"/>
                <a:ea typeface="Arial"/>
                <a:cs typeface="Arial"/>
              </a:defRPr>
            </a:pPr>
            <a:r>
              <a:rPr sz="1125" b="0">
                <a:solidFill>
                  <a:srgbClr val="58665B"/>
                </a:solidFill>
                <a:latin typeface="Arial"/>
                <a:ea typeface="Arial"/>
                <a:cs typeface="Arial"/>
              </a:rPr>
              <a:t>35</a:t>
            </a:r>
          </a:p>
        </p:txBody>
      </p:sp>
    </p:spTree>
    <p:extLst>
      <p:ext uri="{BB962C8B-B14F-4D97-AF65-F5344CB8AC3E}">
        <p14:creationId xmlns:p14="http://schemas.microsoft.com/office/powerpoint/2010/main" val="3366719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2026-10-05T17:22:53.3140000Z</dcterms:created>
  <dcterms:modified xsi:type="dcterms:W3CDTF">2026-10-05T17:22:53.3140000Z</dcterms:modified>
</coreProperties>
</file>