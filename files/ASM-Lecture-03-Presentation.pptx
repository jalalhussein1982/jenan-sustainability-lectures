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38b3867c4c470f" /><Relationship Type="http://schemas.openxmlformats.org/officeDocument/2006/relationships/extended-properties" Target="/docProps/app.xml" Id="Re0a576185f654510" /><Relationship Type="http://schemas.openxmlformats.org/officeDocument/2006/relationships/officeDocument" Target="/ppt/presentation.xml" Id="R4ce90e37e26f4846" /></Relationships>
</file>

<file path=ppt/presentation.xml><?xml version="1.0" encoding="utf-8"?>
<p:presentation xmlns:p="http://schemas.openxmlformats.org/presentationml/2006/main">
  <p:sldMasterIdLst>
    <p:sldMasterId xmlns:r="http://schemas.openxmlformats.org/officeDocument/2006/relationships" id="2147483648" r:id="Rf979843715914162"/>
  </p:sldMasterIdLst>
  <p:notesMasterIdLst>
    <p:notesMasterId xmlns:r="http://schemas.openxmlformats.org/officeDocument/2006/relationships" r:id="Rcc8617d0983c4aef"/>
  </p:notesMasterIdLst>
  <p:sldIdLst>
    <p:sldId xmlns:r="http://schemas.openxmlformats.org/officeDocument/2006/relationships" id="256" r:id="R7de8c96535be4413"/>
    <p:sldId xmlns:r="http://schemas.openxmlformats.org/officeDocument/2006/relationships" id="257" r:id="Rb948563dfa6347a9"/>
    <p:sldId xmlns:r="http://schemas.openxmlformats.org/officeDocument/2006/relationships" id="258" r:id="Rbc6824eb5d4749cf"/>
    <p:sldId xmlns:r="http://schemas.openxmlformats.org/officeDocument/2006/relationships" id="259" r:id="Rca4bcc1f9c224bf8"/>
    <p:sldId xmlns:r="http://schemas.openxmlformats.org/officeDocument/2006/relationships" id="260" r:id="Rcdbeb608fa0946e6"/>
    <p:sldId xmlns:r="http://schemas.openxmlformats.org/officeDocument/2006/relationships" id="261" r:id="R75b9800bd6244fd3"/>
    <p:sldId xmlns:r="http://schemas.openxmlformats.org/officeDocument/2006/relationships" id="262" r:id="R53614a5b72ee4437"/>
    <p:sldId xmlns:r="http://schemas.openxmlformats.org/officeDocument/2006/relationships" id="263" r:id="R9e76ecdff3d24c2c"/>
    <p:sldId xmlns:r="http://schemas.openxmlformats.org/officeDocument/2006/relationships" id="264" r:id="Re39ee28adb154268"/>
    <p:sldId xmlns:r="http://schemas.openxmlformats.org/officeDocument/2006/relationships" id="265" r:id="R838b1d9a6b654906"/>
    <p:sldId xmlns:r="http://schemas.openxmlformats.org/officeDocument/2006/relationships" id="266" r:id="R56f4ecd580754d5b"/>
    <p:sldId xmlns:r="http://schemas.openxmlformats.org/officeDocument/2006/relationships" id="267" r:id="R94ffbdba07034078"/>
    <p:sldId xmlns:r="http://schemas.openxmlformats.org/officeDocument/2006/relationships" id="268" r:id="R9c58de83c92242b9"/>
    <p:sldId xmlns:r="http://schemas.openxmlformats.org/officeDocument/2006/relationships" id="269" r:id="R6a6bb4dc98bc4bff"/>
    <p:sldId xmlns:r="http://schemas.openxmlformats.org/officeDocument/2006/relationships" id="270" r:id="R824cc308c0264abf"/>
    <p:sldId xmlns:r="http://schemas.openxmlformats.org/officeDocument/2006/relationships" id="271" r:id="Rc2bdb6afe4ad4b2d"/>
    <p:sldId xmlns:r="http://schemas.openxmlformats.org/officeDocument/2006/relationships" id="272" r:id="R108042dd70584f4c"/>
    <p:sldId xmlns:r="http://schemas.openxmlformats.org/officeDocument/2006/relationships" id="273" r:id="Rc5167c3f0b4e4e5b"/>
    <p:sldId xmlns:r="http://schemas.openxmlformats.org/officeDocument/2006/relationships" id="274" r:id="R34293da446284860"/>
    <p:sldId xmlns:r="http://schemas.openxmlformats.org/officeDocument/2006/relationships" id="275" r:id="R3dd669439c4a49d6"/>
    <p:sldId xmlns:r="http://schemas.openxmlformats.org/officeDocument/2006/relationships" id="276" r:id="Ra1101f9858a14e96"/>
    <p:sldId xmlns:r="http://schemas.openxmlformats.org/officeDocument/2006/relationships" id="277" r:id="Ra085fb89ea3547d8"/>
    <p:sldId xmlns:r="http://schemas.openxmlformats.org/officeDocument/2006/relationships" id="278" r:id="R31165b86426e4250"/>
    <p:sldId xmlns:r="http://schemas.openxmlformats.org/officeDocument/2006/relationships" id="279" r:id="R8076ec2a404f4ac7"/>
    <p:sldId xmlns:r="http://schemas.openxmlformats.org/officeDocument/2006/relationships" id="280" r:id="R9aca98df88d54778"/>
    <p:sldId xmlns:r="http://schemas.openxmlformats.org/officeDocument/2006/relationships" id="281" r:id="R494abd3ea4d94f89"/>
    <p:sldId xmlns:r="http://schemas.openxmlformats.org/officeDocument/2006/relationships" id="282" r:id="R9e066869db4b4a12"/>
    <p:sldId xmlns:r="http://schemas.openxmlformats.org/officeDocument/2006/relationships" id="283" r:id="R98e6ae1230cf4d4f"/>
    <p:sldId xmlns:r="http://schemas.openxmlformats.org/officeDocument/2006/relationships" id="284" r:id="Ra65501fe337a4e5b"/>
    <p:sldId xmlns:r="http://schemas.openxmlformats.org/officeDocument/2006/relationships" id="285" r:id="R009268664fe74660"/>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e9e9618475441f" /><Relationship Type="http://schemas.openxmlformats.org/officeDocument/2006/relationships/slideMaster" Target="/ppt/slideMasters/slideMaster1.xml" Id="Rf979843715914162" /><Relationship Type="http://schemas.openxmlformats.org/officeDocument/2006/relationships/notesMaster" Target="/ppt/notesMasters/notesMaster1.xml" Id="Rcc8617d0983c4aef" /><Relationship Type="http://schemas.openxmlformats.org/officeDocument/2006/relationships/presProps" Target="/ppt/presProps.xml" Id="R832d016e5d874d5d" /><Relationship Type="http://schemas.openxmlformats.org/officeDocument/2006/relationships/tableStyles" Target="/ppt/tableStyles.xml" Id="Rdfe9fb4ce6284b86" /><Relationship Type="http://schemas.openxmlformats.org/officeDocument/2006/relationships/slide" Target="/ppt/slides/slide1.xml" Id="R7de8c96535be4413" /><Relationship Type="http://schemas.openxmlformats.org/officeDocument/2006/relationships/slide" Target="/ppt/slides/slide2.xml" Id="Rb948563dfa6347a9" /><Relationship Type="http://schemas.openxmlformats.org/officeDocument/2006/relationships/slide" Target="/ppt/slides/slide3.xml" Id="Rbc6824eb5d4749cf" /><Relationship Type="http://schemas.openxmlformats.org/officeDocument/2006/relationships/slide" Target="/ppt/slides/slide4.xml" Id="Rca4bcc1f9c224bf8" /><Relationship Type="http://schemas.openxmlformats.org/officeDocument/2006/relationships/slide" Target="/ppt/slides/slide5.xml" Id="Rcdbeb608fa0946e6" /><Relationship Type="http://schemas.openxmlformats.org/officeDocument/2006/relationships/slide" Target="/ppt/slides/slide6.xml" Id="R75b9800bd6244fd3" /><Relationship Type="http://schemas.openxmlformats.org/officeDocument/2006/relationships/slide" Target="/ppt/slides/slide7.xml" Id="R53614a5b72ee4437" /><Relationship Type="http://schemas.openxmlformats.org/officeDocument/2006/relationships/slide" Target="/ppt/slides/slide8.xml" Id="R9e76ecdff3d24c2c" /><Relationship Type="http://schemas.openxmlformats.org/officeDocument/2006/relationships/slide" Target="/ppt/slides/slide9.xml" Id="Re39ee28adb154268" /><Relationship Type="http://schemas.openxmlformats.org/officeDocument/2006/relationships/slide" Target="/ppt/slides/slide10.xml" Id="R838b1d9a6b654906" /><Relationship Type="http://schemas.openxmlformats.org/officeDocument/2006/relationships/slide" Target="/ppt/slides/slide11.xml" Id="R56f4ecd580754d5b" /><Relationship Type="http://schemas.openxmlformats.org/officeDocument/2006/relationships/slide" Target="/ppt/slides/slide12.xml" Id="R94ffbdba07034078" /><Relationship Type="http://schemas.openxmlformats.org/officeDocument/2006/relationships/slide" Target="/ppt/slides/slide13.xml" Id="R9c58de83c92242b9" /><Relationship Type="http://schemas.openxmlformats.org/officeDocument/2006/relationships/slide" Target="/ppt/slides/slide14.xml" Id="R6a6bb4dc98bc4bff" /><Relationship Type="http://schemas.openxmlformats.org/officeDocument/2006/relationships/slide" Target="/ppt/slides/slide15.xml" Id="R824cc308c0264abf" /><Relationship Type="http://schemas.openxmlformats.org/officeDocument/2006/relationships/slide" Target="/ppt/slides/slide16.xml" Id="Rc2bdb6afe4ad4b2d" /><Relationship Type="http://schemas.openxmlformats.org/officeDocument/2006/relationships/slide" Target="/ppt/slides/slide17.xml" Id="R108042dd70584f4c" /><Relationship Type="http://schemas.openxmlformats.org/officeDocument/2006/relationships/slide" Target="/ppt/slides/slide18.xml" Id="Rc5167c3f0b4e4e5b" /><Relationship Type="http://schemas.openxmlformats.org/officeDocument/2006/relationships/slide" Target="/ppt/slides/slide19.xml" Id="R34293da446284860" /><Relationship Type="http://schemas.openxmlformats.org/officeDocument/2006/relationships/slide" Target="/ppt/slides/slide20.xml" Id="R3dd669439c4a49d6" /><Relationship Type="http://schemas.openxmlformats.org/officeDocument/2006/relationships/slide" Target="/ppt/slides/slide21.xml" Id="Ra1101f9858a14e96" /><Relationship Type="http://schemas.openxmlformats.org/officeDocument/2006/relationships/slide" Target="/ppt/slides/slide22.xml" Id="Ra085fb89ea3547d8" /><Relationship Type="http://schemas.openxmlformats.org/officeDocument/2006/relationships/slide" Target="/ppt/slides/slide23.xml" Id="R31165b86426e4250" /><Relationship Type="http://schemas.openxmlformats.org/officeDocument/2006/relationships/slide" Target="/ppt/slides/slide24.xml" Id="R8076ec2a404f4ac7" /><Relationship Type="http://schemas.openxmlformats.org/officeDocument/2006/relationships/slide" Target="/ppt/slides/slide25.xml" Id="R9aca98df88d54778" /><Relationship Type="http://schemas.openxmlformats.org/officeDocument/2006/relationships/slide" Target="/ppt/slides/slide26.xml" Id="R494abd3ea4d94f89" /><Relationship Type="http://schemas.openxmlformats.org/officeDocument/2006/relationships/slide" Target="/ppt/slides/slide27.xml" Id="R9e066869db4b4a12" /><Relationship Type="http://schemas.openxmlformats.org/officeDocument/2006/relationships/slide" Target="/ppt/slides/slide28.xml" Id="R98e6ae1230cf4d4f" /><Relationship Type="http://schemas.openxmlformats.org/officeDocument/2006/relationships/slide" Target="/ppt/slides/slide29.xml" Id="Ra65501fe337a4e5b" /><Relationship Type="http://schemas.openxmlformats.org/officeDocument/2006/relationships/slide" Target="/ppt/slides/slide30.xml" Id="R009268664fe746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fa9f4d32f84a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d7c241b6bd4ae3" /><Relationship Type="http://schemas.openxmlformats.org/officeDocument/2006/relationships/notesMaster" Target="/ppt/notesMasters/notesMaster1.xml" Id="R2ea53e62de754f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2690b3881b48c3" /><Relationship Type="http://schemas.openxmlformats.org/officeDocument/2006/relationships/notesMaster" Target="/ppt/notesMasters/notesMaster1.xml" Id="R3d82bfe194be44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7c73df45cc4539" /><Relationship Type="http://schemas.openxmlformats.org/officeDocument/2006/relationships/notesMaster" Target="/ppt/notesMasters/notesMaster1.xml" Id="R2dc9de0cf5eb4c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12e6fb266144b6" /><Relationship Type="http://schemas.openxmlformats.org/officeDocument/2006/relationships/notesMaster" Target="/ppt/notesMasters/notesMaster1.xml" Id="Ra7cd8f270cf64b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763dbce8714b0c" /><Relationship Type="http://schemas.openxmlformats.org/officeDocument/2006/relationships/notesMaster" Target="/ppt/notesMasters/notesMaster1.xml" Id="R81d332057e8545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70eb5aeb2b4bbe" /><Relationship Type="http://schemas.openxmlformats.org/officeDocument/2006/relationships/notesMaster" Target="/ppt/notesMasters/notesMaster1.xml" Id="Rce6455674c514d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fc65caa3a74dda" /><Relationship Type="http://schemas.openxmlformats.org/officeDocument/2006/relationships/notesMaster" Target="/ppt/notesMasters/notesMaster1.xml" Id="R582451eb7ec14a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f9412d7a4d4f61" /><Relationship Type="http://schemas.openxmlformats.org/officeDocument/2006/relationships/notesMaster" Target="/ppt/notesMasters/notesMaster1.xml" Id="Rdc7b60e3cc9545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e4309304584b48" /><Relationship Type="http://schemas.openxmlformats.org/officeDocument/2006/relationships/notesMaster" Target="/ppt/notesMasters/notesMaster1.xml" Id="Rdf232caa14654b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9668fe83b547cd" /><Relationship Type="http://schemas.openxmlformats.org/officeDocument/2006/relationships/notesMaster" Target="/ppt/notesMasters/notesMaster1.xml" Id="Raf9a8328248a43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0874893d244c10" /><Relationship Type="http://schemas.openxmlformats.org/officeDocument/2006/relationships/notesMaster" Target="/ppt/notesMasters/notesMaster1.xml" Id="Rb30a9eb6245042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60e8ea5da64745" /><Relationship Type="http://schemas.openxmlformats.org/officeDocument/2006/relationships/notesMaster" Target="/ppt/notesMasters/notesMaster1.xml" Id="R0236df3d6c9649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346f32cf3548d0" /><Relationship Type="http://schemas.openxmlformats.org/officeDocument/2006/relationships/notesMaster" Target="/ppt/notesMasters/notesMaster1.xml" Id="R9ac665ac5c9540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c71fe18517a4822" /><Relationship Type="http://schemas.openxmlformats.org/officeDocument/2006/relationships/notesMaster" Target="/ppt/notesMasters/notesMaster1.xml" Id="R68ce01ce15e044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18e7b649b047c7" /><Relationship Type="http://schemas.openxmlformats.org/officeDocument/2006/relationships/notesMaster" Target="/ppt/notesMasters/notesMaster1.xml" Id="R92140ce51e8f47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e2d235c95334a43" /><Relationship Type="http://schemas.openxmlformats.org/officeDocument/2006/relationships/notesMaster" Target="/ppt/notesMasters/notesMaster1.xml" Id="R5c3b6b41090b4c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b3fccb2c7b4fc0" /><Relationship Type="http://schemas.openxmlformats.org/officeDocument/2006/relationships/notesMaster" Target="/ppt/notesMasters/notesMaster1.xml" Id="Rf5f7a23240d24a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e91cee3345243c3" /><Relationship Type="http://schemas.openxmlformats.org/officeDocument/2006/relationships/notesMaster" Target="/ppt/notesMasters/notesMaster1.xml" Id="R0a35294e995349c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db02561452c4466" /><Relationship Type="http://schemas.openxmlformats.org/officeDocument/2006/relationships/notesMaster" Target="/ppt/notesMasters/notesMaster1.xml" Id="Rbfcc9a2619d64b1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6df9090031444e9" /><Relationship Type="http://schemas.openxmlformats.org/officeDocument/2006/relationships/notesMaster" Target="/ppt/notesMasters/notesMaster1.xml" Id="R5126f39150c44f5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d63b5451f154d58" /><Relationship Type="http://schemas.openxmlformats.org/officeDocument/2006/relationships/notesMaster" Target="/ppt/notesMasters/notesMaster1.xml" Id="R1d3bf4dd11da4e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850191d8ae0492d" /><Relationship Type="http://schemas.openxmlformats.org/officeDocument/2006/relationships/notesMaster" Target="/ppt/notesMasters/notesMaster1.xml" Id="R52d419b0d7f2412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b0dfb4b2a3c4f14" /><Relationship Type="http://schemas.openxmlformats.org/officeDocument/2006/relationships/notesMaster" Target="/ppt/notesMasters/notesMaster1.xml" Id="R6af8ad4073e648b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60b5a2de284dbc" /><Relationship Type="http://schemas.openxmlformats.org/officeDocument/2006/relationships/notesMaster" Target="/ppt/notesMasters/notesMaster1.xml" Id="R5a2013e36514412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7c2128c655c44c3" /><Relationship Type="http://schemas.openxmlformats.org/officeDocument/2006/relationships/notesMaster" Target="/ppt/notesMasters/notesMaster1.xml" Id="R0120ae98aae646f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d9508e0df374f32" /><Relationship Type="http://schemas.openxmlformats.org/officeDocument/2006/relationships/notesMaster" Target="/ppt/notesMasters/notesMaster1.xml" Id="Re61c8f3a38ef4a1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e6c8b68b90b4c6e" /><Relationship Type="http://schemas.openxmlformats.org/officeDocument/2006/relationships/notesMaster" Target="/ppt/notesMasters/notesMaster1.xml" Id="R2c391d25562b47b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a4b50533260439c" /><Relationship Type="http://schemas.openxmlformats.org/officeDocument/2006/relationships/notesMaster" Target="/ppt/notesMasters/notesMaster1.xml" Id="R6ffc0ed1af95455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4bfe97dc7c9447f" /><Relationship Type="http://schemas.openxmlformats.org/officeDocument/2006/relationships/notesMaster" Target="/ppt/notesMasters/notesMaster1.xml" Id="R4ec1e11130e343b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f165c5f3b604eec" /><Relationship Type="http://schemas.openxmlformats.org/officeDocument/2006/relationships/notesMaster" Target="/ppt/notesMasters/notesMaster1.xml" Id="R9f97489d30784e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1: Applied Sustainability in Business and Management</a:t>
            </a:r>
          </a:p>
          <a:p xmlns:a="http://schemas.openxmlformats.org/drawingml/2006/main">
            <a:r>
              <a:t>Suggested time: 1 min</a:t>
            </a:r>
          </a:p>
          <a:p xmlns:a="http://schemas.openxmlformats.org/drawingml/2006/main">
            <a:r>
              <a:t/>
            </a:r>
          </a:p>
          <a:p xmlns:a="http://schemas.openxmlformats.org/drawingml/2006/main">
            <a:r>
              <a:t>Say: Welcome. Say that so far we looked at problems and tools; today we look at how  companies actually make money with sustainability, and how they plan it.</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2: Learning Objectives</a:t>
            </a:r>
          </a:p>
          <a:p xmlns:a="http://schemas.openxmlformats.org/drawingml/2006/main">
            <a:r>
              <a:t>Suggested time: 3 min</a:t>
            </a:r>
          </a:p>
          <a:p xmlns:a="http://schemas.openxmlformats.org/drawingml/2006/main">
            <a:r>
              <a:t/>
            </a:r>
          </a:p>
          <a:p xmlns:a="http://schemas.openxmlformats.org/drawingml/2006/main">
            <a:r>
              <a:t>Say: Read the seven objectives. Connect each to a decision a manager needs to make. The first half introduces the tools and business problem; the second half applies them to the cases and activities. Students will use the same tools for their Prague semester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3: Today's Lecture Agenda</a:t>
            </a:r>
          </a:p>
          <a:p xmlns:a="http://schemas.openxmlformats.org/drawingml/2006/main">
            <a:r>
              <a:t>Suggested time: 2 min</a:t>
            </a:r>
          </a:p>
          <a:p xmlns:a="http://schemas.openxmlformats.org/drawingml/2006/main">
            <a:r>
              <a:t/>
            </a:r>
          </a:p>
          <a:p xmlns:a="http://schemas.openxmlformats.org/drawingml/2006/main">
            <a:r>
              <a:t>Say: Six parts, a pitch activity before the break, a debate at the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4: Part 1 — What Makes a Business Model Sustainable?</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5: Business Models, Revisited</a:t>
            </a:r>
          </a:p>
          <a:p xmlns:a="http://schemas.openxmlformats.org/drawingml/2006/main">
            <a:r>
              <a:t>Suggested time: 6 min</a:t>
            </a:r>
          </a:p>
          <a:p xmlns:a="http://schemas.openxmlformats.org/drawingml/2006/main">
            <a:r>
              <a:t/>
            </a:r>
          </a:p>
          <a:p xmlns:a="http://schemas.openxmlformats.org/drawingml/2006/main">
            <a:r>
              <a:t>Say: A business model answers three questions: what value do we create and for whom,  how do we deliver it, and how do we keep part of it as revenue. Use a simple example —  a café: value is good coffee and a place to sit, delivered in a shop, paid per cup. The  sustainable version adds two questions: what value do we create or destroy for society  and nature, and who is affected but does not pay — for example the neighbours who get  the noise and the waste.</a:t>
            </a:r>
          </a:p>
          <a:p xmlns:a="http://schemas.openxmlformats.org/drawingml/2006/main">
            <a:r>
              <a:t/>
            </a:r>
          </a:p>
          <a:p xmlns:a="http://schemas.openxmlformats.org/drawingml/2006/main">
            <a:r>
              <a:t> Ask: For a café: who is affected by the business but never pays it anything?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6: Types of Sustainable Business Models</a:t>
            </a:r>
          </a:p>
          <a:p xmlns:a="http://schemas.openxmlformats.org/drawingml/2006/main">
            <a:r>
              <a:t>Suggested time: 8 min</a:t>
            </a:r>
          </a:p>
          <a:p xmlns:a="http://schemas.openxmlformats.org/drawingml/2006/main">
            <a:r>
              <a:t/>
            </a:r>
          </a:p>
          <a:p xmlns:a="http://schemas.openxmlformats.org/drawingml/2006/main">
            <a:r>
              <a:t>Say: Three types, from easy to ambitious. Efficiency-based: do the same with less — a  logistics company that plans routes to save fuel. Circular: product as a service, take-  back, leasing — a company that rents washing machines and repairs them.  Regenerative: leave things better than you found them — regenerative farming that  builds soil. Most companies start with efficiency; the course argues for moving 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7: Part 2 — Shared Value and Regenerative Business</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8: Creating Shared Value (Porter &amp; Kramer, 2011)</a:t>
            </a:r>
          </a:p>
          <a:p xmlns:a="http://schemas.openxmlformats.org/drawingml/2006/main">
            <a:r>
              <a:t>Suggested time: 7 min</a:t>
            </a:r>
          </a:p>
          <a:p xmlns:a="http://schemas.openxmlformats.org/drawingml/2006/main">
            <a:r>
              <a:t/>
            </a:r>
          </a:p>
          <a:p xmlns:a="http://schemas.openxmlformats.org/drawingml/2006/main">
            <a:r>
              <a:t>Say: This is a classic Harvard Business Review article; students should remember the names. The idea: a company can earn money by solving a social or environmental problem — not as charity on the side, but as the core strategy. Three routes: new products for unmet needs; a more productive value chain (less waste, healthier workers); and building strong local 'clusters' — suppliers, skills, and a healthy local environment. Ask the question on the slide.</a:t>
            </a:r>
          </a:p>
          <a:p xmlns:a="http://schemas.openxmlformats.org/drawingml/2006/main">
            <a:r>
              <a:t/>
            </a:r>
          </a:p>
          <a:p xmlns:a="http://schemas.openxmlformats.org/drawingml/2006/main">
            <a:r>
              <a:t> Ask: Is a city park part of a company's cluster? Guide them to: yes, if it makes the  location attractive for workers and customers.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9: Sustainable and Regenerative Business</a:t>
            </a:r>
          </a:p>
          <a:p xmlns:a="http://schemas.openxmlformats.org/drawingml/2006/main">
            <a:r>
              <a:t>Suggested time: 4 min</a:t>
            </a:r>
          </a:p>
          <a:p xmlns:a="http://schemas.openxmlformats.org/drawingml/2006/main">
            <a:r>
              <a:t/>
            </a:r>
          </a:p>
          <a:p xmlns:a="http://schemas.openxmlformats.org/drawingml/2006/main">
            <a:r>
              <a:t>Say: Reducing harm and restoring damaged systems are different ambitions. A planted site only supports a regenerative claim when its condition improves against a baseline and that improvement lasts. Include water demand, species choice, survival and maintenance. A company should measure the outcome rather than assume all greenery is regenerative.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10: Part 3 — Nature-Based Value Creation</a:t>
            </a:r>
          </a:p>
          <a:p xmlns:a="http://schemas.openxmlformats.org/drawingml/2006/main">
            <a:r>
              <a:t>Suggested time: 1 min</a:t>
            </a:r>
          </a:p>
          <a:p xmlns:a="http://schemas.openxmlformats.org/drawingml/2006/main">
            <a:r>
              <a:t/>
            </a:r>
          </a:p>
          <a:p xmlns:a="http://schemas.openxmlformats.org/drawingml/2006/main">
            <a:r>
              <a:t>Say: Announce the part: now the money.</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11: How Organizations Capture Value from GI</a:t>
            </a:r>
          </a:p>
          <a:p xmlns:a="http://schemas.openxmlformats.org/drawingml/2006/main">
            <a:r>
              <a:t>Suggested time: 7 min</a:t>
            </a:r>
          </a:p>
          <a:p xmlns:a="http://schemas.openxmlformats.org/drawingml/2006/main">
            <a:r>
              <a:t/>
            </a:r>
          </a:p>
          <a:p xmlns:a="http://schemas.openxmlformats.org/drawingml/2006/main">
            <a:r>
              <a:t>Say: These are possible sources of value, not guaranteed returns. A building owner needs a baseline, installation and maintenance costs, and evidence for the benefits it expects to capture. Fee reductions depend on local tariffs. Insurance savings, rent premiums and faster approvals need specific evidence.</a:t>
            </a:r>
          </a:p>
          <a:p xmlns:a="http://schemas.openxmlformats.org/drawingml/2006/main">
            <a:r>
              <a:t/>
            </a:r>
          </a:p>
          <a:p xmlns:a="http://schemas.openxmlformats.org/drawingml/2006/main">
            <a:r>
              <a:t>Ask: Which benefit goes to the company, and which goes to neighbours or the city?</a:t>
            </a:r>
          </a:p>
          <a:p xmlns:a="http://schemas.openxmlformats.org/drawingml/2006/main">
            <a:r>
              <a:t/>
            </a:r>
          </a:p>
          <a:p xmlns:a="http://schemas.openxmlformats.org/drawingml/2006/main">
            <a:r>
              <a:t>Sources checked 5 October 2026:</a:t>
            </a:r>
          </a:p>
          <a:p xmlns:a="http://schemas.openxmlformats.org/drawingml/2006/main">
            <a:r>
              <a:t>https://www.epa.gov/green-infrastructure/economic-benefits-green-infrastructure</a:t>
            </a:r>
          </a:p>
          <a:p xmlns:a="http://schemas.openxmlformats.org/drawingml/2006/main">
            <a:r>
              <a:t>https://www.epa.gov/heatislands/using-green-roofs-reduce-heat-islands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12: Case Study: Bosco Verticale, Milan</a:t>
            </a:r>
          </a:p>
          <a:p xmlns:a="http://schemas.openxmlformats.org/drawingml/2006/main">
            <a:r>
              <a:t>Suggested time: 5 min</a:t>
            </a:r>
          </a:p>
          <a:p xmlns:a="http://schemas.openxmlformats.org/drawingml/2006/main">
            <a:r>
              <a:t/>
            </a:r>
          </a:p>
          <a:p xmlns:a="http://schemas.openxmlformats.org/drawingml/2006/main">
            <a:r>
              <a:t>Say: The architect describes Bosco Verticale as two planted residential towers with around 800 trees and thousands of shrubs and plants. The business lesson is differentiation through building design. Do not infer a rental premium from the photograph or identity alone. A Prague proposal still needs structural checks, irrigation, maintenance costs and evidence of tenant demand.</a:t>
            </a:r>
          </a:p>
          <a:p xmlns:a="http://schemas.openxmlformats.org/drawingml/2006/main">
            <a:r>
              <a:t/>
            </a:r>
          </a:p>
          <a:p xmlns:a="http://schemas.openxmlformats.org/drawingml/2006/main">
            <a:r>
              <a:t>Sources checked 5 October 2026:</a:t>
            </a:r>
          </a:p>
          <a:p xmlns:a="http://schemas.openxmlformats.org/drawingml/2006/main">
            <a:r>
              <a:t>https://www.stefanoboeriarchitetti.net/en/project/vertical-forest/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13: Case Study: Microsoft and Nature on Site</a:t>
            </a:r>
          </a:p>
          <a:p xmlns:a="http://schemas.openxmlformats.org/drawingml/2006/main">
            <a:r>
              <a:t>Suggested time: 4 min</a:t>
            </a:r>
          </a:p>
          <a:p xmlns:a="http://schemas.openxmlformats.org/drawingml/2006/main">
            <a:r>
              <a:t/>
            </a:r>
          </a:p>
          <a:p xmlns:a="http://schemas.openxmlformats.org/drawingml/2006/main">
            <a:r>
              <a:t>Say: Use Microsoft as a company-reported strategy example. Its 2025 environmental report restated the carbon-negative 2030 ambition and the need to reduce value-chain emissions. Nature on a campus can be part of the workplace and site strategy, but it does not prove a whole-company outcome or a quantified productivity gain.</a:t>
            </a:r>
          </a:p>
          <a:p xmlns:a="http://schemas.openxmlformats.org/drawingml/2006/main">
            <a:r>
              <a:t/>
            </a:r>
          </a:p>
          <a:p xmlns:a="http://schemas.openxmlformats.org/drawingml/2006/main">
            <a:r>
              <a:t>Ask: What evidence would you request before repeating a company benefit claim?</a:t>
            </a:r>
          </a:p>
          <a:p xmlns:a="http://schemas.openxmlformats.org/drawingml/2006/main">
            <a:r>
              <a:t/>
            </a:r>
          </a:p>
          <a:p xmlns:a="http://schemas.openxmlformats.org/drawingml/2006/main">
            <a:r>
              <a:t>Sources checked 5 October 2026:</a:t>
            </a:r>
          </a:p>
          <a:p xmlns:a="http://schemas.openxmlformats.org/drawingml/2006/main">
            <a:r>
              <a:t>https://blogs.microsoft.com/on-the-issues/2025/05/29/environmental-sustainability-report/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14: Case Study: Singapore Green Buildings</a:t>
            </a:r>
          </a:p>
          <a:p xmlns:a="http://schemas.openxmlformats.org/drawingml/2006/main">
            <a:r>
              <a:t>Suggested time: 4 min</a:t>
            </a:r>
          </a:p>
          <a:p xmlns:a="http://schemas.openxmlformats.org/drawingml/2006/main">
            <a:r>
              <a:t/>
            </a:r>
          </a:p>
          <a:p xmlns:a="http://schemas.openxmlformats.org/drawingml/2006/main">
            <a:r>
              <a:t>Say: Retain Parkroyal as the visual case. Ask how its landscape affects customer experience and operating costs. Singapore has planning and green-building frameworks, but requirements depend on the development. Do not claim that all new buildings face the same landscape obligation or that a price premium is guaranteed.</a:t>
            </a:r>
          </a:p>
          <a:p xmlns:a="http://schemas.openxmlformats.org/drawingml/2006/main">
            <a:r>
              <a:t/>
            </a:r>
          </a:p>
          <a:p xmlns:a="http://schemas.openxmlformats.org/drawingml/2006/main">
            <a:r>
              <a:t>Image credit: Hotel Park Royal on Pickering from Hong Lim Park in Singapore.jpg — CC BY-SA 4.0, Wikimedia Commons</a:t>
            </a:r>
          </a:p>
          <a:p xmlns:a="http://schemas.openxmlformats.org/drawingml/2006/main">
            <a:r>
              <a:t>https://commons.wikimedia.org/wiki/File:Hotel_Park_Royal_on_Pickering_from_Hong_Lim_Park_in_Singapore.jpg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15: Classroom Activity: Pitch a Nature-Based Model</a:t>
            </a:r>
          </a:p>
          <a:p xmlns:a="http://schemas.openxmlformats.org/drawingml/2006/main">
            <a:r>
              <a:t>Suggested time: 20 min</a:t>
            </a:r>
          </a:p>
          <a:p xmlns:a="http://schemas.openxmlformats.org/drawingml/2006/main">
            <a:r>
              <a:t/>
            </a:r>
          </a:p>
          <a:p xmlns:a="http://schemas.openxmlformats.org/drawingml/2006/main">
            <a:r>
              <a:t>Say: Groups design a business for Prague that earns money from Green Infrastructure and pitch it: value proposition, customer, revenue stream, and the ecosystem service behind it. Details in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16: Break</a:t>
            </a:r>
          </a:p>
          <a:p xmlns:a="http://schemas.openxmlformats.org/drawingml/2006/main">
            <a:r>
              <a:t>Suggested time: 15–20 min</a:t>
            </a:r>
          </a:p>
          <a:p xmlns:a="http://schemas.openxmlformats.org/drawingml/2006/main">
            <a:r>
              <a:t/>
            </a:r>
          </a:p>
          <a:p xmlns:a="http://schemas.openxmlformats.org/drawingml/2006/main">
            <a:r>
              <a:t>Say: After the break: from single business models to whole-company strategy, then the debate.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17: Part 4 — Building a Sustainability Strategy</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18: From Ambition to Strategy</a:t>
            </a:r>
          </a:p>
          <a:p xmlns:a="http://schemas.openxmlformats.org/drawingml/2006/main">
            <a:r>
              <a:t>Suggested time: 6 min</a:t>
            </a:r>
          </a:p>
          <a:p xmlns:a="http://schemas.openxmlformats.org/drawingml/2006/main">
            <a:r>
              <a:t/>
            </a:r>
          </a:p>
          <a:p xmlns:a="http://schemas.openxmlformats.org/drawingml/2006/main">
            <a:r>
              <a:t>Say: A strategy pyramid with five levels. Purpose: why sustainability matters to this company. Materiality: which issues matter most. Targets: measurable and with a date. Programmes: the projects that deliver the targets. Governance: who is responsible and how progress is reported. Say that many companies have a purpose statement and nothing below it — that is the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19: Materiality: Priorities for a Business</a:t>
            </a:r>
          </a:p>
          <a:p xmlns:a="http://schemas.openxmlformats.org/drawingml/2006/main">
            <a:r>
              <a:t>Suggested time: 6 min</a:t>
            </a:r>
          </a:p>
          <a:p xmlns:a="http://schemas.openxmlformats.org/drawingml/2006/main">
            <a:r>
              <a:t/>
            </a:r>
          </a:p>
          <a:p xmlns:a="http://schemas.openxmlformats.org/drawingml/2006/main">
            <a:r>
              <a:t>Say: A simple ranking can help strategy, but a top-right-only grid is not an adequate double-materiality test. An issue may be significant because of the company’s impact, its financial effects, or both. For a developer, check buildings, land, people and supply chains. Treat office paper as a possible lower priority, not automatically immaterial.</a:t>
            </a:r>
          </a:p>
          <a:p xmlns:a="http://schemas.openxmlformats.org/drawingml/2006/main">
            <a:r>
              <a:t/>
            </a:r>
          </a:p>
          <a:p xmlns:a="http://schemas.openxmlformats.org/drawingml/2006/main">
            <a:r>
              <a:t>Ask: Could a serious habitat impact matter even before it affects the company’s profits?</a:t>
            </a:r>
          </a:p>
          <a:p xmlns:a="http://schemas.openxmlformats.org/drawingml/2006/main">
            <a:r>
              <a:t/>
            </a:r>
          </a:p>
          <a:p xmlns:a="http://schemas.openxmlformats.org/drawingml/2006/main">
            <a:r>
              <a:t>Sources checked 5 October 2026:</a:t>
            </a:r>
          </a:p>
          <a:p xmlns:a="http://schemas.openxmlformats.org/drawingml/2006/main">
            <a:r>
              <a:t>https://knowledgehub.efrag.org/eng/interactive/ig/ig1/09-2025/75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20: Part 5 — SDGs and Net-Zero Commitments</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21: Integrating the SDGs</a:t>
            </a:r>
          </a:p>
          <a:p xmlns:a="http://schemas.openxmlformats.org/drawingml/2006/main">
            <a:r>
              <a:t>Suggested time: 6 min</a:t>
            </a:r>
          </a:p>
          <a:p xmlns:a="http://schemas.openxmlformats.org/drawingml/2006/main">
            <a:r>
              <a:t/>
            </a:r>
          </a:p>
          <a:p xmlns:a="http://schemas.openxmlformats.org/drawingml/2006/main">
            <a:r>
              <a:t>Say: The 17 UN goals. The most relevant for this course: 11 sustainable cities, 13 climate action, 15 life on land, plus 6 clean water and 3 health. Companies map their activities to goals, set indicators and report. Warn about 'SDG-washing' — putting colourful SDG icons in a report without any measurable action behind them. Seminar 2 goes deeper into the SDGs and the Green Deal.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22: Net-Zero Plans</a:t>
            </a:r>
          </a:p>
          <a:p xmlns:a="http://schemas.openxmlformats.org/drawingml/2006/main">
            <a:r>
              <a:t>Suggested time: 6 min</a:t>
            </a:r>
          </a:p>
          <a:p xmlns:a="http://schemas.openxmlformats.org/drawingml/2006/main">
            <a:r>
              <a:t/>
            </a:r>
          </a:p>
          <a:p xmlns:a="http://schemas.openxmlformats.org/drawingml/2006/main">
            <a:r>
              <a:t>Say: A net-zero plan needs a clear boundary, credible reduction targets and evidence of delivery. Residual emissions require eligible removals under the relevant standard; buying arbitrary offsets or planting trees is not enough. Storage duration, reversals and double counting matter. Urban GI can help adaptation and biodiversity without qualifying as neutralization.</a:t>
            </a:r>
          </a:p>
          <a:p xmlns:a="http://schemas.openxmlformats.org/drawingml/2006/main">
            <a:r>
              <a:t/>
            </a:r>
          </a:p>
          <a:p xmlns:a="http://schemas.openxmlformats.org/drawingml/2006/main">
            <a:r>
              <a:t>Ask: Can a company plant its way to net zero? No. First reduce emissions, then meet the applicable requirements for the remaining emissions.</a:t>
            </a:r>
          </a:p>
          <a:p xmlns:a="http://schemas.openxmlformats.org/drawingml/2006/main">
            <a:r>
              <a:t/>
            </a:r>
          </a:p>
          <a:p xmlns:a="http://schemas.openxmlformats.org/drawingml/2006/main">
            <a:r>
              <a:t>Image credit: Field of Solar Panels near Ogwell.jpg — CC BY-SA 4.0, Wikimedia Commons</a:t>
            </a:r>
          </a:p>
          <a:p xmlns:a="http://schemas.openxmlformats.org/drawingml/2006/main">
            <a:r>
              <a:t>https://commons.wikimedia.org/wiki/File:Field_of_Solar_Panels_near_Ogwell.jpg</a:t>
            </a:r>
          </a:p>
          <a:p xmlns:a="http://schemas.openxmlformats.org/drawingml/2006/main">
            <a:r>
              <a:t>Source image retained from the original lecture.</a:t>
            </a:r>
          </a:p>
          <a:p xmlns:a="http://schemas.openxmlformats.org/drawingml/2006/main">
            <a:r>
              <a:t/>
            </a:r>
          </a:p>
          <a:p xmlns:a="http://schemas.openxmlformats.org/drawingml/2006/main">
            <a:r>
              <a:t>Sources checked 5 October 2026:</a:t>
            </a:r>
          </a:p>
          <a:p xmlns:a="http://schemas.openxmlformats.org/drawingml/2006/main">
            <a:r>
              <a:t>https://files.sciencebasedtargets.org/production/files/Corporate-Net-Zero-Standard-version-2.pdf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23: Part 6 — GI in Corporate and City Strategy</a:t>
            </a:r>
          </a:p>
          <a:p xmlns:a="http://schemas.openxmlformats.org/drawingml/2006/main">
            <a:r>
              <a:t>Suggested time: 1 min</a:t>
            </a:r>
          </a:p>
          <a:p xmlns:a="http://schemas.openxmlformats.org/drawingml/2006/main">
            <a:r>
              <a:t/>
            </a:r>
          </a:p>
          <a:p xmlns:a="http://schemas.openxmlformats.org/drawingml/2006/main">
            <a:r>
              <a:t>Say: Announce the part.</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24: Where GI Enters Corporate Plans</a:t>
            </a:r>
          </a:p>
          <a:p xmlns:a="http://schemas.openxmlformats.org/drawingml/2006/main">
            <a:r>
              <a:t>Suggested time: 5 min</a:t>
            </a:r>
          </a:p>
          <a:p xmlns:a="http://schemas.openxmlformats.org/drawingml/2006/main">
            <a:r>
              <a:t/>
            </a:r>
          </a:p>
          <a:p xmlns:a="http://schemas.openxmlformats.org/drawingml/2006/main">
            <a:r>
              <a:t>Say: GI appears in facility operations, adaptation planning and people or community programmes. Give each action an owner, budget and measure of success. Keep climate adaptation and biodiversity benefits distinct from any carbon-removal claim, which requires separate 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25: Municipal Strategies: Prague and Vienna</a:t>
            </a:r>
          </a:p>
          <a:p xmlns:a="http://schemas.openxmlformats.org/drawingml/2006/main">
            <a:r>
              <a:t>Suggested time: 5 min</a:t>
            </a:r>
          </a:p>
          <a:p xmlns:a="http://schemas.openxmlformats.org/drawingml/2006/main">
            <a:r>
              <a:t/>
            </a:r>
          </a:p>
          <a:p xmlns:a="http://schemas.openxmlformats.org/drawingml/2006/main">
            <a:r>
              <a:t>Say: Prague has a Climate Plan 2030 (emissions, energy, mobility, adaptation) and an Adaptation Strategy (trees, water, permeable surfaces). Vienna's Danube Island in the photo was built as flood protection and became the city's favourite park. For business the message is: city strategies show where public money and partnership opportunities will go in the next years.</a:t>
            </a:r>
          </a:p>
          <a:p xmlns:a="http://schemas.openxmlformats.org/drawingml/2006/main">
            <a:r>
              <a:t/>
            </a:r>
          </a:p>
          <a:p xmlns:a="http://schemas.openxmlformats.org/drawingml/2006/main">
            <a:r>
              <a:t>Image credit: Wien - Donauinsel mit den Donaubrücken.JPG — CC BY-SA 4.0, Wikimedia Commons</a:t>
            </a:r>
          </a:p>
          <a:p xmlns:a="http://schemas.openxmlformats.org/drawingml/2006/main">
            <a:r>
              <a:t>https://commons.wikimedia.org/wiki/File:Wien_-_Donauinsel_mit_den_Donaubr%C3%BCcken.JPG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26: Group Debate</a:t>
            </a:r>
          </a:p>
          <a:p xmlns:a="http://schemas.openxmlformats.org/drawingml/2006/main">
            <a:r>
              <a:t>Suggested time: 25 min</a:t>
            </a:r>
          </a:p>
          <a:p xmlns:a="http://schemas.openxmlformats.org/drawingml/2006/main">
            <a:r>
              <a:t/>
            </a:r>
          </a:p>
          <a:p xmlns:a="http://schemas.openxmlformats.org/drawingml/2006/main">
            <a:r>
              <a:t>Say: Two teams. Motion: 'Should businesses invest directly in public green infrastructure?' Team A argues yes (resilience, talent, brand, shared value). Team B argues no (free-rider problem, focus on core business, it is the public sector's job). Ten minutes to prepare, then a structured debate. Finish by finding the conditions where both sides agree. Details in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27: Key Messages</a:t>
            </a:r>
          </a:p>
          <a:p xmlns:a="http://schemas.openxmlformats.org/drawingml/2006/main">
            <a:r>
              <a:t>Suggested time: 4 min</a:t>
            </a:r>
          </a:p>
          <a:p xmlns:a="http://schemas.openxmlformats.org/drawingml/2006/main">
            <a:r>
              <a:t/>
            </a:r>
          </a:p>
          <a:p xmlns:a="http://schemas.openxmlformats.org/drawingml/2006/main">
            <a:r>
              <a:t>Say: Work through the eight messages. Ask students to connect each to a decision, example or tool from this lecture. Distinguish potential benefits from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28: Recommended Reading</a:t>
            </a:r>
          </a:p>
          <a:p xmlns:a="http://schemas.openxmlformats.org/drawingml/2006/main">
            <a:r>
              <a:t>Suggested time: 2 min</a:t>
            </a:r>
          </a:p>
          <a:p xmlns:a="http://schemas.openxmlformats.org/drawingml/2006/main">
            <a:r>
              <a:t/>
            </a:r>
          </a:p>
          <a:p xmlns:a="http://schemas.openxmlformats.org/drawingml/2006/main">
            <a:r>
              <a:t>Say: Porter and Kramer 2011 is the one to read — it is short. Next lecture: measuring sustainability — KPIs and life cycle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29: Any questions?</a:t>
            </a:r>
          </a:p>
          <a:p xmlns:a="http://schemas.openxmlformats.org/drawingml/2006/main">
            <a:r>
              <a:t>Suggested time: 5 min</a:t>
            </a:r>
          </a:p>
          <a:p xmlns:a="http://schemas.openxmlformats.org/drawingml/2006/main">
            <a:r>
              <a:t/>
            </a:r>
          </a:p>
          <a:p xmlns:a="http://schemas.openxmlformats.org/drawingml/2006/main">
            <a:r>
              <a:t>Say: Take questions.</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3, slide 30: Image credits</a:t>
            </a:r>
          </a:p>
          <a:p xmlns:a="http://schemas.openxmlformats.org/drawingml/2006/main">
            <a:r>
              <a:t/>
            </a:r>
          </a:p>
          <a:p xmlns:a="http://schemas.openxmlformats.org/drawingml/2006/main">
            <a:r>
              <a:t>Say: No need to show.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7049d629a649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c3e64e824f4f70" /><Relationship Type="http://schemas.openxmlformats.org/officeDocument/2006/relationships/slideLayout" Target="/ppt/slideLayouts/slideLayout1.xml" Id="R6148e44c8dd24e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48e44c8dd24e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49a07d77fe436c" /><Relationship Type="http://schemas.openxmlformats.org/officeDocument/2006/relationships/image" Target="/ppt/media/image.png" Id="R1859abef378f40a1" /><Relationship Type="http://schemas.openxmlformats.org/officeDocument/2006/relationships/image" Target="/ppt/media/image2.png" Id="R53ee3537a6c14264" /><Relationship Type="http://schemas.openxmlformats.org/officeDocument/2006/relationships/notesSlide" Target="/ppt/notesSlides/notesSlide1.xml" Id="R3068769a314c41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2f839f056849f4" /><Relationship Type="http://schemas.openxmlformats.org/officeDocument/2006/relationships/image" Target="/ppt/media/image3.png" Id="Rf833d10d4b274511" /><Relationship Type="http://schemas.openxmlformats.org/officeDocument/2006/relationships/notesSlide" Target="/ppt/notesSlides/notesSlide2.xml" Id="R430f32be909a403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be1894e9ad4e90" /><Relationship Type="http://schemas.openxmlformats.org/officeDocument/2006/relationships/image" Target="/ppt/media/image4.png" Id="Ra553efea88f642e6" /><Relationship Type="http://schemas.openxmlformats.org/officeDocument/2006/relationships/notesSlide" Target="/ppt/notesSlides/notesSlide3.xml" Id="R951596c77b8a4e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f4e8faada044a1" /><Relationship Type="http://schemas.openxmlformats.org/officeDocument/2006/relationships/image" Target="/ppt/media/image5.png" Id="R617e22c16e1d4dcd" /><Relationship Type="http://schemas.openxmlformats.org/officeDocument/2006/relationships/notesSlide" Target="/ppt/notesSlides/notesSlide4.xml" Id="Re276a84a160c4f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2a9e1590ee471a" /><Relationship Type="http://schemas.openxmlformats.org/officeDocument/2006/relationships/image" Target="/ppt/media/image6.png" Id="R38fee33a0f7a481c" /><Relationship Type="http://schemas.openxmlformats.org/officeDocument/2006/relationships/notesSlide" Target="/ppt/notesSlides/notesSlide5.xml" Id="R42e406e85e384f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2c705872fd4122" /><Relationship Type="http://schemas.openxmlformats.org/officeDocument/2006/relationships/image" Target="/ppt/media/image7.png" Id="R17e3612c261e4baa" /><Relationship Type="http://schemas.openxmlformats.org/officeDocument/2006/relationships/notesSlide" Target="/ppt/notesSlides/notesSlide6.xml" Id="R006e7b105c7446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51bf5301f749b5" /><Relationship Type="http://schemas.openxmlformats.org/officeDocument/2006/relationships/image" Target="/ppt/media/image8.png" Id="R0d04506edb644d52" /><Relationship Type="http://schemas.openxmlformats.org/officeDocument/2006/relationships/notesSlide" Target="/ppt/notesSlides/notesSlide7.xml" Id="R208a56d701044d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3284165c174698" /><Relationship Type="http://schemas.openxmlformats.org/officeDocument/2006/relationships/image" Target="/ppt/media/image9.png" Id="R5fcfbee6003c4802" /><Relationship Type="http://schemas.openxmlformats.org/officeDocument/2006/relationships/notesSlide" Target="/ppt/notesSlides/notesSlide8.xml" Id="Rd313e48804504a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ed8274c5214a4c" /><Relationship Type="http://schemas.openxmlformats.org/officeDocument/2006/relationships/image" Target="/ppt/media/image10.png" Id="Rc2811b0286da4d36" /><Relationship Type="http://schemas.openxmlformats.org/officeDocument/2006/relationships/notesSlide" Target="/ppt/notesSlides/notesSlide9.xml" Id="R9a53cafc6c9e42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3ea8243fec04a5d" /><Relationship Type="http://schemas.openxmlformats.org/officeDocument/2006/relationships/image" Target="/ppt/media/image11.png" Id="R7cca9b0a73da4675" /><Relationship Type="http://schemas.openxmlformats.org/officeDocument/2006/relationships/image" Target="/ppt/media/image12.png" Id="Rff1a7ad47f9746e4" /><Relationship Type="http://schemas.openxmlformats.org/officeDocument/2006/relationships/notesSlide" Target="/ppt/notesSlides/notesSlide10.xml" Id="Rce0faf776c3740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2b6f40c10e54d7d" /><Relationship Type="http://schemas.openxmlformats.org/officeDocument/2006/relationships/image" Target="/ppt/media/image13.png" Id="R98a04fbd4b524016" /><Relationship Type="http://schemas.openxmlformats.org/officeDocument/2006/relationships/notesSlide" Target="/ppt/notesSlides/notesSlide11.xml" Id="R9d96d6b925774a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79981f9c9640a1" /><Relationship Type="http://schemas.openxmlformats.org/officeDocument/2006/relationships/image" Target="/ppt/media/image14.png" Id="Rcf85e5ae79184f54" /><Relationship Type="http://schemas.openxmlformats.org/officeDocument/2006/relationships/notesSlide" Target="/ppt/notesSlides/notesSlide12.xml" Id="Rde4d15ae018242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ff2e447a71143ef" /><Relationship Type="http://schemas.openxmlformats.org/officeDocument/2006/relationships/image" Target="/ppt/media/image15.png" Id="R893181c0e9614dc2" /><Relationship Type="http://schemas.openxmlformats.org/officeDocument/2006/relationships/notesSlide" Target="/ppt/notesSlides/notesSlide13.xml" Id="R154915f057f246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02344a6154e4479" /><Relationship Type="http://schemas.openxmlformats.org/officeDocument/2006/relationships/image" Target="/ppt/media/image.jpeg" Id="R846caab854804902" /><Relationship Type="http://schemas.openxmlformats.org/officeDocument/2006/relationships/image" Target="/ppt/media/image16.png" Id="R6d8b8473089f4ab7" /><Relationship Type="http://schemas.openxmlformats.org/officeDocument/2006/relationships/notesSlide" Target="/ppt/notesSlides/notesSlide14.xml" Id="R0d5ac199849546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f3cc3048d604645" /><Relationship Type="http://schemas.openxmlformats.org/officeDocument/2006/relationships/image" Target="/ppt/media/image17.png" Id="R8bb6f1eed1204b80" /><Relationship Type="http://schemas.openxmlformats.org/officeDocument/2006/relationships/notesSlide" Target="/ppt/notesSlides/notesSlide15.xml" Id="R818ecad08652476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777a1c0c1da4386" /><Relationship Type="http://schemas.openxmlformats.org/officeDocument/2006/relationships/image" Target="/ppt/media/image18.png" Id="R297d5a6bfbc74bba" /><Relationship Type="http://schemas.openxmlformats.org/officeDocument/2006/relationships/notesSlide" Target="/ppt/notesSlides/notesSlide16.xml" Id="R3b6cdb2dcfbf46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9338e7c182b47af" /><Relationship Type="http://schemas.openxmlformats.org/officeDocument/2006/relationships/image" Target="/ppt/media/image19.png" Id="R9ebb9df4766445f2" /><Relationship Type="http://schemas.openxmlformats.org/officeDocument/2006/relationships/notesSlide" Target="/ppt/notesSlides/notesSlide17.xml" Id="Rad7ea4c59b9a47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2d6b07ab4644da5" /><Relationship Type="http://schemas.openxmlformats.org/officeDocument/2006/relationships/image" Target="/ppt/media/image20.png" Id="Rd21a3132777d4e91" /><Relationship Type="http://schemas.openxmlformats.org/officeDocument/2006/relationships/notesSlide" Target="/ppt/notesSlides/notesSlide18.xml" Id="R86908fa0d8ec42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a7444b4bee14e53" /><Relationship Type="http://schemas.openxmlformats.org/officeDocument/2006/relationships/image" Target="/ppt/media/image21.png" Id="R6d78cc1dd38f4022" /><Relationship Type="http://schemas.openxmlformats.org/officeDocument/2006/relationships/notesSlide" Target="/ppt/notesSlides/notesSlide19.xml" Id="Rb4747845e176462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8102c32d7bf4072" /><Relationship Type="http://schemas.openxmlformats.org/officeDocument/2006/relationships/image" Target="/ppt/media/image22.png" Id="Rb6c7311f2fdb4041" /><Relationship Type="http://schemas.openxmlformats.org/officeDocument/2006/relationships/notesSlide" Target="/ppt/notesSlides/notesSlide20.xml" Id="R9012377bd1cc465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52d86713c4d4ea6" /><Relationship Type="http://schemas.openxmlformats.org/officeDocument/2006/relationships/image" Target="/ppt/media/image23.png" Id="R54688b2cf16b43f4" /><Relationship Type="http://schemas.openxmlformats.org/officeDocument/2006/relationships/notesSlide" Target="/ppt/notesSlides/notesSlide21.xml" Id="Rcd8b5f43ac6549f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d7cb67f1dd14734" /><Relationship Type="http://schemas.openxmlformats.org/officeDocument/2006/relationships/image" Target="/ppt/media/image2.jpeg" Id="Rdf206ca3ca494874" /><Relationship Type="http://schemas.openxmlformats.org/officeDocument/2006/relationships/image" Target="/ppt/media/image24.png" Id="R6dced629a11143fa" /><Relationship Type="http://schemas.openxmlformats.org/officeDocument/2006/relationships/notesSlide" Target="/ppt/notesSlides/notesSlide22.xml" Id="R0444b4ccc6a3452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6a2256d5fb644a5" /><Relationship Type="http://schemas.openxmlformats.org/officeDocument/2006/relationships/image" Target="/ppt/media/image25.png" Id="R3c92ff007e9f4b14" /><Relationship Type="http://schemas.openxmlformats.org/officeDocument/2006/relationships/image" Target="/ppt/media/image26.png" Id="Rfa3c1a32cc654f21" /><Relationship Type="http://schemas.openxmlformats.org/officeDocument/2006/relationships/notesSlide" Target="/ppt/notesSlides/notesSlide23.xml" Id="Rdf38f0eef6c84a2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02c80d637364042" /><Relationship Type="http://schemas.openxmlformats.org/officeDocument/2006/relationships/image" Target="/ppt/media/image27.png" Id="R2b7018f40b474285" /><Relationship Type="http://schemas.openxmlformats.org/officeDocument/2006/relationships/notesSlide" Target="/ppt/notesSlides/notesSlide24.xml" Id="R817d7db0c149444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323abe7f1c04a01" /><Relationship Type="http://schemas.openxmlformats.org/officeDocument/2006/relationships/image" Target="/ppt/media/image3.jpeg" Id="R68e0122c5b7f4d91" /><Relationship Type="http://schemas.openxmlformats.org/officeDocument/2006/relationships/image" Target="/ppt/media/image28.png" Id="R3722d537477c49b3" /><Relationship Type="http://schemas.openxmlformats.org/officeDocument/2006/relationships/notesSlide" Target="/ppt/notesSlides/notesSlide25.xml" Id="Rc3d6246f79494e5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72c1bfa6ba44e16" /><Relationship Type="http://schemas.openxmlformats.org/officeDocument/2006/relationships/image" Target="/ppt/media/image29.png" Id="Rc512114528ba437b" /><Relationship Type="http://schemas.openxmlformats.org/officeDocument/2006/relationships/notesSlide" Target="/ppt/notesSlides/notesSlide26.xml" Id="R48eec3059c4f470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fe04d978b6048c3" /><Relationship Type="http://schemas.openxmlformats.org/officeDocument/2006/relationships/image" Target="/ppt/media/image30.png" Id="R18436fbce86e48f7" /><Relationship Type="http://schemas.openxmlformats.org/officeDocument/2006/relationships/notesSlide" Target="/ppt/notesSlides/notesSlide27.xml" Id="R92a7f6bb01dd4dc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9886db6c32e4022" /><Relationship Type="http://schemas.openxmlformats.org/officeDocument/2006/relationships/image" Target="/ppt/media/image31.png" Id="Reb457f10a4fe40d7" /><Relationship Type="http://schemas.openxmlformats.org/officeDocument/2006/relationships/notesSlide" Target="/ppt/notesSlides/notesSlide28.xml" Id="R3a604e747222419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cea0642f2f340b4" /><Relationship Type="http://schemas.openxmlformats.org/officeDocument/2006/relationships/image" Target="/ppt/media/image32.png" Id="R0ea99e5c965b4243" /><Relationship Type="http://schemas.openxmlformats.org/officeDocument/2006/relationships/image" Target="/ppt/media/image33.png" Id="R8eecb1285f4a451b" /><Relationship Type="http://schemas.openxmlformats.org/officeDocument/2006/relationships/notesSlide" Target="/ppt/notesSlides/notesSlide29.xml" Id="R2d4005ca88cc419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3e474746d3d4fef" /><Relationship Type="http://schemas.openxmlformats.org/officeDocument/2006/relationships/image" Target="/ppt/media/image34.png" Id="R40381854ac9e4137" /><Relationship Type="http://schemas.openxmlformats.org/officeDocument/2006/relationships/notesSlide" Target="/ppt/notesSlides/notesSlide30.xml" Id="R26eca6f431b84706" /></Relationships>
</file>

<file path=ppt/slides/slide1.xml><?xml version="1.0" encoding="utf-8"?>
<p:sld xmlns:p="http://schemas.openxmlformats.org/presentationml/2006/main">
  <p:cSld>
    <p:bg>
      <p:bgPr>
        <a:solidFill xmlns:a="http://schemas.openxmlformats.org/drawingml/2006/main">
          <a:srgbClr val="041F3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859abef378f40a1"/>
          <a:srcRect xmlns:a="http://schemas.openxmlformats.org/drawingml/2006/main" l="28634" t="0" r="28634" b="0"/>
          <a:stretch xmlns:a="http://schemas.openxmlformats.org/drawingml/2006/main">
            <a:fillRect l="0" t="0" r="0" b="0"/>
          </a:stretch>
        </p:blipFill>
        <p:spPr>
          <a:xfrm xmlns:a="http://schemas.openxmlformats.org/drawingml/2006/main">
            <a:off x="5238750" y="0"/>
            <a:ext cx="3905250" cy="51435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3ee3537a6c14264"/>
          <a:stretch xmlns:a="http://schemas.openxmlformats.org/drawingml/2006/main"/>
        </p:blipFill>
        <p:spPr>
          <a:xfrm xmlns:a="http://schemas.openxmlformats.org/drawingml/2006/main">
            <a:off x="495300" y="328666"/>
            <a:ext cx="1790700" cy="323742"/>
          </a:xfrm>
          <a:prstGeom xmlns:a="http://schemas.openxmlformats.org/drawingml/2006/main" prst="rect">
            <a:avLst/>
          </a:prstGeom>
        </p:spPr>
      </p:pic>
      <p:sp>
        <p:nvSpPr>
          <p:cNvPr id="3" name="Applied Sustainability in Business and Management">
            <a:extLst xmlns:a="http://schemas.openxmlformats.org/drawingml/2006/main">
              <a:ext uri="{FF2B5EF4-FFF2-40B4-BE49-F238E27FC236}">
                <a16:creationId xmlns:a16="http://schemas.microsoft.com/office/drawing/2014/main" id="{F6E55C3B-8144-4C30-A354-2BA187B7DC16}"/>
              </a:ext>
            </a:extLst>
          </p:cNvPr>
          <p:cNvSpPr>
            <a:spLocks xmlns:a="http://schemas.openxmlformats.org/drawingml/2006/main" noGrp="1"/>
          </p:cNvSpPr>
          <p:nvPr/>
        </p:nvSpPr>
        <p:spPr>
          <a:xfrm xmlns:a="http://schemas.openxmlformats.org/drawingml/2006/main">
            <a:off x="495300" y="1066800"/>
            <a:ext cx="44196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Applied Sustainability</a:t>
            </a:r>
          </a:p>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in Business and</a:t>
            </a:r>
          </a:p>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Management</a:t>
            </a:r>
          </a:p>
        </p:txBody>
      </p:sp>
      <p:sp>
        <p:nvSpPr>
          <p:cNvPr id="4" name="Lecture 3 — Sustainable Business Models and Corpor">
            <a:extLst xmlns:a="http://schemas.openxmlformats.org/drawingml/2006/main">
              <a:ext uri="{FF2B5EF4-FFF2-40B4-BE49-F238E27FC236}">
                <a16:creationId xmlns:a16="http://schemas.microsoft.com/office/drawing/2014/main" id="{3D9CAB37-75EB-4444-A672-270D08A1036C}"/>
              </a:ext>
            </a:extLst>
          </p:cNvPr>
          <p:cNvSpPr>
            <a:spLocks xmlns:a="http://schemas.openxmlformats.org/drawingml/2006/main" noGrp="1"/>
          </p:cNvSpPr>
          <p:nvPr/>
        </p:nvSpPr>
        <p:spPr>
          <a:xfrm xmlns:a="http://schemas.openxmlformats.org/drawingml/2006/main">
            <a:off x="495300" y="2952750"/>
            <a:ext cx="4238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F5F2EA"/>
                </a:solidFill>
                <a:latin typeface="Arial"/>
                <a:ea typeface="Arial"/>
                <a:cs typeface="Arial"/>
              </a:defRPr>
            </a:pPr>
            <a:r>
              <a:rPr sz="1875" b="0">
                <a:solidFill>
                  <a:srgbClr val="F5F2EA"/>
                </a:solidFill>
                <a:latin typeface="Arial"/>
                <a:ea typeface="Arial"/>
                <a:cs typeface="Arial"/>
              </a:rPr>
              <a:t>Lecture 3 — Sustainable Business</a:t>
            </a:r>
          </a:p>
          <a:p xmlns:a="http://schemas.openxmlformats.org/drawingml/2006/main">
            <a:pPr>
              <a:defRPr sz="1875" b="0">
                <a:solidFill>
                  <a:srgbClr val="F5F2EA"/>
                </a:solidFill>
                <a:latin typeface="Arial"/>
                <a:ea typeface="Arial"/>
                <a:cs typeface="Arial"/>
              </a:defRPr>
            </a:pPr>
            <a:r>
              <a:rPr sz="1875" b="0">
                <a:solidFill>
                  <a:srgbClr val="F5F2EA"/>
                </a:solidFill>
                <a:latin typeface="Arial"/>
                <a:ea typeface="Arial"/>
                <a:cs typeface="Arial"/>
              </a:rPr>
              <a:t>Models and Corporate Strategy</a:t>
            </a:r>
          </a:p>
        </p:txBody>
      </p:sp>
      <p:sp>
        <p:nvSpPr>
          <p:cNvPr id="5" name="Ing. Arch. Jenan Hussein, MSc, PhD">
            <a:extLst xmlns:a="http://schemas.openxmlformats.org/drawingml/2006/main">
              <a:ext uri="{FF2B5EF4-FFF2-40B4-BE49-F238E27FC236}">
                <a16:creationId xmlns:a16="http://schemas.microsoft.com/office/drawing/2014/main" id="{AFB79007-181E-4878-AED9-DCAD9F1B74F1}"/>
              </a:ext>
            </a:extLst>
          </p:cNvPr>
          <p:cNvSpPr>
            <a:spLocks xmlns:a="http://schemas.openxmlformats.org/drawingml/2006/main" noGrp="1"/>
          </p:cNvSpPr>
          <p:nvPr/>
        </p:nvSpPr>
        <p:spPr>
          <a:xfrm xmlns:a="http://schemas.openxmlformats.org/drawingml/2006/main">
            <a:off x="495300" y="4410075"/>
            <a:ext cx="430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C7D0C6"/>
                </a:solidFill>
                <a:latin typeface="Arial"/>
                <a:ea typeface="Arial"/>
                <a:cs typeface="Arial"/>
              </a:defRPr>
            </a:pPr>
            <a:r>
              <a:rPr sz="1425" b="0">
                <a:solidFill>
                  <a:srgbClr val="C7D0C6"/>
                </a:solidFill>
                <a:latin typeface="Arial"/>
                <a:ea typeface="Arial"/>
                <a:cs typeface="Arial"/>
              </a:rPr>
              <a:t>Ing. Arch. Jenan Hussein, MSc, PhD</a:t>
            </a:r>
          </a:p>
        </p:txBody>
      </p:sp>
      <p:sp>
        <p:nvSpPr>
          <p:cNvPr id="6" name="jenanhussein83@gmail.com">
            <a:extLst xmlns:a="http://schemas.openxmlformats.org/drawingml/2006/main">
              <a:ext uri="{FF2B5EF4-FFF2-40B4-BE49-F238E27FC236}">
                <a16:creationId xmlns:a16="http://schemas.microsoft.com/office/drawing/2014/main" id="{4BDCE6E1-9BA5-4642-A925-C44542E1C2FE}"/>
              </a:ext>
            </a:extLst>
          </p:cNvPr>
          <p:cNvSpPr>
            <a:spLocks xmlns:a="http://schemas.openxmlformats.org/drawingml/2006/main" noGrp="1"/>
          </p:cNvSpPr>
          <p:nvPr/>
        </p:nvSpPr>
        <p:spPr>
          <a:xfrm xmlns:a="http://schemas.openxmlformats.org/drawingml/2006/main">
            <a:off x="495300" y="4695825"/>
            <a:ext cx="430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C7D0C6"/>
                </a:solidFill>
                <a:latin typeface="Arial"/>
                <a:ea typeface="Arial"/>
                <a:cs typeface="Arial"/>
              </a:defRPr>
            </a:pPr>
            <a:r>
              <a:rPr sz="1350" b="0">
                <a:solidFill>
                  <a:srgbClr val="C7D0C6"/>
                </a:solidFill>
                <a:latin typeface="Arial"/>
                <a:ea typeface="Arial"/>
                <a:cs typeface="Arial"/>
              </a:rPr>
              <a:t>jenanhussein83@gmail.com</a:t>
            </a:r>
          </a:p>
        </p:txBody>
      </p:sp>
    </p:spTree>
    <p:extLst>
      <p:ext uri="{BB962C8B-B14F-4D97-AF65-F5344CB8AC3E}">
        <p14:creationId xmlns:p14="http://schemas.microsoft.com/office/powerpoint/2010/main" val="814767940"/>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Learning Objectives">
            <a:extLst xmlns:a="http://schemas.openxmlformats.org/drawingml/2006/main">
              <a:ext uri="{FF2B5EF4-FFF2-40B4-BE49-F238E27FC236}">
                <a16:creationId xmlns:a16="http://schemas.microsoft.com/office/drawing/2014/main" id="{5BEC89A1-F868-49DB-9066-E25006BB0E8F}"/>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Learning Objectives</a:t>
            </a:r>
          </a:p>
        </p:txBody>
      </p:sp>
      <p:sp>
        <p:nvSpPr>
          <p:cNvPr id="2" name="Editorial frame">
            <a:extLst xmlns:a="http://schemas.openxmlformats.org/drawingml/2006/main">
              <a:ext uri="{FF2B5EF4-FFF2-40B4-BE49-F238E27FC236}">
                <a16:creationId xmlns:a16="http://schemas.microsoft.com/office/drawing/2014/main" id="{4298CBD2-F8AE-4201-BE31-CF49DB18578C}"/>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4F54284A-7C2F-457F-8253-D294569E0854}"/>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By the end of this lecture you will be able to:">
            <a:extLst xmlns:a="http://schemas.openxmlformats.org/drawingml/2006/main">
              <a:ext uri="{FF2B5EF4-FFF2-40B4-BE49-F238E27FC236}">
                <a16:creationId xmlns:a16="http://schemas.microsoft.com/office/drawing/2014/main" id="{9672BD5C-049E-46D8-BD08-F01C5F1803DE}"/>
              </a:ext>
            </a:extLst>
          </p:cNvPr>
          <p:cNvSpPr>
            <a:spLocks xmlns:a="http://schemas.openxmlformats.org/drawingml/2006/main" noGrp="1"/>
          </p:cNvSpPr>
          <p:nvPr/>
        </p:nvSpPr>
        <p:spPr>
          <a:xfrm xmlns:a="http://schemas.openxmlformats.org/drawingml/2006/main">
            <a:off x="495300" y="14287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8665B"/>
                </a:solidFill>
                <a:latin typeface="Arial"/>
                <a:ea typeface="Arial"/>
                <a:cs typeface="Arial"/>
              </a:defRPr>
            </a:pPr>
            <a:r>
              <a:rPr sz="1650" b="0">
                <a:solidFill>
                  <a:srgbClr val="58665B"/>
                </a:solidFill>
                <a:latin typeface="Arial"/>
                <a:ea typeface="Arial"/>
                <a:cs typeface="Arial"/>
              </a:rPr>
              <a:t>By the end of this lecture you will be able to:</a:t>
            </a:r>
          </a:p>
        </p:txBody>
      </p:sp>
      <p:sp>
        <p:nvSpPr>
          <p:cNvPr id="5" name="Editorial frame">
            <a:extLst xmlns:a="http://schemas.openxmlformats.org/drawingml/2006/main">
              <a:ext uri="{FF2B5EF4-FFF2-40B4-BE49-F238E27FC236}">
                <a16:creationId xmlns:a16="http://schemas.microsoft.com/office/drawing/2014/main" id="{D67A2C9C-DB26-4970-A0CA-CA02571FDE8C}"/>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6" name="Editorial frame">
            <a:extLst xmlns:a="http://schemas.openxmlformats.org/drawingml/2006/main">
              <a:ext uri="{FF2B5EF4-FFF2-40B4-BE49-F238E27FC236}">
                <a16:creationId xmlns:a16="http://schemas.microsoft.com/office/drawing/2014/main" id="{AC944F74-6E0D-4282-84D6-33390C62BA81}"/>
              </a:ext>
            </a:extLst>
          </p:cNvPr>
          <p:cNvSpPr>
            <a:spLocks xmlns:a="http://schemas.openxmlformats.org/drawingml/2006/main" noGrp="1"/>
          </p:cNvSpPr>
          <p:nvPr/>
        </p:nvSpPr>
        <p:spPr>
          <a:xfrm xmlns:a="http://schemas.openxmlformats.org/drawingml/2006/main">
            <a:off x="4562475" y="1857375"/>
            <a:ext cx="9525"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7" name="01">
            <a:extLst xmlns:a="http://schemas.openxmlformats.org/drawingml/2006/main">
              <a:ext uri="{FF2B5EF4-FFF2-40B4-BE49-F238E27FC236}">
                <a16:creationId xmlns:a16="http://schemas.microsoft.com/office/drawing/2014/main" id="{9A4795A2-3664-46CA-89D1-CD606B2B3DDD}"/>
              </a:ext>
            </a:extLst>
          </p:cNvPr>
          <p:cNvSpPr>
            <a:spLocks xmlns:a="http://schemas.openxmlformats.org/drawingml/2006/main" noGrp="1"/>
          </p:cNvSpPr>
          <p:nvPr/>
        </p:nvSpPr>
        <p:spPr>
          <a:xfrm xmlns:a="http://schemas.openxmlformats.org/drawingml/2006/main">
            <a:off x="495300" y="20288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01</a:t>
            </a:r>
          </a:p>
        </p:txBody>
      </p:sp>
      <p:sp>
        <p:nvSpPr>
          <p:cNvPr id="8" name="Compare efficient, circular and regenerative busin">
            <a:extLst xmlns:a="http://schemas.openxmlformats.org/drawingml/2006/main">
              <a:ext uri="{FF2B5EF4-FFF2-40B4-BE49-F238E27FC236}">
                <a16:creationId xmlns:a16="http://schemas.microsoft.com/office/drawing/2014/main" id="{A7FD2AF4-E05D-44FE-9079-FE5126528BD0}"/>
              </a:ext>
            </a:extLst>
          </p:cNvPr>
          <p:cNvSpPr>
            <a:spLocks xmlns:a="http://schemas.openxmlformats.org/drawingml/2006/main" noGrp="1"/>
          </p:cNvSpPr>
          <p:nvPr/>
        </p:nvSpPr>
        <p:spPr>
          <a:xfrm xmlns:a="http://schemas.openxmlformats.org/drawingml/2006/main">
            <a:off x="952500" y="202882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Compare efficient, circular and</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regenerative business models.</a:t>
            </a:r>
          </a:p>
        </p:txBody>
      </p:sp>
      <p:sp>
        <p:nvSpPr>
          <p:cNvPr id="9" name="Editorial frame">
            <a:extLst xmlns:a="http://schemas.openxmlformats.org/drawingml/2006/main">
              <a:ext uri="{FF2B5EF4-FFF2-40B4-BE49-F238E27FC236}">
                <a16:creationId xmlns:a16="http://schemas.microsoft.com/office/drawing/2014/main" id="{35B8A1BF-5C71-47B4-BD6D-F085186139DB}"/>
              </a:ext>
            </a:extLst>
          </p:cNvPr>
          <p:cNvSpPr>
            <a:spLocks xmlns:a="http://schemas.openxmlformats.org/drawingml/2006/main" noGrp="1"/>
          </p:cNvSpPr>
          <p:nvPr/>
        </p:nvSpPr>
        <p:spPr>
          <a:xfrm xmlns:a="http://schemas.openxmlformats.org/drawingml/2006/main">
            <a:off x="952500" y="25812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0" name="02">
            <a:extLst xmlns:a="http://schemas.openxmlformats.org/drawingml/2006/main">
              <a:ext uri="{FF2B5EF4-FFF2-40B4-BE49-F238E27FC236}">
                <a16:creationId xmlns:a16="http://schemas.microsoft.com/office/drawing/2014/main" id="{021DAC59-EF1E-4EFE-B7E8-CE754A1C3529}"/>
              </a:ext>
            </a:extLst>
          </p:cNvPr>
          <p:cNvSpPr>
            <a:spLocks xmlns:a="http://schemas.openxmlformats.org/drawingml/2006/main" noGrp="1"/>
          </p:cNvSpPr>
          <p:nvPr/>
        </p:nvSpPr>
        <p:spPr>
          <a:xfrm xmlns:a="http://schemas.openxmlformats.org/drawingml/2006/main">
            <a:off x="495300" y="26955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02</a:t>
            </a:r>
          </a:p>
        </p:txBody>
      </p:sp>
      <p:sp>
        <p:nvSpPr>
          <p:cNvPr id="11" name="Explain shared value and how a company captures it">
            <a:extLst xmlns:a="http://schemas.openxmlformats.org/drawingml/2006/main">
              <a:ext uri="{FF2B5EF4-FFF2-40B4-BE49-F238E27FC236}">
                <a16:creationId xmlns:a16="http://schemas.microsoft.com/office/drawing/2014/main" id="{379B3E33-D7D4-4463-A9F2-64E85058B3C6}"/>
              </a:ext>
            </a:extLst>
          </p:cNvPr>
          <p:cNvSpPr>
            <a:spLocks xmlns:a="http://schemas.openxmlformats.org/drawingml/2006/main" noGrp="1"/>
          </p:cNvSpPr>
          <p:nvPr/>
        </p:nvSpPr>
        <p:spPr>
          <a:xfrm xmlns:a="http://schemas.openxmlformats.org/drawingml/2006/main">
            <a:off x="952500" y="269557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Explain shared value and how a</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company captures it.</a:t>
            </a:r>
          </a:p>
        </p:txBody>
      </p:sp>
      <p:sp>
        <p:nvSpPr>
          <p:cNvPr id="12" name="Editorial frame">
            <a:extLst xmlns:a="http://schemas.openxmlformats.org/drawingml/2006/main">
              <a:ext uri="{FF2B5EF4-FFF2-40B4-BE49-F238E27FC236}">
                <a16:creationId xmlns:a16="http://schemas.microsoft.com/office/drawing/2014/main" id="{FF953096-F044-4375-AE22-9206B5B321D3}"/>
              </a:ext>
            </a:extLst>
          </p:cNvPr>
          <p:cNvSpPr>
            <a:spLocks xmlns:a="http://schemas.openxmlformats.org/drawingml/2006/main" noGrp="1"/>
          </p:cNvSpPr>
          <p:nvPr/>
        </p:nvSpPr>
        <p:spPr>
          <a:xfrm xmlns:a="http://schemas.openxmlformats.org/drawingml/2006/main">
            <a:off x="952500" y="324802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3" name="03">
            <a:extLst xmlns:a="http://schemas.openxmlformats.org/drawingml/2006/main">
              <a:ext uri="{FF2B5EF4-FFF2-40B4-BE49-F238E27FC236}">
                <a16:creationId xmlns:a16="http://schemas.microsoft.com/office/drawing/2014/main" id="{89A003D9-6A8D-496E-81FE-0298311423C0}"/>
              </a:ext>
            </a:extLst>
          </p:cNvPr>
          <p:cNvSpPr>
            <a:spLocks xmlns:a="http://schemas.openxmlformats.org/drawingml/2006/main" noGrp="1"/>
          </p:cNvSpPr>
          <p:nvPr/>
        </p:nvSpPr>
        <p:spPr>
          <a:xfrm xmlns:a="http://schemas.openxmlformats.org/drawingml/2006/main">
            <a:off x="495300" y="33623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03</a:t>
            </a:r>
          </a:p>
        </p:txBody>
      </p:sp>
      <p:sp>
        <p:nvSpPr>
          <p:cNvPr id="14" name="Assess a GI investment using benefits, costs and r">
            <a:extLst xmlns:a="http://schemas.openxmlformats.org/drawingml/2006/main">
              <a:ext uri="{FF2B5EF4-FFF2-40B4-BE49-F238E27FC236}">
                <a16:creationId xmlns:a16="http://schemas.microsoft.com/office/drawing/2014/main" id="{F6B67381-5FBE-4BCF-BA37-D54DDDCF2EDB}"/>
              </a:ext>
            </a:extLst>
          </p:cNvPr>
          <p:cNvSpPr>
            <a:spLocks xmlns:a="http://schemas.openxmlformats.org/drawingml/2006/main" noGrp="1"/>
          </p:cNvSpPr>
          <p:nvPr/>
        </p:nvSpPr>
        <p:spPr>
          <a:xfrm xmlns:a="http://schemas.openxmlformats.org/drawingml/2006/main">
            <a:off x="952500" y="336232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Assess a GI investment using</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benefits, costs and risks.</a:t>
            </a:r>
          </a:p>
        </p:txBody>
      </p:sp>
      <p:sp>
        <p:nvSpPr>
          <p:cNvPr id="15" name="Editorial frame">
            <a:extLst xmlns:a="http://schemas.openxmlformats.org/drawingml/2006/main">
              <a:ext uri="{FF2B5EF4-FFF2-40B4-BE49-F238E27FC236}">
                <a16:creationId xmlns:a16="http://schemas.microsoft.com/office/drawing/2014/main" id="{E3BE4416-4EBE-46CC-85D8-4D17CC59B7CF}"/>
              </a:ext>
            </a:extLst>
          </p:cNvPr>
          <p:cNvSpPr>
            <a:spLocks xmlns:a="http://schemas.openxmlformats.org/drawingml/2006/main" noGrp="1"/>
          </p:cNvSpPr>
          <p:nvPr/>
        </p:nvSpPr>
        <p:spPr>
          <a:xfrm xmlns:a="http://schemas.openxmlformats.org/drawingml/2006/main">
            <a:off x="952500" y="39147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6" name="04">
            <a:extLst xmlns:a="http://schemas.openxmlformats.org/drawingml/2006/main">
              <a:ext uri="{FF2B5EF4-FFF2-40B4-BE49-F238E27FC236}">
                <a16:creationId xmlns:a16="http://schemas.microsoft.com/office/drawing/2014/main" id="{6824AE82-831E-47D1-8064-277A0BD6771D}"/>
              </a:ext>
            </a:extLst>
          </p:cNvPr>
          <p:cNvSpPr>
            <a:spLocks xmlns:a="http://schemas.openxmlformats.org/drawingml/2006/main" noGrp="1"/>
          </p:cNvSpPr>
          <p:nvPr/>
        </p:nvSpPr>
        <p:spPr>
          <a:xfrm xmlns:a="http://schemas.openxmlformats.org/drawingml/2006/main">
            <a:off x="495300" y="40290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04</a:t>
            </a:r>
          </a:p>
        </p:txBody>
      </p:sp>
      <p:sp>
        <p:nvSpPr>
          <p:cNvPr id="17" name="Turn sustainability priorities into targets and re">
            <a:extLst xmlns:a="http://schemas.openxmlformats.org/drawingml/2006/main">
              <a:ext uri="{FF2B5EF4-FFF2-40B4-BE49-F238E27FC236}">
                <a16:creationId xmlns:a16="http://schemas.microsoft.com/office/drawing/2014/main" id="{4404EEEE-01BE-4E5C-A371-12302C14F9C7}"/>
              </a:ext>
            </a:extLst>
          </p:cNvPr>
          <p:cNvSpPr>
            <a:spLocks xmlns:a="http://schemas.openxmlformats.org/drawingml/2006/main" noGrp="1"/>
          </p:cNvSpPr>
          <p:nvPr/>
        </p:nvSpPr>
        <p:spPr>
          <a:xfrm xmlns:a="http://schemas.openxmlformats.org/drawingml/2006/main">
            <a:off x="952500" y="402907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Turn sustainability priorities into</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targets and responsibilities.</a:t>
            </a:r>
          </a:p>
        </p:txBody>
      </p:sp>
      <p:sp>
        <p:nvSpPr>
          <p:cNvPr id="18" name="05">
            <a:extLst xmlns:a="http://schemas.openxmlformats.org/drawingml/2006/main">
              <a:ext uri="{FF2B5EF4-FFF2-40B4-BE49-F238E27FC236}">
                <a16:creationId xmlns:a16="http://schemas.microsoft.com/office/drawing/2014/main" id="{868E0D76-4915-4FD3-9ACF-DECE1D7629A4}"/>
              </a:ext>
            </a:extLst>
          </p:cNvPr>
          <p:cNvSpPr>
            <a:spLocks xmlns:a="http://schemas.openxmlformats.org/drawingml/2006/main" noGrp="1"/>
          </p:cNvSpPr>
          <p:nvPr/>
        </p:nvSpPr>
        <p:spPr>
          <a:xfrm xmlns:a="http://schemas.openxmlformats.org/drawingml/2006/main">
            <a:off x="4819650" y="20288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05</a:t>
            </a:r>
          </a:p>
        </p:txBody>
      </p:sp>
      <p:sp>
        <p:nvSpPr>
          <p:cNvPr id="19" name="Connect SDGs and credible net-zero plans to compan">
            <a:extLst xmlns:a="http://schemas.openxmlformats.org/drawingml/2006/main">
              <a:ext uri="{FF2B5EF4-FFF2-40B4-BE49-F238E27FC236}">
                <a16:creationId xmlns:a16="http://schemas.microsoft.com/office/drawing/2014/main" id="{26D35455-2B80-4869-8E80-CE43B92F5488}"/>
              </a:ext>
            </a:extLst>
          </p:cNvPr>
          <p:cNvSpPr>
            <a:spLocks xmlns:a="http://schemas.openxmlformats.org/drawingml/2006/main" noGrp="1"/>
          </p:cNvSpPr>
          <p:nvPr/>
        </p:nvSpPr>
        <p:spPr>
          <a:xfrm xmlns:a="http://schemas.openxmlformats.org/drawingml/2006/main">
            <a:off x="5276850" y="2028825"/>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Connect SDGs and credible net-zero</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plans to company actions.</a:t>
            </a:r>
          </a:p>
        </p:txBody>
      </p:sp>
      <p:sp>
        <p:nvSpPr>
          <p:cNvPr id="20" name="Editorial frame">
            <a:extLst xmlns:a="http://schemas.openxmlformats.org/drawingml/2006/main">
              <a:ext uri="{FF2B5EF4-FFF2-40B4-BE49-F238E27FC236}">
                <a16:creationId xmlns:a16="http://schemas.microsoft.com/office/drawing/2014/main" id="{A08623EC-CAF6-426C-B25A-915644541785}"/>
              </a:ext>
            </a:extLst>
          </p:cNvPr>
          <p:cNvSpPr>
            <a:spLocks xmlns:a="http://schemas.openxmlformats.org/drawingml/2006/main" noGrp="1"/>
          </p:cNvSpPr>
          <p:nvPr/>
        </p:nvSpPr>
        <p:spPr>
          <a:xfrm xmlns:a="http://schemas.openxmlformats.org/drawingml/2006/main">
            <a:off x="5276850" y="2724150"/>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1" name="06">
            <a:extLst xmlns:a="http://schemas.openxmlformats.org/drawingml/2006/main">
              <a:ext uri="{FF2B5EF4-FFF2-40B4-BE49-F238E27FC236}">
                <a16:creationId xmlns:a16="http://schemas.microsoft.com/office/drawing/2014/main" id="{B9FEDB54-A286-4BDB-94D4-31309B807D7E}"/>
              </a:ext>
            </a:extLst>
          </p:cNvPr>
          <p:cNvSpPr>
            <a:spLocks xmlns:a="http://schemas.openxmlformats.org/drawingml/2006/main" noGrp="1"/>
          </p:cNvSpPr>
          <p:nvPr/>
        </p:nvSpPr>
        <p:spPr>
          <a:xfrm xmlns:a="http://schemas.openxmlformats.org/drawingml/2006/main">
            <a:off x="4819650" y="283845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06</a:t>
            </a:r>
          </a:p>
        </p:txBody>
      </p:sp>
      <p:sp>
        <p:nvSpPr>
          <p:cNvPr id="22" name="Assess partnerships between companies and cities.">
            <a:extLst xmlns:a="http://schemas.openxmlformats.org/drawingml/2006/main">
              <a:ext uri="{FF2B5EF4-FFF2-40B4-BE49-F238E27FC236}">
                <a16:creationId xmlns:a16="http://schemas.microsoft.com/office/drawing/2014/main" id="{36C1B15A-CF49-495C-8692-66F2DBB062A1}"/>
              </a:ext>
            </a:extLst>
          </p:cNvPr>
          <p:cNvSpPr>
            <a:spLocks xmlns:a="http://schemas.openxmlformats.org/drawingml/2006/main" noGrp="1"/>
          </p:cNvSpPr>
          <p:nvPr/>
        </p:nvSpPr>
        <p:spPr>
          <a:xfrm xmlns:a="http://schemas.openxmlformats.org/drawingml/2006/main">
            <a:off x="5276850" y="2838450"/>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Assess partnerships between</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companies and cities.</a:t>
            </a:r>
          </a:p>
        </p:txBody>
      </p:sp>
      <p:sp>
        <p:nvSpPr>
          <p:cNvPr id="23" name="Editorial frame">
            <a:extLst xmlns:a="http://schemas.openxmlformats.org/drawingml/2006/main">
              <a:ext uri="{FF2B5EF4-FFF2-40B4-BE49-F238E27FC236}">
                <a16:creationId xmlns:a16="http://schemas.microsoft.com/office/drawing/2014/main" id="{7D4D1EDB-483B-4955-A4A0-9615D5AC592D}"/>
              </a:ext>
            </a:extLst>
          </p:cNvPr>
          <p:cNvSpPr>
            <a:spLocks xmlns:a="http://schemas.openxmlformats.org/drawingml/2006/main" noGrp="1"/>
          </p:cNvSpPr>
          <p:nvPr/>
        </p:nvSpPr>
        <p:spPr>
          <a:xfrm xmlns:a="http://schemas.openxmlformats.org/drawingml/2006/main">
            <a:off x="5276850" y="35337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4" name="07">
            <a:extLst xmlns:a="http://schemas.openxmlformats.org/drawingml/2006/main">
              <a:ext uri="{FF2B5EF4-FFF2-40B4-BE49-F238E27FC236}">
                <a16:creationId xmlns:a16="http://schemas.microsoft.com/office/drawing/2014/main" id="{76D54925-2DCD-47BE-90B9-DD354457C40B}"/>
              </a:ext>
            </a:extLst>
          </p:cNvPr>
          <p:cNvSpPr>
            <a:spLocks xmlns:a="http://schemas.openxmlformats.org/drawingml/2006/main" noGrp="1"/>
          </p:cNvSpPr>
          <p:nvPr/>
        </p:nvSpPr>
        <p:spPr>
          <a:xfrm xmlns:a="http://schemas.openxmlformats.org/drawingml/2006/main">
            <a:off x="4819650" y="36480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07</a:t>
            </a:r>
          </a:p>
        </p:txBody>
      </p:sp>
      <p:sp>
        <p:nvSpPr>
          <p:cNvPr id="25" name="Pitch and defend a nature-based business model.">
            <a:extLst xmlns:a="http://schemas.openxmlformats.org/drawingml/2006/main">
              <a:ext uri="{FF2B5EF4-FFF2-40B4-BE49-F238E27FC236}">
                <a16:creationId xmlns:a16="http://schemas.microsoft.com/office/drawing/2014/main" id="{396C9AD8-7032-4B26-9F15-CA7EA80E5BF1}"/>
              </a:ext>
            </a:extLst>
          </p:cNvPr>
          <p:cNvSpPr>
            <a:spLocks xmlns:a="http://schemas.openxmlformats.org/drawingml/2006/main" noGrp="1"/>
          </p:cNvSpPr>
          <p:nvPr/>
        </p:nvSpPr>
        <p:spPr>
          <a:xfrm xmlns:a="http://schemas.openxmlformats.org/drawingml/2006/main">
            <a:off x="5276850" y="3648075"/>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Pitch and defend a nature-based</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business model.</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f833d10d4b27451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7" name="www.newton.university">
            <a:extLst xmlns:a="http://schemas.openxmlformats.org/drawingml/2006/main">
              <a:ext uri="{FF2B5EF4-FFF2-40B4-BE49-F238E27FC236}">
                <a16:creationId xmlns:a16="http://schemas.microsoft.com/office/drawing/2014/main" id="{BA0C177B-E99B-4CD0-9B50-895F350A3E39}"/>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8" name="02">
            <a:extLst xmlns:a="http://schemas.openxmlformats.org/drawingml/2006/main">
              <a:ext uri="{FF2B5EF4-FFF2-40B4-BE49-F238E27FC236}">
                <a16:creationId xmlns:a16="http://schemas.microsoft.com/office/drawing/2014/main" id="{BA262A59-BB26-4992-997C-D290F75AE834}"/>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02</a:t>
            </a:r>
          </a:p>
        </p:txBody>
      </p:sp>
    </p:spTree>
    <p:extLst>
      <p:ext uri="{BB962C8B-B14F-4D97-AF65-F5344CB8AC3E}">
        <p14:creationId xmlns:p14="http://schemas.microsoft.com/office/powerpoint/2010/main" val="1678311552"/>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2" name="Today's Lecture Agenda">
            <a:extLst xmlns:a="http://schemas.openxmlformats.org/drawingml/2006/main">
              <a:ext uri="{FF2B5EF4-FFF2-40B4-BE49-F238E27FC236}">
                <a16:creationId xmlns:a16="http://schemas.microsoft.com/office/drawing/2014/main" id="{A311CC6A-5326-46DD-807D-3F60407121D0}"/>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Today's Lecture Agenda</a:t>
            </a:r>
          </a:p>
        </p:txBody>
      </p:sp>
      <p:sp>
        <p:nvSpPr>
          <p:cNvPr id="2" name="Editorial frame">
            <a:extLst xmlns:a="http://schemas.openxmlformats.org/drawingml/2006/main">
              <a:ext uri="{FF2B5EF4-FFF2-40B4-BE49-F238E27FC236}">
                <a16:creationId xmlns:a16="http://schemas.microsoft.com/office/drawing/2014/main" id="{DE7B7E38-C403-4C52-8A43-CAE93A911E95}"/>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D2828775-8811-404C-9A28-398E2A495C09}"/>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C3CFE49F-2122-4A4E-8B95-CBEF1B6BC39C}"/>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5" name="Before the break">
            <a:extLst xmlns:a="http://schemas.openxmlformats.org/drawingml/2006/main">
              <a:ext uri="{FF2B5EF4-FFF2-40B4-BE49-F238E27FC236}">
                <a16:creationId xmlns:a16="http://schemas.microsoft.com/office/drawing/2014/main" id="{FFEDD15C-C712-4DD1-95DB-C0BD8A35748E}"/>
              </a:ext>
            </a:extLst>
          </p:cNvPr>
          <p:cNvSpPr>
            <a:spLocks xmlns:a="http://schemas.openxmlformats.org/drawingml/2006/main" noGrp="1"/>
          </p:cNvSpPr>
          <p:nvPr/>
        </p:nvSpPr>
        <p:spPr>
          <a:xfrm xmlns:a="http://schemas.openxmlformats.org/drawingml/2006/main">
            <a:off x="495300" y="1485900"/>
            <a:ext cx="3857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Before the break</a:t>
            </a:r>
          </a:p>
        </p:txBody>
      </p:sp>
      <p:sp>
        <p:nvSpPr>
          <p:cNvPr id="6" name="Editorial frame">
            <a:extLst xmlns:a="http://schemas.openxmlformats.org/drawingml/2006/main">
              <a:ext uri="{FF2B5EF4-FFF2-40B4-BE49-F238E27FC236}">
                <a16:creationId xmlns:a16="http://schemas.microsoft.com/office/drawing/2014/main" id="{71E0389E-9582-4BE8-B769-BE96D3C7C920}"/>
              </a:ext>
            </a:extLst>
          </p:cNvPr>
          <p:cNvSpPr>
            <a:spLocks xmlns:a="http://schemas.openxmlformats.org/drawingml/2006/main" noGrp="1"/>
          </p:cNvSpPr>
          <p:nvPr/>
        </p:nvSpPr>
        <p:spPr>
          <a:xfrm xmlns:a="http://schemas.openxmlformats.org/drawingml/2006/main">
            <a:off x="495300" y="1914525"/>
            <a:ext cx="3819525" cy="952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7" name="Part 1 — What Makes a Business Model Sustainable?">
            <a:extLst xmlns:a="http://schemas.openxmlformats.org/drawingml/2006/main">
              <a:ext uri="{FF2B5EF4-FFF2-40B4-BE49-F238E27FC236}">
                <a16:creationId xmlns:a16="http://schemas.microsoft.com/office/drawing/2014/main" id="{032F298C-CFED-4E94-B9BE-6084BEF4DA46}"/>
              </a:ext>
            </a:extLst>
          </p:cNvPr>
          <p:cNvSpPr>
            <a:spLocks xmlns:a="http://schemas.openxmlformats.org/drawingml/2006/main" noGrp="1"/>
          </p:cNvSpPr>
          <p:nvPr/>
        </p:nvSpPr>
        <p:spPr>
          <a:xfrm xmlns:a="http://schemas.openxmlformats.org/drawingml/2006/main">
            <a:off x="495300" y="2076450"/>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Part 1 — What Makes a Business Model</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Sustainable?</a:t>
            </a:r>
          </a:p>
        </p:txBody>
      </p:sp>
      <p:sp>
        <p:nvSpPr>
          <p:cNvPr id="8" name="Part 2 — Shared Value and Regenerative Business">
            <a:extLst xmlns:a="http://schemas.openxmlformats.org/drawingml/2006/main">
              <a:ext uri="{FF2B5EF4-FFF2-40B4-BE49-F238E27FC236}">
                <a16:creationId xmlns:a16="http://schemas.microsoft.com/office/drawing/2014/main" id="{825D431F-9329-4410-9ABF-20A5D08429D9}"/>
              </a:ext>
            </a:extLst>
          </p:cNvPr>
          <p:cNvSpPr>
            <a:spLocks xmlns:a="http://schemas.openxmlformats.org/drawingml/2006/main" noGrp="1"/>
          </p:cNvSpPr>
          <p:nvPr/>
        </p:nvSpPr>
        <p:spPr>
          <a:xfrm xmlns:a="http://schemas.openxmlformats.org/drawingml/2006/main">
            <a:off x="495300" y="269557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Part 2 — Shared Value and Regenerative</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Business</a:t>
            </a:r>
          </a:p>
        </p:txBody>
      </p:sp>
      <p:sp>
        <p:nvSpPr>
          <p:cNvPr id="9" name="Part 3 — Nature-Based Value Creation">
            <a:extLst xmlns:a="http://schemas.openxmlformats.org/drawingml/2006/main">
              <a:ext uri="{FF2B5EF4-FFF2-40B4-BE49-F238E27FC236}">
                <a16:creationId xmlns:a16="http://schemas.microsoft.com/office/drawing/2014/main" id="{5B696F38-A47E-4CA6-B8CF-33041D2F5F7E}"/>
              </a:ext>
            </a:extLst>
          </p:cNvPr>
          <p:cNvSpPr>
            <a:spLocks xmlns:a="http://schemas.openxmlformats.org/drawingml/2006/main" noGrp="1"/>
          </p:cNvSpPr>
          <p:nvPr/>
        </p:nvSpPr>
        <p:spPr>
          <a:xfrm xmlns:a="http://schemas.openxmlformats.org/drawingml/2006/main">
            <a:off x="495300" y="3314700"/>
            <a:ext cx="3781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Part 3 — Nature-Based Value Creation</a:t>
            </a:r>
          </a:p>
        </p:txBody>
      </p:sp>
      <p:sp>
        <p:nvSpPr>
          <p:cNvPr id="10" name="Case Studies — Bosco Verticale, Microsoft, Singapo">
            <a:extLst xmlns:a="http://schemas.openxmlformats.org/drawingml/2006/main">
              <a:ext uri="{FF2B5EF4-FFF2-40B4-BE49-F238E27FC236}">
                <a16:creationId xmlns:a16="http://schemas.microsoft.com/office/drawing/2014/main" id="{39A3E08C-9C84-4EFC-B3B4-09E9EE2446C0}"/>
              </a:ext>
            </a:extLst>
          </p:cNvPr>
          <p:cNvSpPr>
            <a:spLocks xmlns:a="http://schemas.openxmlformats.org/drawingml/2006/main" noGrp="1"/>
          </p:cNvSpPr>
          <p:nvPr/>
        </p:nvSpPr>
        <p:spPr>
          <a:xfrm xmlns:a="http://schemas.openxmlformats.org/drawingml/2006/main">
            <a:off x="495300" y="370522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Case Studies — Bosco Verticale,</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Microsoft, Singapore</a:t>
            </a:r>
          </a:p>
        </p:txBody>
      </p:sp>
      <p:sp>
        <p:nvSpPr>
          <p:cNvPr id="11" name="Activity">
            <a:extLst xmlns:a="http://schemas.openxmlformats.org/drawingml/2006/main">
              <a:ext uri="{FF2B5EF4-FFF2-40B4-BE49-F238E27FC236}">
                <a16:creationId xmlns:a16="http://schemas.microsoft.com/office/drawing/2014/main" id="{24C7A5D5-A942-4038-B0E6-7F0D25F00121}"/>
              </a:ext>
            </a:extLst>
          </p:cNvPr>
          <p:cNvSpPr>
            <a:spLocks xmlns:a="http://schemas.openxmlformats.org/drawingml/2006/main" noGrp="1"/>
          </p:cNvSpPr>
          <p:nvPr/>
        </p:nvSpPr>
        <p:spPr>
          <a:xfrm xmlns:a="http://schemas.openxmlformats.org/drawingml/2006/main">
            <a:off x="495300" y="4324350"/>
            <a:ext cx="3781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Activity</a:t>
            </a:r>
          </a:p>
        </p:txBody>
      </p:sp>
      <p:sp>
        <p:nvSpPr>
          <p:cNvPr id="12" name="After the break">
            <a:extLst xmlns:a="http://schemas.openxmlformats.org/drawingml/2006/main">
              <a:ext uri="{FF2B5EF4-FFF2-40B4-BE49-F238E27FC236}">
                <a16:creationId xmlns:a16="http://schemas.microsoft.com/office/drawing/2014/main" id="{375B78F2-C537-4268-8427-ADD4949A0368}"/>
              </a:ext>
            </a:extLst>
          </p:cNvPr>
          <p:cNvSpPr>
            <a:spLocks xmlns:a="http://schemas.openxmlformats.org/drawingml/2006/main" noGrp="1"/>
          </p:cNvSpPr>
          <p:nvPr/>
        </p:nvSpPr>
        <p:spPr>
          <a:xfrm xmlns:a="http://schemas.openxmlformats.org/drawingml/2006/main">
            <a:off x="4829175" y="1485900"/>
            <a:ext cx="3857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After the break</a:t>
            </a:r>
          </a:p>
        </p:txBody>
      </p:sp>
      <p:sp>
        <p:nvSpPr>
          <p:cNvPr id="13" name="Editorial frame">
            <a:extLst xmlns:a="http://schemas.openxmlformats.org/drawingml/2006/main">
              <a:ext uri="{FF2B5EF4-FFF2-40B4-BE49-F238E27FC236}">
                <a16:creationId xmlns:a16="http://schemas.microsoft.com/office/drawing/2014/main" id="{3385BB80-54A8-45F1-8C32-527F50FAF97E}"/>
              </a:ext>
            </a:extLst>
          </p:cNvPr>
          <p:cNvSpPr>
            <a:spLocks xmlns:a="http://schemas.openxmlformats.org/drawingml/2006/main" noGrp="1"/>
          </p:cNvSpPr>
          <p:nvPr/>
        </p:nvSpPr>
        <p:spPr>
          <a:xfrm xmlns:a="http://schemas.openxmlformats.org/drawingml/2006/main">
            <a:off x="4829175" y="1914525"/>
            <a:ext cx="3819525" cy="952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4" name="Part 4 — Building a Sustainability Strategy">
            <a:extLst xmlns:a="http://schemas.openxmlformats.org/drawingml/2006/main">
              <a:ext uri="{FF2B5EF4-FFF2-40B4-BE49-F238E27FC236}">
                <a16:creationId xmlns:a16="http://schemas.microsoft.com/office/drawing/2014/main" id="{94E9E867-7FE1-40D6-A9E1-C8768CD73EA8}"/>
              </a:ext>
            </a:extLst>
          </p:cNvPr>
          <p:cNvSpPr>
            <a:spLocks xmlns:a="http://schemas.openxmlformats.org/drawingml/2006/main" noGrp="1"/>
          </p:cNvSpPr>
          <p:nvPr/>
        </p:nvSpPr>
        <p:spPr>
          <a:xfrm xmlns:a="http://schemas.openxmlformats.org/drawingml/2006/main">
            <a:off x="4829175" y="2076450"/>
            <a:ext cx="3781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Part 4 — Building a Sustainability Strategy</a:t>
            </a:r>
          </a:p>
        </p:txBody>
      </p:sp>
      <p:sp>
        <p:nvSpPr>
          <p:cNvPr id="15" name="Part 5 — SDGs and Net-Zero Commitments">
            <a:extLst xmlns:a="http://schemas.openxmlformats.org/drawingml/2006/main">
              <a:ext uri="{FF2B5EF4-FFF2-40B4-BE49-F238E27FC236}">
                <a16:creationId xmlns:a16="http://schemas.microsoft.com/office/drawing/2014/main" id="{35A30240-3B48-4D4B-92BA-4B2752C152DB}"/>
              </a:ext>
            </a:extLst>
          </p:cNvPr>
          <p:cNvSpPr>
            <a:spLocks xmlns:a="http://schemas.openxmlformats.org/drawingml/2006/main" noGrp="1"/>
          </p:cNvSpPr>
          <p:nvPr/>
        </p:nvSpPr>
        <p:spPr>
          <a:xfrm xmlns:a="http://schemas.openxmlformats.org/drawingml/2006/main">
            <a:off x="4829175" y="246697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Part 5 — SDGs and Net-Zero</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Commitments</a:t>
            </a:r>
          </a:p>
        </p:txBody>
      </p:sp>
      <p:sp>
        <p:nvSpPr>
          <p:cNvPr id="16" name="Part 6 — GI in Corporate and City Strategy">
            <a:extLst xmlns:a="http://schemas.openxmlformats.org/drawingml/2006/main">
              <a:ext uri="{FF2B5EF4-FFF2-40B4-BE49-F238E27FC236}">
                <a16:creationId xmlns:a16="http://schemas.microsoft.com/office/drawing/2014/main" id="{7A389D70-1886-4EC3-9CD9-4D3986623685}"/>
              </a:ext>
            </a:extLst>
          </p:cNvPr>
          <p:cNvSpPr>
            <a:spLocks xmlns:a="http://schemas.openxmlformats.org/drawingml/2006/main" noGrp="1"/>
          </p:cNvSpPr>
          <p:nvPr/>
        </p:nvSpPr>
        <p:spPr>
          <a:xfrm xmlns:a="http://schemas.openxmlformats.org/drawingml/2006/main">
            <a:off x="4829175" y="3086100"/>
            <a:ext cx="3781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Part 6 — GI in Corporate and City Strategy</a:t>
            </a:r>
          </a:p>
        </p:txBody>
      </p:sp>
      <p:sp>
        <p:nvSpPr>
          <p:cNvPr id="17" name="Group Debate — Should Business Fund Public GI?">
            <a:extLst xmlns:a="http://schemas.openxmlformats.org/drawingml/2006/main">
              <a:ext uri="{FF2B5EF4-FFF2-40B4-BE49-F238E27FC236}">
                <a16:creationId xmlns:a16="http://schemas.microsoft.com/office/drawing/2014/main" id="{D00A3450-FAB9-4629-9400-600C8563F745}"/>
              </a:ext>
            </a:extLst>
          </p:cNvPr>
          <p:cNvSpPr>
            <a:spLocks xmlns:a="http://schemas.openxmlformats.org/drawingml/2006/main" noGrp="1"/>
          </p:cNvSpPr>
          <p:nvPr/>
        </p:nvSpPr>
        <p:spPr>
          <a:xfrm xmlns:a="http://schemas.openxmlformats.org/drawingml/2006/main">
            <a:off x="4829175" y="3476625"/>
            <a:ext cx="3781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Group Debate — Should Business Fund</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Public GI?</a:t>
            </a:r>
          </a:p>
        </p:txBody>
      </p:sp>
      <p:sp>
        <p:nvSpPr>
          <p:cNvPr id="18" name="Key Messages and Reading">
            <a:extLst xmlns:a="http://schemas.openxmlformats.org/drawingml/2006/main">
              <a:ext uri="{FF2B5EF4-FFF2-40B4-BE49-F238E27FC236}">
                <a16:creationId xmlns:a16="http://schemas.microsoft.com/office/drawing/2014/main" id="{69E86AE6-2C88-4C24-BCD3-A4864DA7316F}"/>
              </a:ext>
            </a:extLst>
          </p:cNvPr>
          <p:cNvSpPr>
            <a:spLocks xmlns:a="http://schemas.openxmlformats.org/drawingml/2006/main" noGrp="1"/>
          </p:cNvSpPr>
          <p:nvPr/>
        </p:nvSpPr>
        <p:spPr>
          <a:xfrm xmlns:a="http://schemas.openxmlformats.org/drawingml/2006/main">
            <a:off x="4829175" y="4095750"/>
            <a:ext cx="3781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Key Messages and Reading</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a553efea88f642e6"/>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0" name="www.newton.university">
            <a:extLst xmlns:a="http://schemas.openxmlformats.org/drawingml/2006/main">
              <a:ext uri="{FF2B5EF4-FFF2-40B4-BE49-F238E27FC236}">
                <a16:creationId xmlns:a16="http://schemas.microsoft.com/office/drawing/2014/main" id="{BBF34CBE-8934-4EFE-9141-EF4992CABFD6}"/>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1" name="03">
            <a:extLst xmlns:a="http://schemas.openxmlformats.org/drawingml/2006/main">
              <a:ext uri="{FF2B5EF4-FFF2-40B4-BE49-F238E27FC236}">
                <a16:creationId xmlns:a16="http://schemas.microsoft.com/office/drawing/2014/main" id="{03D777DE-8AA1-4301-B2A8-7824CA15CEB2}"/>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03</a:t>
            </a:r>
          </a:p>
        </p:txBody>
      </p:sp>
    </p:spTree>
    <p:extLst>
      <p:ext uri="{BB962C8B-B14F-4D97-AF65-F5344CB8AC3E}">
        <p14:creationId xmlns:p14="http://schemas.microsoft.com/office/powerpoint/2010/main" val="1107034666"/>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2C66E003-25B1-4659-A3D0-27B511120C09}"/>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Part 1">
            <a:extLst xmlns:a="http://schemas.openxmlformats.org/drawingml/2006/main">
              <a:ext uri="{FF2B5EF4-FFF2-40B4-BE49-F238E27FC236}">
                <a16:creationId xmlns:a16="http://schemas.microsoft.com/office/drawing/2014/main" id="{E4148B41-6CE3-4992-8CBE-6AC843309657}"/>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8665B"/>
                </a:solidFill>
                <a:latin typeface="Arial"/>
                <a:ea typeface="Arial"/>
                <a:cs typeface="Arial"/>
              </a:defRPr>
            </a:pPr>
            <a:r>
              <a:rPr sz="1500" b="0">
                <a:solidFill>
                  <a:srgbClr val="58665B"/>
                </a:solidFill>
                <a:latin typeface="Arial"/>
                <a:ea typeface="Arial"/>
                <a:cs typeface="Arial"/>
              </a:rPr>
              <a:t>Part 1</a:t>
            </a:r>
          </a:p>
        </p:txBody>
      </p:sp>
      <p:sp>
        <p:nvSpPr>
          <p:cNvPr id="3" name="01">
            <a:extLst xmlns:a="http://schemas.openxmlformats.org/drawingml/2006/main">
              <a:ext uri="{FF2B5EF4-FFF2-40B4-BE49-F238E27FC236}">
                <a16:creationId xmlns:a16="http://schemas.microsoft.com/office/drawing/2014/main" id="{CBF3A89C-8076-4803-A97B-DEB308E4FA1F}"/>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B56647"/>
                </a:solidFill>
                <a:latin typeface="Georgia"/>
                <a:ea typeface="Georgia"/>
                <a:cs typeface="Georgia"/>
              </a:defRPr>
            </a:pPr>
            <a:r>
              <a:rPr sz="7875" b="0">
                <a:solidFill>
                  <a:srgbClr val="B56647"/>
                </a:solidFill>
                <a:latin typeface="Georgia"/>
                <a:ea typeface="Georgia"/>
                <a:cs typeface="Georgia"/>
              </a:rPr>
              <a:t>01</a:t>
            </a:r>
          </a:p>
        </p:txBody>
      </p:sp>
      <p:sp>
        <p:nvSpPr>
          <p:cNvPr id="4" name="What Makes a Business Model Sustainable?">
            <a:extLst xmlns:a="http://schemas.openxmlformats.org/drawingml/2006/main">
              <a:ext uri="{FF2B5EF4-FFF2-40B4-BE49-F238E27FC236}">
                <a16:creationId xmlns:a16="http://schemas.microsoft.com/office/drawing/2014/main" id="{5F31641D-A4A8-43CF-95E0-920B1CE5DCC9}"/>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What Makes a Business Model</a:t>
            </a:r>
          </a:p>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Sustainable?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17e22c16e1d4dcd"/>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32A792E4-214C-4475-9665-FF3C99A34C8F}"/>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04">
            <a:extLst xmlns:a="http://schemas.openxmlformats.org/drawingml/2006/main">
              <a:ext uri="{FF2B5EF4-FFF2-40B4-BE49-F238E27FC236}">
                <a16:creationId xmlns:a16="http://schemas.microsoft.com/office/drawing/2014/main" id="{D57060D9-A0BF-4C1A-8193-FF82D0F8360E}"/>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04</a:t>
            </a:r>
          </a:p>
        </p:txBody>
      </p:sp>
    </p:spTree>
    <p:extLst>
      <p:ext uri="{BB962C8B-B14F-4D97-AF65-F5344CB8AC3E}">
        <p14:creationId xmlns:p14="http://schemas.microsoft.com/office/powerpoint/2010/main" val="1812172435"/>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8" name="Business Models, Revisited">
            <a:extLst xmlns:a="http://schemas.openxmlformats.org/drawingml/2006/main">
              <a:ext uri="{FF2B5EF4-FFF2-40B4-BE49-F238E27FC236}">
                <a16:creationId xmlns:a16="http://schemas.microsoft.com/office/drawing/2014/main" id="{CC117CAD-8E4B-41C6-9E77-54DD96C1D1EB}"/>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Business Models, Revisited</a:t>
            </a:r>
          </a:p>
        </p:txBody>
      </p:sp>
      <p:sp>
        <p:nvSpPr>
          <p:cNvPr id="2" name="Editorial frame">
            <a:extLst xmlns:a="http://schemas.openxmlformats.org/drawingml/2006/main">
              <a:ext uri="{FF2B5EF4-FFF2-40B4-BE49-F238E27FC236}">
                <a16:creationId xmlns:a16="http://schemas.microsoft.com/office/drawing/2014/main" id="{2D50A0E9-02B0-4333-AB00-5EB09DE2068A}"/>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277C536C-7480-4C48-BC73-1841D3E5BAE8}"/>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A8D70A30-4A8F-4418-B2CC-2BE06EEAE24C}"/>
              </a:ext>
            </a:extLst>
          </p:cNvPr>
          <p:cNvSpPr>
            <a:spLocks xmlns:a="http://schemas.openxmlformats.org/drawingml/2006/main" noGrp="1"/>
          </p:cNvSpPr>
          <p:nvPr/>
        </p:nvSpPr>
        <p:spPr>
          <a:xfrm xmlns:a="http://schemas.openxmlformats.org/drawingml/2006/main">
            <a:off x="361950" y="1438275"/>
            <a:ext cx="4238625"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26939828-940D-4BFC-A4FC-73C8399409E3}"/>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A business model answers three questions">
            <a:extLst xmlns:a="http://schemas.openxmlformats.org/drawingml/2006/main">
              <a:ext uri="{FF2B5EF4-FFF2-40B4-BE49-F238E27FC236}">
                <a16:creationId xmlns:a16="http://schemas.microsoft.com/office/drawing/2014/main" id="{37F3C9EC-C7F3-4412-8DFB-E9C014AC11F1}"/>
              </a:ext>
            </a:extLst>
          </p:cNvPr>
          <p:cNvSpPr>
            <a:spLocks xmlns:a="http://schemas.openxmlformats.org/drawingml/2006/main" noGrp="1"/>
          </p:cNvSpPr>
          <p:nvPr/>
        </p:nvSpPr>
        <p:spPr>
          <a:xfrm xmlns:a="http://schemas.openxmlformats.org/drawingml/2006/main">
            <a:off x="495300" y="1619250"/>
            <a:ext cx="3971925" cy="645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A business model answers three</a:t>
            </a:r>
          </a:p>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questions</a:t>
            </a:r>
          </a:p>
        </p:txBody>
      </p:sp>
      <p:sp>
        <p:nvSpPr>
          <p:cNvPr id="7" name="What value do we create, and for whom?">
            <a:extLst xmlns:a="http://schemas.openxmlformats.org/drawingml/2006/main">
              <a:ext uri="{FF2B5EF4-FFF2-40B4-BE49-F238E27FC236}">
                <a16:creationId xmlns:a16="http://schemas.microsoft.com/office/drawing/2014/main" id="{31BFAA67-1361-401C-A413-5F10DE6D3866}"/>
              </a:ext>
            </a:extLst>
          </p:cNvPr>
          <p:cNvSpPr>
            <a:spLocks xmlns:a="http://schemas.openxmlformats.org/drawingml/2006/main" noGrp="1"/>
          </p:cNvSpPr>
          <p:nvPr/>
        </p:nvSpPr>
        <p:spPr>
          <a:xfrm xmlns:a="http://schemas.openxmlformats.org/drawingml/2006/main">
            <a:off x="495300" y="237934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What value do we create, and for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whom?</a:t>
            </a:r>
          </a:p>
        </p:txBody>
      </p:sp>
      <p:sp>
        <p:nvSpPr>
          <p:cNvPr id="8" name="How do we deliver it?">
            <a:extLst xmlns:a="http://schemas.openxmlformats.org/drawingml/2006/main">
              <a:ext uri="{FF2B5EF4-FFF2-40B4-BE49-F238E27FC236}">
                <a16:creationId xmlns:a16="http://schemas.microsoft.com/office/drawing/2014/main" id="{194CCFCA-C2E6-440D-B85D-14404ED7FF9B}"/>
              </a:ext>
            </a:extLst>
          </p:cNvPr>
          <p:cNvSpPr>
            <a:spLocks xmlns:a="http://schemas.openxmlformats.org/drawingml/2006/main" noGrp="1"/>
          </p:cNvSpPr>
          <p:nvPr/>
        </p:nvSpPr>
        <p:spPr>
          <a:xfrm xmlns:a="http://schemas.openxmlformats.org/drawingml/2006/main">
            <a:off x="495300" y="302895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How do we deliver it?</a:t>
            </a:r>
          </a:p>
        </p:txBody>
      </p:sp>
      <p:sp>
        <p:nvSpPr>
          <p:cNvPr id="9" name="How do we capture part of that value as revenue?">
            <a:extLst xmlns:a="http://schemas.openxmlformats.org/drawingml/2006/main">
              <a:ext uri="{FF2B5EF4-FFF2-40B4-BE49-F238E27FC236}">
                <a16:creationId xmlns:a16="http://schemas.microsoft.com/office/drawing/2014/main" id="{32163021-2FBC-4097-8AE6-593D51AFE0D2}"/>
              </a:ext>
            </a:extLst>
          </p:cNvPr>
          <p:cNvSpPr>
            <a:spLocks xmlns:a="http://schemas.openxmlformats.org/drawingml/2006/main" noGrp="1"/>
          </p:cNvSpPr>
          <p:nvPr/>
        </p:nvSpPr>
        <p:spPr>
          <a:xfrm xmlns:a="http://schemas.openxmlformats.org/drawingml/2006/main">
            <a:off x="495300" y="341566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How do we capture part of that value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as revenue?</a:t>
            </a:r>
          </a:p>
        </p:txBody>
      </p:sp>
      <p:sp>
        <p:nvSpPr>
          <p:cNvPr id="10" name="Editorial frame">
            <a:extLst xmlns:a="http://schemas.openxmlformats.org/drawingml/2006/main">
              <a:ext uri="{FF2B5EF4-FFF2-40B4-BE49-F238E27FC236}">
                <a16:creationId xmlns:a16="http://schemas.microsoft.com/office/drawing/2014/main" id="{574B750F-2324-4D47-B67D-C601348785B7}"/>
              </a:ext>
            </a:extLst>
          </p:cNvPr>
          <p:cNvSpPr>
            <a:spLocks xmlns:a="http://schemas.openxmlformats.org/drawingml/2006/main" noGrp="1"/>
          </p:cNvSpPr>
          <p:nvPr/>
        </p:nvSpPr>
        <p:spPr>
          <a:xfrm xmlns:a="http://schemas.openxmlformats.org/drawingml/2006/main">
            <a:off x="4543425" y="1438275"/>
            <a:ext cx="4238625"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1" name="Editorial frame">
            <a:extLst xmlns:a="http://schemas.openxmlformats.org/drawingml/2006/main">
              <a:ext uri="{FF2B5EF4-FFF2-40B4-BE49-F238E27FC236}">
                <a16:creationId xmlns:a16="http://schemas.microsoft.com/office/drawing/2014/main" id="{CEE746ED-A15B-41F1-B2C5-8C23C64ED4F1}"/>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2" name="The sustainable version adds">
            <a:extLst xmlns:a="http://schemas.openxmlformats.org/drawingml/2006/main">
              <a:ext uri="{FF2B5EF4-FFF2-40B4-BE49-F238E27FC236}">
                <a16:creationId xmlns:a16="http://schemas.microsoft.com/office/drawing/2014/main" id="{B85B5FF2-04F1-45CE-8C2F-AC453BF19970}"/>
              </a:ext>
            </a:extLst>
          </p:cNvPr>
          <p:cNvSpPr>
            <a:spLocks xmlns:a="http://schemas.openxmlformats.org/drawingml/2006/main" noGrp="1"/>
          </p:cNvSpPr>
          <p:nvPr/>
        </p:nvSpPr>
        <p:spPr>
          <a:xfrm xmlns:a="http://schemas.openxmlformats.org/drawingml/2006/main">
            <a:off x="4676775"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The sustainable version adds</a:t>
            </a:r>
          </a:p>
        </p:txBody>
      </p:sp>
      <p:sp>
        <p:nvSpPr>
          <p:cNvPr id="13" name="What value do we create — or destroy — for society">
            <a:extLst xmlns:a="http://schemas.openxmlformats.org/drawingml/2006/main">
              <a:ext uri="{FF2B5EF4-FFF2-40B4-BE49-F238E27FC236}">
                <a16:creationId xmlns:a16="http://schemas.microsoft.com/office/drawing/2014/main" id="{BEAECF92-E46C-4505-BFF4-9BEC4B5CAECD}"/>
              </a:ext>
            </a:extLst>
          </p:cNvPr>
          <p:cNvSpPr>
            <a:spLocks xmlns:a="http://schemas.openxmlformats.org/drawingml/2006/main" noGrp="1"/>
          </p:cNvSpPr>
          <p:nvPr/>
        </p:nvSpPr>
        <p:spPr>
          <a:xfrm xmlns:a="http://schemas.openxmlformats.org/drawingml/2006/main">
            <a:off x="4676775" y="207073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What value do we create — or destroy</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 for society and nature?</a:t>
            </a:r>
          </a:p>
        </p:txBody>
      </p:sp>
      <p:sp>
        <p:nvSpPr>
          <p:cNvPr id="14" name="Who are the non-paying stakeholders affected by ou">
            <a:extLst xmlns:a="http://schemas.openxmlformats.org/drawingml/2006/main">
              <a:ext uri="{FF2B5EF4-FFF2-40B4-BE49-F238E27FC236}">
                <a16:creationId xmlns:a16="http://schemas.microsoft.com/office/drawing/2014/main" id="{D09D5C24-67DE-440F-976F-2437FC0B22A8}"/>
              </a:ext>
            </a:extLst>
          </p:cNvPr>
          <p:cNvSpPr>
            <a:spLocks xmlns:a="http://schemas.openxmlformats.org/drawingml/2006/main" noGrp="1"/>
          </p:cNvSpPr>
          <p:nvPr/>
        </p:nvSpPr>
        <p:spPr>
          <a:xfrm xmlns:a="http://schemas.openxmlformats.org/drawingml/2006/main">
            <a:off x="4676775" y="272034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Who are the non-paying stakeholders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affected by our model?</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38fee33a0f7a481c"/>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6" name="www.newton.university">
            <a:extLst xmlns:a="http://schemas.openxmlformats.org/drawingml/2006/main">
              <a:ext uri="{FF2B5EF4-FFF2-40B4-BE49-F238E27FC236}">
                <a16:creationId xmlns:a16="http://schemas.microsoft.com/office/drawing/2014/main" id="{BBE01B0F-F204-4B5A-9440-E2C38D247B37}"/>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7" name="05">
            <a:extLst xmlns:a="http://schemas.openxmlformats.org/drawingml/2006/main">
              <a:ext uri="{FF2B5EF4-FFF2-40B4-BE49-F238E27FC236}">
                <a16:creationId xmlns:a16="http://schemas.microsoft.com/office/drawing/2014/main" id="{DC8D92CA-F512-4DAB-9E3B-84B06C777A59}"/>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05</a:t>
            </a:r>
          </a:p>
        </p:txBody>
      </p:sp>
    </p:spTree>
    <p:extLst>
      <p:ext uri="{BB962C8B-B14F-4D97-AF65-F5344CB8AC3E}">
        <p14:creationId xmlns:p14="http://schemas.microsoft.com/office/powerpoint/2010/main" val="1672041883"/>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5" name="Types of Sustainable Business Models">
            <a:extLst xmlns:a="http://schemas.openxmlformats.org/drawingml/2006/main">
              <a:ext uri="{FF2B5EF4-FFF2-40B4-BE49-F238E27FC236}">
                <a16:creationId xmlns:a16="http://schemas.microsoft.com/office/drawing/2014/main" id="{D563F58E-D22A-436F-8B50-EF46BAB1E501}"/>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Types of Sustainable Business Models</a:t>
            </a:r>
          </a:p>
        </p:txBody>
      </p:sp>
      <p:sp>
        <p:nvSpPr>
          <p:cNvPr id="2" name="Editorial frame">
            <a:extLst xmlns:a="http://schemas.openxmlformats.org/drawingml/2006/main">
              <a:ext uri="{FF2B5EF4-FFF2-40B4-BE49-F238E27FC236}">
                <a16:creationId xmlns:a16="http://schemas.microsoft.com/office/drawing/2014/main" id="{24939439-2FF0-494A-8277-08A624B2C7DE}"/>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2522BBAE-B6AF-42BD-B8A3-6F675ED01113}"/>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2272C1DB-F1E1-436C-9B70-B690DFF08BA9}"/>
              </a:ext>
            </a:extLst>
          </p:cNvPr>
          <p:cNvSpPr>
            <a:spLocks xmlns:a="http://schemas.openxmlformats.org/drawingml/2006/main" noGrp="1"/>
          </p:cNvSpPr>
          <p:nvPr/>
        </p:nvSpPr>
        <p:spPr>
          <a:xfrm xmlns:a="http://schemas.openxmlformats.org/drawingml/2006/main">
            <a:off x="361950" y="1438275"/>
            <a:ext cx="2844800"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F5D8F8DF-1981-4991-81B6-C1879DDD4948}"/>
              </a:ext>
            </a:extLst>
          </p:cNvPr>
          <p:cNvSpPr>
            <a:spLocks xmlns:a="http://schemas.openxmlformats.org/drawingml/2006/main" noGrp="1"/>
          </p:cNvSpPr>
          <p:nvPr/>
        </p:nvSpPr>
        <p:spPr>
          <a:xfrm xmlns:a="http://schemas.openxmlformats.org/drawingml/2006/main">
            <a:off x="361950" y="1438275"/>
            <a:ext cx="2844800"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Efficiency-based">
            <a:extLst xmlns:a="http://schemas.openxmlformats.org/drawingml/2006/main">
              <a:ext uri="{FF2B5EF4-FFF2-40B4-BE49-F238E27FC236}">
                <a16:creationId xmlns:a16="http://schemas.microsoft.com/office/drawing/2014/main" id="{07F3B94F-965A-4CA5-83F9-3C6DCA871A37}"/>
              </a:ext>
            </a:extLst>
          </p:cNvPr>
          <p:cNvSpPr>
            <a:spLocks xmlns:a="http://schemas.openxmlformats.org/drawingml/2006/main" noGrp="1"/>
          </p:cNvSpPr>
          <p:nvPr/>
        </p:nvSpPr>
        <p:spPr>
          <a:xfrm xmlns:a="http://schemas.openxmlformats.org/drawingml/2006/main">
            <a:off x="4953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Efficiency-based</a:t>
            </a:r>
          </a:p>
        </p:txBody>
      </p:sp>
      <p:sp>
        <p:nvSpPr>
          <p:cNvPr id="7" name="Do more with less">
            <a:extLst xmlns:a="http://schemas.openxmlformats.org/drawingml/2006/main">
              <a:ext uri="{FF2B5EF4-FFF2-40B4-BE49-F238E27FC236}">
                <a16:creationId xmlns:a16="http://schemas.microsoft.com/office/drawing/2014/main" id="{8E2BBDC3-7576-440A-90D8-BC2C4EB6F716}"/>
              </a:ext>
            </a:extLst>
          </p:cNvPr>
          <p:cNvSpPr>
            <a:spLocks xmlns:a="http://schemas.openxmlformats.org/drawingml/2006/main" noGrp="1"/>
          </p:cNvSpPr>
          <p:nvPr/>
        </p:nvSpPr>
        <p:spPr>
          <a:xfrm xmlns:a="http://schemas.openxmlformats.org/drawingml/2006/main">
            <a:off x="495300" y="207073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Do more with less</a:t>
            </a:r>
          </a:p>
        </p:txBody>
      </p:sp>
      <p:sp>
        <p:nvSpPr>
          <p:cNvPr id="8" name="Energy and material savings">
            <a:extLst xmlns:a="http://schemas.openxmlformats.org/drawingml/2006/main">
              <a:ext uri="{FF2B5EF4-FFF2-40B4-BE49-F238E27FC236}">
                <a16:creationId xmlns:a16="http://schemas.microsoft.com/office/drawing/2014/main" id="{E3BE7723-B466-4CF8-9377-41DD9BF6FB12}"/>
              </a:ext>
            </a:extLst>
          </p:cNvPr>
          <p:cNvSpPr>
            <a:spLocks xmlns:a="http://schemas.openxmlformats.org/drawingml/2006/main" noGrp="1"/>
          </p:cNvSpPr>
          <p:nvPr/>
        </p:nvSpPr>
        <p:spPr>
          <a:xfrm xmlns:a="http://schemas.openxmlformats.org/drawingml/2006/main">
            <a:off x="495300" y="245745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Energy and material</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savings</a:t>
            </a:r>
          </a:p>
        </p:txBody>
      </p:sp>
      <p:sp>
        <p:nvSpPr>
          <p:cNvPr id="9" name="Example: logistics optimization">
            <a:extLst xmlns:a="http://schemas.openxmlformats.org/drawingml/2006/main">
              <a:ext uri="{FF2B5EF4-FFF2-40B4-BE49-F238E27FC236}">
                <a16:creationId xmlns:a16="http://schemas.microsoft.com/office/drawing/2014/main" id="{C369A2BD-29CC-4FAC-BC16-14A7E84882BD}"/>
              </a:ext>
            </a:extLst>
          </p:cNvPr>
          <p:cNvSpPr>
            <a:spLocks xmlns:a="http://schemas.openxmlformats.org/drawingml/2006/main" noGrp="1"/>
          </p:cNvSpPr>
          <p:nvPr/>
        </p:nvSpPr>
        <p:spPr>
          <a:xfrm xmlns:a="http://schemas.openxmlformats.org/drawingml/2006/main">
            <a:off x="495300" y="310705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Example: logistics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optimization</a:t>
            </a:r>
          </a:p>
        </p:txBody>
      </p:sp>
      <p:sp>
        <p:nvSpPr>
          <p:cNvPr id="10" name="Editorial frame">
            <a:extLst xmlns:a="http://schemas.openxmlformats.org/drawingml/2006/main">
              <a:ext uri="{FF2B5EF4-FFF2-40B4-BE49-F238E27FC236}">
                <a16:creationId xmlns:a16="http://schemas.microsoft.com/office/drawing/2014/main" id="{E5B24208-D28D-4EE8-AB73-7DD227B80B57}"/>
              </a:ext>
            </a:extLst>
          </p:cNvPr>
          <p:cNvSpPr>
            <a:spLocks xmlns:a="http://schemas.openxmlformats.org/drawingml/2006/main" noGrp="1"/>
          </p:cNvSpPr>
          <p:nvPr/>
        </p:nvSpPr>
        <p:spPr>
          <a:xfrm xmlns:a="http://schemas.openxmlformats.org/drawingml/2006/main">
            <a:off x="3149600" y="1438275"/>
            <a:ext cx="2844800"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1" name="Editorial frame">
            <a:extLst xmlns:a="http://schemas.openxmlformats.org/drawingml/2006/main">
              <a:ext uri="{FF2B5EF4-FFF2-40B4-BE49-F238E27FC236}">
                <a16:creationId xmlns:a16="http://schemas.microsoft.com/office/drawing/2014/main" id="{5C6A8C02-589C-4381-931D-1327272051CA}"/>
              </a:ext>
            </a:extLst>
          </p:cNvPr>
          <p:cNvSpPr>
            <a:spLocks xmlns:a="http://schemas.openxmlformats.org/drawingml/2006/main" noGrp="1"/>
          </p:cNvSpPr>
          <p:nvPr/>
        </p:nvSpPr>
        <p:spPr>
          <a:xfrm xmlns:a="http://schemas.openxmlformats.org/drawingml/2006/main">
            <a:off x="3149600" y="1438275"/>
            <a:ext cx="284480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2" name="Circular">
            <a:extLst xmlns:a="http://schemas.openxmlformats.org/drawingml/2006/main">
              <a:ext uri="{FF2B5EF4-FFF2-40B4-BE49-F238E27FC236}">
                <a16:creationId xmlns:a16="http://schemas.microsoft.com/office/drawing/2014/main" id="{086E457E-8440-444B-8DAD-60806F2595B4}"/>
              </a:ext>
            </a:extLst>
          </p:cNvPr>
          <p:cNvSpPr>
            <a:spLocks xmlns:a="http://schemas.openxmlformats.org/drawingml/2006/main" noGrp="1"/>
          </p:cNvSpPr>
          <p:nvPr/>
        </p:nvSpPr>
        <p:spPr>
          <a:xfrm xmlns:a="http://schemas.openxmlformats.org/drawingml/2006/main">
            <a:off x="328295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Circular</a:t>
            </a:r>
          </a:p>
        </p:txBody>
      </p:sp>
      <p:sp>
        <p:nvSpPr>
          <p:cNvPr id="13" name="Product-as-a-service">
            <a:extLst xmlns:a="http://schemas.openxmlformats.org/drawingml/2006/main">
              <a:ext uri="{FF2B5EF4-FFF2-40B4-BE49-F238E27FC236}">
                <a16:creationId xmlns:a16="http://schemas.microsoft.com/office/drawing/2014/main" id="{496339AD-6C72-46A0-897E-1AEA48F6BC6A}"/>
              </a:ext>
            </a:extLst>
          </p:cNvPr>
          <p:cNvSpPr>
            <a:spLocks xmlns:a="http://schemas.openxmlformats.org/drawingml/2006/main" noGrp="1"/>
          </p:cNvSpPr>
          <p:nvPr/>
        </p:nvSpPr>
        <p:spPr>
          <a:xfrm xmlns:a="http://schemas.openxmlformats.org/drawingml/2006/main">
            <a:off x="3282950" y="207073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Product-as-a-service</a:t>
            </a:r>
          </a:p>
        </p:txBody>
      </p:sp>
      <p:sp>
        <p:nvSpPr>
          <p:cNvPr id="14" name="Take-back and remanufacture">
            <a:extLst xmlns:a="http://schemas.openxmlformats.org/drawingml/2006/main">
              <a:ext uri="{FF2B5EF4-FFF2-40B4-BE49-F238E27FC236}">
                <a16:creationId xmlns:a16="http://schemas.microsoft.com/office/drawing/2014/main" id="{437E32C6-8CF6-4060-BE84-AD8D009B9AB5}"/>
              </a:ext>
            </a:extLst>
          </p:cNvPr>
          <p:cNvSpPr>
            <a:spLocks xmlns:a="http://schemas.openxmlformats.org/drawingml/2006/main" noGrp="1"/>
          </p:cNvSpPr>
          <p:nvPr/>
        </p:nvSpPr>
        <p:spPr>
          <a:xfrm xmlns:a="http://schemas.openxmlformats.org/drawingml/2006/main">
            <a:off x="3282950" y="245745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Take-back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remanufacture</a:t>
            </a:r>
          </a:p>
        </p:txBody>
      </p:sp>
      <p:sp>
        <p:nvSpPr>
          <p:cNvPr id="15" name="Example: equipment leasing">
            <a:extLst xmlns:a="http://schemas.openxmlformats.org/drawingml/2006/main">
              <a:ext uri="{FF2B5EF4-FFF2-40B4-BE49-F238E27FC236}">
                <a16:creationId xmlns:a16="http://schemas.microsoft.com/office/drawing/2014/main" id="{C76815EF-0234-49DF-8159-27A6B868C438}"/>
              </a:ext>
            </a:extLst>
          </p:cNvPr>
          <p:cNvSpPr>
            <a:spLocks xmlns:a="http://schemas.openxmlformats.org/drawingml/2006/main" noGrp="1"/>
          </p:cNvSpPr>
          <p:nvPr/>
        </p:nvSpPr>
        <p:spPr>
          <a:xfrm xmlns:a="http://schemas.openxmlformats.org/drawingml/2006/main">
            <a:off x="3282950" y="310705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Example: equipment</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leasing</a:t>
            </a:r>
          </a:p>
        </p:txBody>
      </p:sp>
      <p:sp>
        <p:nvSpPr>
          <p:cNvPr id="16" name="Editorial frame">
            <a:extLst xmlns:a="http://schemas.openxmlformats.org/drawingml/2006/main">
              <a:ext uri="{FF2B5EF4-FFF2-40B4-BE49-F238E27FC236}">
                <a16:creationId xmlns:a16="http://schemas.microsoft.com/office/drawing/2014/main" id="{8117AE7B-BDFE-4084-A457-204B194EB4B5}"/>
              </a:ext>
            </a:extLst>
          </p:cNvPr>
          <p:cNvSpPr>
            <a:spLocks xmlns:a="http://schemas.openxmlformats.org/drawingml/2006/main" noGrp="1"/>
          </p:cNvSpPr>
          <p:nvPr/>
        </p:nvSpPr>
        <p:spPr>
          <a:xfrm xmlns:a="http://schemas.openxmlformats.org/drawingml/2006/main">
            <a:off x="5937250" y="1438275"/>
            <a:ext cx="2844800" cy="3305175"/>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7" name="Editorial frame">
            <a:extLst xmlns:a="http://schemas.openxmlformats.org/drawingml/2006/main">
              <a:ext uri="{FF2B5EF4-FFF2-40B4-BE49-F238E27FC236}">
                <a16:creationId xmlns:a16="http://schemas.microsoft.com/office/drawing/2014/main" id="{2E3300F9-7F8A-49B9-9B27-96820907B0E2}"/>
              </a:ext>
            </a:extLst>
          </p:cNvPr>
          <p:cNvSpPr>
            <a:spLocks xmlns:a="http://schemas.openxmlformats.org/drawingml/2006/main" noGrp="1"/>
          </p:cNvSpPr>
          <p:nvPr/>
        </p:nvSpPr>
        <p:spPr>
          <a:xfrm xmlns:a="http://schemas.openxmlformats.org/drawingml/2006/main">
            <a:off x="5937250" y="1438275"/>
            <a:ext cx="2844800"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8" name="Regenerative">
            <a:extLst xmlns:a="http://schemas.openxmlformats.org/drawingml/2006/main">
              <a:ext uri="{FF2B5EF4-FFF2-40B4-BE49-F238E27FC236}">
                <a16:creationId xmlns:a16="http://schemas.microsoft.com/office/drawing/2014/main" id="{F29AC9D9-F175-4691-8C0F-90F46309BAF2}"/>
              </a:ext>
            </a:extLst>
          </p:cNvPr>
          <p:cNvSpPr>
            <a:spLocks xmlns:a="http://schemas.openxmlformats.org/drawingml/2006/main" noGrp="1"/>
          </p:cNvSpPr>
          <p:nvPr/>
        </p:nvSpPr>
        <p:spPr>
          <a:xfrm xmlns:a="http://schemas.openxmlformats.org/drawingml/2006/main">
            <a:off x="60706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Regenerative</a:t>
            </a:r>
          </a:p>
        </p:txBody>
      </p:sp>
      <p:sp>
        <p:nvSpPr>
          <p:cNvPr id="19" name="Leave systems better than found">
            <a:extLst xmlns:a="http://schemas.openxmlformats.org/drawingml/2006/main">
              <a:ext uri="{FF2B5EF4-FFF2-40B4-BE49-F238E27FC236}">
                <a16:creationId xmlns:a16="http://schemas.microsoft.com/office/drawing/2014/main" id="{955195B2-8044-4AED-8CC6-319E3B4D3C33}"/>
              </a:ext>
            </a:extLst>
          </p:cNvPr>
          <p:cNvSpPr>
            <a:spLocks xmlns:a="http://schemas.openxmlformats.org/drawingml/2006/main" noGrp="1"/>
          </p:cNvSpPr>
          <p:nvPr/>
        </p:nvSpPr>
        <p:spPr>
          <a:xfrm xmlns:a="http://schemas.openxmlformats.org/drawingml/2006/main">
            <a:off x="6070600" y="207073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Leave systems better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than found</a:t>
            </a:r>
          </a:p>
        </p:txBody>
      </p:sp>
      <p:sp>
        <p:nvSpPr>
          <p:cNvPr id="20" name="Restore ecosystems and communities">
            <a:extLst xmlns:a="http://schemas.openxmlformats.org/drawingml/2006/main">
              <a:ext uri="{FF2B5EF4-FFF2-40B4-BE49-F238E27FC236}">
                <a16:creationId xmlns:a16="http://schemas.microsoft.com/office/drawing/2014/main" id="{39B25909-D2C8-40FC-8990-8E3FE595EC87}"/>
              </a:ext>
            </a:extLst>
          </p:cNvPr>
          <p:cNvSpPr>
            <a:spLocks xmlns:a="http://schemas.openxmlformats.org/drawingml/2006/main" noGrp="1"/>
          </p:cNvSpPr>
          <p:nvPr/>
        </p:nvSpPr>
        <p:spPr>
          <a:xfrm xmlns:a="http://schemas.openxmlformats.org/drawingml/2006/main">
            <a:off x="6070600" y="272034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Restore ecosystems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communities</a:t>
            </a:r>
          </a:p>
        </p:txBody>
      </p:sp>
      <p:sp>
        <p:nvSpPr>
          <p:cNvPr id="21" name="Example: regenerative agriculture">
            <a:extLst xmlns:a="http://schemas.openxmlformats.org/drawingml/2006/main">
              <a:ext uri="{FF2B5EF4-FFF2-40B4-BE49-F238E27FC236}">
                <a16:creationId xmlns:a16="http://schemas.microsoft.com/office/drawing/2014/main" id="{6818FD43-4D2A-48E5-98F4-13BD9D7156CD}"/>
              </a:ext>
            </a:extLst>
          </p:cNvPr>
          <p:cNvSpPr>
            <a:spLocks xmlns:a="http://schemas.openxmlformats.org/drawingml/2006/main" noGrp="1"/>
          </p:cNvSpPr>
          <p:nvPr/>
        </p:nvSpPr>
        <p:spPr>
          <a:xfrm xmlns:a="http://schemas.openxmlformats.org/drawingml/2006/main">
            <a:off x="6070600" y="336994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Example: regenerative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agriculture</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17e3612c261e4baa"/>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3" name="www.newton.university">
            <a:extLst xmlns:a="http://schemas.openxmlformats.org/drawingml/2006/main">
              <a:ext uri="{FF2B5EF4-FFF2-40B4-BE49-F238E27FC236}">
                <a16:creationId xmlns:a16="http://schemas.microsoft.com/office/drawing/2014/main" id="{74DC5D8C-350B-44A5-B740-ED2B107BE490}"/>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4" name="06">
            <a:extLst xmlns:a="http://schemas.openxmlformats.org/drawingml/2006/main">
              <a:ext uri="{FF2B5EF4-FFF2-40B4-BE49-F238E27FC236}">
                <a16:creationId xmlns:a16="http://schemas.microsoft.com/office/drawing/2014/main" id="{96F2997E-9884-487A-A1BC-6E7A87B1CF4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06</a:t>
            </a:r>
          </a:p>
        </p:txBody>
      </p:sp>
    </p:spTree>
    <p:extLst>
      <p:ext uri="{BB962C8B-B14F-4D97-AF65-F5344CB8AC3E}">
        <p14:creationId xmlns:p14="http://schemas.microsoft.com/office/powerpoint/2010/main" val="1716738003"/>
      </p:ext>
    </p:extLst>
  </p:cSld>
</p:sld>
</file>

<file path=ppt/slides/slide7.xml><?xml version="1.0" encoding="utf-8"?>
<p:sld xmlns:p="http://schemas.openxmlformats.org/presentationml/2006/main">
  <p:cSld>
    <p:bg>
      <p:bgPr>
        <a:solidFill xmlns:a="http://schemas.openxmlformats.org/drawingml/2006/main">
          <a:srgbClr val="132E29"/>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6861536E-02D6-4E39-BEAD-255342A81F1B}"/>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sp>
        <p:nvSpPr>
          <p:cNvPr id="2" name="Part 2">
            <a:extLst xmlns:a="http://schemas.openxmlformats.org/drawingml/2006/main">
              <a:ext uri="{FF2B5EF4-FFF2-40B4-BE49-F238E27FC236}">
                <a16:creationId xmlns:a16="http://schemas.microsoft.com/office/drawing/2014/main" id="{69D6DF9D-28C4-471F-8C14-592DC0015365}"/>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2</a:t>
            </a:r>
          </a:p>
        </p:txBody>
      </p:sp>
      <p:sp>
        <p:nvSpPr>
          <p:cNvPr id="3" name="02">
            <a:extLst xmlns:a="http://schemas.openxmlformats.org/drawingml/2006/main">
              <a:ext uri="{FF2B5EF4-FFF2-40B4-BE49-F238E27FC236}">
                <a16:creationId xmlns:a16="http://schemas.microsoft.com/office/drawing/2014/main" id="{73AA627D-4828-4E65-900A-50EA205F88FB}"/>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819E89"/>
                </a:solidFill>
                <a:latin typeface="Georgia"/>
                <a:ea typeface="Georgia"/>
                <a:cs typeface="Georgia"/>
              </a:defRPr>
            </a:pPr>
            <a:r>
              <a:rPr sz="7875" b="0">
                <a:solidFill>
                  <a:srgbClr val="819E89"/>
                </a:solidFill>
                <a:latin typeface="Georgia"/>
                <a:ea typeface="Georgia"/>
                <a:cs typeface="Georgia"/>
              </a:rPr>
              <a:t>02</a:t>
            </a:r>
          </a:p>
        </p:txBody>
      </p:sp>
      <p:sp>
        <p:nvSpPr>
          <p:cNvPr id="4" name="Shared Value and Regenerative Business">
            <a:extLst xmlns:a="http://schemas.openxmlformats.org/drawingml/2006/main">
              <a:ext uri="{FF2B5EF4-FFF2-40B4-BE49-F238E27FC236}">
                <a16:creationId xmlns:a16="http://schemas.microsoft.com/office/drawing/2014/main" id="{D3F6DFD2-46F7-4562-8A82-C330EDD55EDE}"/>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Shared Value and</a:t>
            </a:r>
          </a:p>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Regenerative Business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d04506edb644d5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CD196600-089F-4D30-8415-635AD8AB608A}"/>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07">
            <a:extLst xmlns:a="http://schemas.openxmlformats.org/drawingml/2006/main">
              <a:ext uri="{FF2B5EF4-FFF2-40B4-BE49-F238E27FC236}">
                <a16:creationId xmlns:a16="http://schemas.microsoft.com/office/drawing/2014/main" id="{476F486C-8376-4C92-8058-45FEF6EA8CE2}"/>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07</a:t>
            </a:r>
          </a:p>
        </p:txBody>
      </p:sp>
    </p:spTree>
    <p:extLst>
      <p:ext uri="{BB962C8B-B14F-4D97-AF65-F5344CB8AC3E}">
        <p14:creationId xmlns:p14="http://schemas.microsoft.com/office/powerpoint/2010/main" val="1012466802"/>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1" name="Creating Shared Value (Porter &amp; Kramer, 2011)">
            <a:extLst xmlns:a="http://schemas.openxmlformats.org/drawingml/2006/main">
              <a:ext uri="{FF2B5EF4-FFF2-40B4-BE49-F238E27FC236}">
                <a16:creationId xmlns:a16="http://schemas.microsoft.com/office/drawing/2014/main" id="{BA4E29A4-CF3B-4EDA-B528-9ED000D6D0E7}"/>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Creating Shared Value (Porter &amp; Kramer, 2011)</a:t>
            </a:r>
          </a:p>
        </p:txBody>
      </p:sp>
      <p:sp>
        <p:nvSpPr>
          <p:cNvPr id="2" name="Editorial frame">
            <a:extLst xmlns:a="http://schemas.openxmlformats.org/drawingml/2006/main">
              <a:ext uri="{FF2B5EF4-FFF2-40B4-BE49-F238E27FC236}">
                <a16:creationId xmlns:a16="http://schemas.microsoft.com/office/drawing/2014/main" id="{11917485-3114-444E-9E11-97C0D8506F2C}"/>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C723512C-30AF-4125-9CD6-A4C35DB2830B}"/>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8E107106-3C29-4EE8-A7A3-4B60A6CDC5AF}"/>
              </a:ext>
            </a:extLst>
          </p:cNvPr>
          <p:cNvSpPr>
            <a:spLocks xmlns:a="http://schemas.openxmlformats.org/drawingml/2006/main" noGrp="1"/>
          </p:cNvSpPr>
          <p:nvPr/>
        </p:nvSpPr>
        <p:spPr>
          <a:xfrm xmlns:a="http://schemas.openxmlformats.org/drawingml/2006/main">
            <a:off x="361950" y="1438275"/>
            <a:ext cx="2844800"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C4B71959-A7E5-40AB-8A85-AA61337A5852}"/>
              </a:ext>
            </a:extLst>
          </p:cNvPr>
          <p:cNvSpPr>
            <a:spLocks xmlns:a="http://schemas.openxmlformats.org/drawingml/2006/main" noGrp="1"/>
          </p:cNvSpPr>
          <p:nvPr/>
        </p:nvSpPr>
        <p:spPr>
          <a:xfrm xmlns:a="http://schemas.openxmlformats.org/drawingml/2006/main">
            <a:off x="361950" y="1438275"/>
            <a:ext cx="2844800"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Core idea">
            <a:extLst xmlns:a="http://schemas.openxmlformats.org/drawingml/2006/main">
              <a:ext uri="{FF2B5EF4-FFF2-40B4-BE49-F238E27FC236}">
                <a16:creationId xmlns:a16="http://schemas.microsoft.com/office/drawing/2014/main" id="{DA6F6D8C-66B0-4190-AE2D-99E1587ECD9C}"/>
              </a:ext>
            </a:extLst>
          </p:cNvPr>
          <p:cNvSpPr>
            <a:spLocks xmlns:a="http://schemas.openxmlformats.org/drawingml/2006/main" noGrp="1"/>
          </p:cNvSpPr>
          <p:nvPr/>
        </p:nvSpPr>
        <p:spPr>
          <a:xfrm xmlns:a="http://schemas.openxmlformats.org/drawingml/2006/main">
            <a:off x="4953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Core idea</a:t>
            </a:r>
          </a:p>
        </p:txBody>
      </p:sp>
      <p:sp>
        <p:nvSpPr>
          <p:cNvPr id="7" name="Companies can create economic value in ways that a">
            <a:extLst xmlns:a="http://schemas.openxmlformats.org/drawingml/2006/main">
              <a:ext uri="{FF2B5EF4-FFF2-40B4-BE49-F238E27FC236}">
                <a16:creationId xmlns:a16="http://schemas.microsoft.com/office/drawing/2014/main" id="{935A1539-5561-452B-9CAD-DF5E900C4192}"/>
              </a:ext>
            </a:extLst>
          </p:cNvPr>
          <p:cNvSpPr>
            <a:spLocks xmlns:a="http://schemas.openxmlformats.org/drawingml/2006/main" noGrp="1"/>
          </p:cNvSpPr>
          <p:nvPr/>
        </p:nvSpPr>
        <p:spPr>
          <a:xfrm xmlns:a="http://schemas.openxmlformats.org/drawingml/2006/main">
            <a:off x="495300" y="2070735"/>
            <a:ext cx="2578100" cy="1605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Companies can create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economic value in ways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that also create value for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society — not as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philanthropy, but as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strategy.</a:t>
            </a:r>
          </a:p>
        </p:txBody>
      </p:sp>
      <p:sp>
        <p:nvSpPr>
          <p:cNvPr id="8" name="Editorial frame">
            <a:extLst xmlns:a="http://schemas.openxmlformats.org/drawingml/2006/main">
              <a:ext uri="{FF2B5EF4-FFF2-40B4-BE49-F238E27FC236}">
                <a16:creationId xmlns:a16="http://schemas.microsoft.com/office/drawing/2014/main" id="{E6C4B639-07B6-46BB-9418-1032D1920F3B}"/>
              </a:ext>
            </a:extLst>
          </p:cNvPr>
          <p:cNvSpPr>
            <a:spLocks xmlns:a="http://schemas.openxmlformats.org/drawingml/2006/main" noGrp="1"/>
          </p:cNvSpPr>
          <p:nvPr/>
        </p:nvSpPr>
        <p:spPr>
          <a:xfrm xmlns:a="http://schemas.openxmlformats.org/drawingml/2006/main">
            <a:off x="3149600" y="1438275"/>
            <a:ext cx="2844800"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9" name="Editorial frame">
            <a:extLst xmlns:a="http://schemas.openxmlformats.org/drawingml/2006/main">
              <a:ext uri="{FF2B5EF4-FFF2-40B4-BE49-F238E27FC236}">
                <a16:creationId xmlns:a16="http://schemas.microsoft.com/office/drawing/2014/main" id="{4632A55B-D7FC-4B55-802C-0F232314298B}"/>
              </a:ext>
            </a:extLst>
          </p:cNvPr>
          <p:cNvSpPr>
            <a:spLocks xmlns:a="http://schemas.openxmlformats.org/drawingml/2006/main" noGrp="1"/>
          </p:cNvSpPr>
          <p:nvPr/>
        </p:nvSpPr>
        <p:spPr>
          <a:xfrm xmlns:a="http://schemas.openxmlformats.org/drawingml/2006/main">
            <a:off x="3149600" y="1438275"/>
            <a:ext cx="284480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0" name="Three routes">
            <a:extLst xmlns:a="http://schemas.openxmlformats.org/drawingml/2006/main">
              <a:ext uri="{FF2B5EF4-FFF2-40B4-BE49-F238E27FC236}">
                <a16:creationId xmlns:a16="http://schemas.microsoft.com/office/drawing/2014/main" id="{6E487950-C441-4466-A7F6-88C45586C563}"/>
              </a:ext>
            </a:extLst>
          </p:cNvPr>
          <p:cNvSpPr>
            <a:spLocks xmlns:a="http://schemas.openxmlformats.org/drawingml/2006/main" noGrp="1"/>
          </p:cNvSpPr>
          <p:nvPr/>
        </p:nvSpPr>
        <p:spPr>
          <a:xfrm xmlns:a="http://schemas.openxmlformats.org/drawingml/2006/main">
            <a:off x="328295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Three routes</a:t>
            </a:r>
          </a:p>
        </p:txBody>
      </p:sp>
      <p:sp>
        <p:nvSpPr>
          <p:cNvPr id="11" name="Reconceive products and markets.">
            <a:extLst xmlns:a="http://schemas.openxmlformats.org/drawingml/2006/main">
              <a:ext uri="{FF2B5EF4-FFF2-40B4-BE49-F238E27FC236}">
                <a16:creationId xmlns:a16="http://schemas.microsoft.com/office/drawing/2014/main" id="{BA998877-A2BF-4AE1-8F28-6EC61B287850}"/>
              </a:ext>
            </a:extLst>
          </p:cNvPr>
          <p:cNvSpPr>
            <a:spLocks xmlns:a="http://schemas.openxmlformats.org/drawingml/2006/main" noGrp="1"/>
          </p:cNvSpPr>
          <p:nvPr/>
        </p:nvSpPr>
        <p:spPr>
          <a:xfrm xmlns:a="http://schemas.openxmlformats.org/drawingml/2006/main">
            <a:off x="3282950" y="207073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Reconceive products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markets.</a:t>
            </a:r>
          </a:p>
        </p:txBody>
      </p:sp>
      <p:sp>
        <p:nvSpPr>
          <p:cNvPr id="12" name="Redefine productivity in the value chain.">
            <a:extLst xmlns:a="http://schemas.openxmlformats.org/drawingml/2006/main">
              <a:ext uri="{FF2B5EF4-FFF2-40B4-BE49-F238E27FC236}">
                <a16:creationId xmlns:a16="http://schemas.microsoft.com/office/drawing/2014/main" id="{13EB84CF-92C1-4D76-98FC-BF09D83ED404}"/>
              </a:ext>
            </a:extLst>
          </p:cNvPr>
          <p:cNvSpPr>
            <a:spLocks xmlns:a="http://schemas.openxmlformats.org/drawingml/2006/main" noGrp="1"/>
          </p:cNvSpPr>
          <p:nvPr/>
        </p:nvSpPr>
        <p:spPr>
          <a:xfrm xmlns:a="http://schemas.openxmlformats.org/drawingml/2006/main">
            <a:off x="3282950" y="272034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Redefine productivity in</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the value chain.</a:t>
            </a:r>
          </a:p>
        </p:txBody>
      </p:sp>
      <p:sp>
        <p:nvSpPr>
          <p:cNvPr id="13" name="Build supportive industry clusters — including hea">
            <a:extLst xmlns:a="http://schemas.openxmlformats.org/drawingml/2006/main">
              <a:ext uri="{FF2B5EF4-FFF2-40B4-BE49-F238E27FC236}">
                <a16:creationId xmlns:a16="http://schemas.microsoft.com/office/drawing/2014/main" id="{801FC080-2FE3-4F98-8653-F907E226DAA3}"/>
              </a:ext>
            </a:extLst>
          </p:cNvPr>
          <p:cNvSpPr>
            <a:spLocks xmlns:a="http://schemas.openxmlformats.org/drawingml/2006/main" noGrp="1"/>
          </p:cNvSpPr>
          <p:nvPr/>
        </p:nvSpPr>
        <p:spPr>
          <a:xfrm xmlns:a="http://schemas.openxmlformats.org/drawingml/2006/main">
            <a:off x="3282950" y="3369945"/>
            <a:ext cx="2578100" cy="1080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Build supportive industry</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clusters — including</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healthy local</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environments.</a:t>
            </a:r>
          </a:p>
        </p:txBody>
      </p:sp>
      <p:sp>
        <p:nvSpPr>
          <p:cNvPr id="14" name="Editorial frame">
            <a:extLst xmlns:a="http://schemas.openxmlformats.org/drawingml/2006/main">
              <a:ext uri="{FF2B5EF4-FFF2-40B4-BE49-F238E27FC236}">
                <a16:creationId xmlns:a16="http://schemas.microsoft.com/office/drawing/2014/main" id="{C0B816F5-B7BA-4082-A7DB-15C5EA6F74D7}"/>
              </a:ext>
            </a:extLst>
          </p:cNvPr>
          <p:cNvSpPr>
            <a:spLocks xmlns:a="http://schemas.openxmlformats.org/drawingml/2006/main" noGrp="1"/>
          </p:cNvSpPr>
          <p:nvPr/>
        </p:nvSpPr>
        <p:spPr>
          <a:xfrm xmlns:a="http://schemas.openxmlformats.org/drawingml/2006/main">
            <a:off x="5937250" y="1438275"/>
            <a:ext cx="2844800" cy="3305175"/>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5" name="Editorial frame">
            <a:extLst xmlns:a="http://schemas.openxmlformats.org/drawingml/2006/main">
              <a:ext uri="{FF2B5EF4-FFF2-40B4-BE49-F238E27FC236}">
                <a16:creationId xmlns:a16="http://schemas.microsoft.com/office/drawing/2014/main" id="{3CEE13EC-E754-4919-B491-88CFB5AFC5BA}"/>
              </a:ext>
            </a:extLst>
          </p:cNvPr>
          <p:cNvSpPr>
            <a:spLocks xmlns:a="http://schemas.openxmlformats.org/drawingml/2006/main" noGrp="1"/>
          </p:cNvSpPr>
          <p:nvPr/>
        </p:nvSpPr>
        <p:spPr>
          <a:xfrm xmlns:a="http://schemas.openxmlformats.org/drawingml/2006/main">
            <a:off x="5937250" y="1438275"/>
            <a:ext cx="2844800"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6" name="Discussion">
            <a:extLst xmlns:a="http://schemas.openxmlformats.org/drawingml/2006/main">
              <a:ext uri="{FF2B5EF4-FFF2-40B4-BE49-F238E27FC236}">
                <a16:creationId xmlns:a16="http://schemas.microsoft.com/office/drawing/2014/main" id="{7CA4F662-2BBD-423B-849D-7DE545AED12F}"/>
              </a:ext>
            </a:extLst>
          </p:cNvPr>
          <p:cNvSpPr>
            <a:spLocks xmlns:a="http://schemas.openxmlformats.org/drawingml/2006/main" noGrp="1"/>
          </p:cNvSpPr>
          <p:nvPr/>
        </p:nvSpPr>
        <p:spPr>
          <a:xfrm xmlns:a="http://schemas.openxmlformats.org/drawingml/2006/main">
            <a:off x="60706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Discussion</a:t>
            </a:r>
          </a:p>
        </p:txBody>
      </p:sp>
      <p:sp>
        <p:nvSpPr>
          <p:cNvPr id="17" name="Is a city park part of a company's 'cluster'?">
            <a:extLst xmlns:a="http://schemas.openxmlformats.org/drawingml/2006/main">
              <a:ext uri="{FF2B5EF4-FFF2-40B4-BE49-F238E27FC236}">
                <a16:creationId xmlns:a16="http://schemas.microsoft.com/office/drawing/2014/main" id="{751A524D-A0F9-47E0-BC30-E2AC80D274ED}"/>
              </a:ext>
            </a:extLst>
          </p:cNvPr>
          <p:cNvSpPr>
            <a:spLocks xmlns:a="http://schemas.openxmlformats.org/drawingml/2006/main" noGrp="1"/>
          </p:cNvSpPr>
          <p:nvPr/>
        </p:nvSpPr>
        <p:spPr>
          <a:xfrm xmlns:a="http://schemas.openxmlformats.org/drawingml/2006/main">
            <a:off x="6070600" y="207073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Is a city park part of a</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company's 'cluster'?</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fcfbee6003c480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9" name="www.newton.university">
            <a:extLst xmlns:a="http://schemas.openxmlformats.org/drawingml/2006/main">
              <a:ext uri="{FF2B5EF4-FFF2-40B4-BE49-F238E27FC236}">
                <a16:creationId xmlns:a16="http://schemas.microsoft.com/office/drawing/2014/main" id="{3BCC0A60-A5A7-43AA-B7D9-4E03B751A973}"/>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0" name="08">
            <a:extLst xmlns:a="http://schemas.openxmlformats.org/drawingml/2006/main">
              <a:ext uri="{FF2B5EF4-FFF2-40B4-BE49-F238E27FC236}">
                <a16:creationId xmlns:a16="http://schemas.microsoft.com/office/drawing/2014/main" id="{BAA0A031-DF9C-40C2-8DC2-28ED9A459A44}"/>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08</a:t>
            </a:r>
          </a:p>
        </p:txBody>
      </p:sp>
    </p:spTree>
    <p:extLst>
      <p:ext uri="{BB962C8B-B14F-4D97-AF65-F5344CB8AC3E}">
        <p14:creationId xmlns:p14="http://schemas.microsoft.com/office/powerpoint/2010/main" val="2133637961"/>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Sustainable and Regenerative Business">
            <a:extLst xmlns:a="http://schemas.openxmlformats.org/drawingml/2006/main">
              <a:ext uri="{FF2B5EF4-FFF2-40B4-BE49-F238E27FC236}">
                <a16:creationId xmlns:a16="http://schemas.microsoft.com/office/drawing/2014/main" id="{01AEE6D5-E92F-4119-9869-ABD3ED4244DD}"/>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Sustainable and Regenerative Business</a:t>
            </a:r>
          </a:p>
        </p:txBody>
      </p:sp>
      <p:sp>
        <p:nvSpPr>
          <p:cNvPr id="2" name="Editorial frame">
            <a:extLst xmlns:a="http://schemas.openxmlformats.org/drawingml/2006/main">
              <a:ext uri="{FF2B5EF4-FFF2-40B4-BE49-F238E27FC236}">
                <a16:creationId xmlns:a16="http://schemas.microsoft.com/office/drawing/2014/main" id="{736DA47D-8FEA-4471-8905-88A904F79A1C}"/>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9438E0FA-6024-41E4-97C8-3B901CAA19F1}"/>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A9DEFF8E-0436-44A5-B976-564C601EE687}"/>
              </a:ext>
            </a:extLst>
          </p:cNvPr>
          <p:cNvSpPr>
            <a:spLocks xmlns:a="http://schemas.openxmlformats.org/drawingml/2006/main" noGrp="1"/>
          </p:cNvSpPr>
          <p:nvPr/>
        </p:nvSpPr>
        <p:spPr>
          <a:xfrm xmlns:a="http://schemas.openxmlformats.org/drawingml/2006/main">
            <a:off x="361950" y="1438275"/>
            <a:ext cx="2844800"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8416212F-8644-44AB-8336-854CBD9AB524}"/>
              </a:ext>
            </a:extLst>
          </p:cNvPr>
          <p:cNvSpPr>
            <a:spLocks xmlns:a="http://schemas.openxmlformats.org/drawingml/2006/main" noGrp="1"/>
          </p:cNvSpPr>
          <p:nvPr/>
        </p:nvSpPr>
        <p:spPr>
          <a:xfrm xmlns:a="http://schemas.openxmlformats.org/drawingml/2006/main">
            <a:off x="361950" y="1438275"/>
            <a:ext cx="2844800"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Sustainable">
            <a:extLst xmlns:a="http://schemas.openxmlformats.org/drawingml/2006/main">
              <a:ext uri="{FF2B5EF4-FFF2-40B4-BE49-F238E27FC236}">
                <a16:creationId xmlns:a16="http://schemas.microsoft.com/office/drawing/2014/main" id="{DE0617D1-DA1D-45BD-A55C-7B2D66ACEA19}"/>
              </a:ext>
            </a:extLst>
          </p:cNvPr>
          <p:cNvSpPr>
            <a:spLocks xmlns:a="http://schemas.openxmlformats.org/drawingml/2006/main" noGrp="1"/>
          </p:cNvSpPr>
          <p:nvPr/>
        </p:nvSpPr>
        <p:spPr>
          <a:xfrm xmlns:a="http://schemas.openxmlformats.org/drawingml/2006/main">
            <a:off x="4953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Sustainable</a:t>
            </a:r>
          </a:p>
        </p:txBody>
      </p:sp>
      <p:sp>
        <p:nvSpPr>
          <p:cNvPr id="7" name="Reduce harm while maintaining social and economic ">
            <a:extLst xmlns:a="http://schemas.openxmlformats.org/drawingml/2006/main">
              <a:ext uri="{FF2B5EF4-FFF2-40B4-BE49-F238E27FC236}">
                <a16:creationId xmlns:a16="http://schemas.microsoft.com/office/drawing/2014/main" id="{357DBB27-A15E-4E42-8F3A-022C915B3C01}"/>
              </a:ext>
            </a:extLst>
          </p:cNvPr>
          <p:cNvSpPr>
            <a:spLocks xmlns:a="http://schemas.openxmlformats.org/drawingml/2006/main" noGrp="1"/>
          </p:cNvSpPr>
          <p:nvPr/>
        </p:nvSpPr>
        <p:spPr>
          <a:xfrm xmlns:a="http://schemas.openxmlformats.org/drawingml/2006/main">
            <a:off x="495300" y="2070735"/>
            <a:ext cx="2578100"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Reduce harm while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maintaining social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economic value.</a:t>
            </a:r>
          </a:p>
        </p:txBody>
      </p:sp>
      <p:sp>
        <p:nvSpPr>
          <p:cNvPr id="8" name="Editorial frame">
            <a:extLst xmlns:a="http://schemas.openxmlformats.org/drawingml/2006/main">
              <a:ext uri="{FF2B5EF4-FFF2-40B4-BE49-F238E27FC236}">
                <a16:creationId xmlns:a16="http://schemas.microsoft.com/office/drawing/2014/main" id="{083C4249-D141-428B-9E48-6EBB32EC4FFC}"/>
              </a:ext>
            </a:extLst>
          </p:cNvPr>
          <p:cNvSpPr>
            <a:spLocks xmlns:a="http://schemas.openxmlformats.org/drawingml/2006/main" noGrp="1"/>
          </p:cNvSpPr>
          <p:nvPr/>
        </p:nvSpPr>
        <p:spPr>
          <a:xfrm xmlns:a="http://schemas.openxmlformats.org/drawingml/2006/main">
            <a:off x="3149600" y="1438275"/>
            <a:ext cx="2844800"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9" name="Editorial frame">
            <a:extLst xmlns:a="http://schemas.openxmlformats.org/drawingml/2006/main">
              <a:ext uri="{FF2B5EF4-FFF2-40B4-BE49-F238E27FC236}">
                <a16:creationId xmlns:a16="http://schemas.microsoft.com/office/drawing/2014/main" id="{4B5E00C8-73D9-4E2A-A6A5-6F56B350C15E}"/>
              </a:ext>
            </a:extLst>
          </p:cNvPr>
          <p:cNvSpPr>
            <a:spLocks xmlns:a="http://schemas.openxmlformats.org/drawingml/2006/main" noGrp="1"/>
          </p:cNvSpPr>
          <p:nvPr/>
        </p:nvSpPr>
        <p:spPr>
          <a:xfrm xmlns:a="http://schemas.openxmlformats.org/drawingml/2006/main">
            <a:off x="3149600" y="1438275"/>
            <a:ext cx="284480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0" name="Regenerative">
            <a:extLst xmlns:a="http://schemas.openxmlformats.org/drawingml/2006/main">
              <a:ext uri="{FF2B5EF4-FFF2-40B4-BE49-F238E27FC236}">
                <a16:creationId xmlns:a16="http://schemas.microsoft.com/office/drawing/2014/main" id="{3EFEEF06-E8C2-4D07-A26A-361F299B6F66}"/>
              </a:ext>
            </a:extLst>
          </p:cNvPr>
          <p:cNvSpPr>
            <a:spLocks xmlns:a="http://schemas.openxmlformats.org/drawingml/2006/main" noGrp="1"/>
          </p:cNvSpPr>
          <p:nvPr/>
        </p:nvSpPr>
        <p:spPr>
          <a:xfrm xmlns:a="http://schemas.openxmlformats.org/drawingml/2006/main">
            <a:off x="328295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Regenerative</a:t>
            </a:r>
          </a:p>
        </p:txBody>
      </p:sp>
      <p:sp>
        <p:nvSpPr>
          <p:cNvPr id="11" name="Aim to restore soil, water, habitat or community c">
            <a:extLst xmlns:a="http://schemas.openxmlformats.org/drawingml/2006/main">
              <a:ext uri="{FF2B5EF4-FFF2-40B4-BE49-F238E27FC236}">
                <a16:creationId xmlns:a16="http://schemas.microsoft.com/office/drawing/2014/main" id="{A2A4BA30-4E25-463C-805F-7CDC6B0FC906}"/>
              </a:ext>
            </a:extLst>
          </p:cNvPr>
          <p:cNvSpPr>
            <a:spLocks xmlns:a="http://schemas.openxmlformats.org/drawingml/2006/main" noGrp="1"/>
          </p:cNvSpPr>
          <p:nvPr/>
        </p:nvSpPr>
        <p:spPr>
          <a:xfrm xmlns:a="http://schemas.openxmlformats.org/drawingml/2006/main">
            <a:off x="3282950" y="2070735"/>
            <a:ext cx="2578100"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Aim to restore soil, water,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habitat or community</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capacity.</a:t>
            </a:r>
          </a:p>
        </p:txBody>
      </p:sp>
      <p:sp>
        <p:nvSpPr>
          <p:cNvPr id="12" name="Editorial frame">
            <a:extLst xmlns:a="http://schemas.openxmlformats.org/drawingml/2006/main">
              <a:ext uri="{FF2B5EF4-FFF2-40B4-BE49-F238E27FC236}">
                <a16:creationId xmlns:a16="http://schemas.microsoft.com/office/drawing/2014/main" id="{4E8CA53F-BC96-46C8-8755-98C0E045D4F5}"/>
              </a:ext>
            </a:extLst>
          </p:cNvPr>
          <p:cNvSpPr>
            <a:spLocks xmlns:a="http://schemas.openxmlformats.org/drawingml/2006/main" noGrp="1"/>
          </p:cNvSpPr>
          <p:nvPr/>
        </p:nvSpPr>
        <p:spPr>
          <a:xfrm xmlns:a="http://schemas.openxmlformats.org/drawingml/2006/main">
            <a:off x="5937250" y="1438275"/>
            <a:ext cx="2844800" cy="3305175"/>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3" name="Editorial frame">
            <a:extLst xmlns:a="http://schemas.openxmlformats.org/drawingml/2006/main">
              <a:ext uri="{FF2B5EF4-FFF2-40B4-BE49-F238E27FC236}">
                <a16:creationId xmlns:a16="http://schemas.microsoft.com/office/drawing/2014/main" id="{0453CD1A-0F74-4791-A61E-F7D6B825AF04}"/>
              </a:ext>
            </a:extLst>
          </p:cNvPr>
          <p:cNvSpPr>
            <a:spLocks xmlns:a="http://schemas.openxmlformats.org/drawingml/2006/main" noGrp="1"/>
          </p:cNvSpPr>
          <p:nvPr/>
        </p:nvSpPr>
        <p:spPr>
          <a:xfrm xmlns:a="http://schemas.openxmlformats.org/drawingml/2006/main">
            <a:off x="5937250" y="1438275"/>
            <a:ext cx="2844800"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4" name="The management test">
            <a:extLst xmlns:a="http://schemas.openxmlformats.org/drawingml/2006/main">
              <a:ext uri="{FF2B5EF4-FFF2-40B4-BE49-F238E27FC236}">
                <a16:creationId xmlns:a16="http://schemas.microsoft.com/office/drawing/2014/main" id="{022BB8A1-A7D0-4EB7-BC01-AFFCB991059C}"/>
              </a:ext>
            </a:extLst>
          </p:cNvPr>
          <p:cNvSpPr>
            <a:spLocks xmlns:a="http://schemas.openxmlformats.org/drawingml/2006/main" noGrp="1"/>
          </p:cNvSpPr>
          <p:nvPr/>
        </p:nvSpPr>
        <p:spPr>
          <a:xfrm xmlns:a="http://schemas.openxmlformats.org/drawingml/2006/main">
            <a:off x="60706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The management test</a:t>
            </a:r>
          </a:p>
        </p:txBody>
      </p:sp>
      <p:sp>
        <p:nvSpPr>
          <p:cNvPr id="15" name="GI can support regeneration when the design, basel">
            <a:extLst xmlns:a="http://schemas.openxmlformats.org/drawingml/2006/main">
              <a:ext uri="{FF2B5EF4-FFF2-40B4-BE49-F238E27FC236}">
                <a16:creationId xmlns:a16="http://schemas.microsoft.com/office/drawing/2014/main" id="{588295E9-EF4F-4B61-8273-D5F82BCC4F1F}"/>
              </a:ext>
            </a:extLst>
          </p:cNvPr>
          <p:cNvSpPr>
            <a:spLocks xmlns:a="http://schemas.openxmlformats.org/drawingml/2006/main" noGrp="1"/>
          </p:cNvSpPr>
          <p:nvPr/>
        </p:nvSpPr>
        <p:spPr>
          <a:xfrm xmlns:a="http://schemas.openxmlformats.org/drawingml/2006/main">
            <a:off x="6070600" y="2070735"/>
            <a:ext cx="2578100" cy="1868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GI can support</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regeneration when the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design, baseline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maintenance plan show</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real improvement.</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Planting alone is not</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proof.</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2811b0286da4d36"/>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7" name="www.newton.university">
            <a:extLst xmlns:a="http://schemas.openxmlformats.org/drawingml/2006/main">
              <a:ext uri="{FF2B5EF4-FFF2-40B4-BE49-F238E27FC236}">
                <a16:creationId xmlns:a16="http://schemas.microsoft.com/office/drawing/2014/main" id="{8BEB2218-F87A-4F29-A9E3-7CA7FA5A891C}"/>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8" name="09">
            <a:extLst xmlns:a="http://schemas.openxmlformats.org/drawingml/2006/main">
              <a:ext uri="{FF2B5EF4-FFF2-40B4-BE49-F238E27FC236}">
                <a16:creationId xmlns:a16="http://schemas.microsoft.com/office/drawing/2014/main" id="{E63E40A6-0BED-48B1-8908-53F7EDE9F652}"/>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09</a:t>
            </a:r>
          </a:p>
        </p:txBody>
      </p:sp>
    </p:spTree>
    <p:extLst>
      <p:ext uri="{BB962C8B-B14F-4D97-AF65-F5344CB8AC3E}">
        <p14:creationId xmlns:p14="http://schemas.microsoft.com/office/powerpoint/2010/main" val="604254158"/>
      </p:ext>
    </p:extLst>
  </p:cSld>
</p:sld>
</file>

<file path=ppt/slides/slide10.xml><?xml version="1.0" encoding="utf-8"?>
<p:sld xmlns:p="http://schemas.openxmlformats.org/presentationml/2006/main">
  <p:cSld>
    <p:bg>
      <p:bgPr>
        <a:solidFill xmlns:a="http://schemas.openxmlformats.org/drawingml/2006/main">
          <a:srgbClr val="132E29"/>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D5B1332D-C6D0-4F08-9340-71B10B205E91}"/>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cca9b0a73da4675"/>
          <a:srcRect xmlns:a="http://schemas.openxmlformats.org/drawingml/2006/main" l="0" t="276" r="0" b="276"/>
          <a:stretch xmlns:a="http://schemas.openxmlformats.org/drawingml/2006/main">
            <a:fillRect l="0" t="0" r="0" b="0"/>
          </a:stretch>
        </p:blipFill>
        <p:spPr>
          <a:xfrm xmlns:a="http://schemas.openxmlformats.org/drawingml/2006/main">
            <a:off x="5695950" y="0"/>
            <a:ext cx="3448050" cy="5143500"/>
          </a:xfrm>
          <a:prstGeom xmlns:a="http://schemas.openxmlformats.org/drawingml/2006/main" prst="rect">
            <a:avLst/>
          </a:prstGeom>
        </p:spPr>
      </p:pic>
      <p:sp>
        <p:nvSpPr>
          <p:cNvPr id="3" name="Part 3">
            <a:extLst xmlns:a="http://schemas.openxmlformats.org/drawingml/2006/main">
              <a:ext uri="{FF2B5EF4-FFF2-40B4-BE49-F238E27FC236}">
                <a16:creationId xmlns:a16="http://schemas.microsoft.com/office/drawing/2014/main" id="{57C5E8FA-441B-4E14-8C5C-25D34E299781}"/>
              </a:ext>
            </a:extLst>
          </p:cNvPr>
          <p:cNvSpPr>
            <a:spLocks xmlns:a="http://schemas.openxmlformats.org/drawingml/2006/main" noGrp="1"/>
          </p:cNvSpPr>
          <p:nvPr/>
        </p:nvSpPr>
        <p:spPr>
          <a:xfrm xmlns:a="http://schemas.openxmlformats.org/drawingml/2006/main">
            <a:off x="495300" y="714375"/>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3</a:t>
            </a:r>
          </a:p>
        </p:txBody>
      </p:sp>
      <p:sp>
        <p:nvSpPr>
          <p:cNvPr id="4" name="Nature-Based Value Creation">
            <a:extLst xmlns:a="http://schemas.openxmlformats.org/drawingml/2006/main">
              <a:ext uri="{FF2B5EF4-FFF2-40B4-BE49-F238E27FC236}">
                <a16:creationId xmlns:a16="http://schemas.microsoft.com/office/drawing/2014/main" id="{C1425A75-DCF5-4849-9984-E0C9842BA670}"/>
              </a:ext>
            </a:extLst>
          </p:cNvPr>
          <p:cNvSpPr>
            <a:spLocks xmlns:a="http://schemas.openxmlformats.org/drawingml/2006/main" noGrp="1"/>
          </p:cNvSpPr>
          <p:nvPr/>
        </p:nvSpPr>
        <p:spPr>
          <a:xfrm xmlns:a="http://schemas.openxmlformats.org/drawingml/2006/main">
            <a:off x="495300" y="1876425"/>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Nature-Based Value</a:t>
            </a:r>
          </a:p>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Creation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f1a7ad47f9746e4"/>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789905B5-B87E-415D-8065-620EDA0C1784}"/>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10">
            <a:extLst xmlns:a="http://schemas.openxmlformats.org/drawingml/2006/main">
              <a:ext uri="{FF2B5EF4-FFF2-40B4-BE49-F238E27FC236}">
                <a16:creationId xmlns:a16="http://schemas.microsoft.com/office/drawing/2014/main" id="{7672452C-5041-4200-A54A-52BDB618B795}"/>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10</a:t>
            </a:r>
          </a:p>
        </p:txBody>
      </p:sp>
    </p:spTree>
    <p:extLst>
      <p:ext uri="{BB962C8B-B14F-4D97-AF65-F5344CB8AC3E}">
        <p14:creationId xmlns:p14="http://schemas.microsoft.com/office/powerpoint/2010/main" val="1280077358"/>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7" name="How Organizations Capture Value from GI">
            <a:extLst xmlns:a="http://schemas.openxmlformats.org/drawingml/2006/main">
              <a:ext uri="{FF2B5EF4-FFF2-40B4-BE49-F238E27FC236}">
                <a16:creationId xmlns:a16="http://schemas.microsoft.com/office/drawing/2014/main" id="{94DD33A7-C954-48DD-8B54-516934E19FA2}"/>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How Organizations Capture Value from GI</a:t>
            </a:r>
          </a:p>
        </p:txBody>
      </p:sp>
      <p:sp>
        <p:nvSpPr>
          <p:cNvPr id="2" name="Editorial frame">
            <a:extLst xmlns:a="http://schemas.openxmlformats.org/drawingml/2006/main">
              <a:ext uri="{FF2B5EF4-FFF2-40B4-BE49-F238E27FC236}">
                <a16:creationId xmlns:a16="http://schemas.microsoft.com/office/drawing/2014/main" id="{C5749F3C-21B6-4918-BB82-B40E29BB187D}"/>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D4630BF6-61C4-4CF9-BAE0-8A89A5460D5E}"/>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E2E54AF2-FCB1-4409-8494-C1BBE65BD39B}"/>
              </a:ext>
            </a:extLst>
          </p:cNvPr>
          <p:cNvSpPr>
            <a:spLocks xmlns:a="http://schemas.openxmlformats.org/drawingml/2006/main" noGrp="1"/>
          </p:cNvSpPr>
          <p:nvPr/>
        </p:nvSpPr>
        <p:spPr>
          <a:xfrm xmlns:a="http://schemas.openxmlformats.org/drawingml/2006/main">
            <a:off x="361950" y="1438275"/>
            <a:ext cx="4238625" cy="1662113"/>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EF66E9E4-1CA5-4AC5-8975-F10B9A426484}"/>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Operating costs">
            <a:extLst xmlns:a="http://schemas.openxmlformats.org/drawingml/2006/main">
              <a:ext uri="{FF2B5EF4-FFF2-40B4-BE49-F238E27FC236}">
                <a16:creationId xmlns:a16="http://schemas.microsoft.com/office/drawing/2014/main" id="{7778A099-4503-4FE0-BED5-8A4CA48B82F9}"/>
              </a:ext>
            </a:extLst>
          </p:cNvPr>
          <p:cNvSpPr>
            <a:spLocks xmlns:a="http://schemas.openxmlformats.org/drawingml/2006/main" noGrp="1"/>
          </p:cNvSpPr>
          <p:nvPr/>
        </p:nvSpPr>
        <p:spPr>
          <a:xfrm xmlns:a="http://schemas.openxmlformats.org/drawingml/2006/main">
            <a:off x="495300" y="1619250"/>
            <a:ext cx="3971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Operating costs</a:t>
            </a:r>
          </a:p>
        </p:txBody>
      </p:sp>
      <p:sp>
        <p:nvSpPr>
          <p:cNvPr id="7" name="Potential cooling and drainage savings">
            <a:extLst xmlns:a="http://schemas.openxmlformats.org/drawingml/2006/main">
              <a:ext uri="{FF2B5EF4-FFF2-40B4-BE49-F238E27FC236}">
                <a16:creationId xmlns:a16="http://schemas.microsoft.com/office/drawing/2014/main" id="{E49612B1-E278-454D-8EA1-BD919D3B78F5}"/>
              </a:ext>
            </a:extLst>
          </p:cNvPr>
          <p:cNvSpPr>
            <a:spLocks xmlns:a="http://schemas.openxmlformats.org/drawingml/2006/main" noGrp="1"/>
          </p:cNvSpPr>
          <p:nvPr/>
        </p:nvSpPr>
        <p:spPr>
          <a:xfrm xmlns:a="http://schemas.openxmlformats.org/drawingml/2006/main">
            <a:off x="495300" y="2047875"/>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Potential cooling and drainage savings</a:t>
            </a:r>
          </a:p>
        </p:txBody>
      </p:sp>
      <p:sp>
        <p:nvSpPr>
          <p:cNvPr id="8" name="Compare installation and upkeep costs">
            <a:extLst xmlns:a="http://schemas.openxmlformats.org/drawingml/2006/main">
              <a:ext uri="{FF2B5EF4-FFF2-40B4-BE49-F238E27FC236}">
                <a16:creationId xmlns:a16="http://schemas.microsoft.com/office/drawing/2014/main" id="{EBA289A6-A4C9-4C4A-9424-A300579ECB5F}"/>
              </a:ext>
            </a:extLst>
          </p:cNvPr>
          <p:cNvSpPr>
            <a:spLocks xmlns:a="http://schemas.openxmlformats.org/drawingml/2006/main" noGrp="1"/>
          </p:cNvSpPr>
          <p:nvPr/>
        </p:nvSpPr>
        <p:spPr>
          <a:xfrm xmlns:a="http://schemas.openxmlformats.org/drawingml/2006/main">
            <a:off x="495300" y="2411730"/>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Compare installation and upkeep costs</a:t>
            </a:r>
          </a:p>
        </p:txBody>
      </p:sp>
      <p:sp>
        <p:nvSpPr>
          <p:cNvPr id="9" name="Editorial frame">
            <a:extLst xmlns:a="http://schemas.openxmlformats.org/drawingml/2006/main">
              <a:ext uri="{FF2B5EF4-FFF2-40B4-BE49-F238E27FC236}">
                <a16:creationId xmlns:a16="http://schemas.microsoft.com/office/drawing/2014/main" id="{863EC2DE-4E6D-4D61-9927-284E30ABFBD7}"/>
              </a:ext>
            </a:extLst>
          </p:cNvPr>
          <p:cNvSpPr>
            <a:spLocks xmlns:a="http://schemas.openxmlformats.org/drawingml/2006/main" noGrp="1"/>
          </p:cNvSpPr>
          <p:nvPr/>
        </p:nvSpPr>
        <p:spPr>
          <a:xfrm xmlns:a="http://schemas.openxmlformats.org/drawingml/2006/main">
            <a:off x="4543425" y="1438275"/>
            <a:ext cx="4238625" cy="1662113"/>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0" name="Editorial frame">
            <a:extLst xmlns:a="http://schemas.openxmlformats.org/drawingml/2006/main">
              <a:ext uri="{FF2B5EF4-FFF2-40B4-BE49-F238E27FC236}">
                <a16:creationId xmlns:a16="http://schemas.microsoft.com/office/drawing/2014/main" id="{5E05CCDD-599E-49D8-860F-30DB52AD8710}"/>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1" name="Resilience">
            <a:extLst xmlns:a="http://schemas.openxmlformats.org/drawingml/2006/main">
              <a:ext uri="{FF2B5EF4-FFF2-40B4-BE49-F238E27FC236}">
                <a16:creationId xmlns:a16="http://schemas.microsoft.com/office/drawing/2014/main" id="{C5A8C95C-BC75-4685-9F6D-7B26F69EA6CF}"/>
              </a:ext>
            </a:extLst>
          </p:cNvPr>
          <p:cNvSpPr>
            <a:spLocks xmlns:a="http://schemas.openxmlformats.org/drawingml/2006/main" noGrp="1"/>
          </p:cNvSpPr>
          <p:nvPr/>
        </p:nvSpPr>
        <p:spPr>
          <a:xfrm xmlns:a="http://schemas.openxmlformats.org/drawingml/2006/main">
            <a:off x="4676775" y="1619250"/>
            <a:ext cx="3971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Resilience</a:t>
            </a:r>
          </a:p>
        </p:txBody>
      </p:sp>
      <p:sp>
        <p:nvSpPr>
          <p:cNvPr id="12" name="Reduce exposure to heat and runoff">
            <a:extLst xmlns:a="http://schemas.openxmlformats.org/drawingml/2006/main">
              <a:ext uri="{FF2B5EF4-FFF2-40B4-BE49-F238E27FC236}">
                <a16:creationId xmlns:a16="http://schemas.microsoft.com/office/drawing/2014/main" id="{22164D33-9BEF-4F2D-AABB-C79D600723B3}"/>
              </a:ext>
            </a:extLst>
          </p:cNvPr>
          <p:cNvSpPr>
            <a:spLocks xmlns:a="http://schemas.openxmlformats.org/drawingml/2006/main" noGrp="1"/>
          </p:cNvSpPr>
          <p:nvPr/>
        </p:nvSpPr>
        <p:spPr>
          <a:xfrm xmlns:a="http://schemas.openxmlformats.org/drawingml/2006/main">
            <a:off x="4676775" y="2047875"/>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Reduce exposure to heat and runoff</a:t>
            </a:r>
          </a:p>
        </p:txBody>
      </p:sp>
      <p:sp>
        <p:nvSpPr>
          <p:cNvPr id="13" name="Check residual risks and insurance terms">
            <a:extLst xmlns:a="http://schemas.openxmlformats.org/drawingml/2006/main">
              <a:ext uri="{FF2B5EF4-FFF2-40B4-BE49-F238E27FC236}">
                <a16:creationId xmlns:a16="http://schemas.microsoft.com/office/drawing/2014/main" id="{F73ABA39-D48D-44A7-9F07-8779D36EDE4B}"/>
              </a:ext>
            </a:extLst>
          </p:cNvPr>
          <p:cNvSpPr>
            <a:spLocks xmlns:a="http://schemas.openxmlformats.org/drawingml/2006/main" noGrp="1"/>
          </p:cNvSpPr>
          <p:nvPr/>
        </p:nvSpPr>
        <p:spPr>
          <a:xfrm xmlns:a="http://schemas.openxmlformats.org/drawingml/2006/main">
            <a:off x="4676775" y="2411730"/>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Check residual risks and insurance terms</a:t>
            </a:r>
          </a:p>
        </p:txBody>
      </p:sp>
      <p:sp>
        <p:nvSpPr>
          <p:cNvPr id="14" name="Editorial frame">
            <a:extLst xmlns:a="http://schemas.openxmlformats.org/drawingml/2006/main">
              <a:ext uri="{FF2B5EF4-FFF2-40B4-BE49-F238E27FC236}">
                <a16:creationId xmlns:a16="http://schemas.microsoft.com/office/drawing/2014/main" id="{80BEDFD7-93B8-437E-AA05-C6D521FA975F}"/>
              </a:ext>
            </a:extLst>
          </p:cNvPr>
          <p:cNvSpPr>
            <a:spLocks xmlns:a="http://schemas.openxmlformats.org/drawingml/2006/main" noGrp="1"/>
          </p:cNvSpPr>
          <p:nvPr/>
        </p:nvSpPr>
        <p:spPr>
          <a:xfrm xmlns:a="http://schemas.openxmlformats.org/drawingml/2006/main">
            <a:off x="361950" y="3081338"/>
            <a:ext cx="4238625" cy="1662113"/>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5" name="Editorial frame">
            <a:extLst xmlns:a="http://schemas.openxmlformats.org/drawingml/2006/main">
              <a:ext uri="{FF2B5EF4-FFF2-40B4-BE49-F238E27FC236}">
                <a16:creationId xmlns:a16="http://schemas.microsoft.com/office/drawing/2014/main" id="{C2A77EEE-BAC7-46E3-A02C-36F8AA631609}"/>
              </a:ext>
            </a:extLst>
          </p:cNvPr>
          <p:cNvSpPr>
            <a:spLocks xmlns:a="http://schemas.openxmlformats.org/drawingml/2006/main" noGrp="1"/>
          </p:cNvSpPr>
          <p:nvPr/>
        </p:nvSpPr>
        <p:spPr>
          <a:xfrm xmlns:a="http://schemas.openxmlformats.org/drawingml/2006/main">
            <a:off x="361950" y="3081338"/>
            <a:ext cx="4238625"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6" name="People">
            <a:extLst xmlns:a="http://schemas.openxmlformats.org/drawingml/2006/main">
              <a:ext uri="{FF2B5EF4-FFF2-40B4-BE49-F238E27FC236}">
                <a16:creationId xmlns:a16="http://schemas.microsoft.com/office/drawing/2014/main" id="{CECA2FB8-B842-42FA-A5CF-74BCC9ECABB5}"/>
              </a:ext>
            </a:extLst>
          </p:cNvPr>
          <p:cNvSpPr>
            <a:spLocks xmlns:a="http://schemas.openxmlformats.org/drawingml/2006/main" noGrp="1"/>
          </p:cNvSpPr>
          <p:nvPr/>
        </p:nvSpPr>
        <p:spPr>
          <a:xfrm xmlns:a="http://schemas.openxmlformats.org/drawingml/2006/main">
            <a:off x="495300" y="3262313"/>
            <a:ext cx="3971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People</a:t>
            </a:r>
          </a:p>
        </p:txBody>
      </p:sp>
      <p:sp>
        <p:nvSpPr>
          <p:cNvPr id="17" name="Comfortable, accessible workplaces">
            <a:extLst xmlns:a="http://schemas.openxmlformats.org/drawingml/2006/main">
              <a:ext uri="{FF2B5EF4-FFF2-40B4-BE49-F238E27FC236}">
                <a16:creationId xmlns:a16="http://schemas.microsoft.com/office/drawing/2014/main" id="{44F0C611-110E-4169-8173-CA4B3CF25A15}"/>
              </a:ext>
            </a:extLst>
          </p:cNvPr>
          <p:cNvSpPr>
            <a:spLocks xmlns:a="http://schemas.openxmlformats.org/drawingml/2006/main" noGrp="1"/>
          </p:cNvSpPr>
          <p:nvPr/>
        </p:nvSpPr>
        <p:spPr>
          <a:xfrm xmlns:a="http://schemas.openxmlformats.org/drawingml/2006/main">
            <a:off x="495300" y="3690938"/>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Comfortable, accessible workplaces</a:t>
            </a:r>
          </a:p>
        </p:txBody>
      </p:sp>
      <p:sp>
        <p:nvSpPr>
          <p:cNvPr id="18" name="Measure use and employee feedback">
            <a:extLst xmlns:a="http://schemas.openxmlformats.org/drawingml/2006/main">
              <a:ext uri="{FF2B5EF4-FFF2-40B4-BE49-F238E27FC236}">
                <a16:creationId xmlns:a16="http://schemas.microsoft.com/office/drawing/2014/main" id="{CBF28A9E-CC29-41DE-B5AF-347CD159BDA7}"/>
              </a:ext>
            </a:extLst>
          </p:cNvPr>
          <p:cNvSpPr>
            <a:spLocks xmlns:a="http://schemas.openxmlformats.org/drawingml/2006/main" noGrp="1"/>
          </p:cNvSpPr>
          <p:nvPr/>
        </p:nvSpPr>
        <p:spPr>
          <a:xfrm xmlns:a="http://schemas.openxmlformats.org/drawingml/2006/main">
            <a:off x="495300" y="4054793"/>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Measure use and employee feedback</a:t>
            </a:r>
          </a:p>
        </p:txBody>
      </p:sp>
      <p:sp>
        <p:nvSpPr>
          <p:cNvPr id="19" name="Editorial frame">
            <a:extLst xmlns:a="http://schemas.openxmlformats.org/drawingml/2006/main">
              <a:ext uri="{FF2B5EF4-FFF2-40B4-BE49-F238E27FC236}">
                <a16:creationId xmlns:a16="http://schemas.microsoft.com/office/drawing/2014/main" id="{221B4662-DCC2-4C91-A2E1-3A65E84D619F}"/>
              </a:ext>
            </a:extLst>
          </p:cNvPr>
          <p:cNvSpPr>
            <a:spLocks xmlns:a="http://schemas.openxmlformats.org/drawingml/2006/main" noGrp="1"/>
          </p:cNvSpPr>
          <p:nvPr/>
        </p:nvSpPr>
        <p:spPr>
          <a:xfrm xmlns:a="http://schemas.openxmlformats.org/drawingml/2006/main">
            <a:off x="4543425" y="3081338"/>
            <a:ext cx="4238625" cy="1662113"/>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20" name="Editorial frame">
            <a:extLst xmlns:a="http://schemas.openxmlformats.org/drawingml/2006/main">
              <a:ext uri="{FF2B5EF4-FFF2-40B4-BE49-F238E27FC236}">
                <a16:creationId xmlns:a16="http://schemas.microsoft.com/office/drawing/2014/main" id="{2CDB69E1-D0FD-4298-BE0F-927D602AF78D}"/>
              </a:ext>
            </a:extLst>
          </p:cNvPr>
          <p:cNvSpPr>
            <a:spLocks xmlns:a="http://schemas.openxmlformats.org/drawingml/2006/main" noGrp="1"/>
          </p:cNvSpPr>
          <p:nvPr/>
        </p:nvSpPr>
        <p:spPr>
          <a:xfrm xmlns:a="http://schemas.openxmlformats.org/drawingml/2006/main">
            <a:off x="4543425" y="3081338"/>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21" name="Assets">
            <a:extLst xmlns:a="http://schemas.openxmlformats.org/drawingml/2006/main">
              <a:ext uri="{FF2B5EF4-FFF2-40B4-BE49-F238E27FC236}">
                <a16:creationId xmlns:a16="http://schemas.microsoft.com/office/drawing/2014/main" id="{03EB23A9-814C-498B-AEC4-8F769444FD45}"/>
              </a:ext>
            </a:extLst>
          </p:cNvPr>
          <p:cNvSpPr>
            <a:spLocks xmlns:a="http://schemas.openxmlformats.org/drawingml/2006/main" noGrp="1"/>
          </p:cNvSpPr>
          <p:nvPr/>
        </p:nvSpPr>
        <p:spPr>
          <a:xfrm xmlns:a="http://schemas.openxmlformats.org/drawingml/2006/main">
            <a:off x="4676775" y="3262313"/>
            <a:ext cx="3971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Assets</a:t>
            </a:r>
          </a:p>
        </p:txBody>
      </p:sp>
      <p:sp>
        <p:nvSpPr>
          <p:cNvPr id="22" name="Tenant appeal and site quality">
            <a:extLst xmlns:a="http://schemas.openxmlformats.org/drawingml/2006/main">
              <a:ext uri="{FF2B5EF4-FFF2-40B4-BE49-F238E27FC236}">
                <a16:creationId xmlns:a16="http://schemas.microsoft.com/office/drawing/2014/main" id="{E6EBFFA3-387B-4D49-9AD0-D4A497706C88}"/>
              </a:ext>
            </a:extLst>
          </p:cNvPr>
          <p:cNvSpPr>
            <a:spLocks xmlns:a="http://schemas.openxmlformats.org/drawingml/2006/main" noGrp="1"/>
          </p:cNvSpPr>
          <p:nvPr/>
        </p:nvSpPr>
        <p:spPr>
          <a:xfrm xmlns:a="http://schemas.openxmlformats.org/drawingml/2006/main">
            <a:off x="4676775" y="3690938"/>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Tenant appeal and site quality</a:t>
            </a:r>
          </a:p>
        </p:txBody>
      </p:sp>
      <p:sp>
        <p:nvSpPr>
          <p:cNvPr id="23" name="Test rental or planning assumptions">
            <a:extLst xmlns:a="http://schemas.openxmlformats.org/drawingml/2006/main">
              <a:ext uri="{FF2B5EF4-FFF2-40B4-BE49-F238E27FC236}">
                <a16:creationId xmlns:a16="http://schemas.microsoft.com/office/drawing/2014/main" id="{6DE65934-C0F9-466B-97BE-D9499152590E}"/>
              </a:ext>
            </a:extLst>
          </p:cNvPr>
          <p:cNvSpPr>
            <a:spLocks xmlns:a="http://schemas.openxmlformats.org/drawingml/2006/main" noGrp="1"/>
          </p:cNvSpPr>
          <p:nvPr/>
        </p:nvSpPr>
        <p:spPr>
          <a:xfrm xmlns:a="http://schemas.openxmlformats.org/drawingml/2006/main">
            <a:off x="4676775" y="4054793"/>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Test rental or planning assumptions</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98a04fbd4b524016"/>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5" name="www.newton.university">
            <a:extLst xmlns:a="http://schemas.openxmlformats.org/drawingml/2006/main">
              <a:ext uri="{FF2B5EF4-FFF2-40B4-BE49-F238E27FC236}">
                <a16:creationId xmlns:a16="http://schemas.microsoft.com/office/drawing/2014/main" id="{8CB69A35-68D0-423B-ABC3-B487DA06A2DE}"/>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6" name="11">
            <a:extLst xmlns:a="http://schemas.openxmlformats.org/drawingml/2006/main">
              <a:ext uri="{FF2B5EF4-FFF2-40B4-BE49-F238E27FC236}">
                <a16:creationId xmlns:a16="http://schemas.microsoft.com/office/drawing/2014/main" id="{86F549D6-E34D-4FEE-BA5A-3519FFB898C8}"/>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11</a:t>
            </a:r>
          </a:p>
        </p:txBody>
      </p:sp>
    </p:spTree>
    <p:extLst>
      <p:ext uri="{BB962C8B-B14F-4D97-AF65-F5344CB8AC3E}">
        <p14:creationId xmlns:p14="http://schemas.microsoft.com/office/powerpoint/2010/main" val="866765751"/>
      </p:ext>
    </p:extLst>
  </p:cSld>
</p:sld>
</file>

<file path=ppt/slides/slide1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Case Study: Bosco Verticale, Milan">
            <a:extLst xmlns:a="http://schemas.openxmlformats.org/drawingml/2006/main">
              <a:ext uri="{FF2B5EF4-FFF2-40B4-BE49-F238E27FC236}">
                <a16:creationId xmlns:a16="http://schemas.microsoft.com/office/drawing/2014/main" id="{E6458F2C-CD16-4C09-8960-35249020B6DB}"/>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Case Study: Bosco Verticale, Milan</a:t>
            </a:r>
          </a:p>
        </p:txBody>
      </p:sp>
      <p:sp>
        <p:nvSpPr>
          <p:cNvPr id="2" name="Editorial frame">
            <a:extLst xmlns:a="http://schemas.openxmlformats.org/drawingml/2006/main">
              <a:ext uri="{FF2B5EF4-FFF2-40B4-BE49-F238E27FC236}">
                <a16:creationId xmlns:a16="http://schemas.microsoft.com/office/drawing/2014/main" id="{86A7EFC1-4559-4A32-B4E4-E020C2CCE47B}"/>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C410B100-7956-4750-9560-1338C86D63EC}"/>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D5084F02-B9F8-4E61-94F1-1DFACE00D44B}"/>
              </a:ext>
            </a:extLst>
          </p:cNvPr>
          <p:cNvSpPr>
            <a:spLocks xmlns:a="http://schemas.openxmlformats.org/drawingml/2006/main" noGrp="1"/>
          </p:cNvSpPr>
          <p:nvPr/>
        </p:nvSpPr>
        <p:spPr>
          <a:xfrm xmlns:a="http://schemas.openxmlformats.org/drawingml/2006/main">
            <a:off x="5867400" y="1457325"/>
            <a:ext cx="2924175" cy="3248025"/>
          </a:xfrm>
          <a:prstGeom xmlns:a="http://schemas.openxmlformats.org/drawingml/2006/main" prst="rect">
            <a:avLst/>
          </a:prstGeom>
          <a:solidFill xmlns:a="http://schemas.openxmlformats.org/drawingml/2006/main">
            <a:srgbClr val="EEE4D7"/>
          </a:solidFill>
          <a:ln xmlns:a="http://schemas.openxmlformats.org/drawingml/2006/main" w="7620">
            <a:solidFill>
              <a:srgbClr val="B7C3B1"/>
            </a:solidFill>
          </a:ln>
        </p:spPr>
      </p:sp>
      <p:sp>
        <p:nvSpPr>
          <p:cNvPr id="5" name="The 'Vertical Forest' residential towers">
            <a:extLst xmlns:a="http://schemas.openxmlformats.org/drawingml/2006/main">
              <a:ext uri="{FF2B5EF4-FFF2-40B4-BE49-F238E27FC236}">
                <a16:creationId xmlns:a16="http://schemas.microsoft.com/office/drawing/2014/main" id="{BB17FE2E-778D-44E3-B689-9004D22637C4}"/>
              </a:ext>
            </a:extLst>
          </p:cNvPr>
          <p:cNvSpPr>
            <a:spLocks xmlns:a="http://schemas.openxmlformats.org/drawingml/2006/main" noGrp="1"/>
          </p:cNvSpPr>
          <p:nvPr/>
        </p:nvSpPr>
        <p:spPr>
          <a:xfrm xmlns:a="http://schemas.openxmlformats.org/drawingml/2006/main">
            <a:off x="495300" y="1552575"/>
            <a:ext cx="5019675"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The 'Vertical Forest' residential towers</a:t>
            </a:r>
          </a:p>
        </p:txBody>
      </p:sp>
      <p:sp>
        <p:nvSpPr>
          <p:cNvPr id="6" name="About 800 trees and 20,000 plants on two towers.">
            <a:extLst xmlns:a="http://schemas.openxmlformats.org/drawingml/2006/main">
              <a:ext uri="{FF2B5EF4-FFF2-40B4-BE49-F238E27FC236}">
                <a16:creationId xmlns:a16="http://schemas.microsoft.com/office/drawing/2014/main" id="{0DA27EA7-0442-42A7-A889-986C673A2829}"/>
              </a:ext>
            </a:extLst>
          </p:cNvPr>
          <p:cNvSpPr>
            <a:spLocks xmlns:a="http://schemas.openxmlformats.org/drawingml/2006/main" noGrp="1"/>
          </p:cNvSpPr>
          <p:nvPr/>
        </p:nvSpPr>
        <p:spPr>
          <a:xfrm xmlns:a="http://schemas.openxmlformats.org/drawingml/2006/main">
            <a:off x="495300" y="201549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About 800 trees and 20,000 plants on two</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towers.</a:t>
            </a:r>
          </a:p>
        </p:txBody>
      </p:sp>
      <p:sp>
        <p:nvSpPr>
          <p:cNvPr id="7" name="Vegetation shades apartments, filters air and damp">
            <a:extLst xmlns:a="http://schemas.openxmlformats.org/drawingml/2006/main">
              <a:ext uri="{FF2B5EF4-FFF2-40B4-BE49-F238E27FC236}">
                <a16:creationId xmlns:a16="http://schemas.microsoft.com/office/drawing/2014/main" id="{5D562A48-9267-4D46-9841-A586610FD038}"/>
              </a:ext>
            </a:extLst>
          </p:cNvPr>
          <p:cNvSpPr>
            <a:spLocks xmlns:a="http://schemas.openxmlformats.org/drawingml/2006/main" noGrp="1"/>
          </p:cNvSpPr>
          <p:nvPr/>
        </p:nvSpPr>
        <p:spPr>
          <a:xfrm xmlns:a="http://schemas.openxmlformats.org/drawingml/2006/main">
            <a:off x="495300" y="268795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Vegetation shades apartments, filters air and</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dampens noise.</a:t>
            </a:r>
          </a:p>
        </p:txBody>
      </p:sp>
      <p:sp>
        <p:nvSpPr>
          <p:cNvPr id="8" name="Its distinctive planted facade forms a clear part ">
            <a:extLst xmlns:a="http://schemas.openxmlformats.org/drawingml/2006/main">
              <a:ext uri="{FF2B5EF4-FFF2-40B4-BE49-F238E27FC236}">
                <a16:creationId xmlns:a16="http://schemas.microsoft.com/office/drawing/2014/main" id="{B1B5047C-28BC-4EE9-835E-5D798F03F65F}"/>
              </a:ext>
            </a:extLst>
          </p:cNvPr>
          <p:cNvSpPr>
            <a:spLocks xmlns:a="http://schemas.openxmlformats.org/drawingml/2006/main" noGrp="1"/>
          </p:cNvSpPr>
          <p:nvPr/>
        </p:nvSpPr>
        <p:spPr>
          <a:xfrm xmlns:a="http://schemas.openxmlformats.org/drawingml/2006/main">
            <a:off x="495300" y="336042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Its distinctive planted facade forms a clear part</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of the property identity.</a:t>
            </a:r>
          </a:p>
        </p:txBody>
      </p:sp>
      <p:sp>
        <p:nvSpPr>
          <p:cNvPr id="9" name="Business lesson">
            <a:extLst xmlns:a="http://schemas.openxmlformats.org/drawingml/2006/main">
              <a:ext uri="{FF2B5EF4-FFF2-40B4-BE49-F238E27FC236}">
                <a16:creationId xmlns:a16="http://schemas.microsoft.com/office/drawing/2014/main" id="{9496353D-47A7-4941-B592-97F1074E50BA}"/>
              </a:ext>
            </a:extLst>
          </p:cNvPr>
          <p:cNvSpPr>
            <a:spLocks xmlns:a="http://schemas.openxmlformats.org/drawingml/2006/main" noGrp="1"/>
          </p:cNvSpPr>
          <p:nvPr/>
        </p:nvSpPr>
        <p:spPr>
          <a:xfrm xmlns:a="http://schemas.openxmlformats.org/drawingml/2006/main">
            <a:off x="6067425" y="1657350"/>
            <a:ext cx="2514600"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Business lesson</a:t>
            </a:r>
          </a:p>
        </p:txBody>
      </p:sp>
      <p:sp>
        <p:nvSpPr>
          <p:cNvPr id="10" name="Nature on the building became the brand of the bui">
            <a:extLst xmlns:a="http://schemas.openxmlformats.org/drawingml/2006/main">
              <a:ext uri="{FF2B5EF4-FFF2-40B4-BE49-F238E27FC236}">
                <a16:creationId xmlns:a16="http://schemas.microsoft.com/office/drawing/2014/main" id="{D15DDB79-F8C6-4912-AE03-A461A4D6B727}"/>
              </a:ext>
            </a:extLst>
          </p:cNvPr>
          <p:cNvSpPr>
            <a:spLocks xmlns:a="http://schemas.openxmlformats.org/drawingml/2006/main" noGrp="1"/>
          </p:cNvSpPr>
          <p:nvPr/>
        </p:nvSpPr>
        <p:spPr>
          <a:xfrm xmlns:a="http://schemas.openxmlformats.org/drawingml/2006/main">
            <a:off x="6067425" y="2120265"/>
            <a:ext cx="2514600" cy="9201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Nature on the building</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became the brand of</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the building.</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f85e5ae79184f54"/>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2" name="www.newton.university">
            <a:extLst xmlns:a="http://schemas.openxmlformats.org/drawingml/2006/main">
              <a:ext uri="{FF2B5EF4-FFF2-40B4-BE49-F238E27FC236}">
                <a16:creationId xmlns:a16="http://schemas.microsoft.com/office/drawing/2014/main" id="{630580F2-F2DD-4FA6-84AC-BACCBBCECE46}"/>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3" name="12">
            <a:extLst xmlns:a="http://schemas.openxmlformats.org/drawingml/2006/main">
              <a:ext uri="{FF2B5EF4-FFF2-40B4-BE49-F238E27FC236}">
                <a16:creationId xmlns:a16="http://schemas.microsoft.com/office/drawing/2014/main" id="{31DB2EB9-DE93-44B9-9AFE-9AABFE24B248}"/>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12</a:t>
            </a:r>
          </a:p>
        </p:txBody>
      </p:sp>
    </p:spTree>
    <p:extLst>
      <p:ext uri="{BB962C8B-B14F-4D97-AF65-F5344CB8AC3E}">
        <p14:creationId xmlns:p14="http://schemas.microsoft.com/office/powerpoint/2010/main" val="960517004"/>
      </p:ext>
    </p:extLst>
  </p:cSld>
</p:sld>
</file>

<file path=ppt/slides/slide1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Case Study: Microsoft and Nature on Site">
            <a:extLst xmlns:a="http://schemas.openxmlformats.org/drawingml/2006/main">
              <a:ext uri="{FF2B5EF4-FFF2-40B4-BE49-F238E27FC236}">
                <a16:creationId xmlns:a16="http://schemas.microsoft.com/office/drawing/2014/main" id="{4BDF3DD8-9885-4CD9-9B2A-DCC67A5B32A8}"/>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Case Study: Microsoft and Nature on Site</a:t>
            </a:r>
          </a:p>
        </p:txBody>
      </p:sp>
      <p:sp>
        <p:nvSpPr>
          <p:cNvPr id="2" name="Editorial frame">
            <a:extLst xmlns:a="http://schemas.openxmlformats.org/drawingml/2006/main">
              <a:ext uri="{FF2B5EF4-FFF2-40B4-BE49-F238E27FC236}">
                <a16:creationId xmlns:a16="http://schemas.microsoft.com/office/drawing/2014/main" id="{37178E80-221B-419F-A2FD-B68E5332F02F}"/>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8196437F-B046-47AC-B0D6-1E0160631312}"/>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F242AD1D-D401-4FF9-8514-6DE73D51FC9C}"/>
              </a:ext>
            </a:extLst>
          </p:cNvPr>
          <p:cNvSpPr>
            <a:spLocks xmlns:a="http://schemas.openxmlformats.org/drawingml/2006/main" noGrp="1"/>
          </p:cNvSpPr>
          <p:nvPr/>
        </p:nvSpPr>
        <p:spPr>
          <a:xfrm xmlns:a="http://schemas.openxmlformats.org/drawingml/2006/main">
            <a:off x="5867400" y="1457325"/>
            <a:ext cx="2924175" cy="3248025"/>
          </a:xfrm>
          <a:prstGeom xmlns:a="http://schemas.openxmlformats.org/drawingml/2006/main" prst="rect">
            <a:avLst/>
          </a:prstGeom>
          <a:solidFill xmlns:a="http://schemas.openxmlformats.org/drawingml/2006/main">
            <a:srgbClr val="EEE4D7"/>
          </a:solidFill>
          <a:ln xmlns:a="http://schemas.openxmlformats.org/drawingml/2006/main" w="7620">
            <a:solidFill>
              <a:srgbClr val="B7C3B1"/>
            </a:solidFill>
          </a:ln>
        </p:spPr>
      </p:sp>
      <p:sp>
        <p:nvSpPr>
          <p:cNvPr id="5" name="Company-reported approach">
            <a:extLst xmlns:a="http://schemas.openxmlformats.org/drawingml/2006/main">
              <a:ext uri="{FF2B5EF4-FFF2-40B4-BE49-F238E27FC236}">
                <a16:creationId xmlns:a16="http://schemas.microsoft.com/office/drawing/2014/main" id="{8D02673B-526B-4B12-9DF3-356674B958CF}"/>
              </a:ext>
            </a:extLst>
          </p:cNvPr>
          <p:cNvSpPr>
            <a:spLocks xmlns:a="http://schemas.openxmlformats.org/drawingml/2006/main" noGrp="1"/>
          </p:cNvSpPr>
          <p:nvPr/>
        </p:nvSpPr>
        <p:spPr>
          <a:xfrm xmlns:a="http://schemas.openxmlformats.org/drawingml/2006/main">
            <a:off x="495300" y="1552575"/>
            <a:ext cx="5019675"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Company-reported approach</a:t>
            </a:r>
          </a:p>
        </p:txBody>
      </p:sp>
      <p:sp>
        <p:nvSpPr>
          <p:cNvPr id="6" name="A carbon-negative ambition for 2030">
            <a:extLst xmlns:a="http://schemas.openxmlformats.org/drawingml/2006/main">
              <a:ext uri="{FF2B5EF4-FFF2-40B4-BE49-F238E27FC236}">
                <a16:creationId xmlns:a16="http://schemas.microsoft.com/office/drawing/2014/main" id="{87E2CD8E-FE05-4C22-932F-4030DA4A59E2}"/>
              </a:ext>
            </a:extLst>
          </p:cNvPr>
          <p:cNvSpPr>
            <a:spLocks xmlns:a="http://schemas.openxmlformats.org/drawingml/2006/main" noGrp="1"/>
          </p:cNvSpPr>
          <p:nvPr/>
        </p:nvSpPr>
        <p:spPr>
          <a:xfrm xmlns:a="http://schemas.openxmlformats.org/drawingml/2006/main">
            <a:off x="495300" y="2015490"/>
            <a:ext cx="5019675" cy="3028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A carbon-negative ambition for 2030</a:t>
            </a:r>
          </a:p>
        </p:txBody>
      </p:sp>
      <p:sp>
        <p:nvSpPr>
          <p:cNvPr id="7" name="Investment in environmental projects and nature on">
            <a:extLst xmlns:a="http://schemas.openxmlformats.org/drawingml/2006/main">
              <a:ext uri="{FF2B5EF4-FFF2-40B4-BE49-F238E27FC236}">
                <a16:creationId xmlns:a16="http://schemas.microsoft.com/office/drawing/2014/main" id="{00E549C8-A48A-443D-BA59-C2789A92375C}"/>
              </a:ext>
            </a:extLst>
          </p:cNvPr>
          <p:cNvSpPr>
            <a:spLocks xmlns:a="http://schemas.openxmlformats.org/drawingml/2006/main" noGrp="1"/>
          </p:cNvSpPr>
          <p:nvPr/>
        </p:nvSpPr>
        <p:spPr>
          <a:xfrm xmlns:a="http://schemas.openxmlformats.org/drawingml/2006/main">
            <a:off x="495300" y="241363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Investment in environmental projects and</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nature on sites</a:t>
            </a:r>
          </a:p>
        </p:txBody>
      </p:sp>
      <p:sp>
        <p:nvSpPr>
          <p:cNvPr id="8" name="Campus design can support employee experience">
            <a:extLst xmlns:a="http://schemas.openxmlformats.org/drawingml/2006/main">
              <a:ext uri="{FF2B5EF4-FFF2-40B4-BE49-F238E27FC236}">
                <a16:creationId xmlns:a16="http://schemas.microsoft.com/office/drawing/2014/main" id="{58BCE8A2-5D65-4A6D-8C8D-58CD4A231D64}"/>
              </a:ext>
            </a:extLst>
          </p:cNvPr>
          <p:cNvSpPr>
            <a:spLocks xmlns:a="http://schemas.openxmlformats.org/drawingml/2006/main" noGrp="1"/>
          </p:cNvSpPr>
          <p:nvPr/>
        </p:nvSpPr>
        <p:spPr>
          <a:xfrm xmlns:a="http://schemas.openxmlformats.org/drawingml/2006/main">
            <a:off x="495300" y="308610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Campus design can support employee</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experience</a:t>
            </a:r>
          </a:p>
        </p:txBody>
      </p:sp>
      <p:sp>
        <p:nvSpPr>
          <p:cNvPr id="9" name="Management lesson">
            <a:extLst xmlns:a="http://schemas.openxmlformats.org/drawingml/2006/main">
              <a:ext uri="{FF2B5EF4-FFF2-40B4-BE49-F238E27FC236}">
                <a16:creationId xmlns:a16="http://schemas.microsoft.com/office/drawing/2014/main" id="{62F0D2D3-0AAB-4893-81BF-5142B8D14504}"/>
              </a:ext>
            </a:extLst>
          </p:cNvPr>
          <p:cNvSpPr>
            <a:spLocks xmlns:a="http://schemas.openxmlformats.org/drawingml/2006/main" noGrp="1"/>
          </p:cNvSpPr>
          <p:nvPr/>
        </p:nvSpPr>
        <p:spPr>
          <a:xfrm xmlns:a="http://schemas.openxmlformats.org/drawingml/2006/main">
            <a:off x="6067425" y="1657350"/>
            <a:ext cx="2514600"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Management lesson</a:t>
            </a:r>
          </a:p>
        </p:txBody>
      </p:sp>
      <p:sp>
        <p:nvSpPr>
          <p:cNvPr id="10" name="Separate a company commitment from a measured resu">
            <a:extLst xmlns:a="http://schemas.openxmlformats.org/drawingml/2006/main">
              <a:ext uri="{FF2B5EF4-FFF2-40B4-BE49-F238E27FC236}">
                <a16:creationId xmlns:a16="http://schemas.microsoft.com/office/drawing/2014/main" id="{D0BF3E2A-8338-4922-B482-D37337C9E368}"/>
              </a:ext>
            </a:extLst>
          </p:cNvPr>
          <p:cNvSpPr>
            <a:spLocks xmlns:a="http://schemas.openxmlformats.org/drawingml/2006/main" noGrp="1"/>
          </p:cNvSpPr>
          <p:nvPr/>
        </p:nvSpPr>
        <p:spPr>
          <a:xfrm xmlns:a="http://schemas.openxmlformats.org/drawingml/2006/main">
            <a:off x="6067425" y="2120265"/>
            <a:ext cx="2514600" cy="2108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Separate a company</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commitment from a</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measured result. A</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campus project</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cannot establish</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whole-company</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sustainability.</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93181c0e9614dc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2" name="www.newton.university">
            <a:extLst xmlns:a="http://schemas.openxmlformats.org/drawingml/2006/main">
              <a:ext uri="{FF2B5EF4-FFF2-40B4-BE49-F238E27FC236}">
                <a16:creationId xmlns:a16="http://schemas.microsoft.com/office/drawing/2014/main" id="{A79A03BE-7397-48F5-BF02-85C1484C62E9}"/>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3" name="13">
            <a:extLst xmlns:a="http://schemas.openxmlformats.org/drawingml/2006/main">
              <a:ext uri="{FF2B5EF4-FFF2-40B4-BE49-F238E27FC236}">
                <a16:creationId xmlns:a16="http://schemas.microsoft.com/office/drawing/2014/main" id="{E28C7766-40E6-418D-A63C-C808A39C2E1C}"/>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13</a:t>
            </a:r>
          </a:p>
        </p:txBody>
      </p:sp>
    </p:spTree>
    <p:extLst>
      <p:ext uri="{BB962C8B-B14F-4D97-AF65-F5344CB8AC3E}">
        <p14:creationId xmlns:p14="http://schemas.microsoft.com/office/powerpoint/2010/main" val="1437487293"/>
      </p:ext>
    </p:extLst>
  </p:cSld>
</p:sld>
</file>

<file path=ppt/slides/slide1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Case Study: Singapore Green Buildings">
            <a:extLst xmlns:a="http://schemas.openxmlformats.org/drawingml/2006/main">
              <a:ext uri="{FF2B5EF4-FFF2-40B4-BE49-F238E27FC236}">
                <a16:creationId xmlns:a16="http://schemas.microsoft.com/office/drawing/2014/main" id="{F05567A9-79D9-491B-97EC-A27B2167041D}"/>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Case Study: Singapore Green Buildings</a:t>
            </a:r>
          </a:p>
        </p:txBody>
      </p:sp>
      <p:sp>
        <p:nvSpPr>
          <p:cNvPr id="2" name="Editorial frame">
            <a:extLst xmlns:a="http://schemas.openxmlformats.org/drawingml/2006/main">
              <a:ext uri="{FF2B5EF4-FFF2-40B4-BE49-F238E27FC236}">
                <a16:creationId xmlns:a16="http://schemas.microsoft.com/office/drawing/2014/main" id="{D1BFFC84-78DB-4EFC-ABBE-164C484C5FCF}"/>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763902E7-6CCE-4D8F-ABED-CF1F1F712BD4}"/>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46caab854804902"/>
          <a:stretch xmlns:a="http://schemas.openxmlformats.org/drawingml/2006/main"/>
        </p:blipFill>
        <p:spPr>
          <a:xfrm xmlns:a="http://schemas.openxmlformats.org/drawingml/2006/main">
            <a:off x="5364796" y="1495425"/>
            <a:ext cx="3205483" cy="2552700"/>
          </a:xfrm>
          <a:prstGeom xmlns:a="http://schemas.openxmlformats.org/drawingml/2006/main" prst="rect">
            <a:avLst/>
          </a:prstGeom>
        </p:spPr>
      </p:pic>
      <p:sp>
        <p:nvSpPr>
          <p:cNvPr id="5" name="Parkroyal Collection Pickering: the building's pla">
            <a:extLst xmlns:a="http://schemas.openxmlformats.org/drawingml/2006/main">
              <a:ext uri="{FF2B5EF4-FFF2-40B4-BE49-F238E27FC236}">
                <a16:creationId xmlns:a16="http://schemas.microsoft.com/office/drawing/2014/main" id="{EEBD2D42-1268-489E-9A3B-F9A8EE3CE868}"/>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Parkroyal Collection Pickering: the building's</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planting is part of its identity</a:t>
            </a:r>
          </a:p>
        </p:txBody>
      </p:sp>
      <p:sp>
        <p:nvSpPr>
          <p:cNvPr id="6" name="Business decisions">
            <a:extLst xmlns:a="http://schemas.openxmlformats.org/drawingml/2006/main">
              <a:ext uri="{FF2B5EF4-FFF2-40B4-BE49-F238E27FC236}">
                <a16:creationId xmlns:a16="http://schemas.microsoft.com/office/drawing/2014/main" id="{0B78E2A2-D889-40D2-98FC-C90BDFEFA5F0}"/>
              </a:ext>
            </a:extLst>
          </p:cNvPr>
          <p:cNvSpPr>
            <a:spLocks xmlns:a="http://schemas.openxmlformats.org/drawingml/2006/main" noGrp="1"/>
          </p:cNvSpPr>
          <p:nvPr/>
        </p:nvSpPr>
        <p:spPr>
          <a:xfrm xmlns:a="http://schemas.openxmlformats.org/drawingml/2006/main">
            <a:off x="495300" y="1524000"/>
            <a:ext cx="433387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B56647"/>
                </a:solidFill>
                <a:latin typeface="Georgia"/>
                <a:ea typeface="Georgia"/>
                <a:cs typeface="Georgia"/>
              </a:defRPr>
            </a:pPr>
            <a:r>
              <a:rPr sz="1725" b="0">
                <a:solidFill>
                  <a:srgbClr val="B56647"/>
                </a:solidFill>
                <a:latin typeface="Georgia"/>
                <a:ea typeface="Georgia"/>
                <a:cs typeface="Georgia"/>
              </a:rPr>
              <a:t>Business decisions</a:t>
            </a:r>
          </a:p>
        </p:txBody>
      </p:sp>
      <p:sp>
        <p:nvSpPr>
          <p:cNvPr id="7" name="How does greenery support the guest experience?">
            <a:extLst xmlns:a="http://schemas.openxmlformats.org/drawingml/2006/main">
              <a:ext uri="{FF2B5EF4-FFF2-40B4-BE49-F238E27FC236}">
                <a16:creationId xmlns:a16="http://schemas.microsoft.com/office/drawing/2014/main" id="{51CF39A2-22CE-44AC-B7DD-9D51F014948B}"/>
              </a:ext>
            </a:extLst>
          </p:cNvPr>
          <p:cNvSpPr>
            <a:spLocks xmlns:a="http://schemas.openxmlformats.org/drawingml/2006/main" noGrp="1"/>
          </p:cNvSpPr>
          <p:nvPr/>
        </p:nvSpPr>
        <p:spPr>
          <a:xfrm xmlns:a="http://schemas.openxmlformats.org/drawingml/2006/main">
            <a:off x="495300" y="1929765"/>
            <a:ext cx="4333875" cy="2457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How does greenery support the guest experience?</a:t>
            </a:r>
          </a:p>
        </p:txBody>
      </p:sp>
      <p:sp>
        <p:nvSpPr>
          <p:cNvPr id="8" name="What are the structure, irrigation and upkeep cost">
            <a:extLst xmlns:a="http://schemas.openxmlformats.org/drawingml/2006/main">
              <a:ext uri="{FF2B5EF4-FFF2-40B4-BE49-F238E27FC236}">
                <a16:creationId xmlns:a16="http://schemas.microsoft.com/office/drawing/2014/main" id="{A0284F4D-1786-4C9D-A3FF-797A016BC422}"/>
              </a:ext>
            </a:extLst>
          </p:cNvPr>
          <p:cNvSpPr>
            <a:spLocks xmlns:a="http://schemas.openxmlformats.org/drawingml/2006/main" noGrp="1"/>
          </p:cNvSpPr>
          <p:nvPr/>
        </p:nvSpPr>
        <p:spPr>
          <a:xfrm xmlns:a="http://schemas.openxmlformats.org/drawingml/2006/main">
            <a:off x="495300" y="2270760"/>
            <a:ext cx="4333875" cy="2457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What are the structure, irrigation and upkeep costs?</a:t>
            </a:r>
          </a:p>
        </p:txBody>
      </p:sp>
      <p:sp>
        <p:nvSpPr>
          <p:cNvPr id="9" name="Which planning and certification requirements appl">
            <a:extLst xmlns:a="http://schemas.openxmlformats.org/drawingml/2006/main">
              <a:ext uri="{FF2B5EF4-FFF2-40B4-BE49-F238E27FC236}">
                <a16:creationId xmlns:a16="http://schemas.microsoft.com/office/drawing/2014/main" id="{7B86F8DF-42D3-406D-96C2-DA2CA1724AD9}"/>
              </a:ext>
            </a:extLst>
          </p:cNvPr>
          <p:cNvSpPr>
            <a:spLocks xmlns:a="http://schemas.openxmlformats.org/drawingml/2006/main" noGrp="1"/>
          </p:cNvSpPr>
          <p:nvPr/>
        </p:nvSpPr>
        <p:spPr>
          <a:xfrm xmlns:a="http://schemas.openxmlformats.org/drawingml/2006/main">
            <a:off x="495300" y="2611755"/>
            <a:ext cx="4333875" cy="462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Which planning and certification requirements</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apply?</a:t>
            </a:r>
          </a:p>
        </p:txBody>
      </p:sp>
      <p:sp>
        <p:nvSpPr>
          <p:cNvPr id="10" name="Lesson">
            <a:extLst xmlns:a="http://schemas.openxmlformats.org/drawingml/2006/main">
              <a:ext uri="{FF2B5EF4-FFF2-40B4-BE49-F238E27FC236}">
                <a16:creationId xmlns:a16="http://schemas.microsoft.com/office/drawing/2014/main" id="{E86DC67B-7884-40C0-BD84-5F4553A389C3}"/>
              </a:ext>
            </a:extLst>
          </p:cNvPr>
          <p:cNvSpPr>
            <a:spLocks xmlns:a="http://schemas.openxmlformats.org/drawingml/2006/main" noGrp="1"/>
          </p:cNvSpPr>
          <p:nvPr/>
        </p:nvSpPr>
        <p:spPr>
          <a:xfrm xmlns:a="http://schemas.openxmlformats.org/drawingml/2006/main">
            <a:off x="495300" y="3246120"/>
            <a:ext cx="433387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B56647"/>
                </a:solidFill>
                <a:latin typeface="Georgia"/>
                <a:ea typeface="Georgia"/>
                <a:cs typeface="Georgia"/>
              </a:defRPr>
            </a:pPr>
            <a:r>
              <a:rPr sz="1725" b="0">
                <a:solidFill>
                  <a:srgbClr val="B56647"/>
                </a:solidFill>
                <a:latin typeface="Georgia"/>
                <a:ea typeface="Georgia"/>
                <a:cs typeface="Georgia"/>
              </a:rPr>
              <a:t>Lesson</a:t>
            </a:r>
          </a:p>
        </p:txBody>
      </p:sp>
      <p:sp>
        <p:nvSpPr>
          <p:cNvPr id="11" name="Assess the business case for this building instead">
            <a:extLst xmlns:a="http://schemas.openxmlformats.org/drawingml/2006/main">
              <a:ext uri="{FF2B5EF4-FFF2-40B4-BE49-F238E27FC236}">
                <a16:creationId xmlns:a16="http://schemas.microsoft.com/office/drawing/2014/main" id="{8D9056BB-AF19-4CF6-86E6-FE93D2AC1C3E}"/>
              </a:ext>
            </a:extLst>
          </p:cNvPr>
          <p:cNvSpPr>
            <a:spLocks xmlns:a="http://schemas.openxmlformats.org/drawingml/2006/main" noGrp="1"/>
          </p:cNvSpPr>
          <p:nvPr/>
        </p:nvSpPr>
        <p:spPr>
          <a:xfrm xmlns:a="http://schemas.openxmlformats.org/drawingml/2006/main">
            <a:off x="495300" y="3651885"/>
            <a:ext cx="4333875" cy="462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Assess the business case for this building instead of</a:t>
            </a:r>
          </a:p>
          <a:p xmlns:a="http://schemas.openxmlformats.org/drawingml/2006/main">
            <a:pPr>
              <a:defRPr sz="1425" b="0">
                <a:solidFill>
                  <a:srgbClr val="173E35"/>
                </a:solidFill>
                <a:latin typeface="Arial"/>
                <a:ea typeface="Arial"/>
                <a:cs typeface="Arial"/>
              </a:defRPr>
            </a:pPr>
            <a:r>
              <a:rPr sz="1425" b="0">
                <a:solidFill>
                  <a:srgbClr val="173E35"/>
                </a:solidFill>
                <a:latin typeface="Arial"/>
                <a:ea typeface="Arial"/>
                <a:cs typeface="Arial"/>
              </a:rPr>
              <a:t>assuming every green building earns a premium.</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d8b8473089f4ab7"/>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3" name="www.newton.university">
            <a:extLst xmlns:a="http://schemas.openxmlformats.org/drawingml/2006/main">
              <a:ext uri="{FF2B5EF4-FFF2-40B4-BE49-F238E27FC236}">
                <a16:creationId xmlns:a16="http://schemas.microsoft.com/office/drawing/2014/main" id="{0F4FC6C5-AF48-4C8D-AE6B-9AD896C4008B}"/>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4" name="14">
            <a:extLst xmlns:a="http://schemas.openxmlformats.org/drawingml/2006/main">
              <a:ext uri="{FF2B5EF4-FFF2-40B4-BE49-F238E27FC236}">
                <a16:creationId xmlns:a16="http://schemas.microsoft.com/office/drawing/2014/main" id="{BB035B9F-9F52-41D1-BEEF-7C4FBDD81BD5}"/>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14</a:t>
            </a:r>
          </a:p>
        </p:txBody>
      </p:sp>
    </p:spTree>
    <p:extLst>
      <p:ext uri="{BB962C8B-B14F-4D97-AF65-F5344CB8AC3E}">
        <p14:creationId xmlns:p14="http://schemas.microsoft.com/office/powerpoint/2010/main" val="1929719614"/>
      </p:ext>
    </p:extLst>
  </p:cSld>
</p:sld>
</file>

<file path=ppt/slides/slide15.xml><?xml version="1.0" encoding="utf-8"?>
<p:sld xmlns:p="http://schemas.openxmlformats.org/presentationml/2006/main">
  <p:cSld>
    <p:bg>
      <p:bgPr>
        <a:solidFill xmlns:a="http://schemas.openxmlformats.org/drawingml/2006/main">
          <a:srgbClr val="DDE5D8"/>
        </a:solidFill>
      </p:bgPr>
    </p:bg>
    <p:spTree>
      <p:nvGrpSpPr>
        <p:cNvPr id="1" name=""/>
        <p:cNvGrpSpPr/>
        <p:nvPr/>
      </p:nvGrpSpPr>
      <p:grpSpPr>
        <a:xfrm xmlns:a="http://schemas.openxmlformats.org/drawingml/2006/main"/>
      </p:grpSpPr>
      <p:sp>
        <p:nvSpPr>
          <p:cNvPr id="17" name="Classroom Activity: Pitch a Nature-Based Model">
            <a:extLst xmlns:a="http://schemas.openxmlformats.org/drawingml/2006/main">
              <a:ext uri="{FF2B5EF4-FFF2-40B4-BE49-F238E27FC236}">
                <a16:creationId xmlns:a16="http://schemas.microsoft.com/office/drawing/2014/main" id="{C6339147-961F-495D-B6AC-4B3414FF7837}"/>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Classroom Activity: Pitch a Nature-Based Model</a:t>
            </a:r>
          </a:p>
        </p:txBody>
      </p:sp>
      <p:sp>
        <p:nvSpPr>
          <p:cNvPr id="2" name="Editorial frame">
            <a:extLst xmlns:a="http://schemas.openxmlformats.org/drawingml/2006/main">
              <a:ext uri="{FF2B5EF4-FFF2-40B4-BE49-F238E27FC236}">
                <a16:creationId xmlns:a16="http://schemas.microsoft.com/office/drawing/2014/main" id="{285034E4-756F-445A-99B2-3C5643B38C37}"/>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E937FB79-ED6A-4337-AD36-EDC90823000B}"/>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CE3DE6EC-C34A-4B14-A058-269AF7B1C52F}"/>
              </a:ext>
            </a:extLst>
          </p:cNvPr>
          <p:cNvSpPr>
            <a:spLocks xmlns:a="http://schemas.openxmlformats.org/drawingml/2006/main" noGrp="1"/>
          </p:cNvSpPr>
          <p:nvPr/>
        </p:nvSpPr>
        <p:spPr>
          <a:xfrm xmlns:a="http://schemas.openxmlformats.org/drawingml/2006/main">
            <a:off x="361950" y="1476375"/>
            <a:ext cx="2305050" cy="3190875"/>
          </a:xfrm>
          <a:prstGeom xmlns:a="http://schemas.openxmlformats.org/drawingml/2006/main" prst="rect">
            <a:avLst/>
          </a:prstGeom>
          <a:solidFill xmlns:a="http://schemas.openxmlformats.org/drawingml/2006/main">
            <a:srgbClr val="C7D5BE"/>
          </a:solidFill>
          <a:ln xmlns:a="http://schemas.openxmlformats.org/drawingml/2006/main" w="7620">
            <a:solidFill>
              <a:srgbClr val="B7C3B1"/>
            </a:solidFill>
          </a:ln>
        </p:spPr>
      </p:sp>
      <p:sp>
        <p:nvSpPr>
          <p:cNvPr id="5" name="20">
            <a:extLst xmlns:a="http://schemas.openxmlformats.org/drawingml/2006/main">
              <a:ext uri="{FF2B5EF4-FFF2-40B4-BE49-F238E27FC236}">
                <a16:creationId xmlns:a16="http://schemas.microsoft.com/office/drawing/2014/main" id="{2822352F-FD3D-4EAC-84B9-BE577045D050}"/>
              </a:ext>
            </a:extLst>
          </p:cNvPr>
          <p:cNvSpPr>
            <a:spLocks xmlns:a="http://schemas.openxmlformats.org/drawingml/2006/main" noGrp="1"/>
          </p:cNvSpPr>
          <p:nvPr/>
        </p:nvSpPr>
        <p:spPr>
          <a:xfrm xmlns:a="http://schemas.openxmlformats.org/drawingml/2006/main">
            <a:off x="533400" y="1914525"/>
            <a:ext cx="2076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00" b="0">
                <a:solidFill>
                  <a:srgbClr val="173E35"/>
                </a:solidFill>
                <a:latin typeface="Georgia"/>
                <a:ea typeface="Georgia"/>
                <a:cs typeface="Georgia"/>
              </a:defRPr>
            </a:pPr>
            <a:r>
              <a:rPr sz="7800" b="0">
                <a:solidFill>
                  <a:srgbClr val="173E35"/>
                </a:solidFill>
                <a:latin typeface="Georgia"/>
                <a:ea typeface="Georgia"/>
                <a:cs typeface="Georgia"/>
              </a:rPr>
              <a:t>20</a:t>
            </a:r>
          </a:p>
        </p:txBody>
      </p:sp>
      <p:sp>
        <p:nvSpPr>
          <p:cNvPr id="6" name="minutes">
            <a:extLst xmlns:a="http://schemas.openxmlformats.org/drawingml/2006/main">
              <a:ext uri="{FF2B5EF4-FFF2-40B4-BE49-F238E27FC236}">
                <a16:creationId xmlns:a16="http://schemas.microsoft.com/office/drawing/2014/main" id="{49C3C1D3-99C0-4F87-97E6-4D8348A1A909}"/>
              </a:ext>
            </a:extLst>
          </p:cNvPr>
          <p:cNvSpPr>
            <a:spLocks xmlns:a="http://schemas.openxmlformats.org/drawingml/2006/main" noGrp="1"/>
          </p:cNvSpPr>
          <p:nvPr/>
        </p:nvSpPr>
        <p:spPr>
          <a:xfrm xmlns:a="http://schemas.openxmlformats.org/drawingml/2006/main">
            <a:off x="581025" y="331470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325" b="0">
                <a:solidFill>
                  <a:srgbClr val="173E35"/>
                </a:solidFill>
                <a:latin typeface="Georgia"/>
                <a:ea typeface="Georgia"/>
                <a:cs typeface="Georgia"/>
              </a:defRPr>
            </a:pPr>
            <a:r>
              <a:rPr sz="2325" b="0">
                <a:solidFill>
                  <a:srgbClr val="173E35"/>
                </a:solidFill>
                <a:latin typeface="Georgia"/>
                <a:ea typeface="Georgia"/>
                <a:cs typeface="Georgia"/>
              </a:rPr>
              <a:t>minutes</a:t>
            </a:r>
          </a:p>
        </p:txBody>
      </p:sp>
      <p:sp>
        <p:nvSpPr>
          <p:cNvPr id="7" name="In groups">
            <a:extLst xmlns:a="http://schemas.openxmlformats.org/drawingml/2006/main">
              <a:ext uri="{FF2B5EF4-FFF2-40B4-BE49-F238E27FC236}">
                <a16:creationId xmlns:a16="http://schemas.microsoft.com/office/drawing/2014/main" id="{6F9AD521-2000-479E-977C-53AB6AD5997B}"/>
              </a:ext>
            </a:extLst>
          </p:cNvPr>
          <p:cNvSpPr>
            <a:spLocks xmlns:a="http://schemas.openxmlformats.org/drawingml/2006/main" noGrp="1"/>
          </p:cNvSpPr>
          <p:nvPr/>
        </p:nvSpPr>
        <p:spPr>
          <a:xfrm xmlns:a="http://schemas.openxmlformats.org/drawingml/2006/main">
            <a:off x="581025" y="3914775"/>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8665B"/>
                </a:solidFill>
                <a:latin typeface="Arial"/>
                <a:ea typeface="Arial"/>
                <a:cs typeface="Arial"/>
              </a:defRPr>
            </a:pPr>
            <a:r>
              <a:rPr sz="1575" b="0">
                <a:solidFill>
                  <a:srgbClr val="58665B"/>
                </a:solidFill>
                <a:latin typeface="Arial"/>
                <a:ea typeface="Arial"/>
                <a:cs typeface="Arial"/>
              </a:rPr>
              <a:t>In groups</a:t>
            </a:r>
          </a:p>
        </p:txBody>
      </p:sp>
      <p:sp>
        <p:nvSpPr>
          <p:cNvPr id="8" name="Design a business model for Prague that earns reve">
            <a:extLst xmlns:a="http://schemas.openxmlformats.org/drawingml/2006/main">
              <a:ext uri="{FF2B5EF4-FFF2-40B4-BE49-F238E27FC236}">
                <a16:creationId xmlns:a16="http://schemas.microsoft.com/office/drawing/2014/main" id="{CB56F6E6-E86A-4E5F-9D21-4827EA074B1B}"/>
              </a:ext>
            </a:extLst>
          </p:cNvPr>
          <p:cNvSpPr>
            <a:spLocks xmlns:a="http://schemas.openxmlformats.org/drawingml/2006/main" noGrp="1"/>
          </p:cNvSpPr>
          <p:nvPr/>
        </p:nvSpPr>
        <p:spPr>
          <a:xfrm xmlns:a="http://schemas.openxmlformats.org/drawingml/2006/main">
            <a:off x="3076575" y="1628775"/>
            <a:ext cx="5543550" cy="634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88" b="0">
                <a:solidFill>
                  <a:srgbClr val="B56647"/>
                </a:solidFill>
                <a:latin typeface="Georgia"/>
                <a:ea typeface="Georgia"/>
                <a:cs typeface="Georgia"/>
              </a:defRPr>
            </a:pPr>
            <a:r>
              <a:rPr sz="1988" b="0">
                <a:solidFill>
                  <a:srgbClr val="B56647"/>
                </a:solidFill>
                <a:latin typeface="Georgia"/>
                <a:ea typeface="Georgia"/>
                <a:cs typeface="Georgia"/>
              </a:rPr>
              <a:t>Design a business model for Prague that earns</a:t>
            </a:r>
          </a:p>
          <a:p xmlns:a="http://schemas.openxmlformats.org/drawingml/2006/main">
            <a:pPr>
              <a:defRPr sz="1988" b="0">
                <a:solidFill>
                  <a:srgbClr val="B56647"/>
                </a:solidFill>
                <a:latin typeface="Georgia"/>
                <a:ea typeface="Georgia"/>
                <a:cs typeface="Georgia"/>
              </a:defRPr>
            </a:pPr>
            <a:r>
              <a:rPr sz="1988" b="0">
                <a:solidFill>
                  <a:srgbClr val="B56647"/>
                </a:solidFill>
                <a:latin typeface="Georgia"/>
                <a:ea typeface="Georgia"/>
                <a:cs typeface="Georgia"/>
              </a:rPr>
              <a:t>revenue from Green Infrastructure:</a:t>
            </a:r>
          </a:p>
        </p:txBody>
      </p:sp>
      <p:sp>
        <p:nvSpPr>
          <p:cNvPr id="9" name="Green roof installation and maintenance service">
            <a:extLst xmlns:a="http://schemas.openxmlformats.org/drawingml/2006/main">
              <a:ext uri="{FF2B5EF4-FFF2-40B4-BE49-F238E27FC236}">
                <a16:creationId xmlns:a16="http://schemas.microsoft.com/office/drawing/2014/main" id="{0275BF90-8280-4FFF-B69A-DB32B027FC53}"/>
              </a:ext>
            </a:extLst>
          </p:cNvPr>
          <p:cNvSpPr>
            <a:spLocks xmlns:a="http://schemas.openxmlformats.org/drawingml/2006/main" noGrp="1"/>
          </p:cNvSpPr>
          <p:nvPr/>
        </p:nvSpPr>
        <p:spPr>
          <a:xfrm xmlns:a="http://schemas.openxmlformats.org/drawingml/2006/main">
            <a:off x="3076575" y="2377440"/>
            <a:ext cx="554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Green roof installation and maintenance service</a:t>
            </a:r>
          </a:p>
        </p:txBody>
      </p:sp>
      <p:sp>
        <p:nvSpPr>
          <p:cNvPr id="10" name="Biodiversity consulting for developers">
            <a:extLst xmlns:a="http://schemas.openxmlformats.org/drawingml/2006/main">
              <a:ext uri="{FF2B5EF4-FFF2-40B4-BE49-F238E27FC236}">
                <a16:creationId xmlns:a16="http://schemas.microsoft.com/office/drawing/2014/main" id="{6C3B401A-94A2-4C17-B2D9-21BB29E52488}"/>
              </a:ext>
            </a:extLst>
          </p:cNvPr>
          <p:cNvSpPr>
            <a:spLocks xmlns:a="http://schemas.openxmlformats.org/drawingml/2006/main" noGrp="1"/>
          </p:cNvSpPr>
          <p:nvPr/>
        </p:nvSpPr>
        <p:spPr>
          <a:xfrm xmlns:a="http://schemas.openxmlformats.org/drawingml/2006/main">
            <a:off x="3076575" y="2758440"/>
            <a:ext cx="554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Biodiversity consulting for developers</a:t>
            </a:r>
          </a:p>
        </p:txBody>
      </p:sp>
      <p:sp>
        <p:nvSpPr>
          <p:cNvPr id="11" name="Urban farming subscription">
            <a:extLst xmlns:a="http://schemas.openxmlformats.org/drawingml/2006/main">
              <a:ext uri="{FF2B5EF4-FFF2-40B4-BE49-F238E27FC236}">
                <a16:creationId xmlns:a16="http://schemas.microsoft.com/office/drawing/2014/main" id="{29B91172-D16F-4D5E-9D87-EB63C6D90955}"/>
              </a:ext>
            </a:extLst>
          </p:cNvPr>
          <p:cNvSpPr>
            <a:spLocks xmlns:a="http://schemas.openxmlformats.org/drawingml/2006/main" noGrp="1"/>
          </p:cNvSpPr>
          <p:nvPr/>
        </p:nvSpPr>
        <p:spPr>
          <a:xfrm xmlns:a="http://schemas.openxmlformats.org/drawingml/2006/main">
            <a:off x="3076575" y="3139440"/>
            <a:ext cx="554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Urban farming subscription</a:t>
            </a:r>
          </a:p>
        </p:txBody>
      </p:sp>
      <p:sp>
        <p:nvSpPr>
          <p:cNvPr id="12" name="— or your own idea.">
            <a:extLst xmlns:a="http://schemas.openxmlformats.org/drawingml/2006/main">
              <a:ext uri="{FF2B5EF4-FFF2-40B4-BE49-F238E27FC236}">
                <a16:creationId xmlns:a16="http://schemas.microsoft.com/office/drawing/2014/main" id="{22C39766-E3ED-4F56-B7C8-56674CB24437}"/>
              </a:ext>
            </a:extLst>
          </p:cNvPr>
          <p:cNvSpPr>
            <a:spLocks xmlns:a="http://schemas.openxmlformats.org/drawingml/2006/main" noGrp="1"/>
          </p:cNvSpPr>
          <p:nvPr/>
        </p:nvSpPr>
        <p:spPr>
          <a:xfrm xmlns:a="http://schemas.openxmlformats.org/drawingml/2006/main">
            <a:off x="3076575" y="3520440"/>
            <a:ext cx="554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 or your own idea.</a:t>
            </a:r>
          </a:p>
        </p:txBody>
      </p:sp>
      <p:sp>
        <p:nvSpPr>
          <p:cNvPr id="13" name="Pitch: value proposition, customer, revenue stream">
            <a:extLst xmlns:a="http://schemas.openxmlformats.org/drawingml/2006/main">
              <a:ext uri="{FF2B5EF4-FFF2-40B4-BE49-F238E27FC236}">
                <a16:creationId xmlns:a16="http://schemas.microsoft.com/office/drawing/2014/main" id="{968FD128-367A-4E64-A8A0-BAA34842FFD3}"/>
              </a:ext>
            </a:extLst>
          </p:cNvPr>
          <p:cNvSpPr>
            <a:spLocks xmlns:a="http://schemas.openxmlformats.org/drawingml/2006/main" noGrp="1"/>
          </p:cNvSpPr>
          <p:nvPr/>
        </p:nvSpPr>
        <p:spPr>
          <a:xfrm xmlns:a="http://schemas.openxmlformats.org/drawingml/2006/main">
            <a:off x="3076575" y="3901440"/>
            <a:ext cx="5543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Pitch: value proposition, customer, revenue stream, and</a:t>
            </a:r>
          </a:p>
          <a:p xmlns:a="http://schemas.openxmlformats.org/drawingml/2006/main">
            <a:pPr>
              <a:defRPr sz="1688" b="0">
                <a:solidFill>
                  <a:srgbClr val="173E35"/>
                </a:solidFill>
                <a:latin typeface="Arial"/>
                <a:ea typeface="Arial"/>
                <a:cs typeface="Arial"/>
              </a:defRPr>
            </a:pPr>
            <a:r>
              <a:rPr sz="1688" b="0">
                <a:solidFill>
                  <a:srgbClr val="173E35"/>
                </a:solidFill>
                <a:latin typeface="Arial"/>
                <a:ea typeface="Arial"/>
                <a:cs typeface="Arial"/>
              </a:rPr>
              <a:t>the ecosystem service behind it.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bb6f1eed1204b80"/>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5" name="www.newton.university">
            <a:extLst xmlns:a="http://schemas.openxmlformats.org/drawingml/2006/main">
              <a:ext uri="{FF2B5EF4-FFF2-40B4-BE49-F238E27FC236}">
                <a16:creationId xmlns:a16="http://schemas.microsoft.com/office/drawing/2014/main" id="{B15DFD9E-2375-493A-B07C-650AF9B163DC}"/>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6" name="15">
            <a:extLst xmlns:a="http://schemas.openxmlformats.org/drawingml/2006/main">
              <a:ext uri="{FF2B5EF4-FFF2-40B4-BE49-F238E27FC236}">
                <a16:creationId xmlns:a16="http://schemas.microsoft.com/office/drawing/2014/main" id="{BD5A8ED3-E2F0-487F-8448-73D0CE836F75}"/>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15</a:t>
            </a:r>
          </a:p>
        </p:txBody>
      </p:sp>
    </p:spTree>
    <p:extLst>
      <p:ext uri="{BB962C8B-B14F-4D97-AF65-F5344CB8AC3E}">
        <p14:creationId xmlns:p14="http://schemas.microsoft.com/office/powerpoint/2010/main" val="2095852723"/>
      </p:ext>
    </p:extLst>
  </p:cSld>
</p:sld>
</file>

<file path=ppt/slides/slide16.xml><?xml version="1.0" encoding="utf-8"?>
<p:sld xmlns:p="http://schemas.openxmlformats.org/presentationml/2006/main">
  <p:cSld>
    <p:bg>
      <p:bgPr>
        <a:solidFill xmlns:a="http://schemas.openxmlformats.org/drawingml/2006/main">
          <a:srgbClr val="DDE5D8"/>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128D8A72-85ED-41FF-A521-4B424E468125}"/>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Break">
            <a:extLst xmlns:a="http://schemas.openxmlformats.org/drawingml/2006/main">
              <a:ext uri="{FF2B5EF4-FFF2-40B4-BE49-F238E27FC236}">
                <a16:creationId xmlns:a16="http://schemas.microsoft.com/office/drawing/2014/main" id="{95E50A5E-0DC0-4FF7-9132-1305FC85ED40}"/>
              </a:ext>
            </a:extLst>
          </p:cNvPr>
          <p:cNvSpPr>
            <a:spLocks xmlns:a="http://schemas.openxmlformats.org/drawingml/2006/main" noGrp="1"/>
          </p:cNvSpPr>
          <p:nvPr/>
        </p:nvSpPr>
        <p:spPr>
          <a:xfrm xmlns:a="http://schemas.openxmlformats.org/drawingml/2006/main">
            <a:off x="495300" y="962025"/>
            <a:ext cx="714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950" b="0">
                <a:solidFill>
                  <a:srgbClr val="173E35"/>
                </a:solidFill>
                <a:latin typeface="Georgia"/>
                <a:ea typeface="Georgia"/>
                <a:cs typeface="Georgia"/>
              </a:defRPr>
            </a:pPr>
            <a:r>
              <a:rPr sz="7950" b="0">
                <a:solidFill>
                  <a:srgbClr val="173E35"/>
                </a:solidFill>
                <a:latin typeface="Georgia"/>
                <a:ea typeface="Georgia"/>
                <a:cs typeface="Georgia"/>
              </a:rPr>
              <a:t>Break</a:t>
            </a:r>
          </a:p>
        </p:txBody>
      </p:sp>
      <p:sp>
        <p:nvSpPr>
          <p:cNvPr id="3" name="Editorial frame">
            <a:extLst xmlns:a="http://schemas.openxmlformats.org/drawingml/2006/main">
              <a:ext uri="{FF2B5EF4-FFF2-40B4-BE49-F238E27FC236}">
                <a16:creationId xmlns:a16="http://schemas.microsoft.com/office/drawing/2014/main" id="{9EBD132C-0A14-4C66-9573-C76991BA5E15}"/>
              </a:ext>
            </a:extLst>
          </p:cNvPr>
          <p:cNvSpPr>
            <a:spLocks xmlns:a="http://schemas.openxmlformats.org/drawingml/2006/main" noGrp="1"/>
          </p:cNvSpPr>
          <p:nvPr/>
        </p:nvSpPr>
        <p:spPr>
          <a:xfrm xmlns:a="http://schemas.openxmlformats.org/drawingml/2006/main">
            <a:off x="495300" y="2819400"/>
            <a:ext cx="1714500" cy="952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4" name="Second half — Sustainable Corporate Strategy and U">
            <a:extLst xmlns:a="http://schemas.openxmlformats.org/drawingml/2006/main">
              <a:ext uri="{FF2B5EF4-FFF2-40B4-BE49-F238E27FC236}">
                <a16:creationId xmlns:a16="http://schemas.microsoft.com/office/drawing/2014/main" id="{DE852914-4998-442E-8C2C-DCAAA4291E9D}"/>
              </a:ext>
            </a:extLst>
          </p:cNvPr>
          <p:cNvSpPr>
            <a:spLocks xmlns:a="http://schemas.openxmlformats.org/drawingml/2006/main" noGrp="1"/>
          </p:cNvSpPr>
          <p:nvPr/>
        </p:nvSpPr>
        <p:spPr>
          <a:xfrm xmlns:a="http://schemas.openxmlformats.org/drawingml/2006/main">
            <a:off x="523875" y="3228975"/>
            <a:ext cx="742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173E35"/>
                </a:solidFill>
                <a:latin typeface="Arial"/>
                <a:ea typeface="Arial"/>
                <a:cs typeface="Arial"/>
              </a:defRPr>
            </a:pPr>
            <a:r>
              <a:rPr sz="2175" b="0">
                <a:solidFill>
                  <a:srgbClr val="173E35"/>
                </a:solidFill>
                <a:latin typeface="Arial"/>
                <a:ea typeface="Arial"/>
                <a:cs typeface="Arial"/>
              </a:rPr>
              <a:t>Second half — Sustainable Corporate Strategy and Urban</a:t>
            </a:r>
          </a:p>
          <a:p xmlns:a="http://schemas.openxmlformats.org/drawingml/2006/main">
            <a:pPr>
              <a:defRPr sz="2175" b="0">
                <a:solidFill>
                  <a:srgbClr val="173E35"/>
                </a:solidFill>
                <a:latin typeface="Arial"/>
                <a:ea typeface="Arial"/>
                <a:cs typeface="Arial"/>
              </a:defRPr>
            </a:pPr>
            <a:r>
              <a:rPr sz="2175" b="0">
                <a:solidFill>
                  <a:srgbClr val="173E35"/>
                </a:solidFill>
                <a:latin typeface="Arial"/>
                <a:ea typeface="Arial"/>
                <a:cs typeface="Arial"/>
              </a:rPr>
              <a:t>Sustainability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97d5a6bfbc74bba"/>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D492C11D-1774-4AA5-B7D1-79F5CBA62B51}"/>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16">
            <a:extLst xmlns:a="http://schemas.openxmlformats.org/drawingml/2006/main">
              <a:ext uri="{FF2B5EF4-FFF2-40B4-BE49-F238E27FC236}">
                <a16:creationId xmlns:a16="http://schemas.microsoft.com/office/drawing/2014/main" id="{8C53B932-F6D1-4AD1-BE67-341731B2412A}"/>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16</a:t>
            </a:r>
          </a:p>
        </p:txBody>
      </p:sp>
    </p:spTree>
    <p:extLst>
      <p:ext uri="{BB962C8B-B14F-4D97-AF65-F5344CB8AC3E}">
        <p14:creationId xmlns:p14="http://schemas.microsoft.com/office/powerpoint/2010/main" val="1635861468"/>
      </p:ext>
    </p:extLst>
  </p:cSld>
</p:sld>
</file>

<file path=ppt/slides/slide17.xml><?xml version="1.0" encoding="utf-8"?>
<p:sld xmlns:p="http://schemas.openxmlformats.org/presentationml/2006/main">
  <p:cSld>
    <p:bg>
      <p:bgPr>
        <a:solidFill xmlns:a="http://schemas.openxmlformats.org/drawingml/2006/main">
          <a:srgbClr val="203C45"/>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0C9E2D70-27E7-4C01-998E-3A9696CA1B91}"/>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sp>
        <p:nvSpPr>
          <p:cNvPr id="2" name="Part 4">
            <a:extLst xmlns:a="http://schemas.openxmlformats.org/drawingml/2006/main">
              <a:ext uri="{FF2B5EF4-FFF2-40B4-BE49-F238E27FC236}">
                <a16:creationId xmlns:a16="http://schemas.microsoft.com/office/drawing/2014/main" id="{E52ED445-8F9E-4AD9-A284-39883ACBD729}"/>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4</a:t>
            </a:r>
          </a:p>
        </p:txBody>
      </p:sp>
      <p:sp>
        <p:nvSpPr>
          <p:cNvPr id="3" name="04">
            <a:extLst xmlns:a="http://schemas.openxmlformats.org/drawingml/2006/main">
              <a:ext uri="{FF2B5EF4-FFF2-40B4-BE49-F238E27FC236}">
                <a16:creationId xmlns:a16="http://schemas.microsoft.com/office/drawing/2014/main" id="{4D4B03AC-30AD-4963-BABD-2F2717C86988}"/>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819E89"/>
                </a:solidFill>
                <a:latin typeface="Georgia"/>
                <a:ea typeface="Georgia"/>
                <a:cs typeface="Georgia"/>
              </a:defRPr>
            </a:pPr>
            <a:r>
              <a:rPr sz="7875" b="0">
                <a:solidFill>
                  <a:srgbClr val="819E89"/>
                </a:solidFill>
                <a:latin typeface="Georgia"/>
                <a:ea typeface="Georgia"/>
                <a:cs typeface="Georgia"/>
              </a:rPr>
              <a:t>04</a:t>
            </a:r>
          </a:p>
        </p:txBody>
      </p:sp>
      <p:sp>
        <p:nvSpPr>
          <p:cNvPr id="4" name="Building a Sustainability Strategy">
            <a:extLst xmlns:a="http://schemas.openxmlformats.org/drawingml/2006/main">
              <a:ext uri="{FF2B5EF4-FFF2-40B4-BE49-F238E27FC236}">
                <a16:creationId xmlns:a16="http://schemas.microsoft.com/office/drawing/2014/main" id="{A973BA46-5D1A-43B1-A86B-9127FF1AF3FF}"/>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Building a Sustainability</a:t>
            </a:r>
          </a:p>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Strategy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ebb9df4766445f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11A28891-7837-433C-A0B0-34CEE57BE1B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17">
            <a:extLst xmlns:a="http://schemas.openxmlformats.org/drawingml/2006/main">
              <a:ext uri="{FF2B5EF4-FFF2-40B4-BE49-F238E27FC236}">
                <a16:creationId xmlns:a16="http://schemas.microsoft.com/office/drawing/2014/main" id="{3A925B5B-8F0B-4675-A58D-7306DF770C8C}"/>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17</a:t>
            </a:r>
          </a:p>
        </p:txBody>
      </p:sp>
    </p:spTree>
    <p:extLst>
      <p:ext uri="{BB962C8B-B14F-4D97-AF65-F5344CB8AC3E}">
        <p14:creationId xmlns:p14="http://schemas.microsoft.com/office/powerpoint/2010/main" val="1920483293"/>
      </p:ext>
    </p:extLst>
  </p:cSld>
</p:sld>
</file>

<file path=ppt/slides/slide1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From Ambition to Strategy">
            <a:extLst xmlns:a="http://schemas.openxmlformats.org/drawingml/2006/main">
              <a:ext uri="{FF2B5EF4-FFF2-40B4-BE49-F238E27FC236}">
                <a16:creationId xmlns:a16="http://schemas.microsoft.com/office/drawing/2014/main" id="{142B24F7-D6B6-43E3-8370-A2DD57C84838}"/>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From Ambition to Strategy</a:t>
            </a:r>
          </a:p>
        </p:txBody>
      </p:sp>
      <p:sp>
        <p:nvSpPr>
          <p:cNvPr id="2" name="Editorial frame">
            <a:extLst xmlns:a="http://schemas.openxmlformats.org/drawingml/2006/main">
              <a:ext uri="{FF2B5EF4-FFF2-40B4-BE49-F238E27FC236}">
                <a16:creationId xmlns:a16="http://schemas.microsoft.com/office/drawing/2014/main" id="{44F81653-53BE-4819-9689-E8C94D74A79F}"/>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662210B7-E030-4065-A467-4934B8C2E3C8}"/>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D86155E3-D6E5-46F5-9812-0916EAC340FC}"/>
              </a:ext>
            </a:extLst>
          </p:cNvPr>
          <p:cNvSpPr>
            <a:spLocks xmlns:a="http://schemas.openxmlformats.org/drawingml/2006/main" noGrp="1"/>
          </p:cNvSpPr>
          <p:nvPr/>
        </p:nvSpPr>
        <p:spPr>
          <a:xfrm xmlns:a="http://schemas.openxmlformats.org/drawingml/2006/main">
            <a:off x="361950" y="1419225"/>
            <a:ext cx="8420100" cy="3267075"/>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5" name="The strategy pyramid">
            <a:extLst xmlns:a="http://schemas.openxmlformats.org/drawingml/2006/main">
              <a:ext uri="{FF2B5EF4-FFF2-40B4-BE49-F238E27FC236}">
                <a16:creationId xmlns:a16="http://schemas.microsoft.com/office/drawing/2014/main" id="{FD10250D-BD35-4797-A386-E9C789C2B478}"/>
              </a:ext>
            </a:extLst>
          </p:cNvPr>
          <p:cNvSpPr>
            <a:spLocks xmlns:a="http://schemas.openxmlformats.org/drawingml/2006/main" noGrp="1"/>
          </p:cNvSpPr>
          <p:nvPr/>
        </p:nvSpPr>
        <p:spPr>
          <a:xfrm xmlns:a="http://schemas.openxmlformats.org/drawingml/2006/main">
            <a:off x="552450" y="1619250"/>
            <a:ext cx="7934325"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The strategy pyramid</a:t>
            </a:r>
          </a:p>
        </p:txBody>
      </p:sp>
      <p:sp>
        <p:nvSpPr>
          <p:cNvPr id="6" name="Purpose — why sustainability matters to this organ">
            <a:extLst xmlns:a="http://schemas.openxmlformats.org/drawingml/2006/main">
              <a:ext uri="{FF2B5EF4-FFF2-40B4-BE49-F238E27FC236}">
                <a16:creationId xmlns:a16="http://schemas.microsoft.com/office/drawing/2014/main" id="{E43A8164-9E6C-4774-B14A-72157C919817}"/>
              </a:ext>
            </a:extLst>
          </p:cNvPr>
          <p:cNvSpPr>
            <a:spLocks xmlns:a="http://schemas.openxmlformats.org/drawingml/2006/main" noGrp="1"/>
          </p:cNvSpPr>
          <p:nvPr/>
        </p:nvSpPr>
        <p:spPr>
          <a:xfrm xmlns:a="http://schemas.openxmlformats.org/drawingml/2006/main">
            <a:off x="552450" y="2082165"/>
            <a:ext cx="7934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Purpose — why sustainability matters to this organization.</a:t>
            </a:r>
          </a:p>
        </p:txBody>
      </p:sp>
      <p:sp>
        <p:nvSpPr>
          <p:cNvPr id="7" name="Materiality — which issues matter most to the busi">
            <a:extLst xmlns:a="http://schemas.openxmlformats.org/drawingml/2006/main">
              <a:ext uri="{FF2B5EF4-FFF2-40B4-BE49-F238E27FC236}">
                <a16:creationId xmlns:a16="http://schemas.microsoft.com/office/drawing/2014/main" id="{D2673209-4E7E-4416-BAA2-AE8EBD1595DC}"/>
              </a:ext>
            </a:extLst>
          </p:cNvPr>
          <p:cNvSpPr>
            <a:spLocks xmlns:a="http://schemas.openxmlformats.org/drawingml/2006/main" noGrp="1"/>
          </p:cNvSpPr>
          <p:nvPr/>
        </p:nvSpPr>
        <p:spPr>
          <a:xfrm xmlns:a="http://schemas.openxmlformats.org/drawingml/2006/main">
            <a:off x="552450" y="2491740"/>
            <a:ext cx="79343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Materiality — which issues matter most to the business and its</a:t>
            </a:r>
          </a:p>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stakeholders.</a:t>
            </a:r>
          </a:p>
        </p:txBody>
      </p:sp>
      <p:sp>
        <p:nvSpPr>
          <p:cNvPr id="8" name="Targets — measurable, time-bound commitments.">
            <a:extLst xmlns:a="http://schemas.openxmlformats.org/drawingml/2006/main">
              <a:ext uri="{FF2B5EF4-FFF2-40B4-BE49-F238E27FC236}">
                <a16:creationId xmlns:a16="http://schemas.microsoft.com/office/drawing/2014/main" id="{50D7E7B3-DDAD-41E6-8F1B-1E144287625C}"/>
              </a:ext>
            </a:extLst>
          </p:cNvPr>
          <p:cNvSpPr>
            <a:spLocks xmlns:a="http://schemas.openxmlformats.org/drawingml/2006/main" noGrp="1"/>
          </p:cNvSpPr>
          <p:nvPr/>
        </p:nvSpPr>
        <p:spPr>
          <a:xfrm xmlns:a="http://schemas.openxmlformats.org/drawingml/2006/main">
            <a:off x="552450" y="3187065"/>
            <a:ext cx="7934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Targets — measurable, time-bound commitments.</a:t>
            </a:r>
          </a:p>
        </p:txBody>
      </p:sp>
      <p:sp>
        <p:nvSpPr>
          <p:cNvPr id="9" name="Programmes — the projects that deliver the targets">
            <a:extLst xmlns:a="http://schemas.openxmlformats.org/drawingml/2006/main">
              <a:ext uri="{FF2B5EF4-FFF2-40B4-BE49-F238E27FC236}">
                <a16:creationId xmlns:a16="http://schemas.microsoft.com/office/drawing/2014/main" id="{85B96B1E-2E20-4F2A-9C97-7E8B6D988C00}"/>
              </a:ext>
            </a:extLst>
          </p:cNvPr>
          <p:cNvSpPr>
            <a:spLocks xmlns:a="http://schemas.openxmlformats.org/drawingml/2006/main" noGrp="1"/>
          </p:cNvSpPr>
          <p:nvPr/>
        </p:nvSpPr>
        <p:spPr>
          <a:xfrm xmlns:a="http://schemas.openxmlformats.org/drawingml/2006/main">
            <a:off x="552450" y="3596640"/>
            <a:ext cx="7934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Programmes — the projects that deliver the targets.</a:t>
            </a:r>
          </a:p>
        </p:txBody>
      </p:sp>
      <p:sp>
        <p:nvSpPr>
          <p:cNvPr id="10" name="Governance — who is accountable, how progress is r">
            <a:extLst xmlns:a="http://schemas.openxmlformats.org/drawingml/2006/main">
              <a:ext uri="{FF2B5EF4-FFF2-40B4-BE49-F238E27FC236}">
                <a16:creationId xmlns:a16="http://schemas.microsoft.com/office/drawing/2014/main" id="{F7AA7EC3-1C39-4A63-9B91-47FDDE922057}"/>
              </a:ext>
            </a:extLst>
          </p:cNvPr>
          <p:cNvSpPr>
            <a:spLocks xmlns:a="http://schemas.openxmlformats.org/drawingml/2006/main" noGrp="1"/>
          </p:cNvSpPr>
          <p:nvPr/>
        </p:nvSpPr>
        <p:spPr>
          <a:xfrm xmlns:a="http://schemas.openxmlformats.org/drawingml/2006/main">
            <a:off x="552450" y="4006215"/>
            <a:ext cx="7934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Governance — who is accountable, how progress is reported.</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21a3132777d4e9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2" name="www.newton.university">
            <a:extLst xmlns:a="http://schemas.openxmlformats.org/drawingml/2006/main">
              <a:ext uri="{FF2B5EF4-FFF2-40B4-BE49-F238E27FC236}">
                <a16:creationId xmlns:a16="http://schemas.microsoft.com/office/drawing/2014/main" id="{D947EC30-8987-4422-BEEB-C60FA7C6AEA3}"/>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3" name="18">
            <a:extLst xmlns:a="http://schemas.openxmlformats.org/drawingml/2006/main">
              <a:ext uri="{FF2B5EF4-FFF2-40B4-BE49-F238E27FC236}">
                <a16:creationId xmlns:a16="http://schemas.microsoft.com/office/drawing/2014/main" id="{BB01A474-A548-47BE-A215-4749E3CC1D62}"/>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18</a:t>
            </a:r>
          </a:p>
        </p:txBody>
      </p:sp>
    </p:spTree>
    <p:extLst>
      <p:ext uri="{BB962C8B-B14F-4D97-AF65-F5344CB8AC3E}">
        <p14:creationId xmlns:p14="http://schemas.microsoft.com/office/powerpoint/2010/main" val="384275210"/>
      </p:ext>
    </p:extLst>
  </p:cSld>
</p:sld>
</file>

<file path=ppt/slides/slide1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1" name="Materiality: Priorities for a Business">
            <a:extLst xmlns:a="http://schemas.openxmlformats.org/drawingml/2006/main">
              <a:ext uri="{FF2B5EF4-FFF2-40B4-BE49-F238E27FC236}">
                <a16:creationId xmlns:a16="http://schemas.microsoft.com/office/drawing/2014/main" id="{33FED0FD-4098-44AB-A942-C4E4451F6E60}"/>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Materiality: Priorities for a Business</a:t>
            </a:r>
          </a:p>
        </p:txBody>
      </p:sp>
      <p:sp>
        <p:nvSpPr>
          <p:cNvPr id="2" name="Editorial frame">
            <a:extLst xmlns:a="http://schemas.openxmlformats.org/drawingml/2006/main">
              <a:ext uri="{FF2B5EF4-FFF2-40B4-BE49-F238E27FC236}">
                <a16:creationId xmlns:a16="http://schemas.microsoft.com/office/drawing/2014/main" id="{9D6A7BAD-9DD0-48D1-BE21-0E9F28054FA5}"/>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F5F01DED-C64E-4897-8AC4-435B480007A5}"/>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74899F5F-2614-4C68-A469-BD572D508C90}"/>
              </a:ext>
            </a:extLst>
          </p:cNvPr>
          <p:cNvSpPr>
            <a:spLocks xmlns:a="http://schemas.openxmlformats.org/drawingml/2006/main" noGrp="1"/>
          </p:cNvSpPr>
          <p:nvPr/>
        </p:nvSpPr>
        <p:spPr>
          <a:xfrm xmlns:a="http://schemas.openxmlformats.org/drawingml/2006/main">
            <a:off x="361950" y="1438275"/>
            <a:ext cx="2844800"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8D283088-8A31-44FC-85DB-888D9D334C0B}"/>
              </a:ext>
            </a:extLst>
          </p:cNvPr>
          <p:cNvSpPr>
            <a:spLocks xmlns:a="http://schemas.openxmlformats.org/drawingml/2006/main" noGrp="1"/>
          </p:cNvSpPr>
          <p:nvPr/>
        </p:nvSpPr>
        <p:spPr>
          <a:xfrm xmlns:a="http://schemas.openxmlformats.org/drawingml/2006/main">
            <a:off x="361950" y="1438275"/>
            <a:ext cx="2844800"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Two perspectives">
            <a:extLst xmlns:a="http://schemas.openxmlformats.org/drawingml/2006/main">
              <a:ext uri="{FF2B5EF4-FFF2-40B4-BE49-F238E27FC236}">
                <a16:creationId xmlns:a16="http://schemas.microsoft.com/office/drawing/2014/main" id="{A275741F-872B-4F8B-A024-C57560FE9C6B}"/>
              </a:ext>
            </a:extLst>
          </p:cNvPr>
          <p:cNvSpPr>
            <a:spLocks xmlns:a="http://schemas.openxmlformats.org/drawingml/2006/main" noGrp="1"/>
          </p:cNvSpPr>
          <p:nvPr/>
        </p:nvSpPr>
        <p:spPr>
          <a:xfrm xmlns:a="http://schemas.openxmlformats.org/drawingml/2006/main">
            <a:off x="4953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Two perspectives</a:t>
            </a:r>
          </a:p>
        </p:txBody>
      </p:sp>
      <p:sp>
        <p:nvSpPr>
          <p:cNvPr id="7" name="Consider significant impacts on people and nature,">
            <a:extLst xmlns:a="http://schemas.openxmlformats.org/drawingml/2006/main">
              <a:ext uri="{FF2B5EF4-FFF2-40B4-BE49-F238E27FC236}">
                <a16:creationId xmlns:a16="http://schemas.microsoft.com/office/drawing/2014/main" id="{80D75F22-452D-4187-B932-B178E2C10A24}"/>
              </a:ext>
            </a:extLst>
          </p:cNvPr>
          <p:cNvSpPr>
            <a:spLocks xmlns:a="http://schemas.openxmlformats.org/drawingml/2006/main" noGrp="1"/>
          </p:cNvSpPr>
          <p:nvPr/>
        </p:nvSpPr>
        <p:spPr>
          <a:xfrm xmlns:a="http://schemas.openxmlformats.org/drawingml/2006/main">
            <a:off x="495300" y="2070735"/>
            <a:ext cx="2578100" cy="1868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Consider significant</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impacts on people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nature, and sustainability</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risks or opportunities for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the business. An issue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may matter under either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perspective.</a:t>
            </a:r>
          </a:p>
        </p:txBody>
      </p:sp>
      <p:sp>
        <p:nvSpPr>
          <p:cNvPr id="8" name="Editorial frame">
            <a:extLst xmlns:a="http://schemas.openxmlformats.org/drawingml/2006/main">
              <a:ext uri="{FF2B5EF4-FFF2-40B4-BE49-F238E27FC236}">
                <a16:creationId xmlns:a16="http://schemas.microsoft.com/office/drawing/2014/main" id="{329FE44B-A1FE-45D7-A5A6-B4713E24D8EB}"/>
              </a:ext>
            </a:extLst>
          </p:cNvPr>
          <p:cNvSpPr>
            <a:spLocks xmlns:a="http://schemas.openxmlformats.org/drawingml/2006/main" noGrp="1"/>
          </p:cNvSpPr>
          <p:nvPr/>
        </p:nvSpPr>
        <p:spPr>
          <a:xfrm xmlns:a="http://schemas.openxmlformats.org/drawingml/2006/main">
            <a:off x="3149600" y="1438275"/>
            <a:ext cx="2844800"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9" name="Editorial frame">
            <a:extLst xmlns:a="http://schemas.openxmlformats.org/drawingml/2006/main">
              <a:ext uri="{FF2B5EF4-FFF2-40B4-BE49-F238E27FC236}">
                <a16:creationId xmlns:a16="http://schemas.microsoft.com/office/drawing/2014/main" id="{6C00013C-5685-4055-B2D4-10E37748CF3C}"/>
              </a:ext>
            </a:extLst>
          </p:cNvPr>
          <p:cNvSpPr>
            <a:spLocks xmlns:a="http://schemas.openxmlformats.org/drawingml/2006/main" noGrp="1"/>
          </p:cNvSpPr>
          <p:nvPr/>
        </p:nvSpPr>
        <p:spPr>
          <a:xfrm xmlns:a="http://schemas.openxmlformats.org/drawingml/2006/main">
            <a:off x="3149600" y="1438275"/>
            <a:ext cx="284480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0" name="Example: a Prague developer">
            <a:extLst xmlns:a="http://schemas.openxmlformats.org/drawingml/2006/main">
              <a:ext uri="{FF2B5EF4-FFF2-40B4-BE49-F238E27FC236}">
                <a16:creationId xmlns:a16="http://schemas.microsoft.com/office/drawing/2014/main" id="{2350FAFE-9DEC-42BF-921E-8FF356219C59}"/>
              </a:ext>
            </a:extLst>
          </p:cNvPr>
          <p:cNvSpPr>
            <a:spLocks xmlns:a="http://schemas.openxmlformats.org/drawingml/2006/main" noGrp="1"/>
          </p:cNvSpPr>
          <p:nvPr/>
        </p:nvSpPr>
        <p:spPr>
          <a:xfrm xmlns:a="http://schemas.openxmlformats.org/drawingml/2006/main">
            <a:off x="3282950" y="1619250"/>
            <a:ext cx="2578100" cy="645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Example: a Prague</a:t>
            </a:r>
          </a:p>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developer</a:t>
            </a:r>
          </a:p>
        </p:txBody>
      </p:sp>
      <p:sp>
        <p:nvSpPr>
          <p:cNvPr id="11" name="Energy use and climate resilience of buildings">
            <a:extLst xmlns:a="http://schemas.openxmlformats.org/drawingml/2006/main">
              <a:ext uri="{FF2B5EF4-FFF2-40B4-BE49-F238E27FC236}">
                <a16:creationId xmlns:a16="http://schemas.microsoft.com/office/drawing/2014/main" id="{C376177D-F326-463E-B69B-F3B88E691800}"/>
              </a:ext>
            </a:extLst>
          </p:cNvPr>
          <p:cNvSpPr>
            <a:spLocks xmlns:a="http://schemas.openxmlformats.org/drawingml/2006/main" noGrp="1"/>
          </p:cNvSpPr>
          <p:nvPr/>
        </p:nvSpPr>
        <p:spPr>
          <a:xfrm xmlns:a="http://schemas.openxmlformats.org/drawingml/2006/main">
            <a:off x="3282950" y="237934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Energy use and climate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resilience of buildings</a:t>
            </a:r>
          </a:p>
        </p:txBody>
      </p:sp>
      <p:sp>
        <p:nvSpPr>
          <p:cNvPr id="12" name="Habitat and green-space impacts">
            <a:extLst xmlns:a="http://schemas.openxmlformats.org/drawingml/2006/main">
              <a:ext uri="{FF2B5EF4-FFF2-40B4-BE49-F238E27FC236}">
                <a16:creationId xmlns:a16="http://schemas.microsoft.com/office/drawing/2014/main" id="{6CE08555-1D78-4FA4-947B-7AE90BF5EA89}"/>
              </a:ext>
            </a:extLst>
          </p:cNvPr>
          <p:cNvSpPr>
            <a:spLocks xmlns:a="http://schemas.openxmlformats.org/drawingml/2006/main" noGrp="1"/>
          </p:cNvSpPr>
          <p:nvPr/>
        </p:nvSpPr>
        <p:spPr>
          <a:xfrm xmlns:a="http://schemas.openxmlformats.org/drawingml/2006/main">
            <a:off x="3282950" y="302895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Habitat and green-space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impacts</a:t>
            </a:r>
          </a:p>
        </p:txBody>
      </p:sp>
      <p:sp>
        <p:nvSpPr>
          <p:cNvPr id="13" name="Office paper may be a lower priority, depending on">
            <a:extLst xmlns:a="http://schemas.openxmlformats.org/drawingml/2006/main">
              <a:ext uri="{FF2B5EF4-FFF2-40B4-BE49-F238E27FC236}">
                <a16:creationId xmlns:a16="http://schemas.microsoft.com/office/drawing/2014/main" id="{2FF13772-2DC3-440E-95F5-B987F840E6BC}"/>
              </a:ext>
            </a:extLst>
          </p:cNvPr>
          <p:cNvSpPr>
            <a:spLocks xmlns:a="http://schemas.openxmlformats.org/drawingml/2006/main" noGrp="1"/>
          </p:cNvSpPr>
          <p:nvPr/>
        </p:nvSpPr>
        <p:spPr>
          <a:xfrm xmlns:a="http://schemas.openxmlformats.org/drawingml/2006/main">
            <a:off x="3282950" y="3678555"/>
            <a:ext cx="2578100"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Office paper may be a</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lower priority, depending</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on scale</a:t>
            </a:r>
          </a:p>
        </p:txBody>
      </p:sp>
      <p:sp>
        <p:nvSpPr>
          <p:cNvPr id="14" name="Editorial frame">
            <a:extLst xmlns:a="http://schemas.openxmlformats.org/drawingml/2006/main">
              <a:ext uri="{FF2B5EF4-FFF2-40B4-BE49-F238E27FC236}">
                <a16:creationId xmlns:a16="http://schemas.microsoft.com/office/drawing/2014/main" id="{D1744490-01CE-4843-B377-26259CC351AC}"/>
              </a:ext>
            </a:extLst>
          </p:cNvPr>
          <p:cNvSpPr>
            <a:spLocks xmlns:a="http://schemas.openxmlformats.org/drawingml/2006/main" noGrp="1"/>
          </p:cNvSpPr>
          <p:nvPr/>
        </p:nvSpPr>
        <p:spPr>
          <a:xfrm xmlns:a="http://schemas.openxmlformats.org/drawingml/2006/main">
            <a:off x="5937250" y="1438275"/>
            <a:ext cx="2844800" cy="3305175"/>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5" name="Editorial frame">
            <a:extLst xmlns:a="http://schemas.openxmlformats.org/drawingml/2006/main">
              <a:ext uri="{FF2B5EF4-FFF2-40B4-BE49-F238E27FC236}">
                <a16:creationId xmlns:a16="http://schemas.microsoft.com/office/drawing/2014/main" id="{CF84C334-734E-4FF5-8DED-301766B2014D}"/>
              </a:ext>
            </a:extLst>
          </p:cNvPr>
          <p:cNvSpPr>
            <a:spLocks xmlns:a="http://schemas.openxmlformats.org/drawingml/2006/main" noGrp="1"/>
          </p:cNvSpPr>
          <p:nvPr/>
        </p:nvSpPr>
        <p:spPr>
          <a:xfrm xmlns:a="http://schemas.openxmlformats.org/drawingml/2006/main">
            <a:off x="5937250" y="1438275"/>
            <a:ext cx="2844800"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6" name="Decision">
            <a:extLst xmlns:a="http://schemas.openxmlformats.org/drawingml/2006/main">
              <a:ext uri="{FF2B5EF4-FFF2-40B4-BE49-F238E27FC236}">
                <a16:creationId xmlns:a16="http://schemas.microsoft.com/office/drawing/2014/main" id="{BB5C0F1C-E18B-4937-AA2C-B19BF8852FB7}"/>
              </a:ext>
            </a:extLst>
          </p:cNvPr>
          <p:cNvSpPr>
            <a:spLocks xmlns:a="http://schemas.openxmlformats.org/drawingml/2006/main" noGrp="1"/>
          </p:cNvSpPr>
          <p:nvPr/>
        </p:nvSpPr>
        <p:spPr>
          <a:xfrm xmlns:a="http://schemas.openxmlformats.org/drawingml/2006/main">
            <a:off x="60706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Decision</a:t>
            </a:r>
          </a:p>
        </p:txBody>
      </p:sp>
      <p:sp>
        <p:nvSpPr>
          <p:cNvPr id="17" name="Use evidence to rank priorities and record the rea">
            <a:extLst xmlns:a="http://schemas.openxmlformats.org/drawingml/2006/main">
              <a:ext uri="{FF2B5EF4-FFF2-40B4-BE49-F238E27FC236}">
                <a16:creationId xmlns:a16="http://schemas.microsoft.com/office/drawing/2014/main" id="{B8CC7757-75F6-4B28-95E5-0FA332A6AE1F}"/>
              </a:ext>
            </a:extLst>
          </p:cNvPr>
          <p:cNvSpPr>
            <a:spLocks xmlns:a="http://schemas.openxmlformats.org/drawingml/2006/main" noGrp="1"/>
          </p:cNvSpPr>
          <p:nvPr/>
        </p:nvSpPr>
        <p:spPr>
          <a:xfrm xmlns:a="http://schemas.openxmlformats.org/drawingml/2006/main">
            <a:off x="6070600" y="2070735"/>
            <a:ext cx="25781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Use evidence to rank</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priorities and record the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reasoning. Lecture 6</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develops the ESRS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approach.</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d78cc1dd38f402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9" name="www.newton.university">
            <a:extLst xmlns:a="http://schemas.openxmlformats.org/drawingml/2006/main">
              <a:ext uri="{FF2B5EF4-FFF2-40B4-BE49-F238E27FC236}">
                <a16:creationId xmlns:a16="http://schemas.microsoft.com/office/drawing/2014/main" id="{B20D9904-065D-484A-89CD-74A423BB9ADF}"/>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0" name="19">
            <a:extLst xmlns:a="http://schemas.openxmlformats.org/drawingml/2006/main">
              <a:ext uri="{FF2B5EF4-FFF2-40B4-BE49-F238E27FC236}">
                <a16:creationId xmlns:a16="http://schemas.microsoft.com/office/drawing/2014/main" id="{D0F0A1BE-EB37-4B00-B37D-D1C4850DCA65}"/>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19</a:t>
            </a:r>
          </a:p>
        </p:txBody>
      </p:sp>
    </p:spTree>
    <p:extLst>
      <p:ext uri="{BB962C8B-B14F-4D97-AF65-F5344CB8AC3E}">
        <p14:creationId xmlns:p14="http://schemas.microsoft.com/office/powerpoint/2010/main" val="789869462"/>
      </p:ext>
    </p:extLst>
  </p:cSld>
</p:sld>
</file>

<file path=ppt/slides/slide20.xml><?xml version="1.0" encoding="utf-8"?>
<p:sld xmlns:p="http://schemas.openxmlformats.org/presentationml/2006/main">
  <p:cSld>
    <p:bg>
      <p:bgPr>
        <a:solidFill xmlns:a="http://schemas.openxmlformats.org/drawingml/2006/main">
          <a:srgbClr val="F0E9DA"/>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47EF29B9-5B92-4B82-BAD8-F28CE18B6FE1}"/>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Part 5">
            <a:extLst xmlns:a="http://schemas.openxmlformats.org/drawingml/2006/main">
              <a:ext uri="{FF2B5EF4-FFF2-40B4-BE49-F238E27FC236}">
                <a16:creationId xmlns:a16="http://schemas.microsoft.com/office/drawing/2014/main" id="{DC4F42F5-40ED-420D-B532-F227B09CE7CB}"/>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8665B"/>
                </a:solidFill>
                <a:latin typeface="Arial"/>
                <a:ea typeface="Arial"/>
                <a:cs typeface="Arial"/>
              </a:defRPr>
            </a:pPr>
            <a:r>
              <a:rPr sz="1500" b="0">
                <a:solidFill>
                  <a:srgbClr val="58665B"/>
                </a:solidFill>
                <a:latin typeface="Arial"/>
                <a:ea typeface="Arial"/>
                <a:cs typeface="Arial"/>
              </a:rPr>
              <a:t>Part 5</a:t>
            </a:r>
          </a:p>
        </p:txBody>
      </p:sp>
      <p:sp>
        <p:nvSpPr>
          <p:cNvPr id="3" name="05">
            <a:extLst xmlns:a="http://schemas.openxmlformats.org/drawingml/2006/main">
              <a:ext uri="{FF2B5EF4-FFF2-40B4-BE49-F238E27FC236}">
                <a16:creationId xmlns:a16="http://schemas.microsoft.com/office/drawing/2014/main" id="{433CA168-B61E-4CB7-B64F-216CB58890F3}"/>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B56647"/>
                </a:solidFill>
                <a:latin typeface="Georgia"/>
                <a:ea typeface="Georgia"/>
                <a:cs typeface="Georgia"/>
              </a:defRPr>
            </a:pPr>
            <a:r>
              <a:rPr sz="7875" b="0">
                <a:solidFill>
                  <a:srgbClr val="B56647"/>
                </a:solidFill>
                <a:latin typeface="Georgia"/>
                <a:ea typeface="Georgia"/>
                <a:cs typeface="Georgia"/>
              </a:rPr>
              <a:t>05</a:t>
            </a:r>
          </a:p>
        </p:txBody>
      </p:sp>
      <p:sp>
        <p:nvSpPr>
          <p:cNvPr id="4" name="SDGs and Net-Zero Commitments">
            <a:extLst xmlns:a="http://schemas.openxmlformats.org/drawingml/2006/main">
              <a:ext uri="{FF2B5EF4-FFF2-40B4-BE49-F238E27FC236}">
                <a16:creationId xmlns:a16="http://schemas.microsoft.com/office/drawing/2014/main" id="{367D138C-D946-40E1-A764-A2C0418E3F80}"/>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SDGs and Net-Zero</a:t>
            </a:r>
          </a:p>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Commitments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6c7311f2fdb404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3EC93197-D29D-4E11-9728-D642F0201BBB}"/>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20">
            <a:extLst xmlns:a="http://schemas.openxmlformats.org/drawingml/2006/main">
              <a:ext uri="{FF2B5EF4-FFF2-40B4-BE49-F238E27FC236}">
                <a16:creationId xmlns:a16="http://schemas.microsoft.com/office/drawing/2014/main" id="{010ACB94-9845-4C91-BA5F-B111B395A728}"/>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20</a:t>
            </a:r>
          </a:p>
        </p:txBody>
      </p:sp>
    </p:spTree>
    <p:extLst>
      <p:ext uri="{BB962C8B-B14F-4D97-AF65-F5344CB8AC3E}">
        <p14:creationId xmlns:p14="http://schemas.microsoft.com/office/powerpoint/2010/main" val="635896375"/>
      </p:ext>
    </p:extLst>
  </p:cSld>
</p:sld>
</file>

<file path=ppt/slides/slide2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Integrating the SDGs">
            <a:extLst xmlns:a="http://schemas.openxmlformats.org/drawingml/2006/main">
              <a:ext uri="{FF2B5EF4-FFF2-40B4-BE49-F238E27FC236}">
                <a16:creationId xmlns:a16="http://schemas.microsoft.com/office/drawing/2014/main" id="{06B511E1-342C-47A2-9278-48E30D156210}"/>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Integrating the SDGs</a:t>
            </a:r>
          </a:p>
        </p:txBody>
      </p:sp>
      <p:sp>
        <p:nvSpPr>
          <p:cNvPr id="2" name="Editorial frame">
            <a:extLst xmlns:a="http://schemas.openxmlformats.org/drawingml/2006/main">
              <a:ext uri="{FF2B5EF4-FFF2-40B4-BE49-F238E27FC236}">
                <a16:creationId xmlns:a16="http://schemas.microsoft.com/office/drawing/2014/main" id="{04F776FE-DD8A-466B-A1BD-7B708329BF7B}"/>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FFA1B0A8-0B21-49B2-87D1-0BFC093BB4E8}"/>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B3001B3C-ACB8-445F-8197-9CCD6B5F2F38}"/>
              </a:ext>
            </a:extLst>
          </p:cNvPr>
          <p:cNvSpPr>
            <a:spLocks xmlns:a="http://schemas.openxmlformats.org/drawingml/2006/main" noGrp="1"/>
          </p:cNvSpPr>
          <p:nvPr/>
        </p:nvSpPr>
        <p:spPr>
          <a:xfrm xmlns:a="http://schemas.openxmlformats.org/drawingml/2006/main">
            <a:off x="361950" y="1438275"/>
            <a:ext cx="4238625"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378370F2-506B-4E96-ABC4-713D5E623992}"/>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Most relevant goals for this course">
            <a:extLst xmlns:a="http://schemas.openxmlformats.org/drawingml/2006/main">
              <a:ext uri="{FF2B5EF4-FFF2-40B4-BE49-F238E27FC236}">
                <a16:creationId xmlns:a16="http://schemas.microsoft.com/office/drawing/2014/main" id="{ACB52216-9409-4A1F-B985-A9D97300F697}"/>
              </a:ext>
            </a:extLst>
          </p:cNvPr>
          <p:cNvSpPr>
            <a:spLocks xmlns:a="http://schemas.openxmlformats.org/drawingml/2006/main" noGrp="1"/>
          </p:cNvSpPr>
          <p:nvPr/>
        </p:nvSpPr>
        <p:spPr>
          <a:xfrm xmlns:a="http://schemas.openxmlformats.org/drawingml/2006/main">
            <a:off x="495300" y="1619250"/>
            <a:ext cx="3971925" cy="645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Most relevant goals for this</a:t>
            </a:r>
          </a:p>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course</a:t>
            </a:r>
          </a:p>
        </p:txBody>
      </p:sp>
      <p:sp>
        <p:nvSpPr>
          <p:cNvPr id="7" name="SDG 11 — Sustainable Cities and Communities">
            <a:extLst xmlns:a="http://schemas.openxmlformats.org/drawingml/2006/main">
              <a:ext uri="{FF2B5EF4-FFF2-40B4-BE49-F238E27FC236}">
                <a16:creationId xmlns:a16="http://schemas.microsoft.com/office/drawing/2014/main" id="{ADDB6CCC-1B78-40CE-AD5F-91E50FB22EFF}"/>
              </a:ext>
            </a:extLst>
          </p:cNvPr>
          <p:cNvSpPr>
            <a:spLocks xmlns:a="http://schemas.openxmlformats.org/drawingml/2006/main" noGrp="1"/>
          </p:cNvSpPr>
          <p:nvPr/>
        </p:nvSpPr>
        <p:spPr>
          <a:xfrm xmlns:a="http://schemas.openxmlformats.org/drawingml/2006/main">
            <a:off x="495300" y="237934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SDG 11 — Sustainable Cities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Communities</a:t>
            </a:r>
          </a:p>
        </p:txBody>
      </p:sp>
      <p:sp>
        <p:nvSpPr>
          <p:cNvPr id="8" name="SDG 13 — Climate Action">
            <a:extLst xmlns:a="http://schemas.openxmlformats.org/drawingml/2006/main">
              <a:ext uri="{FF2B5EF4-FFF2-40B4-BE49-F238E27FC236}">
                <a16:creationId xmlns:a16="http://schemas.microsoft.com/office/drawing/2014/main" id="{55C25F2D-A850-46F9-94C9-71A2EAE6746E}"/>
              </a:ext>
            </a:extLst>
          </p:cNvPr>
          <p:cNvSpPr>
            <a:spLocks xmlns:a="http://schemas.openxmlformats.org/drawingml/2006/main" noGrp="1"/>
          </p:cNvSpPr>
          <p:nvPr/>
        </p:nvSpPr>
        <p:spPr>
          <a:xfrm xmlns:a="http://schemas.openxmlformats.org/drawingml/2006/main">
            <a:off x="495300" y="302895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SDG 13 — Climate Action</a:t>
            </a:r>
          </a:p>
        </p:txBody>
      </p:sp>
      <p:sp>
        <p:nvSpPr>
          <p:cNvPr id="9" name="SDG 15 — Life on Land">
            <a:extLst xmlns:a="http://schemas.openxmlformats.org/drawingml/2006/main">
              <a:ext uri="{FF2B5EF4-FFF2-40B4-BE49-F238E27FC236}">
                <a16:creationId xmlns:a16="http://schemas.microsoft.com/office/drawing/2014/main" id="{9DA81636-318A-4CD9-8767-200172179296}"/>
              </a:ext>
            </a:extLst>
          </p:cNvPr>
          <p:cNvSpPr>
            <a:spLocks xmlns:a="http://schemas.openxmlformats.org/drawingml/2006/main" noGrp="1"/>
          </p:cNvSpPr>
          <p:nvPr/>
        </p:nvSpPr>
        <p:spPr>
          <a:xfrm xmlns:a="http://schemas.openxmlformats.org/drawingml/2006/main">
            <a:off x="495300" y="3415665"/>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SDG 15 — Life on Land</a:t>
            </a:r>
          </a:p>
        </p:txBody>
      </p:sp>
      <p:sp>
        <p:nvSpPr>
          <p:cNvPr id="10" name="SDG 6 — Clean Water; SDG 3 — Health and Wellbeing">
            <a:extLst xmlns:a="http://schemas.openxmlformats.org/drawingml/2006/main">
              <a:ext uri="{FF2B5EF4-FFF2-40B4-BE49-F238E27FC236}">
                <a16:creationId xmlns:a16="http://schemas.microsoft.com/office/drawing/2014/main" id="{5FB9E379-89A8-4BE6-81C4-17A111FF85FF}"/>
              </a:ext>
            </a:extLst>
          </p:cNvPr>
          <p:cNvSpPr>
            <a:spLocks xmlns:a="http://schemas.openxmlformats.org/drawingml/2006/main" noGrp="1"/>
          </p:cNvSpPr>
          <p:nvPr/>
        </p:nvSpPr>
        <p:spPr>
          <a:xfrm xmlns:a="http://schemas.openxmlformats.org/drawingml/2006/main">
            <a:off x="495300" y="380238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SDG 6 — Clean Water; SDG 3 —</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Health and Wellbeing</a:t>
            </a:r>
          </a:p>
        </p:txBody>
      </p:sp>
      <p:sp>
        <p:nvSpPr>
          <p:cNvPr id="11" name="Editorial frame">
            <a:extLst xmlns:a="http://schemas.openxmlformats.org/drawingml/2006/main">
              <a:ext uri="{FF2B5EF4-FFF2-40B4-BE49-F238E27FC236}">
                <a16:creationId xmlns:a16="http://schemas.microsoft.com/office/drawing/2014/main" id="{F772D243-9C0B-4BE0-8537-154F0EB6046A}"/>
              </a:ext>
            </a:extLst>
          </p:cNvPr>
          <p:cNvSpPr>
            <a:spLocks xmlns:a="http://schemas.openxmlformats.org/drawingml/2006/main" noGrp="1"/>
          </p:cNvSpPr>
          <p:nvPr/>
        </p:nvSpPr>
        <p:spPr>
          <a:xfrm xmlns:a="http://schemas.openxmlformats.org/drawingml/2006/main">
            <a:off x="4543425" y="1438275"/>
            <a:ext cx="4238625"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2" name="Editorial frame">
            <a:extLst xmlns:a="http://schemas.openxmlformats.org/drawingml/2006/main">
              <a:ext uri="{FF2B5EF4-FFF2-40B4-BE49-F238E27FC236}">
                <a16:creationId xmlns:a16="http://schemas.microsoft.com/office/drawing/2014/main" id="{8A3786B3-DE06-4045-A54B-55C1BF99DE0E}"/>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3" name="How companies use them">
            <a:extLst xmlns:a="http://schemas.openxmlformats.org/drawingml/2006/main">
              <a:ext uri="{FF2B5EF4-FFF2-40B4-BE49-F238E27FC236}">
                <a16:creationId xmlns:a16="http://schemas.microsoft.com/office/drawing/2014/main" id="{CB03F67D-C3C9-45C6-86B5-9C7A886A446B}"/>
              </a:ext>
            </a:extLst>
          </p:cNvPr>
          <p:cNvSpPr>
            <a:spLocks xmlns:a="http://schemas.openxmlformats.org/drawingml/2006/main" noGrp="1"/>
          </p:cNvSpPr>
          <p:nvPr/>
        </p:nvSpPr>
        <p:spPr>
          <a:xfrm xmlns:a="http://schemas.openxmlformats.org/drawingml/2006/main">
            <a:off x="4676775"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How companies use them</a:t>
            </a:r>
          </a:p>
        </p:txBody>
      </p:sp>
      <p:sp>
        <p:nvSpPr>
          <p:cNvPr id="14" name="Map activities to goals, set indicators, report co">
            <a:extLst xmlns:a="http://schemas.openxmlformats.org/drawingml/2006/main">
              <a:ext uri="{FF2B5EF4-FFF2-40B4-BE49-F238E27FC236}">
                <a16:creationId xmlns:a16="http://schemas.microsoft.com/office/drawing/2014/main" id="{46337794-9718-4566-857D-0738EDBA2B6D}"/>
              </a:ext>
            </a:extLst>
          </p:cNvPr>
          <p:cNvSpPr>
            <a:spLocks xmlns:a="http://schemas.openxmlformats.org/drawingml/2006/main" noGrp="1"/>
          </p:cNvSpPr>
          <p:nvPr/>
        </p:nvSpPr>
        <p:spPr>
          <a:xfrm xmlns:a="http://schemas.openxmlformats.org/drawingml/2006/main">
            <a:off x="4676775" y="207073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Map activities to goals, set indicators,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report contribution.</a:t>
            </a:r>
          </a:p>
        </p:txBody>
      </p:sp>
      <p:sp>
        <p:nvSpPr>
          <p:cNvPr id="15" name="Avoid 'SDG-washing': claiming goals without measur">
            <a:extLst xmlns:a="http://schemas.openxmlformats.org/drawingml/2006/main">
              <a:ext uri="{FF2B5EF4-FFF2-40B4-BE49-F238E27FC236}">
                <a16:creationId xmlns:a16="http://schemas.microsoft.com/office/drawing/2014/main" id="{D406D916-E2DA-4F00-A2B4-66572F28DBB1}"/>
              </a:ext>
            </a:extLst>
          </p:cNvPr>
          <p:cNvSpPr>
            <a:spLocks xmlns:a="http://schemas.openxmlformats.org/drawingml/2006/main" noGrp="1"/>
          </p:cNvSpPr>
          <p:nvPr/>
        </p:nvSpPr>
        <p:spPr>
          <a:xfrm xmlns:a="http://schemas.openxmlformats.org/drawingml/2006/main">
            <a:off x="4676775" y="272034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Avoid 'SDG-washing': claiming goals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without measurable action.</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4688b2cf16b43f4"/>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7" name="www.newton.university">
            <a:extLst xmlns:a="http://schemas.openxmlformats.org/drawingml/2006/main">
              <a:ext uri="{FF2B5EF4-FFF2-40B4-BE49-F238E27FC236}">
                <a16:creationId xmlns:a16="http://schemas.microsoft.com/office/drawing/2014/main" id="{A3A56B69-8172-4A77-802B-22F6D5352780}"/>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8" name="21">
            <a:extLst xmlns:a="http://schemas.openxmlformats.org/drawingml/2006/main">
              <a:ext uri="{FF2B5EF4-FFF2-40B4-BE49-F238E27FC236}">
                <a16:creationId xmlns:a16="http://schemas.microsoft.com/office/drawing/2014/main" id="{E2CAC058-2905-4E49-8C3F-8622C306D62B}"/>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21</a:t>
            </a:r>
          </a:p>
        </p:txBody>
      </p:sp>
    </p:spTree>
    <p:extLst>
      <p:ext uri="{BB962C8B-B14F-4D97-AF65-F5344CB8AC3E}">
        <p14:creationId xmlns:p14="http://schemas.microsoft.com/office/powerpoint/2010/main" val="370765881"/>
      </p:ext>
    </p:extLst>
  </p:cSld>
</p:sld>
</file>

<file path=ppt/slides/slide2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Net-Zero Plans">
            <a:extLst xmlns:a="http://schemas.openxmlformats.org/drawingml/2006/main">
              <a:ext uri="{FF2B5EF4-FFF2-40B4-BE49-F238E27FC236}">
                <a16:creationId xmlns:a16="http://schemas.microsoft.com/office/drawing/2014/main" id="{FBA50320-5B46-4F32-80AE-AA6B0151FA24}"/>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Net-Zero Plans</a:t>
            </a:r>
          </a:p>
        </p:txBody>
      </p:sp>
      <p:sp>
        <p:nvSpPr>
          <p:cNvPr id="2" name="Editorial frame">
            <a:extLst xmlns:a="http://schemas.openxmlformats.org/drawingml/2006/main">
              <a:ext uri="{FF2B5EF4-FFF2-40B4-BE49-F238E27FC236}">
                <a16:creationId xmlns:a16="http://schemas.microsoft.com/office/drawing/2014/main" id="{508B688E-58FC-458E-8697-B3F173ADA6C3}"/>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259FF123-5BE9-49FB-98DF-3206CFA2962E}"/>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f206ca3ca494874"/>
          <a:stretch xmlns:a="http://schemas.openxmlformats.org/drawingml/2006/main"/>
        </p:blipFill>
        <p:spPr>
          <a:xfrm xmlns:a="http://schemas.openxmlformats.org/drawingml/2006/main">
            <a:off x="5286375" y="1510903"/>
            <a:ext cx="3362325" cy="2521744"/>
          </a:xfrm>
          <a:prstGeom xmlns:a="http://schemas.openxmlformats.org/drawingml/2006/main" prst="rect">
            <a:avLst/>
          </a:prstGeom>
        </p:spPr>
      </p:pic>
      <p:sp>
        <p:nvSpPr>
          <p:cNvPr id="5" name="Decarbonizing energy is necessary — but not suffic">
            <a:extLst xmlns:a="http://schemas.openxmlformats.org/drawingml/2006/main">
              <a:ext uri="{FF2B5EF4-FFF2-40B4-BE49-F238E27FC236}">
                <a16:creationId xmlns:a16="http://schemas.microsoft.com/office/drawing/2014/main" id="{389CF292-97EA-4B50-B953-3D3227BCF751}"/>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Decarbonizing energy is necessary — but not</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sufficient</a:t>
            </a:r>
          </a:p>
        </p:txBody>
      </p:sp>
      <p:sp>
        <p:nvSpPr>
          <p:cNvPr id="6" name="Credible net-zero plans include">
            <a:extLst xmlns:a="http://schemas.openxmlformats.org/drawingml/2006/main">
              <a:ext uri="{FF2B5EF4-FFF2-40B4-BE49-F238E27FC236}">
                <a16:creationId xmlns:a16="http://schemas.microsoft.com/office/drawing/2014/main" id="{726FA1A4-E7CA-40F6-AEC0-0F3AA21EE551}"/>
              </a:ext>
            </a:extLst>
          </p:cNvPr>
          <p:cNvSpPr>
            <a:spLocks xmlns:a="http://schemas.openxmlformats.org/drawingml/2006/main" noGrp="1"/>
          </p:cNvSpPr>
          <p:nvPr/>
        </p:nvSpPr>
        <p:spPr>
          <a:xfrm xmlns:a="http://schemas.openxmlformats.org/drawingml/2006/main">
            <a:off x="495300" y="1524000"/>
            <a:ext cx="433387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Credible net-zero plans include</a:t>
            </a:r>
          </a:p>
        </p:txBody>
      </p:sp>
      <p:sp>
        <p:nvSpPr>
          <p:cNvPr id="7" name="Science-based reduction targets for scopes 1–3.">
            <a:extLst xmlns:a="http://schemas.openxmlformats.org/drawingml/2006/main">
              <a:ext uri="{FF2B5EF4-FFF2-40B4-BE49-F238E27FC236}">
                <a16:creationId xmlns:a16="http://schemas.microsoft.com/office/drawing/2014/main" id="{35264B37-E0CB-4566-A9FE-A2F2BAC2D922}"/>
              </a:ext>
            </a:extLst>
          </p:cNvPr>
          <p:cNvSpPr>
            <a:spLocks xmlns:a="http://schemas.openxmlformats.org/drawingml/2006/main" noGrp="1"/>
          </p:cNvSpPr>
          <p:nvPr/>
        </p:nvSpPr>
        <p:spPr>
          <a:xfrm xmlns:a="http://schemas.openxmlformats.org/drawingml/2006/main">
            <a:off x="495300" y="1946910"/>
            <a:ext cx="433387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Science-based reduction targets for scopes 1–3.</a:t>
            </a:r>
          </a:p>
        </p:txBody>
      </p:sp>
      <p:sp>
        <p:nvSpPr>
          <p:cNvPr id="8" name="Deep reductions first; eligible removals address r">
            <a:extLst xmlns:a="http://schemas.openxmlformats.org/drawingml/2006/main">
              <a:ext uri="{FF2B5EF4-FFF2-40B4-BE49-F238E27FC236}">
                <a16:creationId xmlns:a16="http://schemas.microsoft.com/office/drawing/2014/main" id="{CD38248B-3E61-48D6-8244-8DF45E605546}"/>
              </a:ext>
            </a:extLst>
          </p:cNvPr>
          <p:cNvSpPr>
            <a:spLocks xmlns:a="http://schemas.openxmlformats.org/drawingml/2006/main" noGrp="1"/>
          </p:cNvSpPr>
          <p:nvPr/>
        </p:nvSpPr>
        <p:spPr>
          <a:xfrm xmlns:a="http://schemas.openxmlformats.org/drawingml/2006/main">
            <a:off x="495300" y="2305050"/>
            <a:ext cx="4333875"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Deep reductions first; eligible removals address</a:t>
            </a:r>
          </a:p>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residual emissions.</a:t>
            </a:r>
          </a:p>
        </p:txBody>
      </p:sp>
      <p:sp>
        <p:nvSpPr>
          <p:cNvPr id="9" name="Nature projects need credible carbon accounting an">
            <a:extLst xmlns:a="http://schemas.openxmlformats.org/drawingml/2006/main">
              <a:ext uri="{FF2B5EF4-FFF2-40B4-BE49-F238E27FC236}">
                <a16:creationId xmlns:a16="http://schemas.microsoft.com/office/drawing/2014/main" id="{A447F774-5105-4E00-A8A6-AE5CC24A1247}"/>
              </a:ext>
            </a:extLst>
          </p:cNvPr>
          <p:cNvSpPr>
            <a:spLocks xmlns:a="http://schemas.openxmlformats.org/drawingml/2006/main" noGrp="1"/>
          </p:cNvSpPr>
          <p:nvPr/>
        </p:nvSpPr>
        <p:spPr>
          <a:xfrm xmlns:a="http://schemas.openxmlformats.org/drawingml/2006/main">
            <a:off x="495300" y="2897505"/>
            <a:ext cx="4333875"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Nature projects need credible carbon accounting</a:t>
            </a:r>
          </a:p>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and durability evidence.</a:t>
            </a:r>
          </a:p>
        </p:txBody>
      </p:sp>
      <p:sp>
        <p:nvSpPr>
          <p:cNvPr id="10" name="Discussion">
            <a:extLst xmlns:a="http://schemas.openxmlformats.org/drawingml/2006/main">
              <a:ext uri="{FF2B5EF4-FFF2-40B4-BE49-F238E27FC236}">
                <a16:creationId xmlns:a16="http://schemas.microsoft.com/office/drawing/2014/main" id="{9FAC39DF-E2C2-45C9-8EF0-F03F0985F5B2}"/>
              </a:ext>
            </a:extLst>
          </p:cNvPr>
          <p:cNvSpPr>
            <a:spLocks xmlns:a="http://schemas.openxmlformats.org/drawingml/2006/main" noGrp="1"/>
          </p:cNvSpPr>
          <p:nvPr/>
        </p:nvSpPr>
        <p:spPr>
          <a:xfrm xmlns:a="http://schemas.openxmlformats.org/drawingml/2006/main">
            <a:off x="495300" y="3566160"/>
            <a:ext cx="433387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Discussion</a:t>
            </a:r>
          </a:p>
        </p:txBody>
      </p:sp>
      <p:sp>
        <p:nvSpPr>
          <p:cNvPr id="11" name="Can a company plant its way to net zero?">
            <a:extLst xmlns:a="http://schemas.openxmlformats.org/drawingml/2006/main">
              <a:ext uri="{FF2B5EF4-FFF2-40B4-BE49-F238E27FC236}">
                <a16:creationId xmlns:a16="http://schemas.microsoft.com/office/drawing/2014/main" id="{EAE7FEF9-36C8-4FA1-BB62-F1AB59A244BD}"/>
              </a:ext>
            </a:extLst>
          </p:cNvPr>
          <p:cNvSpPr>
            <a:spLocks xmlns:a="http://schemas.openxmlformats.org/drawingml/2006/main" noGrp="1"/>
          </p:cNvSpPr>
          <p:nvPr/>
        </p:nvSpPr>
        <p:spPr>
          <a:xfrm xmlns:a="http://schemas.openxmlformats.org/drawingml/2006/main">
            <a:off x="495300" y="3989070"/>
            <a:ext cx="433387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Can a company plant its way to net zero?</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dced629a11143fa"/>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3" name="www.newton.university">
            <a:extLst xmlns:a="http://schemas.openxmlformats.org/drawingml/2006/main">
              <a:ext uri="{FF2B5EF4-FFF2-40B4-BE49-F238E27FC236}">
                <a16:creationId xmlns:a16="http://schemas.microsoft.com/office/drawing/2014/main" id="{D0FECF10-D373-4A94-AE8F-D244104768B9}"/>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4" name="22">
            <a:extLst xmlns:a="http://schemas.openxmlformats.org/drawingml/2006/main">
              <a:ext uri="{FF2B5EF4-FFF2-40B4-BE49-F238E27FC236}">
                <a16:creationId xmlns:a16="http://schemas.microsoft.com/office/drawing/2014/main" id="{A30A8F1D-B67D-421F-B348-54C8B4D8328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22</a:t>
            </a:r>
          </a:p>
        </p:txBody>
      </p:sp>
    </p:spTree>
    <p:extLst>
      <p:ext uri="{BB962C8B-B14F-4D97-AF65-F5344CB8AC3E}">
        <p14:creationId xmlns:p14="http://schemas.microsoft.com/office/powerpoint/2010/main" val="2089165213"/>
      </p:ext>
    </p:extLst>
  </p:cSld>
</p:sld>
</file>

<file path=ppt/slides/slide23.xml><?xml version="1.0" encoding="utf-8"?>
<p:sld xmlns:p="http://schemas.openxmlformats.org/presentationml/2006/main">
  <p:cSld>
    <p:bg>
      <p:bgPr>
        <a:solidFill xmlns:a="http://schemas.openxmlformats.org/drawingml/2006/main">
          <a:srgbClr val="173E35"/>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AB4C4AC7-F413-4344-BFA6-7106DF79466D}"/>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c92ff007e9f4b14"/>
          <a:srcRect xmlns:a="http://schemas.openxmlformats.org/drawingml/2006/main" l="0" t="276" r="0" b="276"/>
          <a:stretch xmlns:a="http://schemas.openxmlformats.org/drawingml/2006/main">
            <a:fillRect l="0" t="0" r="0" b="0"/>
          </a:stretch>
        </p:blipFill>
        <p:spPr>
          <a:xfrm xmlns:a="http://schemas.openxmlformats.org/drawingml/2006/main">
            <a:off x="5695950" y="0"/>
            <a:ext cx="3448050" cy="5143500"/>
          </a:xfrm>
          <a:prstGeom xmlns:a="http://schemas.openxmlformats.org/drawingml/2006/main" prst="rect">
            <a:avLst/>
          </a:prstGeom>
        </p:spPr>
      </p:pic>
      <p:sp>
        <p:nvSpPr>
          <p:cNvPr id="3" name="Part 6">
            <a:extLst xmlns:a="http://schemas.openxmlformats.org/drawingml/2006/main">
              <a:ext uri="{FF2B5EF4-FFF2-40B4-BE49-F238E27FC236}">
                <a16:creationId xmlns:a16="http://schemas.microsoft.com/office/drawing/2014/main" id="{E34282D8-7CA9-42CD-B62B-2EC632E906D1}"/>
              </a:ext>
            </a:extLst>
          </p:cNvPr>
          <p:cNvSpPr>
            <a:spLocks xmlns:a="http://schemas.openxmlformats.org/drawingml/2006/main" noGrp="1"/>
          </p:cNvSpPr>
          <p:nvPr/>
        </p:nvSpPr>
        <p:spPr>
          <a:xfrm xmlns:a="http://schemas.openxmlformats.org/drawingml/2006/main">
            <a:off x="495300" y="714375"/>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6</a:t>
            </a:r>
          </a:p>
        </p:txBody>
      </p:sp>
      <p:sp>
        <p:nvSpPr>
          <p:cNvPr id="4" name="GI in Corporate and City Strategy">
            <a:extLst xmlns:a="http://schemas.openxmlformats.org/drawingml/2006/main">
              <a:ext uri="{FF2B5EF4-FFF2-40B4-BE49-F238E27FC236}">
                <a16:creationId xmlns:a16="http://schemas.microsoft.com/office/drawing/2014/main" id="{68285E70-2EBE-4C36-8E64-5D17F2CD1541}"/>
              </a:ext>
            </a:extLst>
          </p:cNvPr>
          <p:cNvSpPr>
            <a:spLocks xmlns:a="http://schemas.openxmlformats.org/drawingml/2006/main" noGrp="1"/>
          </p:cNvSpPr>
          <p:nvPr/>
        </p:nvSpPr>
        <p:spPr>
          <a:xfrm xmlns:a="http://schemas.openxmlformats.org/drawingml/2006/main">
            <a:off x="495300" y="1876425"/>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GI in Corporate and</a:t>
            </a:r>
          </a:p>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City Strategy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a3c1a32cc654f2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6617E782-0B15-4475-B4BE-7F0950257234}"/>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23">
            <a:extLst xmlns:a="http://schemas.openxmlformats.org/drawingml/2006/main">
              <a:ext uri="{FF2B5EF4-FFF2-40B4-BE49-F238E27FC236}">
                <a16:creationId xmlns:a16="http://schemas.microsoft.com/office/drawing/2014/main" id="{501BBB6B-A6B7-4725-A95A-E2C2A04BA46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23</a:t>
            </a:r>
          </a:p>
        </p:txBody>
      </p:sp>
    </p:spTree>
    <p:extLst>
      <p:ext uri="{BB962C8B-B14F-4D97-AF65-F5344CB8AC3E}">
        <p14:creationId xmlns:p14="http://schemas.microsoft.com/office/powerpoint/2010/main" val="1066251177"/>
      </p:ext>
    </p:extLst>
  </p:cSld>
</p:sld>
</file>

<file path=ppt/slides/slide2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5" name="Where GI Enters Corporate Plans">
            <a:extLst xmlns:a="http://schemas.openxmlformats.org/drawingml/2006/main">
              <a:ext uri="{FF2B5EF4-FFF2-40B4-BE49-F238E27FC236}">
                <a16:creationId xmlns:a16="http://schemas.microsoft.com/office/drawing/2014/main" id="{87B31CBB-AD13-41A2-B9A3-59F8DD9D5DF5}"/>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Where GI Enters Corporate Plans</a:t>
            </a:r>
          </a:p>
        </p:txBody>
      </p:sp>
      <p:sp>
        <p:nvSpPr>
          <p:cNvPr id="2" name="Editorial frame">
            <a:extLst xmlns:a="http://schemas.openxmlformats.org/drawingml/2006/main">
              <a:ext uri="{FF2B5EF4-FFF2-40B4-BE49-F238E27FC236}">
                <a16:creationId xmlns:a16="http://schemas.microsoft.com/office/drawing/2014/main" id="{1B36EA99-0567-47D3-B53D-583EE866B72D}"/>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7EB4FB3E-A934-40FC-841E-8122BEC3FAA2}"/>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D32DFB18-E67C-40EA-88D3-5826EBAF50B9}"/>
              </a:ext>
            </a:extLst>
          </p:cNvPr>
          <p:cNvSpPr>
            <a:spLocks xmlns:a="http://schemas.openxmlformats.org/drawingml/2006/main" noGrp="1"/>
          </p:cNvSpPr>
          <p:nvPr/>
        </p:nvSpPr>
        <p:spPr>
          <a:xfrm xmlns:a="http://schemas.openxmlformats.org/drawingml/2006/main">
            <a:off x="361950" y="1438275"/>
            <a:ext cx="2844800"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8C2DFEA1-3D75-49A8-9BF6-37326D48C57A}"/>
              </a:ext>
            </a:extLst>
          </p:cNvPr>
          <p:cNvSpPr>
            <a:spLocks xmlns:a="http://schemas.openxmlformats.org/drawingml/2006/main" noGrp="1"/>
          </p:cNvSpPr>
          <p:nvPr/>
        </p:nvSpPr>
        <p:spPr>
          <a:xfrm xmlns:a="http://schemas.openxmlformats.org/drawingml/2006/main">
            <a:off x="361950" y="1438275"/>
            <a:ext cx="2844800"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Operations">
            <a:extLst xmlns:a="http://schemas.openxmlformats.org/drawingml/2006/main">
              <a:ext uri="{FF2B5EF4-FFF2-40B4-BE49-F238E27FC236}">
                <a16:creationId xmlns:a16="http://schemas.microsoft.com/office/drawing/2014/main" id="{8C902C94-37F2-49D4-ABFF-78EE0BC2CA36}"/>
              </a:ext>
            </a:extLst>
          </p:cNvPr>
          <p:cNvSpPr>
            <a:spLocks xmlns:a="http://schemas.openxmlformats.org/drawingml/2006/main" noGrp="1"/>
          </p:cNvSpPr>
          <p:nvPr/>
        </p:nvSpPr>
        <p:spPr>
          <a:xfrm xmlns:a="http://schemas.openxmlformats.org/drawingml/2006/main">
            <a:off x="4953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Operations</a:t>
            </a:r>
          </a:p>
        </p:txBody>
      </p:sp>
      <p:sp>
        <p:nvSpPr>
          <p:cNvPr id="7" name="Green roofs on facilities">
            <a:extLst xmlns:a="http://schemas.openxmlformats.org/drawingml/2006/main">
              <a:ext uri="{FF2B5EF4-FFF2-40B4-BE49-F238E27FC236}">
                <a16:creationId xmlns:a16="http://schemas.microsoft.com/office/drawing/2014/main" id="{DDBC4491-08A6-4DDA-AE32-3310D16E13A5}"/>
              </a:ext>
            </a:extLst>
          </p:cNvPr>
          <p:cNvSpPr>
            <a:spLocks xmlns:a="http://schemas.openxmlformats.org/drawingml/2006/main" noGrp="1"/>
          </p:cNvSpPr>
          <p:nvPr/>
        </p:nvSpPr>
        <p:spPr>
          <a:xfrm xmlns:a="http://schemas.openxmlformats.org/drawingml/2006/main">
            <a:off x="495300" y="207073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Green roofs on facilities</a:t>
            </a:r>
          </a:p>
        </p:txBody>
      </p:sp>
      <p:sp>
        <p:nvSpPr>
          <p:cNvPr id="8" name="Site biodiversity plans">
            <a:extLst xmlns:a="http://schemas.openxmlformats.org/drawingml/2006/main">
              <a:ext uri="{FF2B5EF4-FFF2-40B4-BE49-F238E27FC236}">
                <a16:creationId xmlns:a16="http://schemas.microsoft.com/office/drawing/2014/main" id="{54C2A656-1AFC-42A0-B1AA-AA93A813BED8}"/>
              </a:ext>
            </a:extLst>
          </p:cNvPr>
          <p:cNvSpPr>
            <a:spLocks xmlns:a="http://schemas.openxmlformats.org/drawingml/2006/main" noGrp="1"/>
          </p:cNvSpPr>
          <p:nvPr/>
        </p:nvSpPr>
        <p:spPr>
          <a:xfrm xmlns:a="http://schemas.openxmlformats.org/drawingml/2006/main">
            <a:off x="495300" y="245745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Site biodiversity plans</a:t>
            </a:r>
          </a:p>
        </p:txBody>
      </p:sp>
      <p:sp>
        <p:nvSpPr>
          <p:cNvPr id="9" name="Stormwater management">
            <a:extLst xmlns:a="http://schemas.openxmlformats.org/drawingml/2006/main">
              <a:ext uri="{FF2B5EF4-FFF2-40B4-BE49-F238E27FC236}">
                <a16:creationId xmlns:a16="http://schemas.microsoft.com/office/drawing/2014/main" id="{946DB2A9-D192-4C88-B83A-0CF9FF3A5E4D}"/>
              </a:ext>
            </a:extLst>
          </p:cNvPr>
          <p:cNvSpPr>
            <a:spLocks xmlns:a="http://schemas.openxmlformats.org/drawingml/2006/main" noGrp="1"/>
          </p:cNvSpPr>
          <p:nvPr/>
        </p:nvSpPr>
        <p:spPr>
          <a:xfrm xmlns:a="http://schemas.openxmlformats.org/drawingml/2006/main">
            <a:off x="495300" y="284416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Stormwater management</a:t>
            </a:r>
          </a:p>
        </p:txBody>
      </p:sp>
      <p:sp>
        <p:nvSpPr>
          <p:cNvPr id="10" name="Editorial frame">
            <a:extLst xmlns:a="http://schemas.openxmlformats.org/drawingml/2006/main">
              <a:ext uri="{FF2B5EF4-FFF2-40B4-BE49-F238E27FC236}">
                <a16:creationId xmlns:a16="http://schemas.microsoft.com/office/drawing/2014/main" id="{86D4327D-FDAB-49CB-9498-419018ADC9F4}"/>
              </a:ext>
            </a:extLst>
          </p:cNvPr>
          <p:cNvSpPr>
            <a:spLocks xmlns:a="http://schemas.openxmlformats.org/drawingml/2006/main" noGrp="1"/>
          </p:cNvSpPr>
          <p:nvPr/>
        </p:nvSpPr>
        <p:spPr>
          <a:xfrm xmlns:a="http://schemas.openxmlformats.org/drawingml/2006/main">
            <a:off x="3149600" y="1438275"/>
            <a:ext cx="2844800"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1" name="Editorial frame">
            <a:extLst xmlns:a="http://schemas.openxmlformats.org/drawingml/2006/main">
              <a:ext uri="{FF2B5EF4-FFF2-40B4-BE49-F238E27FC236}">
                <a16:creationId xmlns:a16="http://schemas.microsoft.com/office/drawing/2014/main" id="{C55F8889-CA89-48B2-878A-6D06BA0EFD33}"/>
              </a:ext>
            </a:extLst>
          </p:cNvPr>
          <p:cNvSpPr>
            <a:spLocks xmlns:a="http://schemas.openxmlformats.org/drawingml/2006/main" noGrp="1"/>
          </p:cNvSpPr>
          <p:nvPr/>
        </p:nvSpPr>
        <p:spPr>
          <a:xfrm xmlns:a="http://schemas.openxmlformats.org/drawingml/2006/main">
            <a:off x="3149600" y="1438275"/>
            <a:ext cx="284480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2" name="Strategy">
            <a:extLst xmlns:a="http://schemas.openxmlformats.org/drawingml/2006/main">
              <a:ext uri="{FF2B5EF4-FFF2-40B4-BE49-F238E27FC236}">
                <a16:creationId xmlns:a16="http://schemas.microsoft.com/office/drawing/2014/main" id="{6A874676-D36D-40D8-936E-92C71A65407F}"/>
              </a:ext>
            </a:extLst>
          </p:cNvPr>
          <p:cNvSpPr>
            <a:spLocks xmlns:a="http://schemas.openxmlformats.org/drawingml/2006/main" noGrp="1"/>
          </p:cNvSpPr>
          <p:nvPr/>
        </p:nvSpPr>
        <p:spPr>
          <a:xfrm xmlns:a="http://schemas.openxmlformats.org/drawingml/2006/main">
            <a:off x="328295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Strategy</a:t>
            </a:r>
          </a:p>
        </p:txBody>
      </p:sp>
      <p:sp>
        <p:nvSpPr>
          <p:cNvPr id="13" name="Climate adaptation of assets">
            <a:extLst xmlns:a="http://schemas.openxmlformats.org/drawingml/2006/main">
              <a:ext uri="{FF2B5EF4-FFF2-40B4-BE49-F238E27FC236}">
                <a16:creationId xmlns:a16="http://schemas.microsoft.com/office/drawing/2014/main" id="{2F178DF0-7866-4EB6-9A6A-39EFC39B6507}"/>
              </a:ext>
            </a:extLst>
          </p:cNvPr>
          <p:cNvSpPr>
            <a:spLocks xmlns:a="http://schemas.openxmlformats.org/drawingml/2006/main" noGrp="1"/>
          </p:cNvSpPr>
          <p:nvPr/>
        </p:nvSpPr>
        <p:spPr>
          <a:xfrm xmlns:a="http://schemas.openxmlformats.org/drawingml/2006/main">
            <a:off x="3282950" y="207073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Climate adaptation of</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assets</a:t>
            </a:r>
          </a:p>
        </p:txBody>
      </p:sp>
      <p:sp>
        <p:nvSpPr>
          <p:cNvPr id="14" name="Nature-related risk assessment">
            <a:extLst xmlns:a="http://schemas.openxmlformats.org/drawingml/2006/main">
              <a:ext uri="{FF2B5EF4-FFF2-40B4-BE49-F238E27FC236}">
                <a16:creationId xmlns:a16="http://schemas.microsoft.com/office/drawing/2014/main" id="{40370565-4DCC-4F39-87B4-86031BFB3117}"/>
              </a:ext>
            </a:extLst>
          </p:cNvPr>
          <p:cNvSpPr>
            <a:spLocks xmlns:a="http://schemas.openxmlformats.org/drawingml/2006/main" noGrp="1"/>
          </p:cNvSpPr>
          <p:nvPr/>
        </p:nvSpPr>
        <p:spPr>
          <a:xfrm xmlns:a="http://schemas.openxmlformats.org/drawingml/2006/main">
            <a:off x="3282950" y="272034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Nature-related risk</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assessment</a:t>
            </a:r>
          </a:p>
        </p:txBody>
      </p:sp>
      <p:sp>
        <p:nvSpPr>
          <p:cNvPr id="15" name="Nature and carbon plans with separate accounting">
            <a:extLst xmlns:a="http://schemas.openxmlformats.org/drawingml/2006/main">
              <a:ext uri="{FF2B5EF4-FFF2-40B4-BE49-F238E27FC236}">
                <a16:creationId xmlns:a16="http://schemas.microsoft.com/office/drawing/2014/main" id="{62FA4361-778A-4541-AA54-740B367E931C}"/>
              </a:ext>
            </a:extLst>
          </p:cNvPr>
          <p:cNvSpPr>
            <a:spLocks xmlns:a="http://schemas.openxmlformats.org/drawingml/2006/main" noGrp="1"/>
          </p:cNvSpPr>
          <p:nvPr/>
        </p:nvSpPr>
        <p:spPr>
          <a:xfrm xmlns:a="http://schemas.openxmlformats.org/drawingml/2006/main">
            <a:off x="3282950" y="336994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Nature and carbon plans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with separate accounting</a:t>
            </a:r>
          </a:p>
        </p:txBody>
      </p:sp>
      <p:sp>
        <p:nvSpPr>
          <p:cNvPr id="16" name="Editorial frame">
            <a:extLst xmlns:a="http://schemas.openxmlformats.org/drawingml/2006/main">
              <a:ext uri="{FF2B5EF4-FFF2-40B4-BE49-F238E27FC236}">
                <a16:creationId xmlns:a16="http://schemas.microsoft.com/office/drawing/2014/main" id="{8794079F-DE82-40AE-9D00-BBFCF277CEEF}"/>
              </a:ext>
            </a:extLst>
          </p:cNvPr>
          <p:cNvSpPr>
            <a:spLocks xmlns:a="http://schemas.openxmlformats.org/drawingml/2006/main" noGrp="1"/>
          </p:cNvSpPr>
          <p:nvPr/>
        </p:nvSpPr>
        <p:spPr>
          <a:xfrm xmlns:a="http://schemas.openxmlformats.org/drawingml/2006/main">
            <a:off x="5937250" y="1438275"/>
            <a:ext cx="2844800" cy="3305175"/>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7" name="Editorial frame">
            <a:extLst xmlns:a="http://schemas.openxmlformats.org/drawingml/2006/main">
              <a:ext uri="{FF2B5EF4-FFF2-40B4-BE49-F238E27FC236}">
                <a16:creationId xmlns:a16="http://schemas.microsoft.com/office/drawing/2014/main" id="{05F98F3E-108A-41E7-995D-658CB340EAC2}"/>
              </a:ext>
            </a:extLst>
          </p:cNvPr>
          <p:cNvSpPr>
            <a:spLocks xmlns:a="http://schemas.openxmlformats.org/drawingml/2006/main" noGrp="1"/>
          </p:cNvSpPr>
          <p:nvPr/>
        </p:nvSpPr>
        <p:spPr>
          <a:xfrm xmlns:a="http://schemas.openxmlformats.org/drawingml/2006/main">
            <a:off x="5937250" y="1438275"/>
            <a:ext cx="2844800"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8" name="Brand &amp; people">
            <a:extLst xmlns:a="http://schemas.openxmlformats.org/drawingml/2006/main">
              <a:ext uri="{FF2B5EF4-FFF2-40B4-BE49-F238E27FC236}">
                <a16:creationId xmlns:a16="http://schemas.microsoft.com/office/drawing/2014/main" id="{C76897F2-E885-413D-9E89-15CF124272A4}"/>
              </a:ext>
            </a:extLst>
          </p:cNvPr>
          <p:cNvSpPr>
            <a:spLocks xmlns:a="http://schemas.openxmlformats.org/drawingml/2006/main" noGrp="1"/>
          </p:cNvSpPr>
          <p:nvPr/>
        </p:nvSpPr>
        <p:spPr>
          <a:xfrm xmlns:a="http://schemas.openxmlformats.org/drawingml/2006/main">
            <a:off x="60706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Brand &amp; people</a:t>
            </a:r>
          </a:p>
        </p:txBody>
      </p:sp>
      <p:sp>
        <p:nvSpPr>
          <p:cNvPr id="19" name="Green workplaces">
            <a:extLst xmlns:a="http://schemas.openxmlformats.org/drawingml/2006/main">
              <a:ext uri="{FF2B5EF4-FFF2-40B4-BE49-F238E27FC236}">
                <a16:creationId xmlns:a16="http://schemas.microsoft.com/office/drawing/2014/main" id="{3A3B46E5-72A1-4012-BED7-BA1B785E04D8}"/>
              </a:ext>
            </a:extLst>
          </p:cNvPr>
          <p:cNvSpPr>
            <a:spLocks xmlns:a="http://schemas.openxmlformats.org/drawingml/2006/main" noGrp="1"/>
          </p:cNvSpPr>
          <p:nvPr/>
        </p:nvSpPr>
        <p:spPr>
          <a:xfrm xmlns:a="http://schemas.openxmlformats.org/drawingml/2006/main">
            <a:off x="6070600" y="207073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Green workplaces</a:t>
            </a:r>
          </a:p>
        </p:txBody>
      </p:sp>
      <p:sp>
        <p:nvSpPr>
          <p:cNvPr id="20" name="Community green projects">
            <a:extLst xmlns:a="http://schemas.openxmlformats.org/drawingml/2006/main">
              <a:ext uri="{FF2B5EF4-FFF2-40B4-BE49-F238E27FC236}">
                <a16:creationId xmlns:a16="http://schemas.microsoft.com/office/drawing/2014/main" id="{1E31275B-CED9-4FD7-A4EB-AA1919788798}"/>
              </a:ext>
            </a:extLst>
          </p:cNvPr>
          <p:cNvSpPr>
            <a:spLocks xmlns:a="http://schemas.openxmlformats.org/drawingml/2006/main" noGrp="1"/>
          </p:cNvSpPr>
          <p:nvPr/>
        </p:nvSpPr>
        <p:spPr>
          <a:xfrm xmlns:a="http://schemas.openxmlformats.org/drawingml/2006/main">
            <a:off x="6070600" y="245745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Community green</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projects</a:t>
            </a:r>
          </a:p>
        </p:txBody>
      </p:sp>
      <p:sp>
        <p:nvSpPr>
          <p:cNvPr id="21" name="Employer attractiveness">
            <a:extLst xmlns:a="http://schemas.openxmlformats.org/drawingml/2006/main">
              <a:ext uri="{FF2B5EF4-FFF2-40B4-BE49-F238E27FC236}">
                <a16:creationId xmlns:a16="http://schemas.microsoft.com/office/drawing/2014/main" id="{39FA653E-027A-4297-B2C8-3887B1079B00}"/>
              </a:ext>
            </a:extLst>
          </p:cNvPr>
          <p:cNvSpPr>
            <a:spLocks xmlns:a="http://schemas.openxmlformats.org/drawingml/2006/main" noGrp="1"/>
          </p:cNvSpPr>
          <p:nvPr/>
        </p:nvSpPr>
        <p:spPr>
          <a:xfrm xmlns:a="http://schemas.openxmlformats.org/drawingml/2006/main">
            <a:off x="6070600" y="310705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Employer attractiveness</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b7018f40b474285"/>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3" name="www.newton.university">
            <a:extLst xmlns:a="http://schemas.openxmlformats.org/drawingml/2006/main">
              <a:ext uri="{FF2B5EF4-FFF2-40B4-BE49-F238E27FC236}">
                <a16:creationId xmlns:a16="http://schemas.microsoft.com/office/drawing/2014/main" id="{0EA8126E-3DA1-4174-880C-C7391D59FC34}"/>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4" name="24">
            <a:extLst xmlns:a="http://schemas.openxmlformats.org/drawingml/2006/main">
              <a:ext uri="{FF2B5EF4-FFF2-40B4-BE49-F238E27FC236}">
                <a16:creationId xmlns:a16="http://schemas.microsoft.com/office/drawing/2014/main" id="{DC5DD0FD-BD13-4737-9755-9B2E91F66AD4}"/>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24</a:t>
            </a:r>
          </a:p>
        </p:txBody>
      </p:sp>
    </p:spTree>
    <p:extLst>
      <p:ext uri="{BB962C8B-B14F-4D97-AF65-F5344CB8AC3E}">
        <p14:creationId xmlns:p14="http://schemas.microsoft.com/office/powerpoint/2010/main" val="1731794759"/>
      </p:ext>
    </p:extLst>
  </p:cSld>
</p:sld>
</file>

<file path=ppt/slides/slide2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Municipal Strategies: Prague and Vienna">
            <a:extLst xmlns:a="http://schemas.openxmlformats.org/drawingml/2006/main">
              <a:ext uri="{FF2B5EF4-FFF2-40B4-BE49-F238E27FC236}">
                <a16:creationId xmlns:a16="http://schemas.microsoft.com/office/drawing/2014/main" id="{86567734-FB13-4385-B299-11281A11C91D}"/>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Municipal Strategies: Prague and Vienna</a:t>
            </a:r>
          </a:p>
        </p:txBody>
      </p:sp>
      <p:sp>
        <p:nvSpPr>
          <p:cNvPr id="2" name="Editorial frame">
            <a:extLst xmlns:a="http://schemas.openxmlformats.org/drawingml/2006/main">
              <a:ext uri="{FF2B5EF4-FFF2-40B4-BE49-F238E27FC236}">
                <a16:creationId xmlns:a16="http://schemas.microsoft.com/office/drawing/2014/main" id="{42519DC0-E53E-481A-8433-A2F26FAB5B23}"/>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3AFC6F27-2484-4CD4-B4F0-B3262FD1CC5C}"/>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8e0122c5b7f4d91"/>
          <a:stretch xmlns:a="http://schemas.openxmlformats.org/drawingml/2006/main"/>
        </p:blipFill>
        <p:spPr>
          <a:xfrm xmlns:a="http://schemas.openxmlformats.org/drawingml/2006/main">
            <a:off x="5286375" y="1826121"/>
            <a:ext cx="3362325" cy="1891308"/>
          </a:xfrm>
          <a:prstGeom xmlns:a="http://schemas.openxmlformats.org/drawingml/2006/main" prst="rect">
            <a:avLst/>
          </a:prstGeom>
        </p:spPr>
      </p:pic>
      <p:sp>
        <p:nvSpPr>
          <p:cNvPr id="5" name="Vienna's Danube Island — flood protection that bec">
            <a:extLst xmlns:a="http://schemas.openxmlformats.org/drawingml/2006/main">
              <a:ext uri="{FF2B5EF4-FFF2-40B4-BE49-F238E27FC236}">
                <a16:creationId xmlns:a16="http://schemas.microsoft.com/office/drawing/2014/main" id="{3BB14A02-5A96-4D0E-B089-5A1182BD8A95}"/>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Vienna's Danube Island — flood protection that</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became a park</a:t>
            </a:r>
          </a:p>
        </p:txBody>
      </p:sp>
      <p:sp>
        <p:nvSpPr>
          <p:cNvPr id="6" name="Prague">
            <a:extLst xmlns:a="http://schemas.openxmlformats.org/drawingml/2006/main">
              <a:ext uri="{FF2B5EF4-FFF2-40B4-BE49-F238E27FC236}">
                <a16:creationId xmlns:a16="http://schemas.microsoft.com/office/drawing/2014/main" id="{788EBB91-7485-42EB-B21E-A36996BC83C6}"/>
              </a:ext>
            </a:extLst>
          </p:cNvPr>
          <p:cNvSpPr>
            <a:spLocks xmlns:a="http://schemas.openxmlformats.org/drawingml/2006/main" noGrp="1"/>
          </p:cNvSpPr>
          <p:nvPr/>
        </p:nvSpPr>
        <p:spPr>
          <a:xfrm xmlns:a="http://schemas.openxmlformats.org/drawingml/2006/main">
            <a:off x="495300" y="1524000"/>
            <a:ext cx="43338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B56647"/>
                </a:solidFill>
                <a:latin typeface="Georgia"/>
                <a:ea typeface="Georgia"/>
                <a:cs typeface="Georgia"/>
              </a:defRPr>
            </a:pPr>
            <a:r>
              <a:rPr sz="1650" b="0">
                <a:solidFill>
                  <a:srgbClr val="B56647"/>
                </a:solidFill>
                <a:latin typeface="Georgia"/>
                <a:ea typeface="Georgia"/>
                <a:cs typeface="Georgia"/>
              </a:rPr>
              <a:t>Prague</a:t>
            </a:r>
          </a:p>
        </p:txBody>
      </p:sp>
      <p:sp>
        <p:nvSpPr>
          <p:cNvPr id="7" name="Climate Plan 2030: emissions, energy, mobility, ad">
            <a:extLst xmlns:a="http://schemas.openxmlformats.org/drawingml/2006/main">
              <a:ext uri="{FF2B5EF4-FFF2-40B4-BE49-F238E27FC236}">
                <a16:creationId xmlns:a16="http://schemas.microsoft.com/office/drawing/2014/main" id="{75E0166E-D913-4BBE-BF26-95B364C9D2A2}"/>
              </a:ext>
            </a:extLst>
          </p:cNvPr>
          <p:cNvSpPr>
            <a:spLocks xmlns:a="http://schemas.openxmlformats.org/drawingml/2006/main" noGrp="1"/>
          </p:cNvSpPr>
          <p:nvPr/>
        </p:nvSpPr>
        <p:spPr>
          <a:xfrm xmlns:a="http://schemas.openxmlformats.org/drawingml/2006/main">
            <a:off x="495300" y="1918335"/>
            <a:ext cx="4333875"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Climate Plan 2030: emissions, energy, mobility,</a:t>
            </a:r>
          </a:p>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adaptation.</a:t>
            </a:r>
          </a:p>
        </p:txBody>
      </p:sp>
      <p:sp>
        <p:nvSpPr>
          <p:cNvPr id="8" name="Adaptation Strategy: trees, water, permeable surfa">
            <a:extLst xmlns:a="http://schemas.openxmlformats.org/drawingml/2006/main">
              <a:ext uri="{FF2B5EF4-FFF2-40B4-BE49-F238E27FC236}">
                <a16:creationId xmlns:a16="http://schemas.microsoft.com/office/drawing/2014/main" id="{72655A6B-4BE5-4914-ACED-C300E3807C22}"/>
              </a:ext>
            </a:extLst>
          </p:cNvPr>
          <p:cNvSpPr>
            <a:spLocks xmlns:a="http://schemas.openxmlformats.org/drawingml/2006/main" noGrp="1"/>
          </p:cNvSpPr>
          <p:nvPr/>
        </p:nvSpPr>
        <p:spPr>
          <a:xfrm xmlns:a="http://schemas.openxmlformats.org/drawingml/2006/main">
            <a:off x="495300" y="2453640"/>
            <a:ext cx="433387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Adaptation Strategy: trees, water, permeable surfaces.</a:t>
            </a:r>
          </a:p>
        </p:txBody>
      </p:sp>
      <p:sp>
        <p:nvSpPr>
          <p:cNvPr id="9" name="Vienna">
            <a:extLst xmlns:a="http://schemas.openxmlformats.org/drawingml/2006/main">
              <a:ext uri="{FF2B5EF4-FFF2-40B4-BE49-F238E27FC236}">
                <a16:creationId xmlns:a16="http://schemas.microsoft.com/office/drawing/2014/main" id="{8924C5C8-9F19-4890-BFF7-13C69C895943}"/>
              </a:ext>
            </a:extLst>
          </p:cNvPr>
          <p:cNvSpPr>
            <a:spLocks xmlns:a="http://schemas.openxmlformats.org/drawingml/2006/main" noGrp="1"/>
          </p:cNvSpPr>
          <p:nvPr/>
        </p:nvSpPr>
        <p:spPr>
          <a:xfrm xmlns:a="http://schemas.openxmlformats.org/drawingml/2006/main">
            <a:off x="495300" y="2859405"/>
            <a:ext cx="43338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B56647"/>
                </a:solidFill>
                <a:latin typeface="Georgia"/>
                <a:ea typeface="Georgia"/>
                <a:cs typeface="Georgia"/>
              </a:defRPr>
            </a:pPr>
            <a:r>
              <a:rPr sz="1650" b="0">
                <a:solidFill>
                  <a:srgbClr val="B56647"/>
                </a:solidFill>
                <a:latin typeface="Georgia"/>
                <a:ea typeface="Georgia"/>
                <a:cs typeface="Georgia"/>
              </a:rPr>
              <a:t>Vienna</a:t>
            </a:r>
          </a:p>
        </p:txBody>
      </p:sp>
      <p:sp>
        <p:nvSpPr>
          <p:cNvPr id="10" name="Green corridors and the Danube Island model: infra">
            <a:extLst xmlns:a="http://schemas.openxmlformats.org/drawingml/2006/main">
              <a:ext uri="{FF2B5EF4-FFF2-40B4-BE49-F238E27FC236}">
                <a16:creationId xmlns:a16="http://schemas.microsoft.com/office/drawing/2014/main" id="{6DD669A6-E9D3-4EE3-B37E-C71434E31152}"/>
              </a:ext>
            </a:extLst>
          </p:cNvPr>
          <p:cNvSpPr>
            <a:spLocks xmlns:a="http://schemas.openxmlformats.org/drawingml/2006/main" noGrp="1"/>
          </p:cNvSpPr>
          <p:nvPr/>
        </p:nvSpPr>
        <p:spPr>
          <a:xfrm xmlns:a="http://schemas.openxmlformats.org/drawingml/2006/main">
            <a:off x="495300" y="3253740"/>
            <a:ext cx="4333875"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Green corridors and the Danube Island model:</a:t>
            </a:r>
          </a:p>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infrastructure as public space.</a:t>
            </a:r>
          </a:p>
        </p:txBody>
      </p:sp>
      <p:sp>
        <p:nvSpPr>
          <p:cNvPr id="11" name="For business">
            <a:extLst xmlns:a="http://schemas.openxmlformats.org/drawingml/2006/main">
              <a:ext uri="{FF2B5EF4-FFF2-40B4-BE49-F238E27FC236}">
                <a16:creationId xmlns:a16="http://schemas.microsoft.com/office/drawing/2014/main" id="{29803B20-637C-4574-9DEC-A522603856A5}"/>
              </a:ext>
            </a:extLst>
          </p:cNvPr>
          <p:cNvSpPr>
            <a:spLocks xmlns:a="http://schemas.openxmlformats.org/drawingml/2006/main" noGrp="1"/>
          </p:cNvSpPr>
          <p:nvPr/>
        </p:nvSpPr>
        <p:spPr>
          <a:xfrm xmlns:a="http://schemas.openxmlformats.org/drawingml/2006/main">
            <a:off x="495300" y="3865245"/>
            <a:ext cx="43338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B56647"/>
                </a:solidFill>
                <a:latin typeface="Georgia"/>
                <a:ea typeface="Georgia"/>
                <a:cs typeface="Georgia"/>
              </a:defRPr>
            </a:pPr>
            <a:r>
              <a:rPr sz="1650" b="0">
                <a:solidFill>
                  <a:srgbClr val="B56647"/>
                </a:solidFill>
                <a:latin typeface="Georgia"/>
                <a:ea typeface="Georgia"/>
                <a:cs typeface="Georgia"/>
              </a:rPr>
              <a:t>For business</a:t>
            </a:r>
          </a:p>
        </p:txBody>
      </p:sp>
      <p:sp>
        <p:nvSpPr>
          <p:cNvPr id="12" name="City strategies signal where public investment — a">
            <a:extLst xmlns:a="http://schemas.openxmlformats.org/drawingml/2006/main">
              <a:ext uri="{FF2B5EF4-FFF2-40B4-BE49-F238E27FC236}">
                <a16:creationId xmlns:a16="http://schemas.microsoft.com/office/drawing/2014/main" id="{7E09275B-E0E4-4F5E-AEEF-9494C396CA4B}"/>
              </a:ext>
            </a:extLst>
          </p:cNvPr>
          <p:cNvSpPr>
            <a:spLocks xmlns:a="http://schemas.openxmlformats.org/drawingml/2006/main" noGrp="1"/>
          </p:cNvSpPr>
          <p:nvPr/>
        </p:nvSpPr>
        <p:spPr>
          <a:xfrm xmlns:a="http://schemas.openxmlformats.org/drawingml/2006/main">
            <a:off x="495300" y="4259580"/>
            <a:ext cx="4333875"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City strategies signal where public investment — and</a:t>
            </a:r>
          </a:p>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partnership opportunity — will go.</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722d537477c49b3"/>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4" name="www.newton.university">
            <a:extLst xmlns:a="http://schemas.openxmlformats.org/drawingml/2006/main">
              <a:ext uri="{FF2B5EF4-FFF2-40B4-BE49-F238E27FC236}">
                <a16:creationId xmlns:a16="http://schemas.microsoft.com/office/drawing/2014/main" id="{09CF8803-5823-4153-B3BE-1BA20F49E6AB}"/>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5" name="25">
            <a:extLst xmlns:a="http://schemas.openxmlformats.org/drawingml/2006/main">
              <a:ext uri="{FF2B5EF4-FFF2-40B4-BE49-F238E27FC236}">
                <a16:creationId xmlns:a16="http://schemas.microsoft.com/office/drawing/2014/main" id="{A15EB1E8-6B99-4A79-88E4-C11C54ECC3D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25</a:t>
            </a:r>
          </a:p>
        </p:txBody>
      </p:sp>
    </p:spTree>
    <p:extLst>
      <p:ext uri="{BB962C8B-B14F-4D97-AF65-F5344CB8AC3E}">
        <p14:creationId xmlns:p14="http://schemas.microsoft.com/office/powerpoint/2010/main" val="268824977"/>
      </p:ext>
    </p:extLst>
  </p:cSld>
</p:sld>
</file>

<file path=ppt/slides/slide26.xml><?xml version="1.0" encoding="utf-8"?>
<p:sld xmlns:p="http://schemas.openxmlformats.org/presentationml/2006/main">
  <p:cSld>
    <p:bg>
      <p:bgPr>
        <a:solidFill xmlns:a="http://schemas.openxmlformats.org/drawingml/2006/main">
          <a:srgbClr val="B56647"/>
        </a:solidFill>
      </p:bgPr>
    </p:bg>
    <p:spTree>
      <p:nvGrpSpPr>
        <p:cNvPr id="1" name=""/>
        <p:cNvGrpSpPr/>
        <p:nvPr/>
      </p:nvGrpSpPr>
      <p:grpSpPr>
        <a:xfrm xmlns:a="http://schemas.openxmlformats.org/drawingml/2006/main"/>
      </p:grpSpPr>
      <p:sp>
        <p:nvSpPr>
          <p:cNvPr id="12" name="Group Debate">
            <a:extLst xmlns:a="http://schemas.openxmlformats.org/drawingml/2006/main">
              <a:ext uri="{FF2B5EF4-FFF2-40B4-BE49-F238E27FC236}">
                <a16:creationId xmlns:a16="http://schemas.microsoft.com/office/drawing/2014/main" id="{07EF75BA-1579-4293-87E4-7BC8AB438717}"/>
              </a:ext>
            </a:extLst>
          </p:cNvPr>
          <p:cNvSpPr>
            <a:spLocks xmlns:a="http://schemas.openxmlformats.org/drawingml/2006/main" noGrp="1"/>
          </p:cNvSpPr>
          <p:nvPr/>
        </p:nvSpPr>
        <p:spPr>
          <a:xfrm xmlns:a="http://schemas.openxmlformats.org/drawingml/2006/main">
            <a:off x="495300" y="381000"/>
            <a:ext cx="8153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000" b="0">
                <a:solidFill>
                  <a:srgbClr val="F5F2EA"/>
                </a:solidFill>
                <a:latin typeface="Georgia"/>
                <a:ea typeface="Georgia"/>
                <a:cs typeface="Georgia"/>
              </a:defRPr>
            </a:pPr>
            <a:r>
              <a:rPr sz="3000" b="0">
                <a:solidFill>
                  <a:srgbClr val="F5F2EA"/>
                </a:solidFill>
                <a:latin typeface="Georgia"/>
                <a:ea typeface="Georgia"/>
                <a:cs typeface="Georgia"/>
              </a:rPr>
              <a:t>Group Debate</a:t>
            </a:r>
          </a:p>
        </p:txBody>
      </p:sp>
      <p:sp>
        <p:nvSpPr>
          <p:cNvPr id="2" name="Two teams, 10 minutes preparation, structured deba">
            <a:extLst xmlns:a="http://schemas.openxmlformats.org/drawingml/2006/main">
              <a:ext uri="{FF2B5EF4-FFF2-40B4-BE49-F238E27FC236}">
                <a16:creationId xmlns:a16="http://schemas.microsoft.com/office/drawing/2014/main" id="{84AFB8EA-7C0C-4F6D-882D-A271939F9D5C}"/>
              </a:ext>
            </a:extLst>
          </p:cNvPr>
          <p:cNvSpPr>
            <a:spLocks xmlns:a="http://schemas.openxmlformats.org/drawingml/2006/main" noGrp="1"/>
          </p:cNvSpPr>
          <p:nvPr/>
        </p:nvSpPr>
        <p:spPr>
          <a:xfrm xmlns:a="http://schemas.openxmlformats.org/drawingml/2006/main">
            <a:off x="495300" y="1276350"/>
            <a:ext cx="8153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F5F2EA"/>
                </a:solidFill>
                <a:latin typeface="Arial"/>
                <a:ea typeface="Arial"/>
                <a:cs typeface="Arial"/>
              </a:defRPr>
            </a:pPr>
            <a:r>
              <a:rPr sz="1575" b="0">
                <a:solidFill>
                  <a:srgbClr val="F5F2EA"/>
                </a:solidFill>
                <a:latin typeface="Arial"/>
                <a:ea typeface="Arial"/>
                <a:cs typeface="Arial"/>
              </a:rPr>
              <a:t>Two teams, 10 minutes preparation, structured debate</a:t>
            </a:r>
          </a:p>
        </p:txBody>
      </p:sp>
      <p:sp>
        <p:nvSpPr>
          <p:cNvPr id="3" name="“Should businesses invest directly in public green">
            <a:extLst xmlns:a="http://schemas.openxmlformats.org/drawingml/2006/main">
              <a:ext uri="{FF2B5EF4-FFF2-40B4-BE49-F238E27FC236}">
                <a16:creationId xmlns:a16="http://schemas.microsoft.com/office/drawing/2014/main" id="{1178C19F-7ABC-4489-ABA8-E0DFF4BA0249}"/>
              </a:ext>
            </a:extLst>
          </p:cNvPr>
          <p:cNvSpPr>
            <a:spLocks xmlns:a="http://schemas.openxmlformats.org/drawingml/2006/main" noGrp="1"/>
          </p:cNvSpPr>
          <p:nvPr/>
        </p:nvSpPr>
        <p:spPr>
          <a:xfrm xmlns:a="http://schemas.openxmlformats.org/drawingml/2006/main">
            <a:off x="495300" y="1905000"/>
            <a:ext cx="81534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F5F2EA"/>
                </a:solidFill>
                <a:latin typeface="Georgia"/>
                <a:ea typeface="Georgia"/>
                <a:cs typeface="Georgia"/>
              </a:defRPr>
            </a:pPr>
            <a:r>
              <a:rPr sz="2625" b="0">
                <a:solidFill>
                  <a:srgbClr val="F5F2EA"/>
                </a:solidFill>
                <a:latin typeface="Georgia"/>
                <a:ea typeface="Georgia"/>
                <a:cs typeface="Georgia"/>
              </a:rPr>
              <a:t>“Should businesses invest directly in public green</a:t>
            </a:r>
          </a:p>
          <a:p xmlns:a="http://schemas.openxmlformats.org/drawingml/2006/main">
            <a:pPr>
              <a:defRPr sz="2625" b="0">
                <a:solidFill>
                  <a:srgbClr val="F5F2EA"/>
                </a:solidFill>
                <a:latin typeface="Georgia"/>
                <a:ea typeface="Georgia"/>
                <a:cs typeface="Georgia"/>
              </a:defRPr>
            </a:pPr>
            <a:r>
              <a:rPr sz="2625" b="0">
                <a:solidFill>
                  <a:srgbClr val="F5F2EA"/>
                </a:solidFill>
                <a:latin typeface="Georgia"/>
                <a:ea typeface="Georgia"/>
                <a:cs typeface="Georgia"/>
              </a:rPr>
              <a:t>infrastructure?”</a:t>
            </a:r>
          </a:p>
        </p:txBody>
      </p:sp>
      <p:sp>
        <p:nvSpPr>
          <p:cNvPr id="4" name="Team A argues yes">
            <a:extLst xmlns:a="http://schemas.openxmlformats.org/drawingml/2006/main">
              <a:ext uri="{FF2B5EF4-FFF2-40B4-BE49-F238E27FC236}">
                <a16:creationId xmlns:a16="http://schemas.microsoft.com/office/drawing/2014/main" id="{4AE1A825-BD20-4F70-AB94-22B7E9E52B10}"/>
              </a:ext>
            </a:extLst>
          </p:cNvPr>
          <p:cNvSpPr>
            <a:spLocks xmlns:a="http://schemas.openxmlformats.org/drawingml/2006/main" noGrp="1"/>
          </p:cNvSpPr>
          <p:nvPr/>
        </p:nvSpPr>
        <p:spPr>
          <a:xfrm xmlns:a="http://schemas.openxmlformats.org/drawingml/2006/main">
            <a:off x="495300" y="3133725"/>
            <a:ext cx="3829050" cy="3257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F3E4D0"/>
                </a:solidFill>
                <a:latin typeface="Georgia"/>
                <a:ea typeface="Georgia"/>
                <a:cs typeface="Georgia"/>
              </a:defRPr>
            </a:pPr>
            <a:r>
              <a:rPr sz="1950" b="0">
                <a:solidFill>
                  <a:srgbClr val="F3E4D0"/>
                </a:solidFill>
                <a:latin typeface="Georgia"/>
                <a:ea typeface="Georgia"/>
                <a:cs typeface="Georgia"/>
              </a:rPr>
              <a:t>Team A argues yes</a:t>
            </a:r>
          </a:p>
        </p:txBody>
      </p:sp>
      <p:sp>
        <p:nvSpPr>
          <p:cNvPr id="5" name="Resilience, talent, brand, shared value.">
            <a:extLst xmlns:a="http://schemas.openxmlformats.org/drawingml/2006/main">
              <a:ext uri="{FF2B5EF4-FFF2-40B4-BE49-F238E27FC236}">
                <a16:creationId xmlns:a16="http://schemas.microsoft.com/office/drawing/2014/main" id="{CF46D464-6A18-48CD-92CB-0AE5D5929DF4}"/>
              </a:ext>
            </a:extLst>
          </p:cNvPr>
          <p:cNvSpPr>
            <a:spLocks xmlns:a="http://schemas.openxmlformats.org/drawingml/2006/main" noGrp="1"/>
          </p:cNvSpPr>
          <p:nvPr/>
        </p:nvSpPr>
        <p:spPr>
          <a:xfrm xmlns:a="http://schemas.openxmlformats.org/drawingml/2006/main">
            <a:off x="495300" y="3573780"/>
            <a:ext cx="3829050"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F5F2EA"/>
                </a:solidFill>
                <a:latin typeface="Arial"/>
                <a:ea typeface="Arial"/>
                <a:cs typeface="Arial"/>
              </a:defRPr>
            </a:pPr>
            <a:r>
              <a:rPr sz="1650" b="0">
                <a:solidFill>
                  <a:srgbClr val="F5F2EA"/>
                </a:solidFill>
                <a:latin typeface="Arial"/>
                <a:ea typeface="Arial"/>
                <a:cs typeface="Arial"/>
              </a:rPr>
              <a:t>Resilience, talent, brand, shared value.</a:t>
            </a:r>
          </a:p>
        </p:txBody>
      </p:sp>
      <p:sp>
        <p:nvSpPr>
          <p:cNvPr id="6" name="Team B argues no">
            <a:extLst xmlns:a="http://schemas.openxmlformats.org/drawingml/2006/main">
              <a:ext uri="{FF2B5EF4-FFF2-40B4-BE49-F238E27FC236}">
                <a16:creationId xmlns:a16="http://schemas.microsoft.com/office/drawing/2014/main" id="{08B4C9FB-583D-4B60-96E7-656B57019687}"/>
              </a:ext>
            </a:extLst>
          </p:cNvPr>
          <p:cNvSpPr>
            <a:spLocks xmlns:a="http://schemas.openxmlformats.org/drawingml/2006/main" noGrp="1"/>
          </p:cNvSpPr>
          <p:nvPr/>
        </p:nvSpPr>
        <p:spPr>
          <a:xfrm xmlns:a="http://schemas.openxmlformats.org/drawingml/2006/main">
            <a:off x="4800600" y="3133725"/>
            <a:ext cx="3829050" cy="3257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F3E4D0"/>
                </a:solidFill>
                <a:latin typeface="Georgia"/>
                <a:ea typeface="Georgia"/>
                <a:cs typeface="Georgia"/>
              </a:defRPr>
            </a:pPr>
            <a:r>
              <a:rPr sz="1950" b="0">
                <a:solidFill>
                  <a:srgbClr val="F3E4D0"/>
                </a:solidFill>
                <a:latin typeface="Georgia"/>
                <a:ea typeface="Georgia"/>
                <a:cs typeface="Georgia"/>
              </a:rPr>
              <a:t>Team B argues no</a:t>
            </a:r>
          </a:p>
        </p:txBody>
      </p:sp>
      <p:sp>
        <p:nvSpPr>
          <p:cNvPr id="7" name="Free-rider problem, core-business focus, public se">
            <a:extLst xmlns:a="http://schemas.openxmlformats.org/drawingml/2006/main">
              <a:ext uri="{FF2B5EF4-FFF2-40B4-BE49-F238E27FC236}">
                <a16:creationId xmlns:a16="http://schemas.microsoft.com/office/drawing/2014/main" id="{E27A5AC1-6E30-4BD2-BE42-A0D352D1EDF7}"/>
              </a:ext>
            </a:extLst>
          </p:cNvPr>
          <p:cNvSpPr>
            <a:spLocks xmlns:a="http://schemas.openxmlformats.org/drawingml/2006/main" noGrp="1"/>
          </p:cNvSpPr>
          <p:nvPr/>
        </p:nvSpPr>
        <p:spPr>
          <a:xfrm xmlns:a="http://schemas.openxmlformats.org/drawingml/2006/main">
            <a:off x="4800600" y="3573780"/>
            <a:ext cx="3829050"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F5F2EA"/>
                </a:solidFill>
                <a:latin typeface="Arial"/>
                <a:ea typeface="Arial"/>
                <a:cs typeface="Arial"/>
              </a:defRPr>
            </a:pPr>
            <a:r>
              <a:rPr sz="1650" b="0">
                <a:solidFill>
                  <a:srgbClr val="F5F2EA"/>
                </a:solidFill>
                <a:latin typeface="Arial"/>
                <a:ea typeface="Arial"/>
                <a:cs typeface="Arial"/>
              </a:rPr>
              <a:t>Free-rider problem, core-business</a:t>
            </a:r>
          </a:p>
          <a:p xmlns:a="http://schemas.openxmlformats.org/drawingml/2006/main">
            <a:pPr>
              <a:defRPr sz="1650" b="0">
                <a:solidFill>
                  <a:srgbClr val="F5F2EA"/>
                </a:solidFill>
                <a:latin typeface="Arial"/>
                <a:ea typeface="Arial"/>
                <a:cs typeface="Arial"/>
              </a:defRPr>
            </a:pPr>
            <a:r>
              <a:rPr sz="1650" b="0">
                <a:solidFill>
                  <a:srgbClr val="F5F2EA"/>
                </a:solidFill>
                <a:latin typeface="Arial"/>
                <a:ea typeface="Arial"/>
                <a:cs typeface="Arial"/>
              </a:rPr>
              <a:t>focus, public sector's job.</a:t>
            </a:r>
          </a:p>
        </p:txBody>
      </p:sp>
      <p:sp>
        <p:nvSpPr>
          <p:cNvPr id="8" name="Finish by looking for the conditions under which b">
            <a:extLst xmlns:a="http://schemas.openxmlformats.org/drawingml/2006/main">
              <a:ext uri="{FF2B5EF4-FFF2-40B4-BE49-F238E27FC236}">
                <a16:creationId xmlns:a16="http://schemas.microsoft.com/office/drawing/2014/main" id="{591CC769-93FC-4072-B315-7744A7C888E5}"/>
              </a:ext>
            </a:extLst>
          </p:cNvPr>
          <p:cNvSpPr>
            <a:spLocks xmlns:a="http://schemas.openxmlformats.org/drawingml/2006/main" noGrp="1"/>
          </p:cNvSpPr>
          <p:nvPr/>
        </p:nvSpPr>
        <p:spPr>
          <a:xfrm xmlns:a="http://schemas.openxmlformats.org/drawingml/2006/main">
            <a:off x="495300" y="4410075"/>
            <a:ext cx="815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F5F2EA"/>
                </a:solidFill>
                <a:latin typeface="Arial"/>
                <a:ea typeface="Arial"/>
                <a:cs typeface="Arial"/>
              </a:defRPr>
            </a:pPr>
            <a:r>
              <a:rPr sz="1425" b="0">
                <a:solidFill>
                  <a:srgbClr val="F5F2EA"/>
                </a:solidFill>
                <a:latin typeface="Arial"/>
                <a:ea typeface="Arial"/>
                <a:cs typeface="Arial"/>
              </a:rPr>
              <a:t>Finish by looking for the conditions under which both sides agree.</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512114528ba437b"/>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0" name="www.newton.university">
            <a:extLst xmlns:a="http://schemas.openxmlformats.org/drawingml/2006/main">
              <a:ext uri="{FF2B5EF4-FFF2-40B4-BE49-F238E27FC236}">
                <a16:creationId xmlns:a16="http://schemas.microsoft.com/office/drawing/2014/main" id="{401202E7-FEA1-4221-BC11-8A88C0BCBA80}"/>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11" name="26">
            <a:extLst xmlns:a="http://schemas.openxmlformats.org/drawingml/2006/main">
              <a:ext uri="{FF2B5EF4-FFF2-40B4-BE49-F238E27FC236}">
                <a16:creationId xmlns:a16="http://schemas.microsoft.com/office/drawing/2014/main" id="{1E3975F8-5BAB-4339-A9D6-449CD90BE85D}"/>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26</a:t>
            </a:r>
          </a:p>
        </p:txBody>
      </p:sp>
    </p:spTree>
    <p:extLst>
      <p:ext uri="{BB962C8B-B14F-4D97-AF65-F5344CB8AC3E}">
        <p14:creationId xmlns:p14="http://schemas.microsoft.com/office/powerpoint/2010/main" val="1099132524"/>
      </p:ext>
    </p:extLst>
  </p:cSld>
</p:sld>
</file>

<file path=ppt/slides/slide2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0" name="Key Messages">
            <a:extLst xmlns:a="http://schemas.openxmlformats.org/drawingml/2006/main">
              <a:ext uri="{FF2B5EF4-FFF2-40B4-BE49-F238E27FC236}">
                <a16:creationId xmlns:a16="http://schemas.microsoft.com/office/drawing/2014/main" id="{6A227B83-2453-4C9E-9430-18E9FE04B647}"/>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Key Messages</a:t>
            </a:r>
          </a:p>
        </p:txBody>
      </p:sp>
      <p:sp>
        <p:nvSpPr>
          <p:cNvPr id="2" name="Editorial frame">
            <a:extLst xmlns:a="http://schemas.openxmlformats.org/drawingml/2006/main">
              <a:ext uri="{FF2B5EF4-FFF2-40B4-BE49-F238E27FC236}">
                <a16:creationId xmlns:a16="http://schemas.microsoft.com/office/drawing/2014/main" id="{0C054499-91EB-4E39-A848-CC55EFE20541}"/>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8DEC59CD-CA5C-476B-A3BB-16AADC2708ED}"/>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829483AD-E15E-4654-84E8-7E548F59FF80}"/>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5" name="01">
            <a:extLst xmlns:a="http://schemas.openxmlformats.org/drawingml/2006/main">
              <a:ext uri="{FF2B5EF4-FFF2-40B4-BE49-F238E27FC236}">
                <a16:creationId xmlns:a16="http://schemas.microsoft.com/office/drawing/2014/main" id="{9AA078B6-F757-4D37-89CE-7C35430FE062}"/>
              </a:ext>
            </a:extLst>
          </p:cNvPr>
          <p:cNvSpPr>
            <a:spLocks xmlns:a="http://schemas.openxmlformats.org/drawingml/2006/main" noGrp="1"/>
          </p:cNvSpPr>
          <p:nvPr/>
        </p:nvSpPr>
        <p:spPr>
          <a:xfrm xmlns:a="http://schemas.openxmlformats.org/drawingml/2006/main">
            <a:off x="495300" y="15335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01</a:t>
            </a:r>
          </a:p>
        </p:txBody>
      </p:sp>
      <p:sp>
        <p:nvSpPr>
          <p:cNvPr id="6" name="Sustainable business models account for value to s">
            <a:extLst xmlns:a="http://schemas.openxmlformats.org/drawingml/2006/main">
              <a:ext uri="{FF2B5EF4-FFF2-40B4-BE49-F238E27FC236}">
                <a16:creationId xmlns:a16="http://schemas.microsoft.com/office/drawing/2014/main" id="{44CD941D-2B02-4B7A-965A-19D12AF1795C}"/>
              </a:ext>
            </a:extLst>
          </p:cNvPr>
          <p:cNvSpPr>
            <a:spLocks xmlns:a="http://schemas.openxmlformats.org/drawingml/2006/main" noGrp="1"/>
          </p:cNvSpPr>
          <p:nvPr/>
        </p:nvSpPr>
        <p:spPr>
          <a:xfrm xmlns:a="http://schemas.openxmlformats.org/drawingml/2006/main">
            <a:off x="952500" y="1533525"/>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Sustainable business models account</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for value to society and nature, not</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only customers.</a:t>
            </a:r>
          </a:p>
        </p:txBody>
      </p:sp>
      <p:sp>
        <p:nvSpPr>
          <p:cNvPr id="7" name="Editorial frame">
            <a:extLst xmlns:a="http://schemas.openxmlformats.org/drawingml/2006/main">
              <a:ext uri="{FF2B5EF4-FFF2-40B4-BE49-F238E27FC236}">
                <a16:creationId xmlns:a16="http://schemas.microsoft.com/office/drawing/2014/main" id="{25B5317C-C8AC-4EAE-98C0-3834C57F7178}"/>
              </a:ext>
            </a:extLst>
          </p:cNvPr>
          <p:cNvSpPr>
            <a:spLocks xmlns:a="http://schemas.openxmlformats.org/drawingml/2006/main" noGrp="1"/>
          </p:cNvSpPr>
          <p:nvPr/>
        </p:nvSpPr>
        <p:spPr>
          <a:xfrm xmlns:a="http://schemas.openxmlformats.org/drawingml/2006/main">
            <a:off x="952500" y="2216944"/>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8" name="02">
            <a:extLst xmlns:a="http://schemas.openxmlformats.org/drawingml/2006/main">
              <a:ext uri="{FF2B5EF4-FFF2-40B4-BE49-F238E27FC236}">
                <a16:creationId xmlns:a16="http://schemas.microsoft.com/office/drawing/2014/main" id="{08039A70-7E10-4D7E-A43C-ADBEE2D843E0}"/>
              </a:ext>
            </a:extLst>
          </p:cNvPr>
          <p:cNvSpPr>
            <a:spLocks xmlns:a="http://schemas.openxmlformats.org/drawingml/2006/main" noGrp="1"/>
          </p:cNvSpPr>
          <p:nvPr/>
        </p:nvSpPr>
        <p:spPr>
          <a:xfrm xmlns:a="http://schemas.openxmlformats.org/drawingml/2006/main">
            <a:off x="495300" y="2331244"/>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02</a:t>
            </a:r>
          </a:p>
        </p:txBody>
      </p:sp>
      <p:sp>
        <p:nvSpPr>
          <p:cNvPr id="9" name="Shared value is strategy, not philanthropy.">
            <a:extLst xmlns:a="http://schemas.openxmlformats.org/drawingml/2006/main">
              <a:ext uri="{FF2B5EF4-FFF2-40B4-BE49-F238E27FC236}">
                <a16:creationId xmlns:a16="http://schemas.microsoft.com/office/drawing/2014/main" id="{A1BBEEF4-D7A6-4659-BAFF-8A11C130EA8A}"/>
              </a:ext>
            </a:extLst>
          </p:cNvPr>
          <p:cNvSpPr>
            <a:spLocks xmlns:a="http://schemas.openxmlformats.org/drawingml/2006/main" noGrp="1"/>
          </p:cNvSpPr>
          <p:nvPr/>
        </p:nvSpPr>
        <p:spPr>
          <a:xfrm xmlns:a="http://schemas.openxmlformats.org/drawingml/2006/main">
            <a:off x="952500" y="2331244"/>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Shared value is strategy, not</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philanthropy.</a:t>
            </a:r>
          </a:p>
        </p:txBody>
      </p:sp>
      <p:sp>
        <p:nvSpPr>
          <p:cNvPr id="10" name="Editorial frame">
            <a:extLst xmlns:a="http://schemas.openxmlformats.org/drawingml/2006/main">
              <a:ext uri="{FF2B5EF4-FFF2-40B4-BE49-F238E27FC236}">
                <a16:creationId xmlns:a16="http://schemas.microsoft.com/office/drawing/2014/main" id="{E54D7214-7618-4FA5-8496-2CB555232CDD}"/>
              </a:ext>
            </a:extLst>
          </p:cNvPr>
          <p:cNvSpPr>
            <a:spLocks xmlns:a="http://schemas.openxmlformats.org/drawingml/2006/main" noGrp="1"/>
          </p:cNvSpPr>
          <p:nvPr/>
        </p:nvSpPr>
        <p:spPr>
          <a:xfrm xmlns:a="http://schemas.openxmlformats.org/drawingml/2006/main">
            <a:off x="952500" y="3014663"/>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1" name="03">
            <a:extLst xmlns:a="http://schemas.openxmlformats.org/drawingml/2006/main">
              <a:ext uri="{FF2B5EF4-FFF2-40B4-BE49-F238E27FC236}">
                <a16:creationId xmlns:a16="http://schemas.microsoft.com/office/drawing/2014/main" id="{2A806296-5C9D-45E1-BA8B-C037E2F52219}"/>
              </a:ext>
            </a:extLst>
          </p:cNvPr>
          <p:cNvSpPr>
            <a:spLocks xmlns:a="http://schemas.openxmlformats.org/drawingml/2006/main" noGrp="1"/>
          </p:cNvSpPr>
          <p:nvPr/>
        </p:nvSpPr>
        <p:spPr>
          <a:xfrm xmlns:a="http://schemas.openxmlformats.org/drawingml/2006/main">
            <a:off x="495300" y="3128963"/>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03</a:t>
            </a:r>
          </a:p>
        </p:txBody>
      </p:sp>
      <p:sp>
        <p:nvSpPr>
          <p:cNvPr id="12" name="GI can create value when benefits exceed installat">
            <a:extLst xmlns:a="http://schemas.openxmlformats.org/drawingml/2006/main">
              <a:ext uri="{FF2B5EF4-FFF2-40B4-BE49-F238E27FC236}">
                <a16:creationId xmlns:a16="http://schemas.microsoft.com/office/drawing/2014/main" id="{2BF60A52-D875-4A9F-B684-8999B1C25AD9}"/>
              </a:ext>
            </a:extLst>
          </p:cNvPr>
          <p:cNvSpPr>
            <a:spLocks xmlns:a="http://schemas.openxmlformats.org/drawingml/2006/main" noGrp="1"/>
          </p:cNvSpPr>
          <p:nvPr/>
        </p:nvSpPr>
        <p:spPr>
          <a:xfrm xmlns:a="http://schemas.openxmlformats.org/drawingml/2006/main">
            <a:off x="952500" y="3128963"/>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GI can create value when benefits</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exceed installation and maintenance</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costs.</a:t>
            </a:r>
          </a:p>
        </p:txBody>
      </p:sp>
      <p:sp>
        <p:nvSpPr>
          <p:cNvPr id="13" name="Editorial frame">
            <a:extLst xmlns:a="http://schemas.openxmlformats.org/drawingml/2006/main">
              <a:ext uri="{FF2B5EF4-FFF2-40B4-BE49-F238E27FC236}">
                <a16:creationId xmlns:a16="http://schemas.microsoft.com/office/drawing/2014/main" id="{E869BB4E-6AA9-461B-8B9A-CA84C97062E5}"/>
              </a:ext>
            </a:extLst>
          </p:cNvPr>
          <p:cNvSpPr>
            <a:spLocks xmlns:a="http://schemas.openxmlformats.org/drawingml/2006/main" noGrp="1"/>
          </p:cNvSpPr>
          <p:nvPr/>
        </p:nvSpPr>
        <p:spPr>
          <a:xfrm xmlns:a="http://schemas.openxmlformats.org/drawingml/2006/main">
            <a:off x="952500" y="3812381"/>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4" name="04">
            <a:extLst xmlns:a="http://schemas.openxmlformats.org/drawingml/2006/main">
              <a:ext uri="{FF2B5EF4-FFF2-40B4-BE49-F238E27FC236}">
                <a16:creationId xmlns:a16="http://schemas.microsoft.com/office/drawing/2014/main" id="{5F758210-E7C0-497D-96F1-9BDA7A7C9943}"/>
              </a:ext>
            </a:extLst>
          </p:cNvPr>
          <p:cNvSpPr>
            <a:spLocks xmlns:a="http://schemas.openxmlformats.org/drawingml/2006/main" noGrp="1"/>
          </p:cNvSpPr>
          <p:nvPr/>
        </p:nvSpPr>
        <p:spPr>
          <a:xfrm xmlns:a="http://schemas.openxmlformats.org/drawingml/2006/main">
            <a:off x="495300" y="3926681"/>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04</a:t>
            </a:r>
          </a:p>
        </p:txBody>
      </p:sp>
      <p:sp>
        <p:nvSpPr>
          <p:cNvPr id="15" name="Regenerative claims need lasting, measured improve">
            <a:extLst xmlns:a="http://schemas.openxmlformats.org/drawingml/2006/main">
              <a:ext uri="{FF2B5EF4-FFF2-40B4-BE49-F238E27FC236}">
                <a16:creationId xmlns:a16="http://schemas.microsoft.com/office/drawing/2014/main" id="{F3AF7F7B-F5E2-4DD0-8F39-A44E1B46785F}"/>
              </a:ext>
            </a:extLst>
          </p:cNvPr>
          <p:cNvSpPr>
            <a:spLocks xmlns:a="http://schemas.openxmlformats.org/drawingml/2006/main" noGrp="1"/>
          </p:cNvSpPr>
          <p:nvPr/>
        </p:nvSpPr>
        <p:spPr>
          <a:xfrm xmlns:a="http://schemas.openxmlformats.org/drawingml/2006/main">
            <a:off x="952500" y="3926681"/>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Regenerative claims need lasting,</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measured improvements in natural</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systems.</a:t>
            </a:r>
          </a:p>
        </p:txBody>
      </p:sp>
      <p:sp>
        <p:nvSpPr>
          <p:cNvPr id="16" name="05">
            <a:extLst xmlns:a="http://schemas.openxmlformats.org/drawingml/2006/main">
              <a:ext uri="{FF2B5EF4-FFF2-40B4-BE49-F238E27FC236}">
                <a16:creationId xmlns:a16="http://schemas.microsoft.com/office/drawing/2014/main" id="{F81E651E-773E-4914-80DD-5A7424EC9634}"/>
              </a:ext>
            </a:extLst>
          </p:cNvPr>
          <p:cNvSpPr>
            <a:spLocks xmlns:a="http://schemas.openxmlformats.org/drawingml/2006/main" noGrp="1"/>
          </p:cNvSpPr>
          <p:nvPr/>
        </p:nvSpPr>
        <p:spPr>
          <a:xfrm xmlns:a="http://schemas.openxmlformats.org/drawingml/2006/main">
            <a:off x="4819650" y="15335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05</a:t>
            </a:r>
          </a:p>
        </p:txBody>
      </p:sp>
      <p:sp>
        <p:nvSpPr>
          <p:cNvPr id="17" name="Strategy turns sustainability ambition into target">
            <a:extLst xmlns:a="http://schemas.openxmlformats.org/drawingml/2006/main">
              <a:ext uri="{FF2B5EF4-FFF2-40B4-BE49-F238E27FC236}">
                <a16:creationId xmlns:a16="http://schemas.microsoft.com/office/drawing/2014/main" id="{060A82B6-2F3C-4514-89E6-55AB6BB08B36}"/>
              </a:ext>
            </a:extLst>
          </p:cNvPr>
          <p:cNvSpPr>
            <a:spLocks xmlns:a="http://schemas.openxmlformats.org/drawingml/2006/main" noGrp="1"/>
          </p:cNvSpPr>
          <p:nvPr/>
        </p:nvSpPr>
        <p:spPr>
          <a:xfrm xmlns:a="http://schemas.openxmlformats.org/drawingml/2006/main">
            <a:off x="5276850" y="1533525"/>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Strategy turns sustainability ambition</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into targets, programmes and</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accountability.</a:t>
            </a:r>
          </a:p>
        </p:txBody>
      </p:sp>
      <p:sp>
        <p:nvSpPr>
          <p:cNvPr id="18" name="Editorial frame">
            <a:extLst xmlns:a="http://schemas.openxmlformats.org/drawingml/2006/main">
              <a:ext uri="{FF2B5EF4-FFF2-40B4-BE49-F238E27FC236}">
                <a16:creationId xmlns:a16="http://schemas.microsoft.com/office/drawing/2014/main" id="{66CFF7C8-4169-4A94-BB3D-C2127856F38D}"/>
              </a:ext>
            </a:extLst>
          </p:cNvPr>
          <p:cNvSpPr>
            <a:spLocks xmlns:a="http://schemas.openxmlformats.org/drawingml/2006/main" noGrp="1"/>
          </p:cNvSpPr>
          <p:nvPr/>
        </p:nvSpPr>
        <p:spPr>
          <a:xfrm xmlns:a="http://schemas.openxmlformats.org/drawingml/2006/main">
            <a:off x="5276850" y="2216944"/>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9" name="06">
            <a:extLst xmlns:a="http://schemas.openxmlformats.org/drawingml/2006/main">
              <a:ext uri="{FF2B5EF4-FFF2-40B4-BE49-F238E27FC236}">
                <a16:creationId xmlns:a16="http://schemas.microsoft.com/office/drawing/2014/main" id="{76C24555-DFA5-4DCD-8AE4-E6C880A609EA}"/>
              </a:ext>
            </a:extLst>
          </p:cNvPr>
          <p:cNvSpPr>
            <a:spLocks xmlns:a="http://schemas.openxmlformats.org/drawingml/2006/main" noGrp="1"/>
          </p:cNvSpPr>
          <p:nvPr/>
        </p:nvSpPr>
        <p:spPr>
          <a:xfrm xmlns:a="http://schemas.openxmlformats.org/drawingml/2006/main">
            <a:off x="4819650" y="2331244"/>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06</a:t>
            </a:r>
          </a:p>
        </p:txBody>
      </p:sp>
      <p:sp>
        <p:nvSpPr>
          <p:cNvPr id="20" name="Materiality keeps strategy focused on what matters">
            <a:extLst xmlns:a="http://schemas.openxmlformats.org/drawingml/2006/main">
              <a:ext uri="{FF2B5EF4-FFF2-40B4-BE49-F238E27FC236}">
                <a16:creationId xmlns:a16="http://schemas.microsoft.com/office/drawing/2014/main" id="{09D3975B-0798-446F-8831-15D581BCF04B}"/>
              </a:ext>
            </a:extLst>
          </p:cNvPr>
          <p:cNvSpPr>
            <a:spLocks xmlns:a="http://schemas.openxmlformats.org/drawingml/2006/main" noGrp="1"/>
          </p:cNvSpPr>
          <p:nvPr/>
        </p:nvSpPr>
        <p:spPr>
          <a:xfrm xmlns:a="http://schemas.openxmlformats.org/drawingml/2006/main">
            <a:off x="5276850" y="2331244"/>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Materiality keeps strategy focused</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on what matters.</a:t>
            </a:r>
          </a:p>
        </p:txBody>
      </p:sp>
      <p:sp>
        <p:nvSpPr>
          <p:cNvPr id="21" name="Editorial frame">
            <a:extLst xmlns:a="http://schemas.openxmlformats.org/drawingml/2006/main">
              <a:ext uri="{FF2B5EF4-FFF2-40B4-BE49-F238E27FC236}">
                <a16:creationId xmlns:a16="http://schemas.microsoft.com/office/drawing/2014/main" id="{9E202661-557D-494D-A1F3-7FBD27E18C28}"/>
              </a:ext>
            </a:extLst>
          </p:cNvPr>
          <p:cNvSpPr>
            <a:spLocks xmlns:a="http://schemas.openxmlformats.org/drawingml/2006/main" noGrp="1"/>
          </p:cNvSpPr>
          <p:nvPr/>
        </p:nvSpPr>
        <p:spPr>
          <a:xfrm xmlns:a="http://schemas.openxmlformats.org/drawingml/2006/main">
            <a:off x="5276850" y="3014663"/>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2" name="07">
            <a:extLst xmlns:a="http://schemas.openxmlformats.org/drawingml/2006/main">
              <a:ext uri="{FF2B5EF4-FFF2-40B4-BE49-F238E27FC236}">
                <a16:creationId xmlns:a16="http://schemas.microsoft.com/office/drawing/2014/main" id="{BB2288D0-94DF-4149-B870-C875FA24A58F}"/>
              </a:ext>
            </a:extLst>
          </p:cNvPr>
          <p:cNvSpPr>
            <a:spLocks xmlns:a="http://schemas.openxmlformats.org/drawingml/2006/main" noGrp="1"/>
          </p:cNvSpPr>
          <p:nvPr/>
        </p:nvSpPr>
        <p:spPr>
          <a:xfrm xmlns:a="http://schemas.openxmlformats.org/drawingml/2006/main">
            <a:off x="4819650" y="3128963"/>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07</a:t>
            </a:r>
          </a:p>
        </p:txBody>
      </p:sp>
      <p:sp>
        <p:nvSpPr>
          <p:cNvPr id="23" name="Credible net-zero plans reduce emissions and meet ">
            <a:extLst xmlns:a="http://schemas.openxmlformats.org/drawingml/2006/main">
              <a:ext uri="{FF2B5EF4-FFF2-40B4-BE49-F238E27FC236}">
                <a16:creationId xmlns:a16="http://schemas.microsoft.com/office/drawing/2014/main" id="{0410F1E9-36B1-459C-AD0F-68BE73388299}"/>
              </a:ext>
            </a:extLst>
          </p:cNvPr>
          <p:cNvSpPr>
            <a:spLocks xmlns:a="http://schemas.openxmlformats.org/drawingml/2006/main" noGrp="1"/>
          </p:cNvSpPr>
          <p:nvPr/>
        </p:nvSpPr>
        <p:spPr>
          <a:xfrm xmlns:a="http://schemas.openxmlformats.org/drawingml/2006/main">
            <a:off x="5276850" y="3128963"/>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Credible net-zero plans reduce</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emissions and meet residual-removal</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requirements.</a:t>
            </a:r>
          </a:p>
        </p:txBody>
      </p:sp>
      <p:sp>
        <p:nvSpPr>
          <p:cNvPr id="24" name="Editorial frame">
            <a:extLst xmlns:a="http://schemas.openxmlformats.org/drawingml/2006/main">
              <a:ext uri="{FF2B5EF4-FFF2-40B4-BE49-F238E27FC236}">
                <a16:creationId xmlns:a16="http://schemas.microsoft.com/office/drawing/2014/main" id="{59D4A649-2E5F-4F58-851F-953B50F34AFC}"/>
              </a:ext>
            </a:extLst>
          </p:cNvPr>
          <p:cNvSpPr>
            <a:spLocks xmlns:a="http://schemas.openxmlformats.org/drawingml/2006/main" noGrp="1"/>
          </p:cNvSpPr>
          <p:nvPr/>
        </p:nvSpPr>
        <p:spPr>
          <a:xfrm xmlns:a="http://schemas.openxmlformats.org/drawingml/2006/main">
            <a:off x="5276850" y="3812381"/>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5" name="08">
            <a:extLst xmlns:a="http://schemas.openxmlformats.org/drawingml/2006/main">
              <a:ext uri="{FF2B5EF4-FFF2-40B4-BE49-F238E27FC236}">
                <a16:creationId xmlns:a16="http://schemas.microsoft.com/office/drawing/2014/main" id="{3E9B6DF0-7D21-46D5-BE23-1318C3956D5F}"/>
              </a:ext>
            </a:extLst>
          </p:cNvPr>
          <p:cNvSpPr>
            <a:spLocks xmlns:a="http://schemas.openxmlformats.org/drawingml/2006/main" noGrp="1"/>
          </p:cNvSpPr>
          <p:nvPr/>
        </p:nvSpPr>
        <p:spPr>
          <a:xfrm xmlns:a="http://schemas.openxmlformats.org/drawingml/2006/main">
            <a:off x="4819650" y="3926681"/>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08</a:t>
            </a:r>
          </a:p>
        </p:txBody>
      </p:sp>
      <p:sp>
        <p:nvSpPr>
          <p:cNvPr id="26" name="City strategies like Prague's Climate Plan map whe">
            <a:extLst xmlns:a="http://schemas.openxmlformats.org/drawingml/2006/main">
              <a:ext uri="{FF2B5EF4-FFF2-40B4-BE49-F238E27FC236}">
                <a16:creationId xmlns:a16="http://schemas.microsoft.com/office/drawing/2014/main" id="{1C3C49BA-A7B2-4209-AC59-D0C465654AB2}"/>
              </a:ext>
            </a:extLst>
          </p:cNvPr>
          <p:cNvSpPr>
            <a:spLocks xmlns:a="http://schemas.openxmlformats.org/drawingml/2006/main" noGrp="1"/>
          </p:cNvSpPr>
          <p:nvPr/>
        </p:nvSpPr>
        <p:spPr>
          <a:xfrm xmlns:a="http://schemas.openxmlformats.org/drawingml/2006/main">
            <a:off x="5276850" y="3926681"/>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City strategies like Prague's Climate</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Plan map where business can partner.</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18436fbce86e48f7"/>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8" name="www.newton.university">
            <a:extLst xmlns:a="http://schemas.openxmlformats.org/drawingml/2006/main">
              <a:ext uri="{FF2B5EF4-FFF2-40B4-BE49-F238E27FC236}">
                <a16:creationId xmlns:a16="http://schemas.microsoft.com/office/drawing/2014/main" id="{92F711C4-235F-48CD-B435-DFBC0B1186C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9" name="27">
            <a:extLst xmlns:a="http://schemas.openxmlformats.org/drawingml/2006/main">
              <a:ext uri="{FF2B5EF4-FFF2-40B4-BE49-F238E27FC236}">
                <a16:creationId xmlns:a16="http://schemas.microsoft.com/office/drawing/2014/main" id="{AF5B013D-4E67-4B2E-AAC0-EE3364E8FB2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27</a:t>
            </a:r>
          </a:p>
        </p:txBody>
      </p:sp>
    </p:spTree>
    <p:extLst>
      <p:ext uri="{BB962C8B-B14F-4D97-AF65-F5344CB8AC3E}">
        <p14:creationId xmlns:p14="http://schemas.microsoft.com/office/powerpoint/2010/main" val="1262926644"/>
      </p:ext>
    </p:extLst>
  </p:cSld>
</p:sld>
</file>

<file path=ppt/slides/slide2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Recommended Reading">
            <a:extLst xmlns:a="http://schemas.openxmlformats.org/drawingml/2006/main">
              <a:ext uri="{FF2B5EF4-FFF2-40B4-BE49-F238E27FC236}">
                <a16:creationId xmlns:a16="http://schemas.microsoft.com/office/drawing/2014/main" id="{AFFBD569-B709-4A4C-8452-8204DFB80542}"/>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Recommended Reading</a:t>
            </a:r>
          </a:p>
        </p:txBody>
      </p:sp>
      <p:sp>
        <p:nvSpPr>
          <p:cNvPr id="2" name="Editorial frame">
            <a:extLst xmlns:a="http://schemas.openxmlformats.org/drawingml/2006/main">
              <a:ext uri="{FF2B5EF4-FFF2-40B4-BE49-F238E27FC236}">
                <a16:creationId xmlns:a16="http://schemas.microsoft.com/office/drawing/2014/main" id="{6FDADC8D-8CA4-4E44-B440-8791F10B8DD4}"/>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BCFD79C3-C6B4-48B4-A70A-24BC3A59C700}"/>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Porter, M. &amp; Kramer, M. (2011). Creating Shared Va">
            <a:extLst xmlns:a="http://schemas.openxmlformats.org/drawingml/2006/main">
              <a:ext uri="{FF2B5EF4-FFF2-40B4-BE49-F238E27FC236}">
                <a16:creationId xmlns:a16="http://schemas.microsoft.com/office/drawing/2014/main" id="{4221DD97-17EB-43B7-B34D-3EB62B2473D7}"/>
              </a:ext>
            </a:extLst>
          </p:cNvPr>
          <p:cNvSpPr>
            <a:spLocks xmlns:a="http://schemas.openxmlformats.org/drawingml/2006/main" noGrp="1"/>
          </p:cNvSpPr>
          <p:nvPr/>
        </p:nvSpPr>
        <p:spPr>
          <a:xfrm xmlns:a="http://schemas.openxmlformats.org/drawingml/2006/main">
            <a:off x="495300" y="1524000"/>
            <a:ext cx="53054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Porter, M. &amp; Kramer, M. (2011). Creating Shared Value. HBR.</a:t>
            </a:r>
          </a:p>
        </p:txBody>
      </p:sp>
      <p:sp>
        <p:nvSpPr>
          <p:cNvPr id="5" name="Comin et al. (2019). Sustainable business models: ">
            <a:extLst xmlns:a="http://schemas.openxmlformats.org/drawingml/2006/main">
              <a:ext uri="{FF2B5EF4-FFF2-40B4-BE49-F238E27FC236}">
                <a16:creationId xmlns:a16="http://schemas.microsoft.com/office/drawing/2014/main" id="{24D0F4C3-9995-4D43-B996-3F48AEBBB0B3}"/>
              </a:ext>
            </a:extLst>
          </p:cNvPr>
          <p:cNvSpPr>
            <a:spLocks xmlns:a="http://schemas.openxmlformats.org/drawingml/2006/main" noGrp="1"/>
          </p:cNvSpPr>
          <p:nvPr/>
        </p:nvSpPr>
        <p:spPr>
          <a:xfrm xmlns:a="http://schemas.openxmlformats.org/drawingml/2006/main">
            <a:off x="495300" y="1925955"/>
            <a:ext cx="5305425" cy="4514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Comin et al. (2019). Sustainable business models: a literature</a:t>
            </a:r>
          </a:p>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review. Benchmarking.</a:t>
            </a:r>
          </a:p>
        </p:txBody>
      </p:sp>
      <p:sp>
        <p:nvSpPr>
          <p:cNvPr id="6" name="Jacobsen et al. (2020). Towards a Typology of Sust">
            <a:extLst xmlns:a="http://schemas.openxmlformats.org/drawingml/2006/main">
              <a:ext uri="{FF2B5EF4-FFF2-40B4-BE49-F238E27FC236}">
                <a16:creationId xmlns:a16="http://schemas.microsoft.com/office/drawing/2014/main" id="{D50E06F8-626A-4604-AE95-7C237CA9F7E7}"/>
              </a:ext>
            </a:extLst>
          </p:cNvPr>
          <p:cNvSpPr>
            <a:spLocks xmlns:a="http://schemas.openxmlformats.org/drawingml/2006/main" noGrp="1"/>
          </p:cNvSpPr>
          <p:nvPr/>
        </p:nvSpPr>
        <p:spPr>
          <a:xfrm xmlns:a="http://schemas.openxmlformats.org/drawingml/2006/main">
            <a:off x="495300" y="2539365"/>
            <a:ext cx="5305425" cy="4514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Jacobsen et al. (2020). Towards a Typology of Sustainability</a:t>
            </a:r>
          </a:p>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Practices. Sustainability 12(12).</a:t>
            </a:r>
          </a:p>
        </p:txBody>
      </p:sp>
      <p:sp>
        <p:nvSpPr>
          <p:cNvPr id="7" name="Blackburn (2007). The Sustainability Handbook — st">
            <a:extLst xmlns:a="http://schemas.openxmlformats.org/drawingml/2006/main">
              <a:ext uri="{FF2B5EF4-FFF2-40B4-BE49-F238E27FC236}">
                <a16:creationId xmlns:a16="http://schemas.microsoft.com/office/drawing/2014/main" id="{1DC81EE5-FCBF-44E7-B084-8F2D9B069EE2}"/>
              </a:ext>
            </a:extLst>
          </p:cNvPr>
          <p:cNvSpPr>
            <a:spLocks xmlns:a="http://schemas.openxmlformats.org/drawingml/2006/main" noGrp="1"/>
          </p:cNvSpPr>
          <p:nvPr/>
        </p:nvSpPr>
        <p:spPr>
          <a:xfrm xmlns:a="http://schemas.openxmlformats.org/drawingml/2006/main">
            <a:off x="495300" y="3152775"/>
            <a:ext cx="5305425" cy="4514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Blackburn (2007). The Sustainability Handbook — strategy</a:t>
            </a:r>
          </a:p>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chapters.</a:t>
            </a:r>
          </a:p>
        </p:txBody>
      </p:sp>
      <p:sp>
        <p:nvSpPr>
          <p:cNvPr id="8" name="Science Based Targets initiative — Corporate Net-Z">
            <a:extLst xmlns:a="http://schemas.openxmlformats.org/drawingml/2006/main">
              <a:ext uri="{FF2B5EF4-FFF2-40B4-BE49-F238E27FC236}">
                <a16:creationId xmlns:a16="http://schemas.microsoft.com/office/drawing/2014/main" id="{ED03DDA9-9E1F-461F-8818-F4D7734E1AB9}"/>
              </a:ext>
            </a:extLst>
          </p:cNvPr>
          <p:cNvSpPr>
            <a:spLocks xmlns:a="http://schemas.openxmlformats.org/drawingml/2006/main" noGrp="1"/>
          </p:cNvSpPr>
          <p:nvPr/>
        </p:nvSpPr>
        <p:spPr>
          <a:xfrm xmlns:a="http://schemas.openxmlformats.org/drawingml/2006/main">
            <a:off x="495300" y="3766185"/>
            <a:ext cx="53054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Science Based Targets initiative — Corporate Net-Zero Standard.</a:t>
            </a:r>
          </a:p>
        </p:txBody>
      </p:sp>
      <p:sp>
        <p:nvSpPr>
          <p:cNvPr id="9" name="Prague Climate Plan 2030.">
            <a:extLst xmlns:a="http://schemas.openxmlformats.org/drawingml/2006/main">
              <a:ext uri="{FF2B5EF4-FFF2-40B4-BE49-F238E27FC236}">
                <a16:creationId xmlns:a16="http://schemas.microsoft.com/office/drawing/2014/main" id="{401F0205-87CC-43E7-9235-29C37CE20FC6}"/>
              </a:ext>
            </a:extLst>
          </p:cNvPr>
          <p:cNvSpPr>
            <a:spLocks xmlns:a="http://schemas.openxmlformats.org/drawingml/2006/main" noGrp="1"/>
          </p:cNvSpPr>
          <p:nvPr/>
        </p:nvSpPr>
        <p:spPr>
          <a:xfrm xmlns:a="http://schemas.openxmlformats.org/drawingml/2006/main">
            <a:off x="495300" y="4168140"/>
            <a:ext cx="530542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Prague Climate Plan 2030.</a:t>
            </a:r>
          </a:p>
        </p:txBody>
      </p:sp>
      <p:sp>
        <p:nvSpPr>
          <p:cNvPr id="10" name="Editorial frame">
            <a:extLst xmlns:a="http://schemas.openxmlformats.org/drawingml/2006/main">
              <a:ext uri="{FF2B5EF4-FFF2-40B4-BE49-F238E27FC236}">
                <a16:creationId xmlns:a16="http://schemas.microsoft.com/office/drawing/2014/main" id="{1ECC34DC-B137-4985-BA75-2163D0E778CB}"/>
              </a:ext>
            </a:extLst>
          </p:cNvPr>
          <p:cNvSpPr>
            <a:spLocks xmlns:a="http://schemas.openxmlformats.org/drawingml/2006/main" noGrp="1"/>
          </p:cNvSpPr>
          <p:nvPr/>
        </p:nvSpPr>
        <p:spPr>
          <a:xfrm xmlns:a="http://schemas.openxmlformats.org/drawingml/2006/main">
            <a:off x="6076950" y="1438275"/>
            <a:ext cx="2714625" cy="3248025"/>
          </a:xfrm>
          <a:prstGeom xmlns:a="http://schemas.openxmlformats.org/drawingml/2006/main" prst="rect">
            <a:avLst/>
          </a:prstGeom>
          <a:solidFill xmlns:a="http://schemas.openxmlformats.org/drawingml/2006/main">
            <a:srgbClr val="E3E9D9"/>
          </a:solidFill>
          <a:ln xmlns:a="http://schemas.openxmlformats.org/drawingml/2006/main" w="7620">
            <a:solidFill>
              <a:srgbClr val="B7C3B1"/>
            </a:solidFill>
          </a:ln>
        </p:spPr>
      </p:sp>
      <p:sp>
        <p:nvSpPr>
          <p:cNvPr id="11" name="Next lecture">
            <a:extLst xmlns:a="http://schemas.openxmlformats.org/drawingml/2006/main">
              <a:ext uri="{FF2B5EF4-FFF2-40B4-BE49-F238E27FC236}">
                <a16:creationId xmlns:a16="http://schemas.microsoft.com/office/drawing/2014/main" id="{097F47A4-0920-4863-AD3A-7D367BCACFB0}"/>
              </a:ext>
            </a:extLst>
          </p:cNvPr>
          <p:cNvSpPr>
            <a:spLocks xmlns:a="http://schemas.openxmlformats.org/drawingml/2006/main" noGrp="1"/>
          </p:cNvSpPr>
          <p:nvPr/>
        </p:nvSpPr>
        <p:spPr>
          <a:xfrm xmlns:a="http://schemas.openxmlformats.org/drawingml/2006/main">
            <a:off x="6267450" y="1638300"/>
            <a:ext cx="2324100" cy="3257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B56647"/>
                </a:solidFill>
                <a:latin typeface="Georgia"/>
                <a:ea typeface="Georgia"/>
                <a:cs typeface="Georgia"/>
              </a:defRPr>
            </a:pPr>
            <a:r>
              <a:rPr sz="1950" b="0">
                <a:solidFill>
                  <a:srgbClr val="B56647"/>
                </a:solidFill>
                <a:latin typeface="Georgia"/>
                <a:ea typeface="Georgia"/>
                <a:cs typeface="Georgia"/>
              </a:rPr>
              <a:t>Next lecture</a:t>
            </a:r>
          </a:p>
        </p:txBody>
      </p:sp>
      <p:sp>
        <p:nvSpPr>
          <p:cNvPr id="12" name="Measuring Sustainability — Assessment, KPIs and Li">
            <a:extLst xmlns:a="http://schemas.openxmlformats.org/drawingml/2006/main">
              <a:ext uri="{FF2B5EF4-FFF2-40B4-BE49-F238E27FC236}">
                <a16:creationId xmlns:a16="http://schemas.microsoft.com/office/drawing/2014/main" id="{53CE1945-1FAF-460B-8203-DD9ECBFFF0FD}"/>
              </a:ext>
            </a:extLst>
          </p:cNvPr>
          <p:cNvSpPr>
            <a:spLocks xmlns:a="http://schemas.openxmlformats.org/drawingml/2006/main" noGrp="1"/>
          </p:cNvSpPr>
          <p:nvPr/>
        </p:nvSpPr>
        <p:spPr>
          <a:xfrm xmlns:a="http://schemas.openxmlformats.org/drawingml/2006/main">
            <a:off x="6267450" y="2078355"/>
            <a:ext cx="2324100" cy="10344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Measuring</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Sustainability —</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Assessment, KPIs and</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Life Cycle Thinking.</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b457f10a4fe40d7"/>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4" name="www.newton.university">
            <a:extLst xmlns:a="http://schemas.openxmlformats.org/drawingml/2006/main">
              <a:ext uri="{FF2B5EF4-FFF2-40B4-BE49-F238E27FC236}">
                <a16:creationId xmlns:a16="http://schemas.microsoft.com/office/drawing/2014/main" id="{F2CA86A7-970B-4837-8A80-BC28A74C1EBC}"/>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5" name="28">
            <a:extLst xmlns:a="http://schemas.openxmlformats.org/drawingml/2006/main">
              <a:ext uri="{FF2B5EF4-FFF2-40B4-BE49-F238E27FC236}">
                <a16:creationId xmlns:a16="http://schemas.microsoft.com/office/drawing/2014/main" id="{A35E2478-487D-4FF5-BD74-655E83902324}"/>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28</a:t>
            </a:r>
          </a:p>
        </p:txBody>
      </p:sp>
    </p:spTree>
    <p:extLst>
      <p:ext uri="{BB962C8B-B14F-4D97-AF65-F5344CB8AC3E}">
        <p14:creationId xmlns:p14="http://schemas.microsoft.com/office/powerpoint/2010/main" val="796840523"/>
      </p:ext>
    </p:extLst>
  </p:cSld>
</p:sld>
</file>

<file path=ppt/slides/slide2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ea99e5c965b4243"/>
          <a:srcRect xmlns:a="http://schemas.openxmlformats.org/drawingml/2006/main" l="2500" t="0" r="2500" b="0"/>
          <a:stretch xmlns:a="http://schemas.openxmlformats.org/drawingml/2006/main">
            <a:fillRect l="0" t="0" r="0" b="0"/>
          </a:stretch>
        </p:blipFill>
        <p:spPr>
          <a:xfrm xmlns:a="http://schemas.openxmlformats.org/drawingml/2006/main">
            <a:off x="5886450" y="0"/>
            <a:ext cx="3257550" cy="5143500"/>
          </a:xfrm>
          <a:prstGeom xmlns:a="http://schemas.openxmlformats.org/drawingml/2006/main" prst="rect">
            <a:avLst/>
          </a:prstGeom>
        </p:spPr>
      </p:pic>
      <p:sp>
        <p:nvSpPr>
          <p:cNvPr id="2" name="Any&#10;questions?">
            <a:extLst xmlns:a="http://schemas.openxmlformats.org/drawingml/2006/main">
              <a:ext uri="{FF2B5EF4-FFF2-40B4-BE49-F238E27FC236}">
                <a16:creationId xmlns:a16="http://schemas.microsoft.com/office/drawing/2014/main" id="{DC185311-4B76-4A8B-84D0-4C58EAE440F3}"/>
              </a:ext>
            </a:extLst>
          </p:cNvPr>
          <p:cNvSpPr>
            <a:spLocks xmlns:a="http://schemas.openxmlformats.org/drawingml/2006/main" noGrp="1"/>
          </p:cNvSpPr>
          <p:nvPr/>
        </p:nvSpPr>
        <p:spPr>
          <a:xfrm xmlns:a="http://schemas.openxmlformats.org/drawingml/2006/main">
            <a:off x="495300" y="1381125"/>
            <a:ext cx="5143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700" b="0">
                <a:solidFill>
                  <a:srgbClr val="173E35"/>
                </a:solidFill>
                <a:latin typeface="Georgia"/>
                <a:ea typeface="Georgia"/>
                <a:cs typeface="Georgia"/>
              </a:defRPr>
            </a:pPr>
            <a:r>
              <a:rPr sz="5700" b="0">
                <a:solidFill>
                  <a:srgbClr val="173E35"/>
                </a:solidFill>
                <a:latin typeface="Georgia"/>
                <a:ea typeface="Georgia"/>
                <a:cs typeface="Georgia"/>
              </a:rPr>
              <a:t>Any</a:t>
            </a:r>
          </a:p>
          <a:p xmlns:a="http://schemas.openxmlformats.org/drawingml/2006/main">
            <a:pPr>
              <a:defRPr sz="5700" b="0">
                <a:solidFill>
                  <a:srgbClr val="173E35"/>
                </a:solidFill>
                <a:latin typeface="Georgia"/>
                <a:ea typeface="Georgia"/>
                <a:cs typeface="Georgia"/>
              </a:defRPr>
            </a:pPr>
            <a:r>
              <a:rPr sz="5700" b="0">
                <a:solidFill>
                  <a:srgbClr val="173E35"/>
                </a:solidFill>
                <a:latin typeface="Georgia"/>
                <a:ea typeface="Georgia"/>
                <a:cs typeface="Georgia"/>
              </a:rPr>
              <a:t>questions?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eecb1285f4a451b"/>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4" name="www.newton.university">
            <a:extLst xmlns:a="http://schemas.openxmlformats.org/drawingml/2006/main">
              <a:ext uri="{FF2B5EF4-FFF2-40B4-BE49-F238E27FC236}">
                <a16:creationId xmlns:a16="http://schemas.microsoft.com/office/drawing/2014/main" id="{6F1C4AB6-0BAA-468D-9C06-EDEF6A16F093}"/>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5" name="29">
            <a:extLst xmlns:a="http://schemas.openxmlformats.org/drawingml/2006/main">
              <a:ext uri="{FF2B5EF4-FFF2-40B4-BE49-F238E27FC236}">
                <a16:creationId xmlns:a16="http://schemas.microsoft.com/office/drawing/2014/main" id="{141ECC44-0D47-4AB2-95F8-6AABAAF555AA}"/>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29</a:t>
            </a:r>
          </a:p>
        </p:txBody>
      </p:sp>
    </p:spTree>
    <p:extLst>
      <p:ext uri="{BB962C8B-B14F-4D97-AF65-F5344CB8AC3E}">
        <p14:creationId xmlns:p14="http://schemas.microsoft.com/office/powerpoint/2010/main" val="1745204503"/>
      </p:ext>
    </p:extLst>
  </p:cSld>
</p:sld>
</file>

<file path=ppt/slides/slide3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Image credits">
            <a:extLst xmlns:a="http://schemas.openxmlformats.org/drawingml/2006/main">
              <a:ext uri="{FF2B5EF4-FFF2-40B4-BE49-F238E27FC236}">
                <a16:creationId xmlns:a16="http://schemas.microsoft.com/office/drawing/2014/main" id="{DBE9B2FC-40B8-4E83-AAAA-4B346BEFF02A}"/>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Image credits</a:t>
            </a:r>
          </a:p>
        </p:txBody>
      </p:sp>
      <p:sp>
        <p:nvSpPr>
          <p:cNvPr id="2" name="Editorial frame">
            <a:extLst xmlns:a="http://schemas.openxmlformats.org/drawingml/2006/main">
              <a:ext uri="{FF2B5EF4-FFF2-40B4-BE49-F238E27FC236}">
                <a16:creationId xmlns:a16="http://schemas.microsoft.com/office/drawing/2014/main" id="{64FF3874-C559-4F21-9E73-BBE6450A6B74}"/>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58884EA3-1020-4F7D-9486-1191919CB1BA}"/>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Hotel Park Royal on Pickering from Hong Lim Park i">
            <a:extLst xmlns:a="http://schemas.openxmlformats.org/drawingml/2006/main">
              <a:ext uri="{FF2B5EF4-FFF2-40B4-BE49-F238E27FC236}">
                <a16:creationId xmlns:a16="http://schemas.microsoft.com/office/drawing/2014/main" id="{0FC8E38E-850A-478E-9AE1-39915D628A6A}"/>
              </a:ext>
            </a:extLst>
          </p:cNvPr>
          <p:cNvSpPr>
            <a:spLocks xmlns:a="http://schemas.openxmlformats.org/drawingml/2006/main" noGrp="1"/>
          </p:cNvSpPr>
          <p:nvPr/>
        </p:nvSpPr>
        <p:spPr>
          <a:xfrm xmlns:a="http://schemas.openxmlformats.org/drawingml/2006/main">
            <a:off x="495300" y="156210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Hotel Park Royal on Pickering from Hong Lim Park in Singapore.jpg — CC BY-SA 4.0, Wikimedia Commons</a:t>
            </a:r>
          </a:p>
        </p:txBody>
      </p:sp>
      <p:sp>
        <p:nvSpPr>
          <p:cNvPr id="5" name="Field of Solar Panels near Ogwell.jpg — CC BY-SA 4">
            <a:extLst xmlns:a="http://schemas.openxmlformats.org/drawingml/2006/main">
              <a:ext uri="{FF2B5EF4-FFF2-40B4-BE49-F238E27FC236}">
                <a16:creationId xmlns:a16="http://schemas.microsoft.com/office/drawing/2014/main" id="{3267D152-BBC5-46A3-97E0-B21A005A39E6}"/>
              </a:ext>
            </a:extLst>
          </p:cNvPr>
          <p:cNvSpPr>
            <a:spLocks xmlns:a="http://schemas.openxmlformats.org/drawingml/2006/main" noGrp="1"/>
          </p:cNvSpPr>
          <p:nvPr/>
        </p:nvSpPr>
        <p:spPr>
          <a:xfrm xmlns:a="http://schemas.openxmlformats.org/drawingml/2006/main">
            <a:off x="495300" y="1925955"/>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Field of Solar Panels near Ogwell.jpg — CC BY-SA 4.0, Wikimedia Commons</a:t>
            </a:r>
          </a:p>
        </p:txBody>
      </p:sp>
      <p:sp>
        <p:nvSpPr>
          <p:cNvPr id="6" name="Wien - Donauinsel mit den Donaubrücken.JPG — CC BY">
            <a:extLst xmlns:a="http://schemas.openxmlformats.org/drawingml/2006/main">
              <a:ext uri="{FF2B5EF4-FFF2-40B4-BE49-F238E27FC236}">
                <a16:creationId xmlns:a16="http://schemas.microsoft.com/office/drawing/2014/main" id="{8BE6CE0A-1C62-4BF7-BF3C-D56969670EC6}"/>
              </a:ext>
            </a:extLst>
          </p:cNvPr>
          <p:cNvSpPr>
            <a:spLocks xmlns:a="http://schemas.openxmlformats.org/drawingml/2006/main" noGrp="1"/>
          </p:cNvSpPr>
          <p:nvPr/>
        </p:nvSpPr>
        <p:spPr>
          <a:xfrm xmlns:a="http://schemas.openxmlformats.org/drawingml/2006/main">
            <a:off x="495300" y="228981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Wien - Donauinsel mit den Donaubrücken.JPG — CC BY-SA 4.0, Wikimedia Commons</a:t>
            </a:r>
          </a:p>
        </p:txBody>
      </p:sp>
      <p:sp>
        <p:nvSpPr>
          <p:cNvPr id="7" name="Conceptual cover and leaf artwork: OpenAI image ge">
            <a:extLst xmlns:a="http://schemas.openxmlformats.org/drawingml/2006/main">
              <a:ext uri="{FF2B5EF4-FFF2-40B4-BE49-F238E27FC236}">
                <a16:creationId xmlns:a16="http://schemas.microsoft.com/office/drawing/2014/main" id="{6947EBEB-66CF-4D57-9FE3-0FF1CB8C7C79}"/>
              </a:ext>
            </a:extLst>
          </p:cNvPr>
          <p:cNvSpPr>
            <a:spLocks xmlns:a="http://schemas.openxmlformats.org/drawingml/2006/main" noGrp="1"/>
          </p:cNvSpPr>
          <p:nvPr/>
        </p:nvSpPr>
        <p:spPr>
          <a:xfrm xmlns:a="http://schemas.openxmlformats.org/drawingml/2006/main">
            <a:off x="495300" y="2653665"/>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Conceptual cover and leaf artwork: OpenAI image generation, September 2026. Reused from approved Lecture 1.</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0381854ac9e4137"/>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9" name="www.newton.university">
            <a:extLst xmlns:a="http://schemas.openxmlformats.org/drawingml/2006/main">
              <a:ext uri="{FF2B5EF4-FFF2-40B4-BE49-F238E27FC236}">
                <a16:creationId xmlns:a16="http://schemas.microsoft.com/office/drawing/2014/main" id="{0A59E98E-596A-48F5-ACF9-63BF1F48934C}"/>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0" name="30">
            <a:extLst xmlns:a="http://schemas.openxmlformats.org/drawingml/2006/main">
              <a:ext uri="{FF2B5EF4-FFF2-40B4-BE49-F238E27FC236}">
                <a16:creationId xmlns:a16="http://schemas.microsoft.com/office/drawing/2014/main" id="{79BD7D04-4775-43A1-88CD-091D4B2BFEF0}"/>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30</a:t>
            </a:r>
          </a:p>
        </p:txBody>
      </p:sp>
    </p:spTree>
    <p:extLst>
      <p:ext uri="{BB962C8B-B14F-4D97-AF65-F5344CB8AC3E}">
        <p14:creationId xmlns:p14="http://schemas.microsoft.com/office/powerpoint/2010/main" val="1880482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2026-10-05T17:22:56.4140000Z</dcterms:created>
  <dcterms:modified xsi:type="dcterms:W3CDTF">2026-10-05T17:22:56.4140000Z</dcterms:modified>
</coreProperties>
</file>